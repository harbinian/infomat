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d1b2d1444e4722" /><Relationship Type="http://schemas.openxmlformats.org/officeDocument/2006/relationships/extended-properties" Target="/docProps/app.xml" Id="Rd2fbef025c7c40c4" /><Relationship Type="http://schemas.openxmlformats.org/officeDocument/2006/relationships/officeDocument" Target="/ppt/presentation.xml" Id="R46f56752f28d45c9" /></Relationships>
</file>

<file path=ppt/presentation.xml><?xml version="1.0" encoding="utf-8"?>
<p:presentation xmlns:p="http://schemas.openxmlformats.org/presentationml/2006/main">
  <p:sldMasterIdLst>
    <p:sldMasterId xmlns:r="http://schemas.openxmlformats.org/officeDocument/2006/relationships" id="2147483648" r:id="R984428d563944df4"/>
  </p:sldMasterIdLst>
  <p:notesMasterIdLst>
    <p:notesMasterId xmlns:r="http://schemas.openxmlformats.org/officeDocument/2006/relationships" r:id="R5806b9e01d9a47f8"/>
  </p:notesMasterIdLst>
  <p:sldIdLst>
    <p:sldId xmlns:r="http://schemas.openxmlformats.org/officeDocument/2006/relationships" id="256" r:id="R97123eefb9dc47e8"/>
    <p:sldId xmlns:r="http://schemas.openxmlformats.org/officeDocument/2006/relationships" id="257" r:id="Rc87793d77fac4475"/>
    <p:sldId xmlns:r="http://schemas.openxmlformats.org/officeDocument/2006/relationships" id="258" r:id="R5d6d85c79e554cce"/>
    <p:sldId xmlns:r="http://schemas.openxmlformats.org/officeDocument/2006/relationships" id="259" r:id="Ra028939a0e3f465d"/>
    <p:sldId xmlns:r="http://schemas.openxmlformats.org/officeDocument/2006/relationships" id="260" r:id="R35fec57c25bd4f8d"/>
    <p:sldId xmlns:r="http://schemas.openxmlformats.org/officeDocument/2006/relationships" id="261" r:id="Rb6cb8aa5930f4424"/>
    <p:sldId xmlns:r="http://schemas.openxmlformats.org/officeDocument/2006/relationships" id="262" r:id="Rb85818faa1ca474b"/>
    <p:sldId xmlns:r="http://schemas.openxmlformats.org/officeDocument/2006/relationships" id="263" r:id="Ra9a61ad333104e3b"/>
    <p:sldId xmlns:r="http://schemas.openxmlformats.org/officeDocument/2006/relationships" id="264" r:id="Rf5f7b08a582a420d"/>
    <p:sldId xmlns:r="http://schemas.openxmlformats.org/officeDocument/2006/relationships" id="265" r:id="R3f0999031cd94c14"/>
    <p:sldId xmlns:r="http://schemas.openxmlformats.org/officeDocument/2006/relationships" id="266" r:id="Rabf76017aecf49ce"/>
    <p:sldId xmlns:r="http://schemas.openxmlformats.org/officeDocument/2006/relationships" id="267" r:id="Rfed8ed6cb1ac4517"/>
    <p:sldId xmlns:r="http://schemas.openxmlformats.org/officeDocument/2006/relationships" id="268" r:id="R5ec69abc4018449f"/>
    <p:sldId xmlns:r="http://schemas.openxmlformats.org/officeDocument/2006/relationships" id="269" r:id="Rcb135331b7014e69"/>
    <p:sldId xmlns:r="http://schemas.openxmlformats.org/officeDocument/2006/relationships" id="270" r:id="R37dbb672c00a48a1"/>
    <p:sldId xmlns:r="http://schemas.openxmlformats.org/officeDocument/2006/relationships" id="271" r:id="R90a278d8493b47bb"/>
    <p:sldId xmlns:r="http://schemas.openxmlformats.org/officeDocument/2006/relationships" id="272" r:id="R3ce7a55511414215"/>
    <p:sldId xmlns:r="http://schemas.openxmlformats.org/officeDocument/2006/relationships" id="273" r:id="Rfe2223637aef4539"/>
    <p:sldId xmlns:r="http://schemas.openxmlformats.org/officeDocument/2006/relationships" id="274" r:id="R0bebede38fdd4080"/>
    <p:sldId xmlns:r="http://schemas.openxmlformats.org/officeDocument/2006/relationships" id="275" r:id="Re057dc97927e4220"/>
    <p:sldId xmlns:r="http://schemas.openxmlformats.org/officeDocument/2006/relationships" id="276" r:id="R3479a57df1c34717"/>
    <p:sldId xmlns:r="http://schemas.openxmlformats.org/officeDocument/2006/relationships" id="277" r:id="Rbf9f60dfd64c4137"/>
    <p:sldId xmlns:r="http://schemas.openxmlformats.org/officeDocument/2006/relationships" id="278" r:id="Rbfc38228b15c4e45"/>
    <p:sldId xmlns:r="http://schemas.openxmlformats.org/officeDocument/2006/relationships" id="279" r:id="R9858d5a3d8be4f1f"/>
    <p:sldId xmlns:r="http://schemas.openxmlformats.org/officeDocument/2006/relationships" id="280" r:id="Rb6612bea9fff4bec"/>
    <p:sldId xmlns:r="http://schemas.openxmlformats.org/officeDocument/2006/relationships" id="281" r:id="R603d390a5e95479c"/>
    <p:sldId xmlns:r="http://schemas.openxmlformats.org/officeDocument/2006/relationships" id="282" r:id="Rd27ce4b9921b4124"/>
    <p:sldId xmlns:r="http://schemas.openxmlformats.org/officeDocument/2006/relationships" id="283" r:id="Rc157f5bbf7f04b52"/>
    <p:sldId xmlns:r="http://schemas.openxmlformats.org/officeDocument/2006/relationships" id="284" r:id="Rd5c45218143a487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984428d563944df4" /><Relationship Type="http://schemas.openxmlformats.org/officeDocument/2006/relationships/theme" Target="/ppt/theme/theme1.xml" Id="R6eff8ddf03bd4210" /><Relationship Type="http://schemas.openxmlformats.org/officeDocument/2006/relationships/notesMaster" Target="/ppt/notesMasters/notesMaster1.xml" Id="R5806b9e01d9a47f8" /><Relationship Type="http://schemas.openxmlformats.org/officeDocument/2006/relationships/presProps" Target="/ppt/presProps.xml" Id="R4c6fd60313a3479d" /><Relationship Type="http://schemas.openxmlformats.org/officeDocument/2006/relationships/viewProps" Target="/ppt/viewProps.xml" Id="R47ee8e74de3243ce" /><Relationship Type="http://schemas.openxmlformats.org/officeDocument/2006/relationships/tableStyles" Target="/ppt/tableStyles.xml" Id="Rf10bab9879d64d64" /><Relationship Type="http://schemas.openxmlformats.org/officeDocument/2006/relationships/slide" Target="/ppt/slides/slide1.xml" Id="R97123eefb9dc47e8" /><Relationship Type="http://schemas.openxmlformats.org/officeDocument/2006/relationships/slide" Target="/ppt/slides/slide2.xml" Id="Rc87793d77fac4475" /><Relationship Type="http://schemas.openxmlformats.org/officeDocument/2006/relationships/slide" Target="/ppt/slides/slide3.xml" Id="R5d6d85c79e554cce" /><Relationship Type="http://schemas.openxmlformats.org/officeDocument/2006/relationships/slide" Target="/ppt/slides/slide4.xml" Id="Ra028939a0e3f465d" /><Relationship Type="http://schemas.openxmlformats.org/officeDocument/2006/relationships/slide" Target="/ppt/slides/slide5.xml" Id="R35fec57c25bd4f8d" /><Relationship Type="http://schemas.openxmlformats.org/officeDocument/2006/relationships/slide" Target="/ppt/slides/slide6.xml" Id="Rb6cb8aa5930f4424" /><Relationship Type="http://schemas.openxmlformats.org/officeDocument/2006/relationships/slide" Target="/ppt/slides/slide7.xml" Id="Rb85818faa1ca474b" /><Relationship Type="http://schemas.openxmlformats.org/officeDocument/2006/relationships/slide" Target="/ppt/slides/slide8.xml" Id="Ra9a61ad333104e3b" /><Relationship Type="http://schemas.openxmlformats.org/officeDocument/2006/relationships/slide" Target="/ppt/slides/slide9.xml" Id="Rf5f7b08a582a420d" /><Relationship Type="http://schemas.openxmlformats.org/officeDocument/2006/relationships/slide" Target="/ppt/slides/slide10.xml" Id="R3f0999031cd94c14" /><Relationship Type="http://schemas.openxmlformats.org/officeDocument/2006/relationships/slide" Target="/ppt/slides/slide11.xml" Id="Rabf76017aecf49ce" /><Relationship Type="http://schemas.openxmlformats.org/officeDocument/2006/relationships/slide" Target="/ppt/slides/slide12.xml" Id="Rfed8ed6cb1ac4517" /><Relationship Type="http://schemas.openxmlformats.org/officeDocument/2006/relationships/slide" Target="/ppt/slides/slide13.xml" Id="R5ec69abc4018449f" /><Relationship Type="http://schemas.openxmlformats.org/officeDocument/2006/relationships/slide" Target="/ppt/slides/slide14.xml" Id="Rcb135331b7014e69" /><Relationship Type="http://schemas.openxmlformats.org/officeDocument/2006/relationships/slide" Target="/ppt/slides/slide15.xml" Id="R37dbb672c00a48a1" /><Relationship Type="http://schemas.openxmlformats.org/officeDocument/2006/relationships/slide" Target="/ppt/slides/slide16.xml" Id="R90a278d8493b47bb" /><Relationship Type="http://schemas.openxmlformats.org/officeDocument/2006/relationships/slide" Target="/ppt/slides/slide17.xml" Id="R3ce7a55511414215" /><Relationship Type="http://schemas.openxmlformats.org/officeDocument/2006/relationships/slide" Target="/ppt/slides/slide18.xml" Id="Rfe2223637aef4539" /><Relationship Type="http://schemas.openxmlformats.org/officeDocument/2006/relationships/slide" Target="/ppt/slides/slide19.xml" Id="R0bebede38fdd4080" /><Relationship Type="http://schemas.openxmlformats.org/officeDocument/2006/relationships/slide" Target="/ppt/slides/slide20.xml" Id="Re057dc97927e4220" /><Relationship Type="http://schemas.openxmlformats.org/officeDocument/2006/relationships/slide" Target="/ppt/slides/slide21.xml" Id="R3479a57df1c34717" /><Relationship Type="http://schemas.openxmlformats.org/officeDocument/2006/relationships/slide" Target="/ppt/slides/slide22.xml" Id="Rbf9f60dfd64c4137" /><Relationship Type="http://schemas.openxmlformats.org/officeDocument/2006/relationships/slide" Target="/ppt/slides/slide23.xml" Id="Rbfc38228b15c4e45" /><Relationship Type="http://schemas.openxmlformats.org/officeDocument/2006/relationships/slide" Target="/ppt/slides/slide24.xml" Id="R9858d5a3d8be4f1f" /><Relationship Type="http://schemas.openxmlformats.org/officeDocument/2006/relationships/slide" Target="/ppt/slides/slide25.xml" Id="Rb6612bea9fff4bec" /><Relationship Type="http://schemas.openxmlformats.org/officeDocument/2006/relationships/slide" Target="/ppt/slides/slide26.xml" Id="R603d390a5e95479c" /><Relationship Type="http://schemas.openxmlformats.org/officeDocument/2006/relationships/slide" Target="/ppt/slides/slide27.xml" Id="Rd27ce4b9921b4124" /><Relationship Type="http://schemas.openxmlformats.org/officeDocument/2006/relationships/slide" Target="/ppt/slides/slide28.xml" Id="Rc157f5bbf7f04b52" /><Relationship Type="http://schemas.openxmlformats.org/officeDocument/2006/relationships/slide" Target="/ppt/slides/slide29.xml" Id="Rd5c45218143a48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1b9e818d4cb46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7441e673ed4f21" /><Relationship Type="http://schemas.openxmlformats.org/officeDocument/2006/relationships/notesMaster" Target="/ppt/notesMasters/notesMaster1.xml" Id="R5abee9d0e6f544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26d4c44f79489f" /><Relationship Type="http://schemas.openxmlformats.org/officeDocument/2006/relationships/notesMaster" Target="/ppt/notesMasters/notesMaster1.xml" Id="R7ae4da23c69b4c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36d185d0fe47f7" /><Relationship Type="http://schemas.openxmlformats.org/officeDocument/2006/relationships/notesMaster" Target="/ppt/notesMasters/notesMaster1.xml" Id="R03de5bdf5b4246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3296c21bdc4065" /><Relationship Type="http://schemas.openxmlformats.org/officeDocument/2006/relationships/notesMaster" Target="/ppt/notesMasters/notesMaster1.xml" Id="R2b229c4ac52f46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18fce9049243b4" /><Relationship Type="http://schemas.openxmlformats.org/officeDocument/2006/relationships/notesMaster" Target="/ppt/notesMasters/notesMaster1.xml" Id="R2290747d40a045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43cf9c04a44551" /><Relationship Type="http://schemas.openxmlformats.org/officeDocument/2006/relationships/notesMaster" Target="/ppt/notesMasters/notesMaster1.xml" Id="R74ebffb461134b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67f80daee543a0" /><Relationship Type="http://schemas.openxmlformats.org/officeDocument/2006/relationships/notesMaster" Target="/ppt/notesMasters/notesMaster1.xml" Id="Ra00b1936545242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4fed4138134ea2" /><Relationship Type="http://schemas.openxmlformats.org/officeDocument/2006/relationships/notesMaster" Target="/ppt/notesMasters/notesMaster1.xml" Id="Rc0419b69ae9d45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c2aaecb1db473b" /><Relationship Type="http://schemas.openxmlformats.org/officeDocument/2006/relationships/notesMaster" Target="/ppt/notesMasters/notesMaster1.xml" Id="R9c6822c05fab48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8bf1d2b7c241ec" /><Relationship Type="http://schemas.openxmlformats.org/officeDocument/2006/relationships/notesMaster" Target="/ppt/notesMasters/notesMaster1.xml" Id="Rec065bedfbbf46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f2a86337d2496b" /><Relationship Type="http://schemas.openxmlformats.org/officeDocument/2006/relationships/notesMaster" Target="/ppt/notesMasters/notesMaster1.xml" Id="R834a9d15fe9349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63abcb9d3c4821" /><Relationship Type="http://schemas.openxmlformats.org/officeDocument/2006/relationships/notesMaster" Target="/ppt/notesMasters/notesMaster1.xml" Id="Rc83f9cd19f434d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a46ce7e294a4f79" /><Relationship Type="http://schemas.openxmlformats.org/officeDocument/2006/relationships/notesMaster" Target="/ppt/notesMasters/notesMaster1.xml" Id="Rfa6bfffe01b44be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24dc26117814c44" /><Relationship Type="http://schemas.openxmlformats.org/officeDocument/2006/relationships/notesMaster" Target="/ppt/notesMasters/notesMaster1.xml" Id="R85f4122f2e0346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d029566bdcb4a5f" /><Relationship Type="http://schemas.openxmlformats.org/officeDocument/2006/relationships/notesMaster" Target="/ppt/notesMasters/notesMaster1.xml" Id="R27dce1c74bbc45f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daa62da39fd495b" /><Relationship Type="http://schemas.openxmlformats.org/officeDocument/2006/relationships/notesMaster" Target="/ppt/notesMasters/notesMaster1.xml" Id="Reae75fdcf33a477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619f758ea244347" /><Relationship Type="http://schemas.openxmlformats.org/officeDocument/2006/relationships/notesMaster" Target="/ppt/notesMasters/notesMaster1.xml" Id="R7af87d87837c4c6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7c95b560b664e5f" /><Relationship Type="http://schemas.openxmlformats.org/officeDocument/2006/relationships/notesMaster" Target="/ppt/notesMasters/notesMaster1.xml" Id="R10c3aaf6428e40f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fe5f19152da486d" /><Relationship Type="http://schemas.openxmlformats.org/officeDocument/2006/relationships/notesMaster" Target="/ppt/notesMasters/notesMaster1.xml" Id="R24b9bdc9dc0d4ed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70c46eef0f4418a" /><Relationship Type="http://schemas.openxmlformats.org/officeDocument/2006/relationships/notesMaster" Target="/ppt/notesMasters/notesMaster1.xml" Id="Rb9ef0b493409463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7c0513d95b74602" /><Relationship Type="http://schemas.openxmlformats.org/officeDocument/2006/relationships/notesMaster" Target="/ppt/notesMasters/notesMaster1.xml" Id="R57ed3246b57b474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25215e230824af5" /><Relationship Type="http://schemas.openxmlformats.org/officeDocument/2006/relationships/notesMaster" Target="/ppt/notesMasters/notesMaster1.xml" Id="R09bbe8bba64c4d1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74235a420ce4a8e" /><Relationship Type="http://schemas.openxmlformats.org/officeDocument/2006/relationships/notesMaster" Target="/ppt/notesMasters/notesMaster1.xml" Id="R895a6d84681a463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90a118165d54331" /><Relationship Type="http://schemas.openxmlformats.org/officeDocument/2006/relationships/notesMaster" Target="/ppt/notesMasters/notesMaster1.xml" Id="R70d28fa50fd0459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15c9657d1f64b7b" /><Relationship Type="http://schemas.openxmlformats.org/officeDocument/2006/relationships/notesMaster" Target="/ppt/notesMasters/notesMaster1.xml" Id="R37e2f43db30c4b7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d106a312a1748ce" /><Relationship Type="http://schemas.openxmlformats.org/officeDocument/2006/relationships/notesMaster" Target="/ppt/notesMasters/notesMaster1.xml" Id="R4a257cf751b543e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012e30013cc4020" /><Relationship Type="http://schemas.openxmlformats.org/officeDocument/2006/relationships/notesMaster" Target="/ppt/notesMasters/notesMaster1.xml" Id="Ra3dace49da2a407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028df85dde94af9" /><Relationship Type="http://schemas.openxmlformats.org/officeDocument/2006/relationships/notesMaster" Target="/ppt/notesMasters/notesMaster1.xml" Id="Rf8d12fcc6b6f48f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b8d327d5a364f2c" /><Relationship Type="http://schemas.openxmlformats.org/officeDocument/2006/relationships/notesMaster" Target="/ppt/notesMasters/notesMaster1.xml" Id="R0ae0487a5a5e4c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各位好，今天这份材料围绕昌兴复材系统集成方案预审展开。版本已更新到 2026 年 5 月 7 日状态：PLM 供应商已确认为翎瑞鸿翔，一期范围聚焦 MBOM、ECO 和工程项目管理；A1 和 A3 已完成。先强调会议定位：这不是最终拍板会，而是把 MDM 主数据底座、组织职责、未决问题和接口前置条件梳理清楚，为 5 月 9 日会议形成可讨论、可追责、可补资料的输入。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先看 5 月 9 日预审会的建议议程。前半段确认会议定位、组织职责和 MDM 建设路径；中段预审黄金源矩阵、接口和数据中台路线；后半段进入适航追溯、质量数据和行动项锁定。建议会议纪要明确：资料不足的事项列为会后补资料项，不作为最终决议。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这一页把材料更新到 5 月 7 日状态。第一，PLM 供应商已经确定为翎瑞鸿翔，一期范围是 MBOM、ECO 和工程项目管理，但供应商资料仍要在 5 月 9 日前提交。第二，A1 和 A3 已完成，ECO 流程已验证没有风险敞口。第三，EBOM 到 MBOM 的 BOM头风险已经识别，主要是结构映射和字段对齐，一期先由人工或临时方案承接，CAPP 放到后续规划。第四，5 月 8 日仍要补齐 SCIM 定位、数据中台路线、主数据编码技术确认、非 PLM 接口卡和 Q1 到 Q8 一页纸。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议程和最新状态已经放在最前面，这一页用于说明后续材料结构。今天不是逐条朗读所有材料，而是按五个部分推进：第一，确认本次会议是预审而非最终决策；第二，看系统拓扑和四大集成域；第三，确认 MDM、黄金源和数据中台这些底座问题；第四，进入适航追溯和接口卡；第五，把未决问题转成会前行动、组织分工和 Q1 到 Q8 的预审状态。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下面进入预审定位与系统清单。这一部分重点不是给出所有最终答案，而是把预审需要统一的判断框架先搭起来：会议定位：预审 + 条件性决策；核心系统：已定、一期边界、待细化分开表达；资料不足：降级为待补资料项。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这一页先统一会议边界。当前材料已经能说明总体方向，5 月 7 日又补齐了 PLM 供应商和 ECO 闭环两项关键输入：翎瑞鸿翔已确认为一期 PLM 供应商，ECO 流程已验证。仍未补齐的是 SCIM 定位、数据中台路线、主数据编码技术确认、非 PLM 接口卡和 Q1 到 Q8 一页纸。因此 5 月 9 日仍建议定位为系统集成方案预审会：会上确认进入详细设计所需的条件、责任人和补资料路径，不把未知内容写成最终决议。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这里是核心系统清单。ERP、MES、OA 的供应商已基本明确，分别承担企业资源计划、制造执行和流程协同。PLM 已确认为翎瑞鸿翔，一期范围聚焦 MBOM、ECO 和工程项目管理。PDM、CAPP、WMS、SCIM 的实施边界还需要继续细化，尤其 SCIM 是自研还是采购、CAPP 后续如何承接 MBOM 展开，都不能在资料不足时直接写成最终结论。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下面进入总体拓扑与四大集成域。这一部分重点不是给出所有最终答案，而是把预审需要统一的判断框架先搭起来：总体拓扑只表达已确认主链关系；四大集成域展开原 H5 的点击内容；BOM 差异决定后续转换和追溯复杂度。</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这一页恢复采用 H5 中的原始总体拓扑图。读图时重点看三件事：第一，ERP 是计划、采购、财务成本的核心；第二，PLM、PDM、CAPP、MES 构成研发到制造的主链；第三，数据中台或集成总线仍是 Q7 待决项，它是横向基础设施，不属于某个业务域。主图只画已经确认的主链关系，未明确主写方和边界的关系不直接连线。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四大集成域是后续讨论的主结构：研发域解决 PLM、PDM、CAPP、ERP-PP 的受控发布和工艺计划衔接；采购域解决 ERP-MM、SCIM、合同、WMS、MES 的协同；制造域解决 ERP-PP、MES、成本和财务闭环；质量域贯穿研发、采购、制造和交付。这一页是总览，后面几页会把网页里原本通过点击切换的内容展开。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研发域的主链是 PLM 到 PDM，再到 CAPP 和 ERP-PP。5 月 7 日后，PLM 已确认为翎瑞鸿翔，一期范围覆盖 MBOM、ECO 和工程项目管理。PLM 发起工程发布，PDM 负责受控发布、版本锁定和虚拟件过滤，CAPP 后续承接工艺路线和 MBOM 展开，ERP-PP 承接计划和 MRP。现在的风险不再是 PLM 供应商未定，而是 BOM头结构映射、字段对齐、接口资料和 CAPP 后续规划需要继续补齐。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这一页把四态 BOM 单独展开。EBOM 是工程视角，MBOM 是制造视角，PBOM 是采购视角，SBOM 是构型和适航视角。航空复材和普通制造最大的差异在于：最小单元可能是铺层，材料有效期和存储条件很关键，固化曲线、热压罐编号、NDT 报告、构型状态和偏离记录都要追溯到件。因此 EBOM 到 MBOM 不能只看普通物料结构转换。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左侧是采购协同链：ERP 根据 MRP 形成需求，SCIM 承担供应商协同，OA 或合同系统驱动合同流程，WMS 管理入库、库位、批次和有效期，最后 MES 绑定工单和领料。右侧是制造执行闭环：ERP-PP 下达订单，MES 完成排产和现场执行，再把完工和工时回传，进入 ERP-CO 和 FI 做成本与财务核算。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质量域不是一个孤立系统，而是横向贯穿研发、采购、制造和交付。研发阶段关注质量策划和受控文件，采购阶段关注供应商质量、首件检验和交付文件，制造阶段关注现场检验和 NDT，交付阶段关注适航符合性证明。这里要引出 Q8：质量记录、构型、偏离超差和追溯数据到底由谁存、谁查、谁负责。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下面进入MDM、黄金源与数据中台。这一部分重点不是给出所有最终答案，而是把预审需要统一的判断框架先搭起来：MDM 路径：组织先行、流程牵引；黄金源：字段唯一权威来源；Q7：数据中台/集成总线条件性决策。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MDM 是这套集成能否稳定落地的前置基石。建议路径是组织先行、流程牵引、术语统一、字段落账、主数据沉淀。先统一组织、人员、岗位、工号和权限入口，再按流程盘点字段，建立术语词典和字段台账，最后形成可维护的主数据底座。没有这个基础，接口容易变成点对点临时连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这一页讲编码和字段治理。13 位含连字符的物料编码方案需要各系统确认字段长度、字符集、唯一性校验和导入导出限制。REV 建议作为独立字段，而不是塞进编码本体。同时，字段台账和术语治理必须同步推进，否则同一个字段在 PLM、ERP、MES、WMS 中可能含义不同，后续接口会反复返工。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黄金源矩阵要解决的是：同一个数据项到底哪个系统是唯一权威来源。比如组织和人员可能来自 OA 或 MDM，设计件物料倾向 PLM，采购件可能由 ERP-MM 创建维护，MBOM 一期结合翎瑞鸿翔 PLM 范围和临时承接方案处理，后续再与 CAPP 规划衔接。预审口径是：黄金源不能单独拍脑袋确定，必须和组织职责、流程确认人、主数据责任人同步确认。PLM 已定事项进入一期边界，接口字段和未补资料项继续标注待确认。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数据中台或集成总线是 Q7 的核心。当前不建议直接拍最终架构，而是先把路线比较清楚：点对点成本低但治理弱，ESB 或消息中间件可以统一接口和异常处理，完整数据中台还能承接 MDM 与追溯查询。会上至少要确认一个底线：关键接口不能裸奔，必须有字段、触发、异常处理和人工兜底。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下面进入适航追溯与关键接口。这一部分重点不是给出所有最终答案，而是把预审需要统一的判断框架先搭起来：Q8：零件编号 + 质量编号追溯；接口卡：方向、触发、字段、异常；字段映射：以 PLM→PDM 为样例。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适航追溯强调零件编号加质量编号，而不是只做批次追溯。追溯链至少要覆盖原材料批次、制造工艺、质量记录和交付构型。航空复材还要关注预浸料有效期、热压罐参数、NDT 报告、偏离超差和构型状态。这一页的落点是 Q8：追溯数据分散存储还是统一查询，需要在预审会上明确下一步补资料责任。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关键接口设计不能只写系统 A 把数据传给系统 B。每张接口卡至少要明确方向、触发时机、协议或格式、核心字段、主数据依赖、术语风险、失败重试和人工兜底。这里列出的 PLM 到 PDM、PDM 到 CAPP、CAPP 到 MES、ERP-PP 到 MES 是最需要先补齐的主链接口。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这一页用 PLM 到 PDM 的工程 BOM 发布作为字段示例。需要注意物料编码、件号、版次、铺层顺序、材料规范、固化工艺规范、NDT 规范和虚拟件标记这些字段。虚拟件不过渡到 PDM BOM 结构，发布版本和接收版本必须一一对应，接口失败时要有告警和人工介入流程。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下面进入会前行动与会议组织。这一部分重点不是给出所有最终答案，而是把预审需要统一的判断框架先搭起来：A1/A3：已完成并进入最新状态；A4-A8：5月8日补齐预审输入；Q1-Q8：成熟度预审和会后补资料。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这一页把当前未决问题集中展示。5 月 7 日 PLM 洽谈已经完成，翎瑞鸿翔一期范围明确，ECO 闭环也已验证。现在风险较高的点集中在接口协议和触发时机缺失、MDM 主数据没有形成体系、异常处理和版本管理不足、中间件路线未定，以及 SCIM 定位未定。会议判断是：5 月 9 日如果没有 5 月 8 日的部门预沟通输入，就仍然会变成现场补资料。因此接下来要把 SCIM、数据中台、编码确认、非 PLM 接口卡和 Q1 到 Q8 一页纸补齐。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 到 A8 是把问题转成行动的清单。现在状态已经发生变化：A1 的 PLM 供应商能力确认已经完成，A3 的 ECO 闭环也已完成；A2 的 BOM头风险已识别，一期由人工或临时方案承接。仍需要重点推进的是 A4 的 SCIM 定位、A5 的数据中台路线、A6 的主数据编码技术确认、A7 的非 PLM 接口卡补全，以及 A8 的 5 月 9 日决策包整理。每个行动项都要有牵头部门、参与方、会前输出和截止时间。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组织分工页要确认预审工作组的运行机制。决策层处理跨部门冲突、系统路线和重大投入；项目管理部统一收口 Q1 到 Q8 决策包、A1 到 A8 行动项、接口卡和会议纪要；各部门至少指定业务确认人和数据确认人，分别确认流程真实性和字段、编码、主数据完整性。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最后用 Q1 到 Q8 收束预审问题。每一题都应形成一页纸：当前结论、待决问题、可选方案、推荐倾向、影响范围和需供应商补充资料。5 月 7 日后，PLM 供应商确认和 ECO 闭环可以从待确认调整为已解决或条件性结论；仍需预沟通的是 SCIM 定位，仍需技术确认的是主数据编码，仍需方案对比的是数据中台路线，仍需补资料的是接口卡和字段细节。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录列出本材料融合和引用的文档版本。后续如果要形成正式会议包，建议以这张表作为资料状态索引：哪些是正式版，哪些是草案，哪些已经融合进预审口径，哪些仍只是参考文档。这样可以避免把草案内容误当成已经确认的最终结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c813a45738948c0"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57B24447-6FFC-4004-8F04-0910114590BB}"/>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5BF59257-F6C3-4F30-9311-D2BF7A853F9D}"/>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6A6B07F8-F09D-4474-9CB6-4AED85861927}"/>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BC154298-BE45-4B41-B200-B8D4C947E644}"/>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324DEB74-A7C7-4D33-BC84-196B1C0AAFF3}"/>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c422ef3bc57c467d" /><Relationship Type="http://schemas.openxmlformats.org/officeDocument/2006/relationships/slideLayout" Target="/ppt/slideLayouts/slideLayout2.xml" Id="R2ddf7cf246e441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A74BF87E-051B-4636-800A-7D8C97089993}"/>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df7cf246e441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3f7a48806c584e0f" /><Relationship Type="http://schemas.openxmlformats.org/officeDocument/2006/relationships/notesSlide" Target="/ppt/notesSlides/notesSlide1.xml" Id="R0819bac30b4547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d0179f5cb184e83" /><Relationship Type="http://schemas.openxmlformats.org/officeDocument/2006/relationships/notesSlide" Target="/ppt/notesSlides/notesSlide2.xml" Id="R7866cdcfbf344f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0a2fbf757894a03" /><Relationship Type="http://schemas.openxmlformats.org/officeDocument/2006/relationships/notesSlide" Target="/ppt/notesSlides/notesSlide3.xml" Id="R1e8997f3006f48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178bea445f647a2" /><Relationship Type="http://schemas.openxmlformats.org/officeDocument/2006/relationships/notesSlide" Target="/ppt/notesSlides/notesSlide4.xml" Id="R1595926851e842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2e0ebe1792b41e7" /><Relationship Type="http://schemas.openxmlformats.org/officeDocument/2006/relationships/notesSlide" Target="/ppt/notesSlides/notesSlide5.xml" Id="R6ec84e53fa7c43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8d27b917e65436d" /><Relationship Type="http://schemas.openxmlformats.org/officeDocument/2006/relationships/notesSlide" Target="/ppt/notesSlides/notesSlide6.xml" Id="R7ba13ffca7324e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7b41a7a88734d31" /><Relationship Type="http://schemas.openxmlformats.org/officeDocument/2006/relationships/notesSlide" Target="/ppt/notesSlides/notesSlide7.xml" Id="R71630210a56946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798c2bcca704cce" /><Relationship Type="http://schemas.openxmlformats.org/officeDocument/2006/relationships/notesSlide" Target="/ppt/notesSlides/notesSlide8.xml" Id="R8fe74741aa3648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20435690cf84c55" /><Relationship Type="http://schemas.openxmlformats.org/officeDocument/2006/relationships/image" Target="/ppt/media/image.png" Id="Rb3a1970461904807" /><Relationship Type="http://schemas.openxmlformats.org/officeDocument/2006/relationships/notesSlide" Target="/ppt/notesSlides/notesSlide9.xml" Id="R7ad58ed8180a40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2f87779e4bb444f" /><Relationship Type="http://schemas.openxmlformats.org/officeDocument/2006/relationships/notesSlide" Target="/ppt/notesSlides/notesSlide10.xml" Id="R9f4c0ddac22a4b2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8a8b79d9d1cf4b50" /><Relationship Type="http://schemas.openxmlformats.org/officeDocument/2006/relationships/notesSlide" Target="/ppt/notesSlides/notesSlide11.xml" Id="Rfaa03d7117ca46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2acb461188c247e7" /><Relationship Type="http://schemas.openxmlformats.org/officeDocument/2006/relationships/notesSlide" Target="/ppt/notesSlides/notesSlide12.xml" Id="R143b4ebf20d140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83b51e163181455e" /><Relationship Type="http://schemas.openxmlformats.org/officeDocument/2006/relationships/notesSlide" Target="/ppt/notesSlides/notesSlide13.xml" Id="R698f7b5681404e8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fcd0319015147c6" /><Relationship Type="http://schemas.openxmlformats.org/officeDocument/2006/relationships/notesSlide" Target="/ppt/notesSlides/notesSlide14.xml" Id="Rab0ac659056349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5b6d969026934cb8" /><Relationship Type="http://schemas.openxmlformats.org/officeDocument/2006/relationships/notesSlide" Target="/ppt/notesSlides/notesSlide15.xml" Id="R8f4acdc2bb8b444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f09bde94e0e422f" /><Relationship Type="http://schemas.openxmlformats.org/officeDocument/2006/relationships/notesSlide" Target="/ppt/notesSlides/notesSlide16.xml" Id="R865b08504a394b5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fab70ca9cc2a4f35" /><Relationship Type="http://schemas.openxmlformats.org/officeDocument/2006/relationships/notesSlide" Target="/ppt/notesSlides/notesSlide17.xml" Id="R22e767f41bfc492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adef1a018b3c475d" /><Relationship Type="http://schemas.openxmlformats.org/officeDocument/2006/relationships/notesSlide" Target="/ppt/notesSlides/notesSlide18.xml" Id="R405f2f46c8f24b2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e0799f98e71143e5" /><Relationship Type="http://schemas.openxmlformats.org/officeDocument/2006/relationships/notesSlide" Target="/ppt/notesSlides/notesSlide19.xml" Id="Rf6d8ec1348c34cc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63a82a84fe7b4017" /><Relationship Type="http://schemas.openxmlformats.org/officeDocument/2006/relationships/notesSlide" Target="/ppt/notesSlides/notesSlide20.xml" Id="Rf1fa4c5487ab4b2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c9bbdef01dee4623" /><Relationship Type="http://schemas.openxmlformats.org/officeDocument/2006/relationships/notesSlide" Target="/ppt/notesSlides/notesSlide21.xml" Id="Rf5848ae54c2b475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2b1a5528206d4367" /><Relationship Type="http://schemas.openxmlformats.org/officeDocument/2006/relationships/notesSlide" Target="/ppt/notesSlides/notesSlide22.xml" Id="Rf024056e2c604d9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39eb20e9037c408b" /><Relationship Type="http://schemas.openxmlformats.org/officeDocument/2006/relationships/notesSlide" Target="/ppt/notesSlides/notesSlide23.xml" Id="R6b6289930a8a432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c92ddab315444442" /><Relationship Type="http://schemas.openxmlformats.org/officeDocument/2006/relationships/notesSlide" Target="/ppt/notesSlides/notesSlide24.xml" Id="R63547a7b12ad426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e8a992b770f44ff7" /><Relationship Type="http://schemas.openxmlformats.org/officeDocument/2006/relationships/notesSlide" Target="/ppt/notesSlides/notesSlide25.xml" Id="R0d9a9328391b459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c5d4c823cd2d4bac" /><Relationship Type="http://schemas.openxmlformats.org/officeDocument/2006/relationships/notesSlide" Target="/ppt/notesSlides/notesSlide26.xml" Id="R7a03bb6f8ac54fd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8db66123c3af447b" /><Relationship Type="http://schemas.openxmlformats.org/officeDocument/2006/relationships/notesSlide" Target="/ppt/notesSlides/notesSlide27.xml" Id="R21213ff2a27349e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14730551bc4d4a0a" /><Relationship Type="http://schemas.openxmlformats.org/officeDocument/2006/relationships/notesSlide" Target="/ppt/notesSlides/notesSlide28.xml" Id="R885866e4083f445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a5f08451dd924e77" /><Relationship Type="http://schemas.openxmlformats.org/officeDocument/2006/relationships/notesSlide" Target="/ppt/notesSlides/notesSlide29.xml" Id="Rd3bf575e93c9456b" /></Relationships>
</file>

<file path=ppt/slides/slide1.xml><?xml version="1.0" encoding="utf-8"?>
<p:sld xmlns:p="http://schemas.openxmlformats.org/presentationml/2006/main">
  <p:cSld>
    <p:bg>
      <p:bgPr>
        <a:solidFill xmlns:a="http://schemas.openxmlformats.org/drawingml/2006/main">
          <a:srgbClr val="0F2A5E"/>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80C7E556-EBC1-4A6C-BEB2-1451725D2E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AFD5CD0-1345-4915-95E1-5242120CDE6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88CA0BD-359A-494D-BCC9-876DF25EC17D}"/>
              </a:ext>
            </a:extLst>
          </p:cNvPr>
          <p:cNvSpPr>
            <a:spLocks xmlns:a="http://schemas.openxmlformats.org/drawingml/2006/main" noGrp="1"/>
          </p:cNvSpPr>
          <p:nvPr/>
        </p:nvSpPr>
        <p:spPr>
          <a:xfrm xmlns:a="http://schemas.openxmlformats.org/drawingml/2006/main">
            <a:off x="7239000" y="-1809750"/>
            <a:ext cx="5715000" cy="5715000"/>
          </a:xfrm>
          <a:prstGeom xmlns:a="http://schemas.openxmlformats.org/drawingml/2006/main" prst="ellipse">
            <a:avLst/>
          </a:prstGeom>
          <a:solidFill xmlns:a="http://schemas.openxmlformats.org/drawingml/2006/main">
            <a:srgbClr val="FFFFFF">
              <a:alpha val="7843"/>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58988145-D685-4292-8D24-D12BE8F85275}"/>
              </a:ext>
            </a:extLst>
          </p:cNvPr>
          <p:cNvSpPr>
            <a:spLocks xmlns:a="http://schemas.openxmlformats.org/drawingml/2006/main" noGrp="1"/>
          </p:cNvSpPr>
          <p:nvPr/>
        </p:nvSpPr>
        <p:spPr>
          <a:xfrm xmlns:a="http://schemas.openxmlformats.org/drawingml/2006/main">
            <a:off x="-1143000" y="4953000"/>
            <a:ext cx="3429000" cy="3429000"/>
          </a:xfrm>
          <a:prstGeom xmlns:a="http://schemas.openxmlformats.org/drawingml/2006/main" prst="ellipse">
            <a:avLst/>
          </a:prstGeom>
          <a:solidFill xmlns:a="http://schemas.openxmlformats.org/drawingml/2006/main">
            <a:srgbClr val="FFFFFF">
              <a:alpha val="5098"/>
            </a:srgbClr>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E832EBB8-7B29-4F65-A536-D4E8A336A8BA}"/>
              </a:ext>
            </a:extLst>
          </p:cNvPr>
          <p:cNvSpPr>
            <a:spLocks xmlns:a="http://schemas.openxmlformats.org/drawingml/2006/main" noGrp="1"/>
          </p:cNvSpPr>
          <p:nvPr/>
        </p:nvSpPr>
        <p:spPr>
          <a:xfrm xmlns:a="http://schemas.openxmlformats.org/drawingml/2006/main">
            <a:off x="876300" y="914400"/>
            <a:ext cx="6096000" cy="285750"/>
          </a:xfrm>
          <a:prstGeom xmlns:a="http://schemas.openxmlformats.org/drawingml/2006/main" prst="rect">
            <a:avLst/>
          </a:prstGeom>
          <a:solidFill xmlns:a="http://schemas.openxmlformats.org/drawingml/2006/main">
            <a:srgbClr val="FFFFFF">
              <a:alpha val="10980"/>
            </a:srgbClr>
          </a:solidFill>
          <a:ln xmlns:a="http://schemas.openxmlformats.org/drawingml/2006/main" w="9525">
            <a:solidFill>
              <a:srgbClr val="FFFFFF">
                <a:alpha val="2000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975" b="0">
                <a:solidFill>
                  <a:srgbClr val="A5C8FF"/>
                </a:solidFill>
              </a:defRPr>
            </a:pPr>
            <a:r>
              <a:rPr sz="975" b="0">
                <a:solidFill>
                  <a:srgbClr val="A5C8FF"/>
                </a:solidFill>
              </a:rPr>
              <a:t>V2.3 预审稿 · 仅供内部讨论 · PLM已定（翎瑞鸿翔）✅</a:t>
            </a:r>
          </a:p>
        </p:txBody>
      </p:sp>
      <p:sp>
        <p:nvSpPr>
          <p:cNvPr id="7" name="">
            <a:extLst xmlns:a="http://schemas.openxmlformats.org/drawingml/2006/main">
              <a:ext uri="{FF2B5EF4-FFF2-40B4-BE49-F238E27FC236}">
                <a16:creationId xmlns:a16="http://schemas.microsoft.com/office/drawing/2014/main" id="{2BF36B3B-39B8-4A73-842F-3611C74CC646}"/>
              </a:ext>
            </a:extLst>
          </p:cNvPr>
          <p:cNvSpPr>
            <a:spLocks xmlns:a="http://schemas.openxmlformats.org/drawingml/2006/main" noGrp="1"/>
          </p:cNvSpPr>
          <p:nvPr/>
        </p:nvSpPr>
        <p:spPr>
          <a:xfrm xmlns:a="http://schemas.openxmlformats.org/drawingml/2006/main">
            <a:off x="876300" y="1466850"/>
            <a:ext cx="59055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3300" b="1">
                <a:solidFill>
                  <a:srgbClr val="FFFFFF"/>
                </a:solidFill>
              </a:defRPr>
            </a:pPr>
            <a:r>
              <a:rPr sz="3300" b="1">
                <a:solidFill>
                  <a:srgbClr val="FFFFFF"/>
                </a:solidFill>
              </a:rPr>
              <a:t>系统集成方案</a:t>
            </a:r>
          </a:p>
          <a:p xmlns:a="http://schemas.openxmlformats.org/drawingml/2006/main">
            <a:pPr algn="l">
              <a:defRPr sz="3300" b="1">
                <a:solidFill>
                  <a:srgbClr val="FFFFFF"/>
                </a:solidFill>
              </a:defRPr>
            </a:pPr>
            <a:r>
              <a:rPr sz="3300" b="1">
                <a:solidFill>
                  <a:srgbClr val="FFFFFF"/>
                </a:solidFill>
              </a:rPr>
              <a:t>预审会</a:t>
            </a:r>
          </a:p>
        </p:txBody>
      </p:sp>
      <p:sp>
        <p:nvSpPr>
          <p:cNvPr id="8" name="">
            <a:extLst xmlns:a="http://schemas.openxmlformats.org/drawingml/2006/main">
              <a:ext uri="{FF2B5EF4-FFF2-40B4-BE49-F238E27FC236}">
                <a16:creationId xmlns:a16="http://schemas.microsoft.com/office/drawing/2014/main" id="{B928E2FA-49E4-437E-B38C-45CD657B8545}"/>
              </a:ext>
            </a:extLst>
          </p:cNvPr>
          <p:cNvSpPr>
            <a:spLocks xmlns:a="http://schemas.openxmlformats.org/drawingml/2006/main" noGrp="1"/>
          </p:cNvSpPr>
          <p:nvPr/>
        </p:nvSpPr>
        <p:spPr>
          <a:xfrm xmlns:a="http://schemas.openxmlformats.org/drawingml/2006/main">
            <a:off x="895350" y="2800350"/>
            <a:ext cx="6572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DBEAFE"/>
                </a:solidFill>
              </a:defRPr>
            </a:pPr>
            <a:r>
              <a:rPr sz="1275" b="0">
                <a:solidFill>
                  <a:srgbClr val="DBEAFE"/>
                </a:solidFill>
              </a:rPr>
              <a:t>沈阳昌兴复材航空科技有限责任公司</a:t>
            </a:r>
          </a:p>
          <a:p xmlns:a="http://schemas.openxmlformats.org/drawingml/2006/main">
            <a:pPr algn="l">
              <a:defRPr sz="1275" b="0">
                <a:solidFill>
                  <a:srgbClr val="DBEAFE"/>
                </a:solidFill>
              </a:defRPr>
            </a:pPr>
            <a:r>
              <a:rPr sz="1275" b="0">
                <a:solidFill>
                  <a:srgbClr val="DBEAFE"/>
                </a:solidFill>
              </a:rPr>
              <a:t>围绕 MDM 主数据底座、组织职责、未决问题和接口前置条件开展预审</a:t>
            </a:r>
          </a:p>
        </p:txBody>
      </p:sp>
      <p:sp>
        <p:nvSpPr>
          <p:cNvPr id="9" name="">
            <a:extLst xmlns:a="http://schemas.openxmlformats.org/drawingml/2006/main">
              <a:ext uri="{FF2B5EF4-FFF2-40B4-BE49-F238E27FC236}">
                <a16:creationId xmlns:a16="http://schemas.microsoft.com/office/drawing/2014/main" id="{C554009E-4917-4B41-88AB-25E62F506CF4}"/>
              </a:ext>
            </a:extLst>
          </p:cNvPr>
          <p:cNvSpPr>
            <a:spLocks xmlns:a="http://schemas.openxmlformats.org/drawingml/2006/main" noGrp="1"/>
          </p:cNvSpPr>
          <p:nvPr/>
        </p:nvSpPr>
        <p:spPr>
          <a:xfrm xmlns:a="http://schemas.openxmlformats.org/drawingml/2006/main">
            <a:off x="876300" y="3943350"/>
            <a:ext cx="1619250" cy="552450"/>
          </a:xfrm>
          <a:prstGeom xmlns:a="http://schemas.openxmlformats.org/drawingml/2006/main" prst="roundRect">
            <a:avLst>
              <a:gd name="adj" fmla="val 13793"/>
            </a:avLst>
          </a:prstGeom>
          <a:solidFill xmlns:a="http://schemas.openxmlformats.org/drawingml/2006/main">
            <a:srgbClr val="FFFFFF">
              <a:alpha val="9804"/>
            </a:srgbClr>
          </a:solidFill>
          <a:ln xmlns:a="http://schemas.openxmlformats.org/drawingml/2006/main" w="9525">
            <a:solidFill>
              <a:srgbClr val="FFFFFF">
                <a:alpha val="20000"/>
              </a:srgbClr>
            </a:solidFill>
            <a:prstDash val="solid"/>
          </a:ln>
        </p:spPr>
      </p:sp>
      <p:sp>
        <p:nvSpPr>
          <p:cNvPr id="10" name="">
            <a:extLst xmlns:a="http://schemas.openxmlformats.org/drawingml/2006/main">
              <a:ext uri="{FF2B5EF4-FFF2-40B4-BE49-F238E27FC236}">
                <a16:creationId xmlns:a16="http://schemas.microsoft.com/office/drawing/2014/main" id="{A6AE5A41-DE9F-4D53-B4F3-4BF6A6B4E50F}"/>
              </a:ext>
            </a:extLst>
          </p:cNvPr>
          <p:cNvSpPr>
            <a:spLocks xmlns:a="http://schemas.openxmlformats.org/drawingml/2006/main" noGrp="1"/>
          </p:cNvSpPr>
          <p:nvPr/>
        </p:nvSpPr>
        <p:spPr>
          <a:xfrm xmlns:a="http://schemas.openxmlformats.org/drawingml/2006/main">
            <a:off x="990600" y="4029075"/>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1920"/>
          </a:bodyPr>
          <a:lstStyle xmlns:a="http://schemas.openxmlformats.org/drawingml/2006/main"/>
          <a:p xmlns:a="http://schemas.openxmlformats.org/drawingml/2006/main">
            <a:pPr algn="l">
              <a:defRPr sz="750" b="0">
                <a:solidFill>
                  <a:srgbClr val="BFDBFE"/>
                </a:solidFill>
              </a:defRPr>
            </a:pPr>
            <a:r>
              <a:rPr sz="750" b="0">
                <a:solidFill>
                  <a:srgbClr val="BFDBFE"/>
                </a:solidFill>
              </a:rPr>
              <a:t>文件版本</a:t>
            </a:r>
          </a:p>
        </p:txBody>
      </p:sp>
      <p:sp>
        <p:nvSpPr>
          <p:cNvPr id="11" name="">
            <a:extLst xmlns:a="http://schemas.openxmlformats.org/drawingml/2006/main">
              <a:ext uri="{FF2B5EF4-FFF2-40B4-BE49-F238E27FC236}">
                <a16:creationId xmlns:a16="http://schemas.microsoft.com/office/drawing/2014/main" id="{60403CD7-DF5C-4041-B5A5-62C28CAAA148}"/>
              </a:ext>
            </a:extLst>
          </p:cNvPr>
          <p:cNvSpPr>
            <a:spLocks xmlns:a="http://schemas.openxmlformats.org/drawingml/2006/main" noGrp="1"/>
          </p:cNvSpPr>
          <p:nvPr/>
        </p:nvSpPr>
        <p:spPr>
          <a:xfrm xmlns:a="http://schemas.openxmlformats.org/drawingml/2006/main">
            <a:off x="990600" y="4210050"/>
            <a:ext cx="1352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76459"/>
          </a:bodyPr>
          <a:lstStyle xmlns:a="http://schemas.openxmlformats.org/drawingml/2006/main"/>
          <a:p xmlns:a="http://schemas.openxmlformats.org/drawingml/2006/main">
            <a:pPr algn="l">
              <a:defRPr sz="1125" b="1">
                <a:solidFill>
                  <a:srgbClr val="FFFFFF"/>
                </a:solidFill>
              </a:defRPr>
            </a:pPr>
            <a:r>
              <a:rPr sz="1125" b="1">
                <a:solidFill>
                  <a:srgbClr val="FFFFFF"/>
                </a:solidFill>
              </a:rPr>
              <a:t>V2.3</a:t>
            </a:r>
          </a:p>
        </p:txBody>
      </p:sp>
      <p:sp>
        <p:nvSpPr>
          <p:cNvPr id="12" name="">
            <a:extLst xmlns:a="http://schemas.openxmlformats.org/drawingml/2006/main">
              <a:ext uri="{FF2B5EF4-FFF2-40B4-BE49-F238E27FC236}">
                <a16:creationId xmlns:a16="http://schemas.microsoft.com/office/drawing/2014/main" id="{181C6317-99D1-43F3-AC84-DE7EB755D13C}"/>
              </a:ext>
            </a:extLst>
          </p:cNvPr>
          <p:cNvSpPr>
            <a:spLocks xmlns:a="http://schemas.openxmlformats.org/drawingml/2006/main" noGrp="1"/>
          </p:cNvSpPr>
          <p:nvPr/>
        </p:nvSpPr>
        <p:spPr>
          <a:xfrm xmlns:a="http://schemas.openxmlformats.org/drawingml/2006/main">
            <a:off x="2705100" y="3943350"/>
            <a:ext cx="1619250" cy="552450"/>
          </a:xfrm>
          <a:prstGeom xmlns:a="http://schemas.openxmlformats.org/drawingml/2006/main" prst="roundRect">
            <a:avLst>
              <a:gd name="adj" fmla="val 13793"/>
            </a:avLst>
          </a:prstGeom>
          <a:solidFill xmlns:a="http://schemas.openxmlformats.org/drawingml/2006/main">
            <a:srgbClr val="FFFFFF">
              <a:alpha val="9804"/>
            </a:srgbClr>
          </a:solidFill>
          <a:ln xmlns:a="http://schemas.openxmlformats.org/drawingml/2006/main" w="9525">
            <a:solidFill>
              <a:srgbClr val="FFFFFF">
                <a:alpha val="20000"/>
              </a:srgbClr>
            </a:solidFill>
            <a:prstDash val="solid"/>
          </a:ln>
        </p:spPr>
      </p:sp>
      <p:sp>
        <p:nvSpPr>
          <p:cNvPr id="13" name="">
            <a:extLst xmlns:a="http://schemas.openxmlformats.org/drawingml/2006/main">
              <a:ext uri="{FF2B5EF4-FFF2-40B4-BE49-F238E27FC236}">
                <a16:creationId xmlns:a16="http://schemas.microsoft.com/office/drawing/2014/main" id="{6825CA64-C7FF-4E56-9F3D-B07771D677E4}"/>
              </a:ext>
            </a:extLst>
          </p:cNvPr>
          <p:cNvSpPr>
            <a:spLocks xmlns:a="http://schemas.openxmlformats.org/drawingml/2006/main" noGrp="1"/>
          </p:cNvSpPr>
          <p:nvPr/>
        </p:nvSpPr>
        <p:spPr>
          <a:xfrm xmlns:a="http://schemas.openxmlformats.org/drawingml/2006/main">
            <a:off x="2819400" y="4029075"/>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1920"/>
          </a:bodyPr>
          <a:lstStyle xmlns:a="http://schemas.openxmlformats.org/drawingml/2006/main"/>
          <a:p xmlns:a="http://schemas.openxmlformats.org/drawingml/2006/main">
            <a:pPr algn="l">
              <a:defRPr sz="750" b="0">
                <a:solidFill>
                  <a:srgbClr val="BFDBFE"/>
                </a:solidFill>
              </a:defRPr>
            </a:pPr>
            <a:r>
              <a:rPr sz="750" b="0">
                <a:solidFill>
                  <a:srgbClr val="BFDBFE"/>
                </a:solidFill>
              </a:rPr>
              <a:t>更新日期</a:t>
            </a:r>
          </a:p>
        </p:txBody>
      </p:sp>
      <p:sp>
        <p:nvSpPr>
          <p:cNvPr id="14" name="">
            <a:extLst xmlns:a="http://schemas.openxmlformats.org/drawingml/2006/main">
              <a:ext uri="{FF2B5EF4-FFF2-40B4-BE49-F238E27FC236}">
                <a16:creationId xmlns:a16="http://schemas.microsoft.com/office/drawing/2014/main" id="{8F058C25-5141-419B-B5E0-4B8E757FD8BA}"/>
              </a:ext>
            </a:extLst>
          </p:cNvPr>
          <p:cNvSpPr>
            <a:spLocks xmlns:a="http://schemas.openxmlformats.org/drawingml/2006/main" noGrp="1"/>
          </p:cNvSpPr>
          <p:nvPr/>
        </p:nvSpPr>
        <p:spPr>
          <a:xfrm xmlns:a="http://schemas.openxmlformats.org/drawingml/2006/main">
            <a:off x="2819400" y="4210050"/>
            <a:ext cx="1352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76459"/>
          </a:bodyPr>
          <a:lstStyle xmlns:a="http://schemas.openxmlformats.org/drawingml/2006/main"/>
          <a:p xmlns:a="http://schemas.openxmlformats.org/drawingml/2006/main">
            <a:pPr algn="l">
              <a:defRPr sz="1125" b="1">
                <a:solidFill>
                  <a:srgbClr val="FFFFFF"/>
                </a:solidFill>
              </a:defRPr>
            </a:pPr>
            <a:r>
              <a:rPr sz="1125" b="1">
                <a:solidFill>
                  <a:srgbClr val="FFFFFF"/>
                </a:solidFill>
              </a:rPr>
              <a:t>2026-05-07</a:t>
            </a:r>
          </a:p>
        </p:txBody>
      </p:sp>
      <p:sp>
        <p:nvSpPr>
          <p:cNvPr id="15" name="">
            <a:extLst xmlns:a="http://schemas.openxmlformats.org/drawingml/2006/main">
              <a:ext uri="{FF2B5EF4-FFF2-40B4-BE49-F238E27FC236}">
                <a16:creationId xmlns:a16="http://schemas.microsoft.com/office/drawing/2014/main" id="{7362E491-FFE9-46A6-91A6-E67673BB3776}"/>
              </a:ext>
            </a:extLst>
          </p:cNvPr>
          <p:cNvSpPr>
            <a:spLocks xmlns:a="http://schemas.openxmlformats.org/drawingml/2006/main" noGrp="1"/>
          </p:cNvSpPr>
          <p:nvPr/>
        </p:nvSpPr>
        <p:spPr>
          <a:xfrm xmlns:a="http://schemas.openxmlformats.org/drawingml/2006/main">
            <a:off x="4533900" y="3943350"/>
            <a:ext cx="1619250" cy="552450"/>
          </a:xfrm>
          <a:prstGeom xmlns:a="http://schemas.openxmlformats.org/drawingml/2006/main" prst="roundRect">
            <a:avLst>
              <a:gd name="adj" fmla="val 13793"/>
            </a:avLst>
          </a:prstGeom>
          <a:solidFill xmlns:a="http://schemas.openxmlformats.org/drawingml/2006/main">
            <a:srgbClr val="FFFFFF">
              <a:alpha val="9804"/>
            </a:srgbClr>
          </a:solidFill>
          <a:ln xmlns:a="http://schemas.openxmlformats.org/drawingml/2006/main" w="9525">
            <a:solidFill>
              <a:srgbClr val="FFFFFF">
                <a:alpha val="20000"/>
              </a:srgbClr>
            </a:solidFill>
            <a:prstDash val="solid"/>
          </a:ln>
        </p:spPr>
      </p:sp>
      <p:sp>
        <p:nvSpPr>
          <p:cNvPr id="16" name="">
            <a:extLst xmlns:a="http://schemas.openxmlformats.org/drawingml/2006/main">
              <a:ext uri="{FF2B5EF4-FFF2-40B4-BE49-F238E27FC236}">
                <a16:creationId xmlns:a16="http://schemas.microsoft.com/office/drawing/2014/main" id="{2E272808-714A-4919-9D8B-6D56BA75268F}"/>
              </a:ext>
            </a:extLst>
          </p:cNvPr>
          <p:cNvSpPr>
            <a:spLocks xmlns:a="http://schemas.openxmlformats.org/drawingml/2006/main" noGrp="1"/>
          </p:cNvSpPr>
          <p:nvPr/>
        </p:nvSpPr>
        <p:spPr>
          <a:xfrm xmlns:a="http://schemas.openxmlformats.org/drawingml/2006/main">
            <a:off x="4648200" y="4029075"/>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1920"/>
          </a:bodyPr>
          <a:lstStyle xmlns:a="http://schemas.openxmlformats.org/drawingml/2006/main"/>
          <a:p xmlns:a="http://schemas.openxmlformats.org/drawingml/2006/main">
            <a:pPr algn="l">
              <a:defRPr sz="750" b="0">
                <a:solidFill>
                  <a:srgbClr val="BFDBFE"/>
                </a:solidFill>
              </a:defRPr>
            </a:pPr>
            <a:r>
              <a:rPr sz="750" b="0">
                <a:solidFill>
                  <a:srgbClr val="BFDBFE"/>
                </a:solidFill>
              </a:rPr>
              <a:t>会议定位</a:t>
            </a:r>
          </a:p>
        </p:txBody>
      </p:sp>
      <p:sp>
        <p:nvSpPr>
          <p:cNvPr id="17" name="">
            <a:extLst xmlns:a="http://schemas.openxmlformats.org/drawingml/2006/main">
              <a:ext uri="{FF2B5EF4-FFF2-40B4-BE49-F238E27FC236}">
                <a16:creationId xmlns:a16="http://schemas.microsoft.com/office/drawing/2014/main" id="{6E9BB065-466C-41BF-9498-677607FFFF44}"/>
              </a:ext>
            </a:extLst>
          </p:cNvPr>
          <p:cNvSpPr>
            <a:spLocks xmlns:a="http://schemas.openxmlformats.org/drawingml/2006/main" noGrp="1"/>
          </p:cNvSpPr>
          <p:nvPr/>
        </p:nvSpPr>
        <p:spPr>
          <a:xfrm xmlns:a="http://schemas.openxmlformats.org/drawingml/2006/main">
            <a:off x="4648200" y="4210050"/>
            <a:ext cx="1352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76459"/>
          </a:bodyPr>
          <a:lstStyle xmlns:a="http://schemas.openxmlformats.org/drawingml/2006/main"/>
          <a:p xmlns:a="http://schemas.openxmlformats.org/drawingml/2006/main">
            <a:pPr algn="l">
              <a:defRPr sz="1125" b="1">
                <a:solidFill>
                  <a:srgbClr val="FFFFFF"/>
                </a:solidFill>
              </a:defRPr>
            </a:pPr>
            <a:r>
              <a:rPr sz="1125" b="1">
                <a:solidFill>
                  <a:srgbClr val="FFFFFF"/>
                </a:solidFill>
              </a:rPr>
              <a:t>预审 + 条件性决策</a:t>
            </a:r>
          </a:p>
        </p:txBody>
      </p:sp>
      <p:sp>
        <p:nvSpPr>
          <p:cNvPr id="18" name="">
            <a:extLst xmlns:a="http://schemas.openxmlformats.org/drawingml/2006/main">
              <a:ext uri="{FF2B5EF4-FFF2-40B4-BE49-F238E27FC236}">
                <a16:creationId xmlns:a16="http://schemas.microsoft.com/office/drawing/2014/main" id="{8A6C3231-1B6B-49C0-90AA-39B207E0C089}"/>
              </a:ext>
            </a:extLst>
          </p:cNvPr>
          <p:cNvSpPr>
            <a:spLocks xmlns:a="http://schemas.openxmlformats.org/drawingml/2006/main" noGrp="1"/>
          </p:cNvSpPr>
          <p:nvPr/>
        </p:nvSpPr>
        <p:spPr>
          <a:xfrm xmlns:a="http://schemas.openxmlformats.org/drawingml/2006/main">
            <a:off x="876300" y="4686300"/>
            <a:ext cx="1619250" cy="552450"/>
          </a:xfrm>
          <a:prstGeom xmlns:a="http://schemas.openxmlformats.org/drawingml/2006/main" prst="roundRect">
            <a:avLst>
              <a:gd name="adj" fmla="val 13793"/>
            </a:avLst>
          </a:prstGeom>
          <a:solidFill xmlns:a="http://schemas.openxmlformats.org/drawingml/2006/main">
            <a:srgbClr val="FFFFFF">
              <a:alpha val="9804"/>
            </a:srgbClr>
          </a:solidFill>
          <a:ln xmlns:a="http://schemas.openxmlformats.org/drawingml/2006/main" w="9525">
            <a:solidFill>
              <a:srgbClr val="FFFFFF">
                <a:alpha val="20000"/>
              </a:srgbClr>
            </a:solidFill>
            <a:prstDash val="solid"/>
          </a:ln>
        </p:spPr>
      </p:sp>
      <p:sp>
        <p:nvSpPr>
          <p:cNvPr id="19" name="">
            <a:extLst xmlns:a="http://schemas.openxmlformats.org/drawingml/2006/main">
              <a:ext uri="{FF2B5EF4-FFF2-40B4-BE49-F238E27FC236}">
                <a16:creationId xmlns:a16="http://schemas.microsoft.com/office/drawing/2014/main" id="{9CCD8386-5202-4ABA-913C-4FF3E331502F}"/>
              </a:ext>
            </a:extLst>
          </p:cNvPr>
          <p:cNvSpPr>
            <a:spLocks xmlns:a="http://schemas.openxmlformats.org/drawingml/2006/main" noGrp="1"/>
          </p:cNvSpPr>
          <p:nvPr/>
        </p:nvSpPr>
        <p:spPr>
          <a:xfrm xmlns:a="http://schemas.openxmlformats.org/drawingml/2006/main">
            <a:off x="990600" y="4772025"/>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1920"/>
          </a:bodyPr>
          <a:lstStyle xmlns:a="http://schemas.openxmlformats.org/drawingml/2006/main"/>
          <a:p xmlns:a="http://schemas.openxmlformats.org/drawingml/2006/main">
            <a:pPr algn="l">
              <a:defRPr sz="750" b="0">
                <a:solidFill>
                  <a:srgbClr val="BFDBFE"/>
                </a:solidFill>
              </a:defRPr>
            </a:pPr>
            <a:r>
              <a:rPr sz="750" b="0">
                <a:solidFill>
                  <a:srgbClr val="BFDBFE"/>
                </a:solidFill>
              </a:rPr>
              <a:t>集成系统数</a:t>
            </a:r>
          </a:p>
        </p:txBody>
      </p:sp>
      <p:sp>
        <p:nvSpPr>
          <p:cNvPr id="20" name="">
            <a:extLst xmlns:a="http://schemas.openxmlformats.org/drawingml/2006/main">
              <a:ext uri="{FF2B5EF4-FFF2-40B4-BE49-F238E27FC236}">
                <a16:creationId xmlns:a16="http://schemas.microsoft.com/office/drawing/2014/main" id="{3F2CE435-039A-4DF2-BC5E-CD175CE57CC0}"/>
              </a:ext>
            </a:extLst>
          </p:cNvPr>
          <p:cNvSpPr>
            <a:spLocks xmlns:a="http://schemas.openxmlformats.org/drawingml/2006/main" noGrp="1"/>
          </p:cNvSpPr>
          <p:nvPr/>
        </p:nvSpPr>
        <p:spPr>
          <a:xfrm xmlns:a="http://schemas.openxmlformats.org/drawingml/2006/main">
            <a:off x="990600" y="4953000"/>
            <a:ext cx="1352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76459"/>
          </a:bodyPr>
          <a:lstStyle xmlns:a="http://schemas.openxmlformats.org/drawingml/2006/main"/>
          <a:p xmlns:a="http://schemas.openxmlformats.org/drawingml/2006/main">
            <a:pPr algn="l">
              <a:defRPr sz="1125" b="1">
                <a:solidFill>
                  <a:srgbClr val="FFFFFF"/>
                </a:solidFill>
              </a:defRPr>
            </a:pPr>
            <a:r>
              <a:rPr sz="1125" b="1">
                <a:solidFill>
                  <a:srgbClr val="FFFFFF"/>
                </a:solidFill>
              </a:rPr>
              <a:t>8 套</a:t>
            </a:r>
          </a:p>
        </p:txBody>
      </p:sp>
      <p:sp>
        <p:nvSpPr>
          <p:cNvPr id="21" name="">
            <a:extLst xmlns:a="http://schemas.openxmlformats.org/drawingml/2006/main">
              <a:ext uri="{FF2B5EF4-FFF2-40B4-BE49-F238E27FC236}">
                <a16:creationId xmlns:a16="http://schemas.microsoft.com/office/drawing/2014/main" id="{E77DB7A5-F0F6-4241-AEAA-477501A56240}"/>
              </a:ext>
            </a:extLst>
          </p:cNvPr>
          <p:cNvSpPr>
            <a:spLocks xmlns:a="http://schemas.openxmlformats.org/drawingml/2006/main" noGrp="1"/>
          </p:cNvSpPr>
          <p:nvPr/>
        </p:nvSpPr>
        <p:spPr>
          <a:xfrm xmlns:a="http://schemas.openxmlformats.org/drawingml/2006/main">
            <a:off x="2705100" y="4686300"/>
            <a:ext cx="1619250" cy="552450"/>
          </a:xfrm>
          <a:prstGeom xmlns:a="http://schemas.openxmlformats.org/drawingml/2006/main" prst="roundRect">
            <a:avLst>
              <a:gd name="adj" fmla="val 13793"/>
            </a:avLst>
          </a:prstGeom>
          <a:solidFill xmlns:a="http://schemas.openxmlformats.org/drawingml/2006/main">
            <a:srgbClr val="FFFFFF">
              <a:alpha val="9804"/>
            </a:srgbClr>
          </a:solidFill>
          <a:ln xmlns:a="http://schemas.openxmlformats.org/drawingml/2006/main" w="9525">
            <a:solidFill>
              <a:srgbClr val="FFFFFF">
                <a:alpha val="20000"/>
              </a:srgbClr>
            </a:solidFill>
            <a:prstDash val="solid"/>
          </a:ln>
        </p:spPr>
      </p:sp>
      <p:sp>
        <p:nvSpPr>
          <p:cNvPr id="22" name="">
            <a:extLst xmlns:a="http://schemas.openxmlformats.org/drawingml/2006/main">
              <a:ext uri="{FF2B5EF4-FFF2-40B4-BE49-F238E27FC236}">
                <a16:creationId xmlns:a16="http://schemas.microsoft.com/office/drawing/2014/main" id="{858EA732-E6C6-49A3-BC15-8871732503AE}"/>
              </a:ext>
            </a:extLst>
          </p:cNvPr>
          <p:cNvSpPr>
            <a:spLocks xmlns:a="http://schemas.openxmlformats.org/drawingml/2006/main" noGrp="1"/>
          </p:cNvSpPr>
          <p:nvPr/>
        </p:nvSpPr>
        <p:spPr>
          <a:xfrm xmlns:a="http://schemas.openxmlformats.org/drawingml/2006/main">
            <a:off x="2819400" y="4772025"/>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1920"/>
          </a:bodyPr>
          <a:lstStyle xmlns:a="http://schemas.openxmlformats.org/drawingml/2006/main"/>
          <a:p xmlns:a="http://schemas.openxmlformats.org/drawingml/2006/main">
            <a:pPr algn="l">
              <a:defRPr sz="750" b="0">
                <a:solidFill>
                  <a:srgbClr val="BFDBFE"/>
                </a:solidFill>
              </a:defRPr>
            </a:pPr>
            <a:r>
              <a:rPr sz="750" b="0">
                <a:solidFill>
                  <a:srgbClr val="BFDBFE"/>
                </a:solidFill>
              </a:rPr>
              <a:t>关键事项</a:t>
            </a:r>
          </a:p>
        </p:txBody>
      </p:sp>
      <p:sp>
        <p:nvSpPr>
          <p:cNvPr id="23" name="">
            <a:extLst xmlns:a="http://schemas.openxmlformats.org/drawingml/2006/main">
              <a:ext uri="{FF2B5EF4-FFF2-40B4-BE49-F238E27FC236}">
                <a16:creationId xmlns:a16="http://schemas.microsoft.com/office/drawing/2014/main" id="{D5A40A6E-8EB7-4AD2-9258-CDD1638C2EE7}"/>
              </a:ext>
            </a:extLst>
          </p:cNvPr>
          <p:cNvSpPr>
            <a:spLocks xmlns:a="http://schemas.openxmlformats.org/drawingml/2006/main" noGrp="1"/>
          </p:cNvSpPr>
          <p:nvPr/>
        </p:nvSpPr>
        <p:spPr>
          <a:xfrm xmlns:a="http://schemas.openxmlformats.org/drawingml/2006/main">
            <a:off x="2819400" y="4953000"/>
            <a:ext cx="1352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76459"/>
          </a:bodyPr>
          <a:lstStyle xmlns:a="http://schemas.openxmlformats.org/drawingml/2006/main"/>
          <a:p xmlns:a="http://schemas.openxmlformats.org/drawingml/2006/main">
            <a:pPr algn="l">
              <a:defRPr sz="1125" b="1">
                <a:solidFill>
                  <a:srgbClr val="FFFFFF"/>
                </a:solidFill>
              </a:defRPr>
            </a:pPr>
            <a:r>
              <a:rPr sz="1125" b="1">
                <a:solidFill>
                  <a:srgbClr val="FFFFFF"/>
                </a:solidFill>
              </a:rPr>
              <a:t>A1/A3已完成</a:t>
            </a:r>
          </a:p>
        </p:txBody>
      </p:sp>
      <p:sp>
        <p:nvSpPr>
          <p:cNvPr id="24" name="">
            <a:extLst xmlns:a="http://schemas.openxmlformats.org/drawingml/2006/main">
              <a:ext uri="{FF2B5EF4-FFF2-40B4-BE49-F238E27FC236}">
                <a16:creationId xmlns:a16="http://schemas.microsoft.com/office/drawing/2014/main" id="{B0E11917-5C10-42FE-AFFE-EF3618ED56F9}"/>
              </a:ext>
            </a:extLst>
          </p:cNvPr>
          <p:cNvSpPr>
            <a:spLocks xmlns:a="http://schemas.openxmlformats.org/drawingml/2006/main" noGrp="1"/>
          </p:cNvSpPr>
          <p:nvPr/>
        </p:nvSpPr>
        <p:spPr>
          <a:xfrm xmlns:a="http://schemas.openxmlformats.org/drawingml/2006/main">
            <a:off x="7239000" y="3657600"/>
            <a:ext cx="4000500" cy="1409700"/>
          </a:xfrm>
          <a:prstGeom xmlns:a="http://schemas.openxmlformats.org/drawingml/2006/main" prst="roundRect">
            <a:avLst>
              <a:gd name="adj" fmla="val 5405"/>
            </a:avLst>
          </a:prstGeom>
          <a:solidFill xmlns:a="http://schemas.openxmlformats.org/drawingml/2006/main">
            <a:srgbClr val="FFFFFF">
              <a:alpha val="7843"/>
            </a:srgbClr>
          </a:solidFill>
          <a:ln xmlns:a="http://schemas.openxmlformats.org/drawingml/2006/main" w="9525">
            <a:solidFill>
              <a:srgbClr val="FFFFFF">
                <a:alpha val="18824"/>
              </a:srgbClr>
            </a:solidFill>
            <a:prstDash val="solid"/>
          </a:ln>
        </p:spPr>
      </p:sp>
      <p:sp>
        <p:nvSpPr>
          <p:cNvPr id="25" name="">
            <a:extLst xmlns:a="http://schemas.openxmlformats.org/drawingml/2006/main">
              <a:ext uri="{FF2B5EF4-FFF2-40B4-BE49-F238E27FC236}">
                <a16:creationId xmlns:a16="http://schemas.microsoft.com/office/drawing/2014/main" id="{292CCA25-1813-4218-AEC6-97231A9EF1C1}"/>
              </a:ext>
            </a:extLst>
          </p:cNvPr>
          <p:cNvSpPr>
            <a:spLocks xmlns:a="http://schemas.openxmlformats.org/drawingml/2006/main" noGrp="1"/>
          </p:cNvSpPr>
          <p:nvPr/>
        </p:nvSpPr>
        <p:spPr>
          <a:xfrm xmlns:a="http://schemas.openxmlformats.org/drawingml/2006/main">
            <a:off x="7429500" y="3848100"/>
            <a:ext cx="114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95573"/>
          </a:bodyPr>
          <a:lstStyle xmlns:a="http://schemas.openxmlformats.org/drawingml/2006/main"/>
          <a:p xmlns:a="http://schemas.openxmlformats.org/drawingml/2006/main">
            <a:pPr algn="l">
              <a:defRPr sz="900" b="1">
                <a:solidFill>
                  <a:srgbClr val="BFDBFE"/>
                </a:solidFill>
              </a:defRPr>
            </a:pPr>
            <a:r>
              <a:rPr sz="900" b="1">
                <a:solidFill>
                  <a:srgbClr val="BFDBFE"/>
                </a:solidFill>
              </a:rPr>
              <a:t>参与方</a:t>
            </a:r>
          </a:p>
        </p:txBody>
      </p:sp>
      <p:sp>
        <p:nvSpPr>
          <p:cNvPr id="26" name="">
            <a:extLst xmlns:a="http://schemas.openxmlformats.org/drawingml/2006/main">
              <a:ext uri="{FF2B5EF4-FFF2-40B4-BE49-F238E27FC236}">
                <a16:creationId xmlns:a16="http://schemas.microsoft.com/office/drawing/2014/main" id="{F23072E9-BD35-4A96-B5FE-4DD084D56984}"/>
              </a:ext>
            </a:extLst>
          </p:cNvPr>
          <p:cNvSpPr>
            <a:spLocks xmlns:a="http://schemas.openxmlformats.org/drawingml/2006/main" noGrp="1"/>
          </p:cNvSpPr>
          <p:nvPr/>
        </p:nvSpPr>
        <p:spPr>
          <a:xfrm xmlns:a="http://schemas.openxmlformats.org/drawingml/2006/main">
            <a:off x="7429500" y="4133850"/>
            <a:ext cx="35242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E0F2FE"/>
                </a:solidFill>
              </a:defRPr>
            </a:pPr>
            <a:r>
              <a:rPr sz="975" b="0">
                <a:solidFill>
                  <a:srgbClr val="E0F2FE"/>
                </a:solidFill>
              </a:rPr>
              <a:t>研发  ·  工艺  ·  质量  ·  采购  ·  项目组  ·  用友U8  ·  北京虎蜥MES  ·  华天动力OA  ·  翎瑞鸿翔PLM ✅</a:t>
            </a:r>
          </a:p>
        </p:txBody>
      </p:sp>
      <p:sp>
        <p:nvSpPr>
          <p:cNvPr id="27" name="">
            <a:extLst xmlns:a="http://schemas.openxmlformats.org/drawingml/2006/main">
              <a:ext uri="{FF2B5EF4-FFF2-40B4-BE49-F238E27FC236}">
                <a16:creationId xmlns:a16="http://schemas.microsoft.com/office/drawing/2014/main" id="{8EA65A4F-0445-4B66-9D70-A702122D73BB}"/>
              </a:ext>
            </a:extLst>
          </p:cNvPr>
          <p:cNvSpPr>
            <a:spLocks xmlns:a="http://schemas.openxmlformats.org/drawingml/2006/main" noGrp="1"/>
          </p:cNvSpPr>
          <p:nvPr/>
        </p:nvSpPr>
        <p:spPr>
          <a:xfrm xmlns:a="http://schemas.openxmlformats.org/drawingml/2006/main">
            <a:off x="876300" y="6210300"/>
            <a:ext cx="419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00" b="0">
                <a:solidFill>
                  <a:srgbClr val="BFDBFE"/>
                </a:solidFill>
              </a:defRPr>
            </a:pPr>
            <a:r>
              <a:rPr sz="900" b="0">
                <a:solidFill>
                  <a:srgbClr val="BFDBFE"/>
                </a:solidFill>
              </a:rPr>
              <a:t>沈阳昌兴复材航空科技有限责任公司</a:t>
            </a:r>
          </a:p>
        </p:txBody>
      </p:sp>
      <p:sp>
        <p:nvSpPr>
          <p:cNvPr id="28" name="">
            <a:extLst xmlns:a="http://schemas.openxmlformats.org/drawingml/2006/main">
              <a:ext uri="{FF2B5EF4-FFF2-40B4-BE49-F238E27FC236}">
                <a16:creationId xmlns:a16="http://schemas.microsoft.com/office/drawing/2014/main" id="{62822242-DCA4-4124-96E8-88EC694EFEA3}"/>
              </a:ext>
            </a:extLst>
          </p:cNvPr>
          <p:cNvSpPr>
            <a:spLocks xmlns:a="http://schemas.openxmlformats.org/drawingml/2006/main" noGrp="1"/>
          </p:cNvSpPr>
          <p:nvPr/>
        </p:nvSpPr>
        <p:spPr>
          <a:xfrm xmlns:a="http://schemas.openxmlformats.org/drawingml/2006/main">
            <a:off x="10572750" y="6210300"/>
            <a:ext cx="857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BFDBFE"/>
                </a:solidFill>
              </a:defRPr>
            </a:pPr>
            <a:r>
              <a:rPr sz="900" b="0">
                <a:solidFill>
                  <a:srgbClr val="BFDBFE"/>
                </a:solidFill>
              </a:rPr>
              <a:t>1 / 29</a:t>
            </a:r>
          </a:p>
        </p:txBody>
      </p:sp>
    </p:spTree>
    <p:extLst>
      <p:ext uri="{BB962C8B-B14F-4D97-AF65-F5344CB8AC3E}">
        <p14:creationId xmlns:p14="http://schemas.microsoft.com/office/powerpoint/2010/main" val="77475343"/>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0E67A10-6474-404F-8B54-D0584077DE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F6935D8-286D-4928-9B1B-73D6578C70B9}"/>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5952B2F-B6E6-4139-BDFF-CDF42F30743F}"/>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1F8B842-834A-438D-B207-A862F9ED850C}"/>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00 会议议程</a:t>
            </a:r>
          </a:p>
        </p:txBody>
      </p:sp>
      <p:sp>
        <p:nvSpPr>
          <p:cNvPr id="6" name="">
            <a:extLst xmlns:a="http://schemas.openxmlformats.org/drawingml/2006/main">
              <a:ext uri="{FF2B5EF4-FFF2-40B4-BE49-F238E27FC236}">
                <a16:creationId xmlns:a16="http://schemas.microsoft.com/office/drawing/2014/main" id="{C5C68DF5-6D3E-4C22-952F-825652446A25}"/>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97DFB83C-9C0D-4B1B-931F-4EBAB59D323A}"/>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2026-05-09 会议议程</a:t>
            </a:r>
          </a:p>
        </p:txBody>
      </p:sp>
      <p:sp>
        <p:nvSpPr>
          <p:cNvPr id="8" name="">
            <a:extLst xmlns:a="http://schemas.openxmlformats.org/drawingml/2006/main">
              <a:ext uri="{FF2B5EF4-FFF2-40B4-BE49-F238E27FC236}">
                <a16:creationId xmlns:a16="http://schemas.microsoft.com/office/drawing/2014/main" id="{06C4FF94-5C9B-49CF-88E3-852C5A6885E6}"/>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会议议程 · Q1–Q8成熟度预审 · 会后输出</a:t>
            </a:r>
          </a:p>
        </p:txBody>
      </p:sp>
      <p:sp>
        <p:nvSpPr>
          <p:cNvPr id="9" name="">
            <a:extLst xmlns:a="http://schemas.openxmlformats.org/drawingml/2006/main">
              <a:ext uri="{FF2B5EF4-FFF2-40B4-BE49-F238E27FC236}">
                <a16:creationId xmlns:a16="http://schemas.microsoft.com/office/drawing/2014/main" id="{4EBB0C04-76BC-4A3C-88A5-46088024B1FA}"/>
              </a:ext>
            </a:extLst>
          </p:cNvPr>
          <p:cNvSpPr>
            <a:spLocks xmlns:a="http://schemas.openxmlformats.org/drawingml/2006/main" noGrp="1"/>
          </p:cNvSpPr>
          <p:nvPr/>
        </p:nvSpPr>
        <p:spPr>
          <a:xfrm xmlns:a="http://schemas.openxmlformats.org/drawingml/2006/main">
            <a:off x="781050" y="1733550"/>
            <a:ext cx="1205726" cy="39243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0" name="">
            <a:extLst xmlns:a="http://schemas.openxmlformats.org/drawingml/2006/main">
              <a:ext uri="{FF2B5EF4-FFF2-40B4-BE49-F238E27FC236}">
                <a16:creationId xmlns:a16="http://schemas.microsoft.com/office/drawing/2014/main" id="{1655962B-F5A2-42C6-8352-507B3C21EEA8}"/>
              </a:ext>
            </a:extLst>
          </p:cNvPr>
          <p:cNvSpPr>
            <a:spLocks xmlns:a="http://schemas.openxmlformats.org/drawingml/2006/main" noGrp="1"/>
          </p:cNvSpPr>
          <p:nvPr/>
        </p:nvSpPr>
        <p:spPr>
          <a:xfrm xmlns:a="http://schemas.openxmlformats.org/drawingml/2006/main">
            <a:off x="819150" y="1762125"/>
            <a:ext cx="1129526"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1">
                <a:solidFill>
                  <a:srgbClr val="FFFFFF"/>
                </a:solidFill>
              </a:defRPr>
            </a:pPr>
            <a:r>
              <a:rPr sz="690" b="1">
                <a:solidFill>
                  <a:srgbClr val="FFFFFF"/>
                </a:solidFill>
              </a:rPr>
              <a:t>时间</a:t>
            </a:r>
          </a:p>
        </p:txBody>
      </p:sp>
      <p:sp>
        <p:nvSpPr>
          <p:cNvPr id="11" name="">
            <a:extLst xmlns:a="http://schemas.openxmlformats.org/drawingml/2006/main">
              <a:ext uri="{FF2B5EF4-FFF2-40B4-BE49-F238E27FC236}">
                <a16:creationId xmlns:a16="http://schemas.microsoft.com/office/drawing/2014/main" id="{400F15D2-23B1-4FAD-87AC-842C6267E986}"/>
              </a:ext>
            </a:extLst>
          </p:cNvPr>
          <p:cNvSpPr>
            <a:spLocks xmlns:a="http://schemas.openxmlformats.org/drawingml/2006/main" noGrp="1"/>
          </p:cNvSpPr>
          <p:nvPr/>
        </p:nvSpPr>
        <p:spPr>
          <a:xfrm xmlns:a="http://schemas.openxmlformats.org/drawingml/2006/main">
            <a:off x="1986776" y="1733550"/>
            <a:ext cx="7395117" cy="39243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2" name="">
            <a:extLst xmlns:a="http://schemas.openxmlformats.org/drawingml/2006/main">
              <a:ext uri="{FF2B5EF4-FFF2-40B4-BE49-F238E27FC236}">
                <a16:creationId xmlns:a16="http://schemas.microsoft.com/office/drawing/2014/main" id="{89CD6D8D-2FA2-4522-8871-E575B165E91F}"/>
              </a:ext>
            </a:extLst>
          </p:cNvPr>
          <p:cNvSpPr>
            <a:spLocks xmlns:a="http://schemas.openxmlformats.org/drawingml/2006/main" noGrp="1"/>
          </p:cNvSpPr>
          <p:nvPr/>
        </p:nvSpPr>
        <p:spPr>
          <a:xfrm xmlns:a="http://schemas.openxmlformats.org/drawingml/2006/main">
            <a:off x="2024876" y="1762125"/>
            <a:ext cx="731891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1">
                <a:solidFill>
                  <a:srgbClr val="FFFFFF"/>
                </a:solidFill>
              </a:defRPr>
            </a:pPr>
            <a:r>
              <a:rPr sz="690" b="1">
                <a:solidFill>
                  <a:srgbClr val="FFFFFF"/>
                </a:solidFill>
              </a:rPr>
              <a:t>议题</a:t>
            </a:r>
          </a:p>
        </p:txBody>
      </p:sp>
      <p:sp>
        <p:nvSpPr>
          <p:cNvPr id="13" name="">
            <a:extLst xmlns:a="http://schemas.openxmlformats.org/drawingml/2006/main">
              <a:ext uri="{FF2B5EF4-FFF2-40B4-BE49-F238E27FC236}">
                <a16:creationId xmlns:a16="http://schemas.microsoft.com/office/drawing/2014/main" id="{10FC8AC5-B74E-42E4-90AF-E352C9F0A751}"/>
              </a:ext>
            </a:extLst>
          </p:cNvPr>
          <p:cNvSpPr>
            <a:spLocks xmlns:a="http://schemas.openxmlformats.org/drawingml/2006/main" noGrp="1"/>
          </p:cNvSpPr>
          <p:nvPr/>
        </p:nvSpPr>
        <p:spPr>
          <a:xfrm xmlns:a="http://schemas.openxmlformats.org/drawingml/2006/main">
            <a:off x="9381893" y="1733550"/>
            <a:ext cx="1286107" cy="39243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4" name="">
            <a:extLst xmlns:a="http://schemas.openxmlformats.org/drawingml/2006/main">
              <a:ext uri="{FF2B5EF4-FFF2-40B4-BE49-F238E27FC236}">
                <a16:creationId xmlns:a16="http://schemas.microsoft.com/office/drawing/2014/main" id="{8BBC04F1-5C78-493A-BBC7-A7A1AAC1F33E}"/>
              </a:ext>
            </a:extLst>
          </p:cNvPr>
          <p:cNvSpPr>
            <a:spLocks xmlns:a="http://schemas.openxmlformats.org/drawingml/2006/main" noGrp="1"/>
          </p:cNvSpPr>
          <p:nvPr/>
        </p:nvSpPr>
        <p:spPr>
          <a:xfrm xmlns:a="http://schemas.openxmlformats.org/drawingml/2006/main">
            <a:off x="9419993" y="1762125"/>
            <a:ext cx="120990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1">
                <a:solidFill>
                  <a:srgbClr val="FFFFFF"/>
                </a:solidFill>
              </a:defRPr>
            </a:pPr>
            <a:r>
              <a:rPr sz="690" b="1">
                <a:solidFill>
                  <a:srgbClr val="FFFFFF"/>
                </a:solidFill>
              </a:rPr>
              <a:t>时长</a:t>
            </a:r>
          </a:p>
        </p:txBody>
      </p:sp>
      <p:sp>
        <p:nvSpPr>
          <p:cNvPr id="15" name="">
            <a:extLst xmlns:a="http://schemas.openxmlformats.org/drawingml/2006/main">
              <a:ext uri="{FF2B5EF4-FFF2-40B4-BE49-F238E27FC236}">
                <a16:creationId xmlns:a16="http://schemas.microsoft.com/office/drawing/2014/main" id="{28C23983-A32E-4A32-A547-BEB1B2FA7926}"/>
              </a:ext>
            </a:extLst>
          </p:cNvPr>
          <p:cNvSpPr>
            <a:spLocks xmlns:a="http://schemas.openxmlformats.org/drawingml/2006/main" noGrp="1"/>
          </p:cNvSpPr>
          <p:nvPr/>
        </p:nvSpPr>
        <p:spPr>
          <a:xfrm xmlns:a="http://schemas.openxmlformats.org/drawingml/2006/main">
            <a:off x="781050" y="2125980"/>
            <a:ext cx="1205726" cy="39243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6" name="">
            <a:extLst xmlns:a="http://schemas.openxmlformats.org/drawingml/2006/main">
              <a:ext uri="{FF2B5EF4-FFF2-40B4-BE49-F238E27FC236}">
                <a16:creationId xmlns:a16="http://schemas.microsoft.com/office/drawing/2014/main" id="{DE0BEF62-4EBF-4763-8BBB-900F42EF9CCD}"/>
              </a:ext>
            </a:extLst>
          </p:cNvPr>
          <p:cNvSpPr>
            <a:spLocks xmlns:a="http://schemas.openxmlformats.org/drawingml/2006/main" noGrp="1"/>
          </p:cNvSpPr>
          <p:nvPr/>
        </p:nvSpPr>
        <p:spPr>
          <a:xfrm xmlns:a="http://schemas.openxmlformats.org/drawingml/2006/main">
            <a:off x="819150" y="2154555"/>
            <a:ext cx="1129526"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09:00</a:t>
            </a:r>
          </a:p>
        </p:txBody>
      </p:sp>
      <p:sp>
        <p:nvSpPr>
          <p:cNvPr id="17" name="">
            <a:extLst xmlns:a="http://schemas.openxmlformats.org/drawingml/2006/main">
              <a:ext uri="{FF2B5EF4-FFF2-40B4-BE49-F238E27FC236}">
                <a16:creationId xmlns:a16="http://schemas.microsoft.com/office/drawing/2014/main" id="{9A10EAAD-273A-43CE-AEED-4428AF303CB3}"/>
              </a:ext>
            </a:extLst>
          </p:cNvPr>
          <p:cNvSpPr>
            <a:spLocks xmlns:a="http://schemas.openxmlformats.org/drawingml/2006/main" noGrp="1"/>
          </p:cNvSpPr>
          <p:nvPr/>
        </p:nvSpPr>
        <p:spPr>
          <a:xfrm xmlns:a="http://schemas.openxmlformats.org/drawingml/2006/main">
            <a:off x="1986776" y="2125980"/>
            <a:ext cx="7395117" cy="39243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8" name="">
            <a:extLst xmlns:a="http://schemas.openxmlformats.org/drawingml/2006/main">
              <a:ext uri="{FF2B5EF4-FFF2-40B4-BE49-F238E27FC236}">
                <a16:creationId xmlns:a16="http://schemas.microsoft.com/office/drawing/2014/main" id="{B8E15844-77F2-4237-BCBA-A1A49014B0C5}"/>
              </a:ext>
            </a:extLst>
          </p:cNvPr>
          <p:cNvSpPr>
            <a:spLocks xmlns:a="http://schemas.openxmlformats.org/drawingml/2006/main" noGrp="1"/>
          </p:cNvSpPr>
          <p:nvPr/>
        </p:nvSpPr>
        <p:spPr>
          <a:xfrm xmlns:a="http://schemas.openxmlformats.org/drawingml/2006/main">
            <a:off x="2024876" y="2154555"/>
            <a:ext cx="731891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开场：确认会议定位为预审会，说明不具备最终决策条件的事项处理方式</a:t>
            </a:r>
          </a:p>
        </p:txBody>
      </p:sp>
      <p:sp>
        <p:nvSpPr>
          <p:cNvPr id="19" name="">
            <a:extLst xmlns:a="http://schemas.openxmlformats.org/drawingml/2006/main">
              <a:ext uri="{FF2B5EF4-FFF2-40B4-BE49-F238E27FC236}">
                <a16:creationId xmlns:a16="http://schemas.microsoft.com/office/drawing/2014/main" id="{E28A6A9A-DDB1-4754-A042-F6EFEF40A201}"/>
              </a:ext>
            </a:extLst>
          </p:cNvPr>
          <p:cNvSpPr>
            <a:spLocks xmlns:a="http://schemas.openxmlformats.org/drawingml/2006/main" noGrp="1"/>
          </p:cNvSpPr>
          <p:nvPr/>
        </p:nvSpPr>
        <p:spPr>
          <a:xfrm xmlns:a="http://schemas.openxmlformats.org/drawingml/2006/main">
            <a:off x="9381893" y="2125980"/>
            <a:ext cx="1286107" cy="39243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0" name="">
            <a:extLst xmlns:a="http://schemas.openxmlformats.org/drawingml/2006/main">
              <a:ext uri="{FF2B5EF4-FFF2-40B4-BE49-F238E27FC236}">
                <a16:creationId xmlns:a16="http://schemas.microsoft.com/office/drawing/2014/main" id="{F742C4E3-EEA9-4193-82B9-D60CBD59C29A}"/>
              </a:ext>
            </a:extLst>
          </p:cNvPr>
          <p:cNvSpPr>
            <a:spLocks xmlns:a="http://schemas.openxmlformats.org/drawingml/2006/main" noGrp="1"/>
          </p:cNvSpPr>
          <p:nvPr/>
        </p:nvSpPr>
        <p:spPr>
          <a:xfrm xmlns:a="http://schemas.openxmlformats.org/drawingml/2006/main">
            <a:off x="9419993" y="2154555"/>
            <a:ext cx="120990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15min</a:t>
            </a:r>
          </a:p>
        </p:txBody>
      </p:sp>
      <p:sp>
        <p:nvSpPr>
          <p:cNvPr id="21" name="">
            <a:extLst xmlns:a="http://schemas.openxmlformats.org/drawingml/2006/main">
              <a:ext uri="{FF2B5EF4-FFF2-40B4-BE49-F238E27FC236}">
                <a16:creationId xmlns:a16="http://schemas.microsoft.com/office/drawing/2014/main" id="{99ECE232-55FA-45DE-A6C7-E98EA53C3A24}"/>
              </a:ext>
            </a:extLst>
          </p:cNvPr>
          <p:cNvSpPr>
            <a:spLocks xmlns:a="http://schemas.openxmlformats.org/drawingml/2006/main" noGrp="1"/>
          </p:cNvSpPr>
          <p:nvPr/>
        </p:nvSpPr>
        <p:spPr>
          <a:xfrm xmlns:a="http://schemas.openxmlformats.org/drawingml/2006/main">
            <a:off x="781050" y="2518410"/>
            <a:ext cx="1205726" cy="39243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22" name="">
            <a:extLst xmlns:a="http://schemas.openxmlformats.org/drawingml/2006/main">
              <a:ext uri="{FF2B5EF4-FFF2-40B4-BE49-F238E27FC236}">
                <a16:creationId xmlns:a16="http://schemas.microsoft.com/office/drawing/2014/main" id="{3B5EBC69-C97D-4D05-A111-F6D402C2F540}"/>
              </a:ext>
            </a:extLst>
          </p:cNvPr>
          <p:cNvSpPr>
            <a:spLocks xmlns:a="http://schemas.openxmlformats.org/drawingml/2006/main" noGrp="1"/>
          </p:cNvSpPr>
          <p:nvPr/>
        </p:nvSpPr>
        <p:spPr>
          <a:xfrm xmlns:a="http://schemas.openxmlformats.org/drawingml/2006/main">
            <a:off x="819150" y="2546985"/>
            <a:ext cx="1129526"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09:15</a:t>
            </a:r>
          </a:p>
        </p:txBody>
      </p:sp>
      <p:sp>
        <p:nvSpPr>
          <p:cNvPr id="23" name="">
            <a:extLst xmlns:a="http://schemas.openxmlformats.org/drawingml/2006/main">
              <a:ext uri="{FF2B5EF4-FFF2-40B4-BE49-F238E27FC236}">
                <a16:creationId xmlns:a16="http://schemas.microsoft.com/office/drawing/2014/main" id="{2FF2C474-FF50-4EBF-9778-6E67F689BA80}"/>
              </a:ext>
            </a:extLst>
          </p:cNvPr>
          <p:cNvSpPr>
            <a:spLocks xmlns:a="http://schemas.openxmlformats.org/drawingml/2006/main" noGrp="1"/>
          </p:cNvSpPr>
          <p:nvPr/>
        </p:nvSpPr>
        <p:spPr>
          <a:xfrm xmlns:a="http://schemas.openxmlformats.org/drawingml/2006/main">
            <a:off x="1986776" y="2518410"/>
            <a:ext cx="7395117" cy="39243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24" name="">
            <a:extLst xmlns:a="http://schemas.openxmlformats.org/drawingml/2006/main">
              <a:ext uri="{FF2B5EF4-FFF2-40B4-BE49-F238E27FC236}">
                <a16:creationId xmlns:a16="http://schemas.microsoft.com/office/drawing/2014/main" id="{A51B4112-BC28-4476-A33D-6AC7169FBF36}"/>
              </a:ext>
            </a:extLst>
          </p:cNvPr>
          <p:cNvSpPr>
            <a:spLocks xmlns:a="http://schemas.openxmlformats.org/drawingml/2006/main" noGrp="1"/>
          </p:cNvSpPr>
          <p:nvPr/>
        </p:nvSpPr>
        <p:spPr>
          <a:xfrm xmlns:a="http://schemas.openxmlformats.org/drawingml/2006/main">
            <a:off x="2024876" y="2546985"/>
            <a:ext cx="731891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Part 1 组织职责确认：预审工作组、业务确认人、数据确认人</a:t>
            </a:r>
          </a:p>
        </p:txBody>
      </p:sp>
      <p:sp>
        <p:nvSpPr>
          <p:cNvPr id="25" name="">
            <a:extLst xmlns:a="http://schemas.openxmlformats.org/drawingml/2006/main">
              <a:ext uri="{FF2B5EF4-FFF2-40B4-BE49-F238E27FC236}">
                <a16:creationId xmlns:a16="http://schemas.microsoft.com/office/drawing/2014/main" id="{7E39CD6E-4F7E-4C8C-BFF1-67950A1F5444}"/>
              </a:ext>
            </a:extLst>
          </p:cNvPr>
          <p:cNvSpPr>
            <a:spLocks xmlns:a="http://schemas.openxmlformats.org/drawingml/2006/main" noGrp="1"/>
          </p:cNvSpPr>
          <p:nvPr/>
        </p:nvSpPr>
        <p:spPr>
          <a:xfrm xmlns:a="http://schemas.openxmlformats.org/drawingml/2006/main">
            <a:off x="9381893" y="2518410"/>
            <a:ext cx="1286107" cy="39243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26" name="">
            <a:extLst xmlns:a="http://schemas.openxmlformats.org/drawingml/2006/main">
              <a:ext uri="{FF2B5EF4-FFF2-40B4-BE49-F238E27FC236}">
                <a16:creationId xmlns:a16="http://schemas.microsoft.com/office/drawing/2014/main" id="{EC1443AF-A7B0-472F-9E0E-E33F59B3D680}"/>
              </a:ext>
            </a:extLst>
          </p:cNvPr>
          <p:cNvSpPr>
            <a:spLocks xmlns:a="http://schemas.openxmlformats.org/drawingml/2006/main" noGrp="1"/>
          </p:cNvSpPr>
          <p:nvPr/>
        </p:nvSpPr>
        <p:spPr>
          <a:xfrm xmlns:a="http://schemas.openxmlformats.org/drawingml/2006/main">
            <a:off x="9419993" y="2546985"/>
            <a:ext cx="120990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25min</a:t>
            </a:r>
          </a:p>
        </p:txBody>
      </p:sp>
      <p:sp>
        <p:nvSpPr>
          <p:cNvPr id="27" name="">
            <a:extLst xmlns:a="http://schemas.openxmlformats.org/drawingml/2006/main">
              <a:ext uri="{FF2B5EF4-FFF2-40B4-BE49-F238E27FC236}">
                <a16:creationId xmlns:a16="http://schemas.microsoft.com/office/drawing/2014/main" id="{8DB72924-0D6B-4F74-9910-01B24614E713}"/>
              </a:ext>
            </a:extLst>
          </p:cNvPr>
          <p:cNvSpPr>
            <a:spLocks xmlns:a="http://schemas.openxmlformats.org/drawingml/2006/main" noGrp="1"/>
          </p:cNvSpPr>
          <p:nvPr/>
        </p:nvSpPr>
        <p:spPr>
          <a:xfrm xmlns:a="http://schemas.openxmlformats.org/drawingml/2006/main">
            <a:off x="781050" y="2910840"/>
            <a:ext cx="1205726" cy="39243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8" name="">
            <a:extLst xmlns:a="http://schemas.openxmlformats.org/drawingml/2006/main">
              <a:ext uri="{FF2B5EF4-FFF2-40B4-BE49-F238E27FC236}">
                <a16:creationId xmlns:a16="http://schemas.microsoft.com/office/drawing/2014/main" id="{851F1B9D-99E6-42BF-91A9-4D9E22592AEF}"/>
              </a:ext>
            </a:extLst>
          </p:cNvPr>
          <p:cNvSpPr>
            <a:spLocks xmlns:a="http://schemas.openxmlformats.org/drawingml/2006/main" noGrp="1"/>
          </p:cNvSpPr>
          <p:nvPr/>
        </p:nvSpPr>
        <p:spPr>
          <a:xfrm xmlns:a="http://schemas.openxmlformats.org/drawingml/2006/main">
            <a:off x="819150" y="2939415"/>
            <a:ext cx="1129526"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09:40</a:t>
            </a:r>
          </a:p>
        </p:txBody>
      </p:sp>
      <p:sp>
        <p:nvSpPr>
          <p:cNvPr id="29" name="">
            <a:extLst xmlns:a="http://schemas.openxmlformats.org/drawingml/2006/main">
              <a:ext uri="{FF2B5EF4-FFF2-40B4-BE49-F238E27FC236}">
                <a16:creationId xmlns:a16="http://schemas.microsoft.com/office/drawing/2014/main" id="{48295506-8F3A-44F0-BB0F-1324A71B36DD}"/>
              </a:ext>
            </a:extLst>
          </p:cNvPr>
          <p:cNvSpPr>
            <a:spLocks xmlns:a="http://schemas.openxmlformats.org/drawingml/2006/main" noGrp="1"/>
          </p:cNvSpPr>
          <p:nvPr/>
        </p:nvSpPr>
        <p:spPr>
          <a:xfrm xmlns:a="http://schemas.openxmlformats.org/drawingml/2006/main">
            <a:off x="1986776" y="2910840"/>
            <a:ext cx="7395117" cy="39243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0" name="">
            <a:extLst xmlns:a="http://schemas.openxmlformats.org/drawingml/2006/main">
              <a:ext uri="{FF2B5EF4-FFF2-40B4-BE49-F238E27FC236}">
                <a16:creationId xmlns:a16="http://schemas.microsoft.com/office/drawing/2014/main" id="{BD4D7602-0994-4E86-881F-C417791BE652}"/>
              </a:ext>
            </a:extLst>
          </p:cNvPr>
          <p:cNvSpPr>
            <a:spLocks xmlns:a="http://schemas.openxmlformats.org/drawingml/2006/main" noGrp="1"/>
          </p:cNvSpPr>
          <p:nvPr/>
        </p:nvSpPr>
        <p:spPr>
          <a:xfrm xmlns:a="http://schemas.openxmlformats.org/drawingml/2006/main">
            <a:off x="2024876" y="2939415"/>
            <a:ext cx="731891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Part 2 MDM建设路径确认：组织身份先行、流程映射、字段台账、术语治理</a:t>
            </a:r>
          </a:p>
        </p:txBody>
      </p:sp>
      <p:sp>
        <p:nvSpPr>
          <p:cNvPr id="31" name="">
            <a:extLst xmlns:a="http://schemas.openxmlformats.org/drawingml/2006/main">
              <a:ext uri="{FF2B5EF4-FFF2-40B4-BE49-F238E27FC236}">
                <a16:creationId xmlns:a16="http://schemas.microsoft.com/office/drawing/2014/main" id="{BAD98F33-B273-461D-B354-582CF1618207}"/>
              </a:ext>
            </a:extLst>
          </p:cNvPr>
          <p:cNvSpPr>
            <a:spLocks xmlns:a="http://schemas.openxmlformats.org/drawingml/2006/main" noGrp="1"/>
          </p:cNvSpPr>
          <p:nvPr/>
        </p:nvSpPr>
        <p:spPr>
          <a:xfrm xmlns:a="http://schemas.openxmlformats.org/drawingml/2006/main">
            <a:off x="9381893" y="2910840"/>
            <a:ext cx="1286107" cy="39243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2" name="">
            <a:extLst xmlns:a="http://schemas.openxmlformats.org/drawingml/2006/main">
              <a:ext uri="{FF2B5EF4-FFF2-40B4-BE49-F238E27FC236}">
                <a16:creationId xmlns:a16="http://schemas.microsoft.com/office/drawing/2014/main" id="{2D3E8CF9-ECF6-47B1-972F-DB5981D06AD8}"/>
              </a:ext>
            </a:extLst>
          </p:cNvPr>
          <p:cNvSpPr>
            <a:spLocks xmlns:a="http://schemas.openxmlformats.org/drawingml/2006/main" noGrp="1"/>
          </p:cNvSpPr>
          <p:nvPr/>
        </p:nvSpPr>
        <p:spPr>
          <a:xfrm xmlns:a="http://schemas.openxmlformats.org/drawingml/2006/main">
            <a:off x="9419993" y="2939415"/>
            <a:ext cx="120990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35min</a:t>
            </a:r>
          </a:p>
        </p:txBody>
      </p:sp>
      <p:sp>
        <p:nvSpPr>
          <p:cNvPr id="33" name="">
            <a:extLst xmlns:a="http://schemas.openxmlformats.org/drawingml/2006/main">
              <a:ext uri="{FF2B5EF4-FFF2-40B4-BE49-F238E27FC236}">
                <a16:creationId xmlns:a16="http://schemas.microsoft.com/office/drawing/2014/main" id="{AC5AF82D-1D08-4D52-9A77-D8C9E9384460}"/>
              </a:ext>
            </a:extLst>
          </p:cNvPr>
          <p:cNvSpPr>
            <a:spLocks xmlns:a="http://schemas.openxmlformats.org/drawingml/2006/main" noGrp="1"/>
          </p:cNvSpPr>
          <p:nvPr/>
        </p:nvSpPr>
        <p:spPr>
          <a:xfrm xmlns:a="http://schemas.openxmlformats.org/drawingml/2006/main">
            <a:off x="781050" y="3303270"/>
            <a:ext cx="1205726" cy="39243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4" name="">
            <a:extLst xmlns:a="http://schemas.openxmlformats.org/drawingml/2006/main">
              <a:ext uri="{FF2B5EF4-FFF2-40B4-BE49-F238E27FC236}">
                <a16:creationId xmlns:a16="http://schemas.microsoft.com/office/drawing/2014/main" id="{3916A17F-F54A-4A2A-89EB-C135B7796886}"/>
              </a:ext>
            </a:extLst>
          </p:cNvPr>
          <p:cNvSpPr>
            <a:spLocks xmlns:a="http://schemas.openxmlformats.org/drawingml/2006/main" noGrp="1"/>
          </p:cNvSpPr>
          <p:nvPr/>
        </p:nvSpPr>
        <p:spPr>
          <a:xfrm xmlns:a="http://schemas.openxmlformats.org/drawingml/2006/main">
            <a:off x="819150" y="3331845"/>
            <a:ext cx="1129526"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10:15</a:t>
            </a:r>
          </a:p>
        </p:txBody>
      </p:sp>
      <p:sp>
        <p:nvSpPr>
          <p:cNvPr id="35" name="">
            <a:extLst xmlns:a="http://schemas.openxmlformats.org/drawingml/2006/main">
              <a:ext uri="{FF2B5EF4-FFF2-40B4-BE49-F238E27FC236}">
                <a16:creationId xmlns:a16="http://schemas.microsoft.com/office/drawing/2014/main" id="{CDE6A301-98F1-4B0F-ADF1-7E0D5DBEC371}"/>
              </a:ext>
            </a:extLst>
          </p:cNvPr>
          <p:cNvSpPr>
            <a:spLocks xmlns:a="http://schemas.openxmlformats.org/drawingml/2006/main" noGrp="1"/>
          </p:cNvSpPr>
          <p:nvPr/>
        </p:nvSpPr>
        <p:spPr>
          <a:xfrm xmlns:a="http://schemas.openxmlformats.org/drawingml/2006/main">
            <a:off x="1986776" y="3303270"/>
            <a:ext cx="7395117" cy="39243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6" name="">
            <a:extLst xmlns:a="http://schemas.openxmlformats.org/drawingml/2006/main">
              <a:ext uri="{FF2B5EF4-FFF2-40B4-BE49-F238E27FC236}">
                <a16:creationId xmlns:a16="http://schemas.microsoft.com/office/drawing/2014/main" id="{6F8AA3A8-ECF0-4729-AAD2-BCC8D686EB1A}"/>
              </a:ext>
            </a:extLst>
          </p:cNvPr>
          <p:cNvSpPr>
            <a:spLocks xmlns:a="http://schemas.openxmlformats.org/drawingml/2006/main" noGrp="1"/>
          </p:cNvSpPr>
          <p:nvPr/>
        </p:nvSpPr>
        <p:spPr>
          <a:xfrm xmlns:a="http://schemas.openxmlformats.org/drawingml/2006/main">
            <a:off x="2024876" y="3331845"/>
            <a:ext cx="731891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Part 3 主数据黄金源矩阵预审：Q1-Q6成熟度判断</a:t>
            </a:r>
          </a:p>
        </p:txBody>
      </p:sp>
      <p:sp>
        <p:nvSpPr>
          <p:cNvPr id="37" name="">
            <a:extLst xmlns:a="http://schemas.openxmlformats.org/drawingml/2006/main">
              <a:ext uri="{FF2B5EF4-FFF2-40B4-BE49-F238E27FC236}">
                <a16:creationId xmlns:a16="http://schemas.microsoft.com/office/drawing/2014/main" id="{47189D24-3DEA-4E4E-A452-B811828C44C0}"/>
              </a:ext>
            </a:extLst>
          </p:cNvPr>
          <p:cNvSpPr>
            <a:spLocks xmlns:a="http://schemas.openxmlformats.org/drawingml/2006/main" noGrp="1"/>
          </p:cNvSpPr>
          <p:nvPr/>
        </p:nvSpPr>
        <p:spPr>
          <a:xfrm xmlns:a="http://schemas.openxmlformats.org/drawingml/2006/main">
            <a:off x="9381893" y="3303270"/>
            <a:ext cx="1286107" cy="39243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8" name="">
            <a:extLst xmlns:a="http://schemas.openxmlformats.org/drawingml/2006/main">
              <a:ext uri="{FF2B5EF4-FFF2-40B4-BE49-F238E27FC236}">
                <a16:creationId xmlns:a16="http://schemas.microsoft.com/office/drawing/2014/main" id="{C2E70C60-A05F-4877-B988-4F890E77EAE6}"/>
              </a:ext>
            </a:extLst>
          </p:cNvPr>
          <p:cNvSpPr>
            <a:spLocks xmlns:a="http://schemas.openxmlformats.org/drawingml/2006/main" noGrp="1"/>
          </p:cNvSpPr>
          <p:nvPr/>
        </p:nvSpPr>
        <p:spPr>
          <a:xfrm xmlns:a="http://schemas.openxmlformats.org/drawingml/2006/main">
            <a:off x="9419993" y="3331845"/>
            <a:ext cx="120990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35min</a:t>
            </a:r>
          </a:p>
        </p:txBody>
      </p:sp>
      <p:sp>
        <p:nvSpPr>
          <p:cNvPr id="39" name="">
            <a:extLst xmlns:a="http://schemas.openxmlformats.org/drawingml/2006/main">
              <a:ext uri="{FF2B5EF4-FFF2-40B4-BE49-F238E27FC236}">
                <a16:creationId xmlns:a16="http://schemas.microsoft.com/office/drawing/2014/main" id="{13EC9448-607F-4FFF-A1DC-B8DDB2F23FA0}"/>
              </a:ext>
            </a:extLst>
          </p:cNvPr>
          <p:cNvSpPr>
            <a:spLocks xmlns:a="http://schemas.openxmlformats.org/drawingml/2006/main" noGrp="1"/>
          </p:cNvSpPr>
          <p:nvPr/>
        </p:nvSpPr>
        <p:spPr>
          <a:xfrm xmlns:a="http://schemas.openxmlformats.org/drawingml/2006/main">
            <a:off x="781050" y="3695700"/>
            <a:ext cx="1205726" cy="39243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0" name="">
            <a:extLst xmlns:a="http://schemas.openxmlformats.org/drawingml/2006/main">
              <a:ext uri="{FF2B5EF4-FFF2-40B4-BE49-F238E27FC236}">
                <a16:creationId xmlns:a16="http://schemas.microsoft.com/office/drawing/2014/main" id="{C4A209EE-4295-48EB-A2E5-A33FA69761BB}"/>
              </a:ext>
            </a:extLst>
          </p:cNvPr>
          <p:cNvSpPr>
            <a:spLocks xmlns:a="http://schemas.openxmlformats.org/drawingml/2006/main" noGrp="1"/>
          </p:cNvSpPr>
          <p:nvPr/>
        </p:nvSpPr>
        <p:spPr>
          <a:xfrm xmlns:a="http://schemas.openxmlformats.org/drawingml/2006/main">
            <a:off x="819150" y="3724275"/>
            <a:ext cx="1129526"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10:50</a:t>
            </a:r>
          </a:p>
        </p:txBody>
      </p:sp>
      <p:sp>
        <p:nvSpPr>
          <p:cNvPr id="41" name="">
            <a:extLst xmlns:a="http://schemas.openxmlformats.org/drawingml/2006/main">
              <a:ext uri="{FF2B5EF4-FFF2-40B4-BE49-F238E27FC236}">
                <a16:creationId xmlns:a16="http://schemas.microsoft.com/office/drawing/2014/main" id="{8311A334-2ADC-472B-8E74-EA744DD7BBFF}"/>
              </a:ext>
            </a:extLst>
          </p:cNvPr>
          <p:cNvSpPr>
            <a:spLocks xmlns:a="http://schemas.openxmlformats.org/drawingml/2006/main" noGrp="1"/>
          </p:cNvSpPr>
          <p:nvPr/>
        </p:nvSpPr>
        <p:spPr>
          <a:xfrm xmlns:a="http://schemas.openxmlformats.org/drawingml/2006/main">
            <a:off x="1986776" y="3695700"/>
            <a:ext cx="7395117" cy="39243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2" name="">
            <a:extLst xmlns:a="http://schemas.openxmlformats.org/drawingml/2006/main">
              <a:ext uri="{FF2B5EF4-FFF2-40B4-BE49-F238E27FC236}">
                <a16:creationId xmlns:a16="http://schemas.microsoft.com/office/drawing/2014/main" id="{9E5B50EB-09FF-4B7E-9053-4336FC347704}"/>
              </a:ext>
            </a:extLst>
          </p:cNvPr>
          <p:cNvSpPr>
            <a:spLocks xmlns:a="http://schemas.openxmlformats.org/drawingml/2006/main" noGrp="1"/>
          </p:cNvSpPr>
          <p:nvPr/>
        </p:nvSpPr>
        <p:spPr>
          <a:xfrm xmlns:a="http://schemas.openxmlformats.org/drawingml/2006/main">
            <a:off x="2024876" y="3724275"/>
            <a:ext cx="731891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休息</a:t>
            </a:r>
          </a:p>
        </p:txBody>
      </p:sp>
      <p:sp>
        <p:nvSpPr>
          <p:cNvPr id="43" name="">
            <a:extLst xmlns:a="http://schemas.openxmlformats.org/drawingml/2006/main">
              <a:ext uri="{FF2B5EF4-FFF2-40B4-BE49-F238E27FC236}">
                <a16:creationId xmlns:a16="http://schemas.microsoft.com/office/drawing/2014/main" id="{68A0E7DF-3E40-47DE-9686-B1FB7C7E51F6}"/>
              </a:ext>
            </a:extLst>
          </p:cNvPr>
          <p:cNvSpPr>
            <a:spLocks xmlns:a="http://schemas.openxmlformats.org/drawingml/2006/main" noGrp="1"/>
          </p:cNvSpPr>
          <p:nvPr/>
        </p:nvSpPr>
        <p:spPr>
          <a:xfrm xmlns:a="http://schemas.openxmlformats.org/drawingml/2006/main">
            <a:off x="9381893" y="3695700"/>
            <a:ext cx="1286107" cy="39243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4" name="">
            <a:extLst xmlns:a="http://schemas.openxmlformats.org/drawingml/2006/main">
              <a:ext uri="{FF2B5EF4-FFF2-40B4-BE49-F238E27FC236}">
                <a16:creationId xmlns:a16="http://schemas.microsoft.com/office/drawing/2014/main" id="{A66F781A-0DEA-47CC-9205-EB81E6A2DD63}"/>
              </a:ext>
            </a:extLst>
          </p:cNvPr>
          <p:cNvSpPr>
            <a:spLocks xmlns:a="http://schemas.openxmlformats.org/drawingml/2006/main" noGrp="1"/>
          </p:cNvSpPr>
          <p:nvPr/>
        </p:nvSpPr>
        <p:spPr>
          <a:xfrm xmlns:a="http://schemas.openxmlformats.org/drawingml/2006/main">
            <a:off x="9419993" y="3724275"/>
            <a:ext cx="120990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10min</a:t>
            </a:r>
          </a:p>
        </p:txBody>
      </p:sp>
      <p:sp>
        <p:nvSpPr>
          <p:cNvPr id="45" name="">
            <a:extLst xmlns:a="http://schemas.openxmlformats.org/drawingml/2006/main">
              <a:ext uri="{FF2B5EF4-FFF2-40B4-BE49-F238E27FC236}">
                <a16:creationId xmlns:a16="http://schemas.microsoft.com/office/drawing/2014/main" id="{F711E425-5ED1-41BE-B73F-73509D40CBEE}"/>
              </a:ext>
            </a:extLst>
          </p:cNvPr>
          <p:cNvSpPr>
            <a:spLocks xmlns:a="http://schemas.openxmlformats.org/drawingml/2006/main" noGrp="1"/>
          </p:cNvSpPr>
          <p:nvPr/>
        </p:nvSpPr>
        <p:spPr>
          <a:xfrm xmlns:a="http://schemas.openxmlformats.org/drawingml/2006/main">
            <a:off x="781050" y="4088130"/>
            <a:ext cx="1205726" cy="39243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6" name="">
            <a:extLst xmlns:a="http://schemas.openxmlformats.org/drawingml/2006/main">
              <a:ext uri="{FF2B5EF4-FFF2-40B4-BE49-F238E27FC236}">
                <a16:creationId xmlns:a16="http://schemas.microsoft.com/office/drawing/2014/main" id="{5BF3A042-9F68-4183-A22A-2D1E6DDB6536}"/>
              </a:ext>
            </a:extLst>
          </p:cNvPr>
          <p:cNvSpPr>
            <a:spLocks xmlns:a="http://schemas.openxmlformats.org/drawingml/2006/main" noGrp="1"/>
          </p:cNvSpPr>
          <p:nvPr/>
        </p:nvSpPr>
        <p:spPr>
          <a:xfrm xmlns:a="http://schemas.openxmlformats.org/drawingml/2006/main">
            <a:off x="819150" y="4116705"/>
            <a:ext cx="1129526"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11:00</a:t>
            </a:r>
          </a:p>
        </p:txBody>
      </p:sp>
      <p:sp>
        <p:nvSpPr>
          <p:cNvPr id="47" name="">
            <a:extLst xmlns:a="http://schemas.openxmlformats.org/drawingml/2006/main">
              <a:ext uri="{FF2B5EF4-FFF2-40B4-BE49-F238E27FC236}">
                <a16:creationId xmlns:a16="http://schemas.microsoft.com/office/drawing/2014/main" id="{5D63D7C9-9386-4E1C-AD09-A64F187B0F61}"/>
              </a:ext>
            </a:extLst>
          </p:cNvPr>
          <p:cNvSpPr>
            <a:spLocks xmlns:a="http://schemas.openxmlformats.org/drawingml/2006/main" noGrp="1"/>
          </p:cNvSpPr>
          <p:nvPr/>
        </p:nvSpPr>
        <p:spPr>
          <a:xfrm xmlns:a="http://schemas.openxmlformats.org/drawingml/2006/main">
            <a:off x="1986776" y="4088130"/>
            <a:ext cx="7395117" cy="39243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8" name="">
            <a:extLst xmlns:a="http://schemas.openxmlformats.org/drawingml/2006/main">
              <a:ext uri="{FF2B5EF4-FFF2-40B4-BE49-F238E27FC236}">
                <a16:creationId xmlns:a16="http://schemas.microsoft.com/office/drawing/2014/main" id="{3B1D5A0D-0D18-49CC-AA93-6B489AEBE8C5}"/>
              </a:ext>
            </a:extLst>
          </p:cNvPr>
          <p:cNvSpPr>
            <a:spLocks xmlns:a="http://schemas.openxmlformats.org/drawingml/2006/main" noGrp="1"/>
          </p:cNvSpPr>
          <p:nvPr/>
        </p:nvSpPr>
        <p:spPr>
          <a:xfrm xmlns:a="http://schemas.openxmlformats.org/drawingml/2006/main">
            <a:off x="2024876" y="4116705"/>
            <a:ext cx="731891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Part 4 接口和数据中台路线预审：接口卡、异常处理、Q7条件性决策</a:t>
            </a:r>
          </a:p>
        </p:txBody>
      </p:sp>
      <p:sp>
        <p:nvSpPr>
          <p:cNvPr id="49" name="">
            <a:extLst xmlns:a="http://schemas.openxmlformats.org/drawingml/2006/main">
              <a:ext uri="{FF2B5EF4-FFF2-40B4-BE49-F238E27FC236}">
                <a16:creationId xmlns:a16="http://schemas.microsoft.com/office/drawing/2014/main" id="{1F930011-2BD4-4310-9936-0CE23DEB6670}"/>
              </a:ext>
            </a:extLst>
          </p:cNvPr>
          <p:cNvSpPr>
            <a:spLocks xmlns:a="http://schemas.openxmlformats.org/drawingml/2006/main" noGrp="1"/>
          </p:cNvSpPr>
          <p:nvPr/>
        </p:nvSpPr>
        <p:spPr>
          <a:xfrm xmlns:a="http://schemas.openxmlformats.org/drawingml/2006/main">
            <a:off x="9381893" y="4088130"/>
            <a:ext cx="1286107" cy="39243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0" name="">
            <a:extLst xmlns:a="http://schemas.openxmlformats.org/drawingml/2006/main">
              <a:ext uri="{FF2B5EF4-FFF2-40B4-BE49-F238E27FC236}">
                <a16:creationId xmlns:a16="http://schemas.microsoft.com/office/drawing/2014/main" id="{E6380CE5-803D-4E2B-A1DC-399287E3C573}"/>
              </a:ext>
            </a:extLst>
          </p:cNvPr>
          <p:cNvSpPr>
            <a:spLocks xmlns:a="http://schemas.openxmlformats.org/drawingml/2006/main" noGrp="1"/>
          </p:cNvSpPr>
          <p:nvPr/>
        </p:nvSpPr>
        <p:spPr>
          <a:xfrm xmlns:a="http://schemas.openxmlformats.org/drawingml/2006/main">
            <a:off x="9419993" y="4116705"/>
            <a:ext cx="120990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30min</a:t>
            </a:r>
          </a:p>
        </p:txBody>
      </p:sp>
      <p:sp>
        <p:nvSpPr>
          <p:cNvPr id="51" name="">
            <a:extLst xmlns:a="http://schemas.openxmlformats.org/drawingml/2006/main">
              <a:ext uri="{FF2B5EF4-FFF2-40B4-BE49-F238E27FC236}">
                <a16:creationId xmlns:a16="http://schemas.microsoft.com/office/drawing/2014/main" id="{18C3D814-2852-43E5-AFAA-A292611C8137}"/>
              </a:ext>
            </a:extLst>
          </p:cNvPr>
          <p:cNvSpPr>
            <a:spLocks xmlns:a="http://schemas.openxmlformats.org/drawingml/2006/main" noGrp="1"/>
          </p:cNvSpPr>
          <p:nvPr/>
        </p:nvSpPr>
        <p:spPr>
          <a:xfrm xmlns:a="http://schemas.openxmlformats.org/drawingml/2006/main">
            <a:off x="781050" y="4480560"/>
            <a:ext cx="1205726" cy="39243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2" name="">
            <a:extLst xmlns:a="http://schemas.openxmlformats.org/drawingml/2006/main">
              <a:ext uri="{FF2B5EF4-FFF2-40B4-BE49-F238E27FC236}">
                <a16:creationId xmlns:a16="http://schemas.microsoft.com/office/drawing/2014/main" id="{CE2C6BEF-C856-43E4-919F-A0499F984C34}"/>
              </a:ext>
            </a:extLst>
          </p:cNvPr>
          <p:cNvSpPr>
            <a:spLocks xmlns:a="http://schemas.openxmlformats.org/drawingml/2006/main" noGrp="1"/>
          </p:cNvSpPr>
          <p:nvPr/>
        </p:nvSpPr>
        <p:spPr>
          <a:xfrm xmlns:a="http://schemas.openxmlformats.org/drawingml/2006/main">
            <a:off x="819150" y="4509135"/>
            <a:ext cx="1129526"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11:30</a:t>
            </a:r>
          </a:p>
        </p:txBody>
      </p:sp>
      <p:sp>
        <p:nvSpPr>
          <p:cNvPr id="53" name="">
            <a:extLst xmlns:a="http://schemas.openxmlformats.org/drawingml/2006/main">
              <a:ext uri="{FF2B5EF4-FFF2-40B4-BE49-F238E27FC236}">
                <a16:creationId xmlns:a16="http://schemas.microsoft.com/office/drawing/2014/main" id="{DD525C0A-8898-4736-B753-067B07529C56}"/>
              </a:ext>
            </a:extLst>
          </p:cNvPr>
          <p:cNvSpPr>
            <a:spLocks xmlns:a="http://schemas.openxmlformats.org/drawingml/2006/main" noGrp="1"/>
          </p:cNvSpPr>
          <p:nvPr/>
        </p:nvSpPr>
        <p:spPr>
          <a:xfrm xmlns:a="http://schemas.openxmlformats.org/drawingml/2006/main">
            <a:off x="1986776" y="4480560"/>
            <a:ext cx="7395117" cy="39243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4" name="">
            <a:extLst xmlns:a="http://schemas.openxmlformats.org/drawingml/2006/main">
              <a:ext uri="{FF2B5EF4-FFF2-40B4-BE49-F238E27FC236}">
                <a16:creationId xmlns:a16="http://schemas.microsoft.com/office/drawing/2014/main" id="{433A97AC-4720-4130-A8F1-AE6389018A19}"/>
              </a:ext>
            </a:extLst>
          </p:cNvPr>
          <p:cNvSpPr>
            <a:spLocks xmlns:a="http://schemas.openxmlformats.org/drawingml/2006/main" noGrp="1"/>
          </p:cNvSpPr>
          <p:nvPr/>
        </p:nvSpPr>
        <p:spPr>
          <a:xfrm xmlns:a="http://schemas.openxmlformats.org/drawingml/2006/main">
            <a:off x="2024876" y="4509135"/>
            <a:ext cx="731891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Part 5 适航追溯和质量数据预审：Q8、资质授权、追溯链断点</a:t>
            </a:r>
          </a:p>
        </p:txBody>
      </p:sp>
      <p:sp>
        <p:nvSpPr>
          <p:cNvPr id="55" name="">
            <a:extLst xmlns:a="http://schemas.openxmlformats.org/drawingml/2006/main">
              <a:ext uri="{FF2B5EF4-FFF2-40B4-BE49-F238E27FC236}">
                <a16:creationId xmlns:a16="http://schemas.microsoft.com/office/drawing/2014/main" id="{5EB67A08-CEB4-4672-B700-5754AD4EBF9E}"/>
              </a:ext>
            </a:extLst>
          </p:cNvPr>
          <p:cNvSpPr>
            <a:spLocks xmlns:a="http://schemas.openxmlformats.org/drawingml/2006/main" noGrp="1"/>
          </p:cNvSpPr>
          <p:nvPr/>
        </p:nvSpPr>
        <p:spPr>
          <a:xfrm xmlns:a="http://schemas.openxmlformats.org/drawingml/2006/main">
            <a:off x="9381893" y="4480560"/>
            <a:ext cx="1286107" cy="39243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6" name="">
            <a:extLst xmlns:a="http://schemas.openxmlformats.org/drawingml/2006/main">
              <a:ext uri="{FF2B5EF4-FFF2-40B4-BE49-F238E27FC236}">
                <a16:creationId xmlns:a16="http://schemas.microsoft.com/office/drawing/2014/main" id="{94AE9BBB-CF02-44BC-B113-0A412620CEE2}"/>
              </a:ext>
            </a:extLst>
          </p:cNvPr>
          <p:cNvSpPr>
            <a:spLocks xmlns:a="http://schemas.openxmlformats.org/drawingml/2006/main" noGrp="1"/>
          </p:cNvSpPr>
          <p:nvPr/>
        </p:nvSpPr>
        <p:spPr>
          <a:xfrm xmlns:a="http://schemas.openxmlformats.org/drawingml/2006/main">
            <a:off x="9419993" y="4509135"/>
            <a:ext cx="120990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20min</a:t>
            </a:r>
          </a:p>
        </p:txBody>
      </p:sp>
      <p:sp>
        <p:nvSpPr>
          <p:cNvPr id="57" name="">
            <a:extLst xmlns:a="http://schemas.openxmlformats.org/drawingml/2006/main">
              <a:ext uri="{FF2B5EF4-FFF2-40B4-BE49-F238E27FC236}">
                <a16:creationId xmlns:a16="http://schemas.microsoft.com/office/drawing/2014/main" id="{C9597B24-0BE2-4059-ABA5-841BFF49EE74}"/>
              </a:ext>
            </a:extLst>
          </p:cNvPr>
          <p:cNvSpPr>
            <a:spLocks xmlns:a="http://schemas.openxmlformats.org/drawingml/2006/main" noGrp="1"/>
          </p:cNvSpPr>
          <p:nvPr/>
        </p:nvSpPr>
        <p:spPr>
          <a:xfrm xmlns:a="http://schemas.openxmlformats.org/drawingml/2006/main">
            <a:off x="781050" y="4872990"/>
            <a:ext cx="1205726" cy="39243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8" name="">
            <a:extLst xmlns:a="http://schemas.openxmlformats.org/drawingml/2006/main">
              <a:ext uri="{FF2B5EF4-FFF2-40B4-BE49-F238E27FC236}">
                <a16:creationId xmlns:a16="http://schemas.microsoft.com/office/drawing/2014/main" id="{9D6BD8DF-C560-4F73-B2EB-57952BE4D42B}"/>
              </a:ext>
            </a:extLst>
          </p:cNvPr>
          <p:cNvSpPr>
            <a:spLocks xmlns:a="http://schemas.openxmlformats.org/drawingml/2006/main" noGrp="1"/>
          </p:cNvSpPr>
          <p:nvPr/>
        </p:nvSpPr>
        <p:spPr>
          <a:xfrm xmlns:a="http://schemas.openxmlformats.org/drawingml/2006/main">
            <a:off x="819150" y="4901565"/>
            <a:ext cx="1129526"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11:50</a:t>
            </a:r>
          </a:p>
        </p:txBody>
      </p:sp>
      <p:sp>
        <p:nvSpPr>
          <p:cNvPr id="59" name="">
            <a:extLst xmlns:a="http://schemas.openxmlformats.org/drawingml/2006/main">
              <a:ext uri="{FF2B5EF4-FFF2-40B4-BE49-F238E27FC236}">
                <a16:creationId xmlns:a16="http://schemas.microsoft.com/office/drawing/2014/main" id="{4602EA1E-EE87-4E69-ABA8-782CE9A7F3D7}"/>
              </a:ext>
            </a:extLst>
          </p:cNvPr>
          <p:cNvSpPr>
            <a:spLocks xmlns:a="http://schemas.openxmlformats.org/drawingml/2006/main" noGrp="1"/>
          </p:cNvSpPr>
          <p:nvPr/>
        </p:nvSpPr>
        <p:spPr>
          <a:xfrm xmlns:a="http://schemas.openxmlformats.org/drawingml/2006/main">
            <a:off x="1986776" y="4872990"/>
            <a:ext cx="7395117" cy="39243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0" name="">
            <a:extLst xmlns:a="http://schemas.openxmlformats.org/drawingml/2006/main">
              <a:ext uri="{FF2B5EF4-FFF2-40B4-BE49-F238E27FC236}">
                <a16:creationId xmlns:a16="http://schemas.microsoft.com/office/drawing/2014/main" id="{AC697366-2750-4912-A52C-0EA03CEA05DE}"/>
              </a:ext>
            </a:extLst>
          </p:cNvPr>
          <p:cNvSpPr>
            <a:spLocks xmlns:a="http://schemas.openxmlformats.org/drawingml/2006/main" noGrp="1"/>
          </p:cNvSpPr>
          <p:nvPr/>
        </p:nvSpPr>
        <p:spPr>
          <a:xfrm xmlns:a="http://schemas.openxmlformats.org/drawingml/2006/main">
            <a:off x="2024876" y="4901565"/>
            <a:ext cx="731891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A0-A8行动项锁定：责任人、输出物、截止时间</a:t>
            </a:r>
          </a:p>
        </p:txBody>
      </p:sp>
      <p:sp>
        <p:nvSpPr>
          <p:cNvPr id="61" name="">
            <a:extLst xmlns:a="http://schemas.openxmlformats.org/drawingml/2006/main">
              <a:ext uri="{FF2B5EF4-FFF2-40B4-BE49-F238E27FC236}">
                <a16:creationId xmlns:a16="http://schemas.microsoft.com/office/drawing/2014/main" id="{E3E5E201-DA87-4100-8D9B-8BAE0D1CD0D4}"/>
              </a:ext>
            </a:extLst>
          </p:cNvPr>
          <p:cNvSpPr>
            <a:spLocks xmlns:a="http://schemas.openxmlformats.org/drawingml/2006/main" noGrp="1"/>
          </p:cNvSpPr>
          <p:nvPr/>
        </p:nvSpPr>
        <p:spPr>
          <a:xfrm xmlns:a="http://schemas.openxmlformats.org/drawingml/2006/main">
            <a:off x="9381893" y="4872990"/>
            <a:ext cx="1286107" cy="39243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2" name="">
            <a:extLst xmlns:a="http://schemas.openxmlformats.org/drawingml/2006/main">
              <a:ext uri="{FF2B5EF4-FFF2-40B4-BE49-F238E27FC236}">
                <a16:creationId xmlns:a16="http://schemas.microsoft.com/office/drawing/2014/main" id="{8BC2B343-B62D-4A0C-BA85-6E79E707A7B9}"/>
              </a:ext>
            </a:extLst>
          </p:cNvPr>
          <p:cNvSpPr>
            <a:spLocks xmlns:a="http://schemas.openxmlformats.org/drawingml/2006/main" noGrp="1"/>
          </p:cNvSpPr>
          <p:nvPr/>
        </p:nvSpPr>
        <p:spPr>
          <a:xfrm xmlns:a="http://schemas.openxmlformats.org/drawingml/2006/main">
            <a:off x="9419993" y="4901565"/>
            <a:ext cx="120990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10min</a:t>
            </a:r>
          </a:p>
        </p:txBody>
      </p:sp>
      <p:sp>
        <p:nvSpPr>
          <p:cNvPr id="63" name="">
            <a:extLst xmlns:a="http://schemas.openxmlformats.org/drawingml/2006/main">
              <a:ext uri="{FF2B5EF4-FFF2-40B4-BE49-F238E27FC236}">
                <a16:creationId xmlns:a16="http://schemas.microsoft.com/office/drawing/2014/main" id="{36B126EA-7816-4E23-862F-DC96BB7E2C05}"/>
              </a:ext>
            </a:extLst>
          </p:cNvPr>
          <p:cNvSpPr>
            <a:spLocks xmlns:a="http://schemas.openxmlformats.org/drawingml/2006/main" noGrp="1"/>
          </p:cNvSpPr>
          <p:nvPr/>
        </p:nvSpPr>
        <p:spPr>
          <a:xfrm xmlns:a="http://schemas.openxmlformats.org/drawingml/2006/main">
            <a:off x="781050" y="5265420"/>
            <a:ext cx="1205726" cy="39243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4" name="">
            <a:extLst xmlns:a="http://schemas.openxmlformats.org/drawingml/2006/main">
              <a:ext uri="{FF2B5EF4-FFF2-40B4-BE49-F238E27FC236}">
                <a16:creationId xmlns:a16="http://schemas.microsoft.com/office/drawing/2014/main" id="{E5B6F22A-5CB2-43A2-B5A4-FCF157DA0EFD}"/>
              </a:ext>
            </a:extLst>
          </p:cNvPr>
          <p:cNvSpPr>
            <a:spLocks xmlns:a="http://schemas.openxmlformats.org/drawingml/2006/main" noGrp="1"/>
          </p:cNvSpPr>
          <p:nvPr/>
        </p:nvSpPr>
        <p:spPr>
          <a:xfrm xmlns:a="http://schemas.openxmlformats.org/drawingml/2006/main">
            <a:off x="819150" y="5293995"/>
            <a:ext cx="1129526"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12:00</a:t>
            </a:r>
          </a:p>
        </p:txBody>
      </p:sp>
      <p:sp>
        <p:nvSpPr>
          <p:cNvPr id="65" name="">
            <a:extLst xmlns:a="http://schemas.openxmlformats.org/drawingml/2006/main">
              <a:ext uri="{FF2B5EF4-FFF2-40B4-BE49-F238E27FC236}">
                <a16:creationId xmlns:a16="http://schemas.microsoft.com/office/drawing/2014/main" id="{460772A2-141B-4C16-9541-D3442CD56E69}"/>
              </a:ext>
            </a:extLst>
          </p:cNvPr>
          <p:cNvSpPr>
            <a:spLocks xmlns:a="http://schemas.openxmlformats.org/drawingml/2006/main" noGrp="1"/>
          </p:cNvSpPr>
          <p:nvPr/>
        </p:nvSpPr>
        <p:spPr>
          <a:xfrm xmlns:a="http://schemas.openxmlformats.org/drawingml/2006/main">
            <a:off x="1986776" y="5265420"/>
            <a:ext cx="7395117" cy="39243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6" name="">
            <a:extLst xmlns:a="http://schemas.openxmlformats.org/drawingml/2006/main">
              <a:ext uri="{FF2B5EF4-FFF2-40B4-BE49-F238E27FC236}">
                <a16:creationId xmlns:a16="http://schemas.microsoft.com/office/drawing/2014/main" id="{341849FF-A9A7-4625-9410-72849F810BE3}"/>
              </a:ext>
            </a:extLst>
          </p:cNvPr>
          <p:cNvSpPr>
            <a:spLocks xmlns:a="http://schemas.openxmlformats.org/drawingml/2006/main" noGrp="1"/>
          </p:cNvSpPr>
          <p:nvPr/>
        </p:nvSpPr>
        <p:spPr>
          <a:xfrm xmlns:a="http://schemas.openxmlformats.org/drawingml/2006/main">
            <a:off x="2024876" y="5293995"/>
            <a:ext cx="731891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散会</a:t>
            </a:r>
          </a:p>
        </p:txBody>
      </p:sp>
      <p:sp>
        <p:nvSpPr>
          <p:cNvPr id="67" name="">
            <a:extLst xmlns:a="http://schemas.openxmlformats.org/drawingml/2006/main">
              <a:ext uri="{FF2B5EF4-FFF2-40B4-BE49-F238E27FC236}">
                <a16:creationId xmlns:a16="http://schemas.microsoft.com/office/drawing/2014/main" id="{A3680796-0B3B-4191-9598-5A9EFF8A9CB2}"/>
              </a:ext>
            </a:extLst>
          </p:cNvPr>
          <p:cNvSpPr>
            <a:spLocks xmlns:a="http://schemas.openxmlformats.org/drawingml/2006/main" noGrp="1"/>
          </p:cNvSpPr>
          <p:nvPr/>
        </p:nvSpPr>
        <p:spPr>
          <a:xfrm xmlns:a="http://schemas.openxmlformats.org/drawingml/2006/main">
            <a:off x="9381893" y="5265420"/>
            <a:ext cx="1286107" cy="39243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8" name="">
            <a:extLst xmlns:a="http://schemas.openxmlformats.org/drawingml/2006/main">
              <a:ext uri="{FF2B5EF4-FFF2-40B4-BE49-F238E27FC236}">
                <a16:creationId xmlns:a16="http://schemas.microsoft.com/office/drawing/2014/main" id="{1E93EA8B-3553-43F6-B5B3-2EAFD8771656}"/>
              </a:ext>
            </a:extLst>
          </p:cNvPr>
          <p:cNvSpPr>
            <a:spLocks xmlns:a="http://schemas.openxmlformats.org/drawingml/2006/main" noGrp="1"/>
          </p:cNvSpPr>
          <p:nvPr/>
        </p:nvSpPr>
        <p:spPr>
          <a:xfrm xmlns:a="http://schemas.openxmlformats.org/drawingml/2006/main">
            <a:off x="9419993" y="5293995"/>
            <a:ext cx="1209907" cy="33528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a:t>
            </a:r>
          </a:p>
        </p:txBody>
      </p:sp>
      <p:sp>
        <p:nvSpPr>
          <p:cNvPr id="69" name="">
            <a:extLst xmlns:a="http://schemas.openxmlformats.org/drawingml/2006/main">
              <a:ext uri="{FF2B5EF4-FFF2-40B4-BE49-F238E27FC236}">
                <a16:creationId xmlns:a16="http://schemas.microsoft.com/office/drawing/2014/main" id="{1E26E42C-89F8-4346-9FEF-CFE1449CCEB5}"/>
              </a:ext>
            </a:extLst>
          </p:cNvPr>
          <p:cNvSpPr>
            <a:spLocks xmlns:a="http://schemas.openxmlformats.org/drawingml/2006/main" noGrp="1"/>
          </p:cNvSpPr>
          <p:nvPr/>
        </p:nvSpPr>
        <p:spPr>
          <a:xfrm xmlns:a="http://schemas.openxmlformats.org/drawingml/2006/main">
            <a:off x="971550" y="5791200"/>
            <a:ext cx="9525000" cy="590550"/>
          </a:xfrm>
          <a:prstGeom xmlns:a="http://schemas.openxmlformats.org/drawingml/2006/main" prst="roundRect">
            <a:avLst>
              <a:gd name="adj" fmla="val 12903"/>
            </a:avLst>
          </a:prstGeom>
          <a:solidFill xmlns:a="http://schemas.openxmlformats.org/drawingml/2006/main">
            <a:srgbClr val="F0FDF4"/>
          </a:solidFill>
          <a:ln xmlns:a="http://schemas.openxmlformats.org/drawingml/2006/main" w="9525">
            <a:solidFill>
              <a:srgbClr val="E2E8F0"/>
            </a:solidFill>
            <a:prstDash val="solid"/>
          </a:ln>
        </p:spPr>
      </p:sp>
      <p:sp>
        <p:nvSpPr>
          <p:cNvPr id="70" name="">
            <a:extLst xmlns:a="http://schemas.openxmlformats.org/drawingml/2006/main">
              <a:ext uri="{FF2B5EF4-FFF2-40B4-BE49-F238E27FC236}">
                <a16:creationId xmlns:a16="http://schemas.microsoft.com/office/drawing/2014/main" id="{BEB22946-6B96-4E27-B8C5-4A75AC452429}"/>
              </a:ext>
            </a:extLst>
          </p:cNvPr>
          <p:cNvSpPr>
            <a:spLocks xmlns:a="http://schemas.openxmlformats.org/drawingml/2006/main" noGrp="1"/>
          </p:cNvSpPr>
          <p:nvPr/>
        </p:nvSpPr>
        <p:spPr>
          <a:xfrm xmlns:a="http://schemas.openxmlformats.org/drawingml/2006/main">
            <a:off x="971550" y="5791200"/>
            <a:ext cx="57150" cy="5905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71" name="">
            <a:extLst xmlns:a="http://schemas.openxmlformats.org/drawingml/2006/main">
              <a:ext uri="{FF2B5EF4-FFF2-40B4-BE49-F238E27FC236}">
                <a16:creationId xmlns:a16="http://schemas.microsoft.com/office/drawing/2014/main" id="{09B582E5-A7D4-46FB-A5DA-2B8875AFC168}"/>
              </a:ext>
            </a:extLst>
          </p:cNvPr>
          <p:cNvSpPr>
            <a:spLocks xmlns:a="http://schemas.openxmlformats.org/drawingml/2006/main" noGrp="1"/>
          </p:cNvSpPr>
          <p:nvPr/>
        </p:nvSpPr>
        <p:spPr>
          <a:xfrm xmlns:a="http://schemas.openxmlformats.org/drawingml/2006/main">
            <a:off x="1143000" y="5905500"/>
            <a:ext cx="9182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125" b="1">
                <a:solidFill>
                  <a:srgbClr val="16A34A"/>
                </a:solidFill>
              </a:defRPr>
            </a:pPr>
            <a:r>
              <a:rPr sz="1125" b="1">
                <a:solidFill>
                  <a:srgbClr val="16A34A"/>
                </a:solidFill>
              </a:rPr>
              <a:t>会议纪要建议口径</a:t>
            </a:r>
          </a:p>
        </p:txBody>
      </p:sp>
      <p:sp>
        <p:nvSpPr>
          <p:cNvPr id="72" name="">
            <a:extLst xmlns:a="http://schemas.openxmlformats.org/drawingml/2006/main">
              <a:ext uri="{FF2B5EF4-FFF2-40B4-BE49-F238E27FC236}">
                <a16:creationId xmlns:a16="http://schemas.microsoft.com/office/drawing/2014/main" id="{91CA18C2-5BFD-4DD1-B006-D9F73494C6FB}"/>
              </a:ext>
            </a:extLst>
          </p:cNvPr>
          <p:cNvSpPr>
            <a:spLocks xmlns:a="http://schemas.openxmlformats.org/drawingml/2006/main" noGrp="1"/>
          </p:cNvSpPr>
          <p:nvPr/>
        </p:nvSpPr>
        <p:spPr>
          <a:xfrm xmlns:a="http://schemas.openxmlformats.org/drawingml/2006/main">
            <a:off x="1143000" y="6172200"/>
            <a:ext cx="91821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54613"/>
          </a:bodyPr>
          <a:lstStyle xmlns:a="http://schemas.openxmlformats.org/drawingml/2006/main"/>
          <a:p xmlns:a="http://schemas.openxmlformats.org/drawingml/2006/main">
            <a:pPr algn="l">
              <a:defRPr sz="900" b="0">
                <a:solidFill>
                  <a:srgbClr val="475569"/>
                </a:solidFill>
              </a:defRPr>
            </a:pPr>
            <a:r>
              <a:rPr sz="900" b="0">
                <a:solidFill>
                  <a:srgbClr val="475569"/>
                </a:solidFill>
              </a:rPr>
              <a:t>建议会议纪要口径：本次会议原则确认以组织职责、流程映射、术语治理和黄金源矩阵作为 MDM 建设前置条件；资料不足的事项列为会后补资料项，不作为最终决议。</a:t>
            </a:r>
          </a:p>
        </p:txBody>
      </p:sp>
      <p:sp>
        <p:nvSpPr>
          <p:cNvPr id="73" name="">
            <a:extLst xmlns:a="http://schemas.openxmlformats.org/drawingml/2006/main">
              <a:ext uri="{FF2B5EF4-FFF2-40B4-BE49-F238E27FC236}">
                <a16:creationId xmlns:a16="http://schemas.microsoft.com/office/drawing/2014/main" id="{291AB1FC-3313-49A8-9956-935DC7F4BA12}"/>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02 / 29</a:t>
            </a:r>
          </a:p>
        </p:txBody>
      </p:sp>
    </p:spTree>
    <p:extLst>
      <p:ext uri="{BB962C8B-B14F-4D97-AF65-F5344CB8AC3E}">
        <p14:creationId xmlns:p14="http://schemas.microsoft.com/office/powerpoint/2010/main" val="993838181"/>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7BE720E-4D95-430B-9319-5B7705F09A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948233B-1A03-40C2-B59A-1F2F6E158E82}"/>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1447F53-75B7-42CD-B4BF-8D6E5BD0E326}"/>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E71E6D2-A5BE-4521-9C28-AD7E84C70B8C}"/>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00.1 最新状态</a:t>
            </a:r>
          </a:p>
        </p:txBody>
      </p:sp>
      <p:sp>
        <p:nvSpPr>
          <p:cNvPr id="6" name="">
            <a:extLst xmlns:a="http://schemas.openxmlformats.org/drawingml/2006/main">
              <a:ext uri="{FF2B5EF4-FFF2-40B4-BE49-F238E27FC236}">
                <a16:creationId xmlns:a16="http://schemas.microsoft.com/office/drawing/2014/main" id="{DD975D0E-A0C4-4898-9235-65B3643E1EC2}"/>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B5C35E41-7069-4275-9CC4-3DAC4180EA43}"/>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2026-05-07 项目状态刷新</a:t>
            </a:r>
          </a:p>
        </p:txBody>
      </p:sp>
      <p:sp>
        <p:nvSpPr>
          <p:cNvPr id="8" name="">
            <a:extLst xmlns:a="http://schemas.openxmlformats.org/drawingml/2006/main">
              <a:ext uri="{FF2B5EF4-FFF2-40B4-BE49-F238E27FC236}">
                <a16:creationId xmlns:a16="http://schemas.microsoft.com/office/drawing/2014/main" id="{05BB8724-40DA-41A3-BFA5-CF144DE3CBC7}"/>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PLM已定，A1/A3已完成；5月8日仍需补齐预审输入</a:t>
            </a:r>
          </a:p>
        </p:txBody>
      </p:sp>
      <p:sp>
        <p:nvSpPr>
          <p:cNvPr id="9" name="">
            <a:extLst xmlns:a="http://schemas.openxmlformats.org/drawingml/2006/main">
              <a:ext uri="{FF2B5EF4-FFF2-40B4-BE49-F238E27FC236}">
                <a16:creationId xmlns:a16="http://schemas.microsoft.com/office/drawing/2014/main" id="{22079E24-E4D7-4D52-AF35-1EC709F228A0}"/>
              </a:ext>
            </a:extLst>
          </p:cNvPr>
          <p:cNvSpPr>
            <a:spLocks xmlns:a="http://schemas.openxmlformats.org/drawingml/2006/main" noGrp="1"/>
          </p:cNvSpPr>
          <p:nvPr/>
        </p:nvSpPr>
        <p:spPr>
          <a:xfrm xmlns:a="http://schemas.openxmlformats.org/drawingml/2006/main">
            <a:off x="552450" y="1752600"/>
            <a:ext cx="33147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80522EC1-6817-4CA8-9080-D1935AB1BC78}"/>
              </a:ext>
            </a:extLst>
          </p:cNvPr>
          <p:cNvSpPr>
            <a:spLocks xmlns:a="http://schemas.openxmlformats.org/drawingml/2006/main" noGrp="1"/>
          </p:cNvSpPr>
          <p:nvPr/>
        </p:nvSpPr>
        <p:spPr>
          <a:xfrm xmlns:a="http://schemas.openxmlformats.org/drawingml/2006/main">
            <a:off x="552450" y="1752600"/>
            <a:ext cx="47625" cy="14668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65F0C113-41E3-4FE5-81F7-11127AEBCA71}"/>
              </a:ext>
            </a:extLst>
          </p:cNvPr>
          <p:cNvSpPr>
            <a:spLocks xmlns:a="http://schemas.openxmlformats.org/drawingml/2006/main" noGrp="1"/>
          </p:cNvSpPr>
          <p:nvPr/>
        </p:nvSpPr>
        <p:spPr>
          <a:xfrm xmlns:a="http://schemas.openxmlformats.org/drawingml/2006/main">
            <a:off x="723900" y="1885950"/>
            <a:ext cx="2990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PLM 已定</a:t>
            </a:r>
          </a:p>
        </p:txBody>
      </p:sp>
      <p:sp>
        <p:nvSpPr>
          <p:cNvPr id="12" name="">
            <a:extLst xmlns:a="http://schemas.openxmlformats.org/drawingml/2006/main">
              <a:ext uri="{FF2B5EF4-FFF2-40B4-BE49-F238E27FC236}">
                <a16:creationId xmlns:a16="http://schemas.microsoft.com/office/drawing/2014/main" id="{C929F8F2-1B3D-4512-830B-D6260FD9FD1B}"/>
              </a:ext>
            </a:extLst>
          </p:cNvPr>
          <p:cNvSpPr>
            <a:spLocks xmlns:a="http://schemas.openxmlformats.org/drawingml/2006/main" noGrp="1"/>
          </p:cNvSpPr>
          <p:nvPr/>
        </p:nvSpPr>
        <p:spPr>
          <a:xfrm xmlns:a="http://schemas.openxmlformats.org/drawingml/2006/main">
            <a:off x="723900" y="2228850"/>
            <a:ext cx="29908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翎瑞鸿翔</a:t>
            </a:r>
          </a:p>
          <a:p xmlns:a="http://schemas.openxmlformats.org/drawingml/2006/main">
            <a:pPr algn="l">
              <a:defRPr sz="975" b="0">
                <a:solidFill>
                  <a:srgbClr val="475569"/>
                </a:solidFill>
              </a:defRPr>
            </a:pPr>
            <a:r>
              <a:rPr sz="975" b="0">
                <a:solidFill>
                  <a:srgbClr val="475569"/>
                </a:solidFill>
              </a:rPr>
              <a:t>一期范围：MBOM(PDM)、ECO(ECN)、工程项目管理</a:t>
            </a:r>
          </a:p>
          <a:p xmlns:a="http://schemas.openxmlformats.org/drawingml/2006/main">
            <a:pPr algn="l">
              <a:defRPr sz="975" b="0">
                <a:solidFill>
                  <a:srgbClr val="475569"/>
                </a:solidFill>
              </a:defRPr>
            </a:pPr>
            <a:r>
              <a:rPr sz="975" b="0">
                <a:solidFill>
                  <a:srgbClr val="475569"/>
                </a:solidFill>
              </a:rPr>
              <a:t>供应商资料待 5月9日前提交</a:t>
            </a:r>
          </a:p>
        </p:txBody>
      </p:sp>
      <p:sp>
        <p:nvSpPr>
          <p:cNvPr id="13" name="">
            <a:extLst xmlns:a="http://schemas.openxmlformats.org/drawingml/2006/main">
              <a:ext uri="{FF2B5EF4-FFF2-40B4-BE49-F238E27FC236}">
                <a16:creationId xmlns:a16="http://schemas.microsoft.com/office/drawing/2014/main" id="{AF79ADDA-C28A-4129-963F-3A659AF94AF7}"/>
              </a:ext>
            </a:extLst>
          </p:cNvPr>
          <p:cNvSpPr>
            <a:spLocks xmlns:a="http://schemas.openxmlformats.org/drawingml/2006/main" noGrp="1"/>
          </p:cNvSpPr>
          <p:nvPr/>
        </p:nvSpPr>
        <p:spPr>
          <a:xfrm xmlns:a="http://schemas.openxmlformats.org/drawingml/2006/main">
            <a:off x="4152900" y="1752600"/>
            <a:ext cx="33147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90FB2813-23DF-4C77-8689-AC166A132E9A}"/>
              </a:ext>
            </a:extLst>
          </p:cNvPr>
          <p:cNvSpPr>
            <a:spLocks xmlns:a="http://schemas.openxmlformats.org/drawingml/2006/main" noGrp="1"/>
          </p:cNvSpPr>
          <p:nvPr/>
        </p:nvSpPr>
        <p:spPr>
          <a:xfrm xmlns:a="http://schemas.openxmlformats.org/drawingml/2006/main">
            <a:off x="4152900" y="1752600"/>
            <a:ext cx="47625" cy="146685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4AA05E6D-9DF8-4AA0-9FB1-A7B3CAAFF9FE}"/>
              </a:ext>
            </a:extLst>
          </p:cNvPr>
          <p:cNvSpPr>
            <a:spLocks xmlns:a="http://schemas.openxmlformats.org/drawingml/2006/main" noGrp="1"/>
          </p:cNvSpPr>
          <p:nvPr/>
        </p:nvSpPr>
        <p:spPr>
          <a:xfrm xmlns:a="http://schemas.openxmlformats.org/drawingml/2006/main">
            <a:off x="4324350" y="1885950"/>
            <a:ext cx="2990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A1/A3 已完成</a:t>
            </a:r>
          </a:p>
        </p:txBody>
      </p:sp>
      <p:sp>
        <p:nvSpPr>
          <p:cNvPr id="16" name="">
            <a:extLst xmlns:a="http://schemas.openxmlformats.org/drawingml/2006/main">
              <a:ext uri="{FF2B5EF4-FFF2-40B4-BE49-F238E27FC236}">
                <a16:creationId xmlns:a16="http://schemas.microsoft.com/office/drawing/2014/main" id="{1EA7F7D8-0554-4651-BBB6-D902BA7403B4}"/>
              </a:ext>
            </a:extLst>
          </p:cNvPr>
          <p:cNvSpPr>
            <a:spLocks xmlns:a="http://schemas.openxmlformats.org/drawingml/2006/main" noGrp="1"/>
          </p:cNvSpPr>
          <p:nvPr/>
        </p:nvSpPr>
        <p:spPr>
          <a:xfrm xmlns:a="http://schemas.openxmlformats.org/drawingml/2006/main">
            <a:off x="4324350" y="2228850"/>
            <a:ext cx="29908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A1：PLM供应商能力确认完成</a:t>
            </a:r>
          </a:p>
          <a:p xmlns:a="http://schemas.openxmlformats.org/drawingml/2006/main">
            <a:pPr algn="l">
              <a:defRPr sz="975" b="0">
                <a:solidFill>
                  <a:srgbClr val="475569"/>
                </a:solidFill>
              </a:defRPr>
            </a:pPr>
            <a:r>
              <a:rPr sz="975" b="0">
                <a:solidFill>
                  <a:srgbClr val="475569"/>
                </a:solidFill>
              </a:rPr>
              <a:t>A3：ECO流程已验证，无风险敞口</a:t>
            </a:r>
          </a:p>
          <a:p xmlns:a="http://schemas.openxmlformats.org/drawingml/2006/main">
            <a:pPr algn="l">
              <a:defRPr sz="975" b="0">
                <a:solidFill>
                  <a:srgbClr val="475569"/>
                </a:solidFill>
              </a:defRPr>
            </a:pPr>
            <a:r>
              <a:rPr sz="975" b="0">
                <a:solidFill>
                  <a:srgbClr val="475569"/>
                </a:solidFill>
              </a:rPr>
              <a:t>结论并入PLM洽谈结论</a:t>
            </a:r>
          </a:p>
        </p:txBody>
      </p:sp>
      <p:sp>
        <p:nvSpPr>
          <p:cNvPr id="17" name="">
            <a:extLst xmlns:a="http://schemas.openxmlformats.org/drawingml/2006/main">
              <a:ext uri="{FF2B5EF4-FFF2-40B4-BE49-F238E27FC236}">
                <a16:creationId xmlns:a16="http://schemas.microsoft.com/office/drawing/2014/main" id="{30638EF6-62EC-41E5-B1CE-548F6EEF13B3}"/>
              </a:ext>
            </a:extLst>
          </p:cNvPr>
          <p:cNvSpPr>
            <a:spLocks xmlns:a="http://schemas.openxmlformats.org/drawingml/2006/main" noGrp="1"/>
          </p:cNvSpPr>
          <p:nvPr/>
        </p:nvSpPr>
        <p:spPr>
          <a:xfrm xmlns:a="http://schemas.openxmlformats.org/drawingml/2006/main">
            <a:off x="7753350" y="1752600"/>
            <a:ext cx="33147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C2F110A4-E18C-4E9A-9740-C2884FEB9340}"/>
              </a:ext>
            </a:extLst>
          </p:cNvPr>
          <p:cNvSpPr>
            <a:spLocks xmlns:a="http://schemas.openxmlformats.org/drawingml/2006/main" noGrp="1"/>
          </p:cNvSpPr>
          <p:nvPr/>
        </p:nvSpPr>
        <p:spPr>
          <a:xfrm xmlns:a="http://schemas.openxmlformats.org/drawingml/2006/main">
            <a:off x="7753350" y="1752600"/>
            <a:ext cx="47625" cy="14668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06FE419F-1A25-4D50-8F1E-7290937C1A31}"/>
              </a:ext>
            </a:extLst>
          </p:cNvPr>
          <p:cNvSpPr>
            <a:spLocks xmlns:a="http://schemas.openxmlformats.org/drawingml/2006/main" noGrp="1"/>
          </p:cNvSpPr>
          <p:nvPr/>
        </p:nvSpPr>
        <p:spPr>
          <a:xfrm xmlns:a="http://schemas.openxmlformats.org/drawingml/2006/main">
            <a:off x="7924800" y="1885950"/>
            <a:ext cx="2990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BOM头风险已识别</a:t>
            </a:r>
          </a:p>
        </p:txBody>
      </p:sp>
      <p:sp>
        <p:nvSpPr>
          <p:cNvPr id="20" name="">
            <a:extLst xmlns:a="http://schemas.openxmlformats.org/drawingml/2006/main">
              <a:ext uri="{FF2B5EF4-FFF2-40B4-BE49-F238E27FC236}">
                <a16:creationId xmlns:a16="http://schemas.microsoft.com/office/drawing/2014/main" id="{49DE0731-295D-4483-AC84-BB9A4A1FF619}"/>
              </a:ext>
            </a:extLst>
          </p:cNvPr>
          <p:cNvSpPr>
            <a:spLocks xmlns:a="http://schemas.openxmlformats.org/drawingml/2006/main" noGrp="1"/>
          </p:cNvSpPr>
          <p:nvPr/>
        </p:nvSpPr>
        <p:spPr>
          <a:xfrm xmlns:a="http://schemas.openxmlformats.org/drawingml/2006/main">
            <a:off x="7924800" y="2228850"/>
            <a:ext cx="29908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EBOM→MBOM 的结构映射和字段对齐是一期风险点</a:t>
            </a:r>
          </a:p>
          <a:p xmlns:a="http://schemas.openxmlformats.org/drawingml/2006/main">
            <a:pPr algn="l">
              <a:defRPr sz="975" b="0">
                <a:solidFill>
                  <a:srgbClr val="475569"/>
                </a:solidFill>
              </a:defRPr>
            </a:pPr>
            <a:r>
              <a:rPr sz="975" b="0">
                <a:solidFill>
                  <a:srgbClr val="475569"/>
                </a:solidFill>
              </a:rPr>
              <a:t>一期由人工或临时方案承接，CAPP 后续规划</a:t>
            </a:r>
          </a:p>
        </p:txBody>
      </p:sp>
      <p:sp>
        <p:nvSpPr>
          <p:cNvPr id="21" name="">
            <a:extLst xmlns:a="http://schemas.openxmlformats.org/drawingml/2006/main">
              <a:ext uri="{FF2B5EF4-FFF2-40B4-BE49-F238E27FC236}">
                <a16:creationId xmlns:a16="http://schemas.microsoft.com/office/drawing/2014/main" id="{8875D4C9-1D1B-47F3-A12A-8724EB44AEF0}"/>
              </a:ext>
            </a:extLst>
          </p:cNvPr>
          <p:cNvSpPr>
            <a:spLocks xmlns:a="http://schemas.openxmlformats.org/drawingml/2006/main" noGrp="1"/>
          </p:cNvSpPr>
          <p:nvPr/>
        </p:nvSpPr>
        <p:spPr>
          <a:xfrm xmlns:a="http://schemas.openxmlformats.org/drawingml/2006/main">
            <a:off x="781050" y="3676650"/>
            <a:ext cx="9696450" cy="781050"/>
          </a:xfrm>
          <a:prstGeom xmlns:a="http://schemas.openxmlformats.org/drawingml/2006/main" prst="roundRect">
            <a:avLst>
              <a:gd name="adj" fmla="val 9756"/>
            </a:avLst>
          </a:prstGeom>
          <a:solidFill xmlns:a="http://schemas.openxmlformats.org/drawingml/2006/main">
            <a:srgbClr val="FEF2F2"/>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0E85A74A-293F-49F2-9B9E-E7D84168F6E1}"/>
              </a:ext>
            </a:extLst>
          </p:cNvPr>
          <p:cNvSpPr>
            <a:spLocks xmlns:a="http://schemas.openxmlformats.org/drawingml/2006/main" noGrp="1"/>
          </p:cNvSpPr>
          <p:nvPr/>
        </p:nvSpPr>
        <p:spPr>
          <a:xfrm xmlns:a="http://schemas.openxmlformats.org/drawingml/2006/main">
            <a:off x="781050" y="3676650"/>
            <a:ext cx="57150" cy="781050"/>
          </a:xfrm>
          <a:prstGeom xmlns:a="http://schemas.openxmlformats.org/drawingml/2006/main" prst="rect">
            <a:avLst/>
          </a:prstGeom>
          <a:solidFill xmlns:a="http://schemas.openxmlformats.org/drawingml/2006/main">
            <a:srgbClr val="DC2626"/>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4BF3503E-12E4-4D4E-AB4D-A2C060B8C72C}"/>
              </a:ext>
            </a:extLst>
          </p:cNvPr>
          <p:cNvSpPr>
            <a:spLocks xmlns:a="http://schemas.openxmlformats.org/drawingml/2006/main" noGrp="1"/>
          </p:cNvSpPr>
          <p:nvPr/>
        </p:nvSpPr>
        <p:spPr>
          <a:xfrm xmlns:a="http://schemas.openxmlformats.org/drawingml/2006/main">
            <a:off x="952500" y="3790950"/>
            <a:ext cx="93535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125" b="1">
                <a:solidFill>
                  <a:srgbClr val="DC2626"/>
                </a:solidFill>
              </a:defRPr>
            </a:pPr>
            <a:r>
              <a:rPr sz="1125" b="1">
                <a:solidFill>
                  <a:srgbClr val="DC2626"/>
                </a:solidFill>
              </a:rPr>
              <a:t>5月9日会议定位</a:t>
            </a:r>
          </a:p>
        </p:txBody>
      </p:sp>
      <p:sp>
        <p:nvSpPr>
          <p:cNvPr id="24" name="">
            <a:extLst xmlns:a="http://schemas.openxmlformats.org/drawingml/2006/main">
              <a:ext uri="{FF2B5EF4-FFF2-40B4-BE49-F238E27FC236}">
                <a16:creationId xmlns:a16="http://schemas.microsoft.com/office/drawing/2014/main" id="{117C15E1-4EB3-4419-BED3-CA940A1B6B1C}"/>
              </a:ext>
            </a:extLst>
          </p:cNvPr>
          <p:cNvSpPr>
            <a:spLocks xmlns:a="http://schemas.openxmlformats.org/drawingml/2006/main" noGrp="1"/>
          </p:cNvSpPr>
          <p:nvPr/>
        </p:nvSpPr>
        <p:spPr>
          <a:xfrm xmlns:a="http://schemas.openxmlformats.org/drawingml/2006/main">
            <a:off x="952500" y="4057650"/>
            <a:ext cx="9353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00" b="0">
                <a:solidFill>
                  <a:srgbClr val="475569"/>
                </a:solidFill>
              </a:defRPr>
            </a:pPr>
            <a:r>
              <a:rPr sz="900" b="0">
                <a:solidFill>
                  <a:srgbClr val="475569"/>
                </a:solidFill>
              </a:rPr>
              <a:t>仍建议定位为“集成方案预审会”：已确认事项进入条件性结论，未补齐资料项不写成最终决议。</a:t>
            </a:r>
          </a:p>
        </p:txBody>
      </p:sp>
      <p:sp>
        <p:nvSpPr>
          <p:cNvPr id="25" name="">
            <a:extLst xmlns:a="http://schemas.openxmlformats.org/drawingml/2006/main">
              <a:ext uri="{FF2B5EF4-FFF2-40B4-BE49-F238E27FC236}">
                <a16:creationId xmlns:a16="http://schemas.microsoft.com/office/drawing/2014/main" id="{72B9D941-1ADC-4F15-9306-FDD1685A9D08}"/>
              </a:ext>
            </a:extLst>
          </p:cNvPr>
          <p:cNvSpPr>
            <a:spLocks xmlns:a="http://schemas.openxmlformats.org/drawingml/2006/main" noGrp="1"/>
          </p:cNvSpPr>
          <p:nvPr/>
        </p:nvSpPr>
        <p:spPr>
          <a:xfrm xmlns:a="http://schemas.openxmlformats.org/drawingml/2006/main">
            <a:off x="781050" y="4762500"/>
            <a:ext cx="2059423" cy="25908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26" name="">
            <a:extLst xmlns:a="http://schemas.openxmlformats.org/drawingml/2006/main">
              <a:ext uri="{FF2B5EF4-FFF2-40B4-BE49-F238E27FC236}">
                <a16:creationId xmlns:a16="http://schemas.microsoft.com/office/drawing/2014/main" id="{2D8B2C14-A058-4A50-9D2A-2B58B151BB9B}"/>
              </a:ext>
            </a:extLst>
          </p:cNvPr>
          <p:cNvSpPr>
            <a:spLocks xmlns:a="http://schemas.openxmlformats.org/drawingml/2006/main" noGrp="1"/>
          </p:cNvSpPr>
          <p:nvPr/>
        </p:nvSpPr>
        <p:spPr>
          <a:xfrm xmlns:a="http://schemas.openxmlformats.org/drawingml/2006/main">
            <a:off x="819150" y="4791075"/>
            <a:ext cx="1983223" cy="2019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0" b="1">
                <a:solidFill>
                  <a:srgbClr val="FFFFFF"/>
                </a:solidFill>
              </a:defRPr>
            </a:pPr>
            <a:r>
              <a:rPr sz="630" b="1">
                <a:solidFill>
                  <a:srgbClr val="FFFFFF"/>
                </a:solidFill>
              </a:rPr>
              <a:t>待补事项</a:t>
            </a:r>
          </a:p>
        </p:txBody>
      </p:sp>
      <p:sp>
        <p:nvSpPr>
          <p:cNvPr id="27" name="">
            <a:extLst xmlns:a="http://schemas.openxmlformats.org/drawingml/2006/main">
              <a:ext uri="{FF2B5EF4-FFF2-40B4-BE49-F238E27FC236}">
                <a16:creationId xmlns:a16="http://schemas.microsoft.com/office/drawing/2014/main" id="{84158364-1807-4812-A469-329BD29A10F1}"/>
              </a:ext>
            </a:extLst>
          </p:cNvPr>
          <p:cNvSpPr>
            <a:spLocks xmlns:a="http://schemas.openxmlformats.org/drawingml/2006/main" noGrp="1"/>
          </p:cNvSpPr>
          <p:nvPr/>
        </p:nvSpPr>
        <p:spPr>
          <a:xfrm xmlns:a="http://schemas.openxmlformats.org/drawingml/2006/main">
            <a:off x="2840473" y="4762500"/>
            <a:ext cx="3603990" cy="25908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28" name="">
            <a:extLst xmlns:a="http://schemas.openxmlformats.org/drawingml/2006/main">
              <a:ext uri="{FF2B5EF4-FFF2-40B4-BE49-F238E27FC236}">
                <a16:creationId xmlns:a16="http://schemas.microsoft.com/office/drawing/2014/main" id="{C39C395B-BFD1-4EDB-A8D1-D3782BA227C9}"/>
              </a:ext>
            </a:extLst>
          </p:cNvPr>
          <p:cNvSpPr>
            <a:spLocks xmlns:a="http://schemas.openxmlformats.org/drawingml/2006/main" noGrp="1"/>
          </p:cNvSpPr>
          <p:nvPr/>
        </p:nvSpPr>
        <p:spPr>
          <a:xfrm xmlns:a="http://schemas.openxmlformats.org/drawingml/2006/main">
            <a:off x="2878573" y="4791075"/>
            <a:ext cx="3527790" cy="2019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0" b="1">
                <a:solidFill>
                  <a:srgbClr val="FFFFFF"/>
                </a:solidFill>
              </a:defRPr>
            </a:pPr>
            <a:r>
              <a:rPr sz="630" b="1">
                <a:solidFill>
                  <a:srgbClr val="FFFFFF"/>
                </a:solidFill>
              </a:rPr>
              <a:t>牵头/参与</a:t>
            </a:r>
          </a:p>
        </p:txBody>
      </p:sp>
      <p:sp>
        <p:nvSpPr>
          <p:cNvPr id="29" name="">
            <a:extLst xmlns:a="http://schemas.openxmlformats.org/drawingml/2006/main">
              <a:ext uri="{FF2B5EF4-FFF2-40B4-BE49-F238E27FC236}">
                <a16:creationId xmlns:a16="http://schemas.microsoft.com/office/drawing/2014/main" id="{F97FD59F-E9B2-499D-9D3A-692BCC5C429B}"/>
              </a:ext>
            </a:extLst>
          </p:cNvPr>
          <p:cNvSpPr>
            <a:spLocks xmlns:a="http://schemas.openxmlformats.org/drawingml/2006/main" noGrp="1"/>
          </p:cNvSpPr>
          <p:nvPr/>
        </p:nvSpPr>
        <p:spPr>
          <a:xfrm xmlns:a="http://schemas.openxmlformats.org/drawingml/2006/main">
            <a:off x="6444463" y="4762500"/>
            <a:ext cx="4033037" cy="25908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30" name="">
            <a:extLst xmlns:a="http://schemas.openxmlformats.org/drawingml/2006/main">
              <a:ext uri="{FF2B5EF4-FFF2-40B4-BE49-F238E27FC236}">
                <a16:creationId xmlns:a16="http://schemas.microsoft.com/office/drawing/2014/main" id="{3E3B5495-9972-444D-9701-14FEB50128BC}"/>
              </a:ext>
            </a:extLst>
          </p:cNvPr>
          <p:cNvSpPr>
            <a:spLocks xmlns:a="http://schemas.openxmlformats.org/drawingml/2006/main" noGrp="1"/>
          </p:cNvSpPr>
          <p:nvPr/>
        </p:nvSpPr>
        <p:spPr>
          <a:xfrm xmlns:a="http://schemas.openxmlformats.org/drawingml/2006/main">
            <a:off x="6482563" y="4791075"/>
            <a:ext cx="3956837" cy="2019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0" b="1">
                <a:solidFill>
                  <a:srgbClr val="FFFFFF"/>
                </a:solidFill>
              </a:defRPr>
            </a:pPr>
            <a:r>
              <a:rPr sz="630" b="1">
                <a:solidFill>
                  <a:srgbClr val="FFFFFF"/>
                </a:solidFill>
              </a:rPr>
              <a:t>预审输出</a:t>
            </a:r>
          </a:p>
        </p:txBody>
      </p:sp>
      <p:sp>
        <p:nvSpPr>
          <p:cNvPr id="31" name="">
            <a:extLst xmlns:a="http://schemas.openxmlformats.org/drawingml/2006/main">
              <a:ext uri="{FF2B5EF4-FFF2-40B4-BE49-F238E27FC236}">
                <a16:creationId xmlns:a16="http://schemas.microsoft.com/office/drawing/2014/main" id="{5028B0D2-7F5A-43CE-A2B1-C4DAF5D12878}"/>
              </a:ext>
            </a:extLst>
          </p:cNvPr>
          <p:cNvSpPr>
            <a:spLocks xmlns:a="http://schemas.openxmlformats.org/drawingml/2006/main" noGrp="1"/>
          </p:cNvSpPr>
          <p:nvPr/>
        </p:nvSpPr>
        <p:spPr>
          <a:xfrm xmlns:a="http://schemas.openxmlformats.org/drawingml/2006/main">
            <a:off x="781050" y="5021580"/>
            <a:ext cx="2059423" cy="2590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2" name="">
            <a:extLst xmlns:a="http://schemas.openxmlformats.org/drawingml/2006/main">
              <a:ext uri="{FF2B5EF4-FFF2-40B4-BE49-F238E27FC236}">
                <a16:creationId xmlns:a16="http://schemas.microsoft.com/office/drawing/2014/main" id="{A0EBAFEA-245D-49EF-8C23-B0B1A63C911E}"/>
              </a:ext>
            </a:extLst>
          </p:cNvPr>
          <p:cNvSpPr>
            <a:spLocks xmlns:a="http://schemas.openxmlformats.org/drawingml/2006/main" noGrp="1"/>
          </p:cNvSpPr>
          <p:nvPr/>
        </p:nvSpPr>
        <p:spPr>
          <a:xfrm xmlns:a="http://schemas.openxmlformats.org/drawingml/2006/main">
            <a:off x="819150" y="5050155"/>
            <a:ext cx="1983223" cy="2019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0" b="0">
                <a:solidFill>
                  <a:srgbClr val="475569"/>
                </a:solidFill>
              </a:defRPr>
            </a:pPr>
            <a:r>
              <a:rPr sz="630" b="0">
                <a:solidFill>
                  <a:srgbClr val="475569"/>
                </a:solidFill>
              </a:rPr>
              <a:t>SCIM定位</a:t>
            </a:r>
          </a:p>
        </p:txBody>
      </p:sp>
      <p:sp>
        <p:nvSpPr>
          <p:cNvPr id="33" name="">
            <a:extLst xmlns:a="http://schemas.openxmlformats.org/drawingml/2006/main">
              <a:ext uri="{FF2B5EF4-FFF2-40B4-BE49-F238E27FC236}">
                <a16:creationId xmlns:a16="http://schemas.microsoft.com/office/drawing/2014/main" id="{CEDFC6E4-2F60-461B-92FE-1ED3F82D3372}"/>
              </a:ext>
            </a:extLst>
          </p:cNvPr>
          <p:cNvSpPr>
            <a:spLocks xmlns:a="http://schemas.openxmlformats.org/drawingml/2006/main" noGrp="1"/>
          </p:cNvSpPr>
          <p:nvPr/>
        </p:nvSpPr>
        <p:spPr>
          <a:xfrm xmlns:a="http://schemas.openxmlformats.org/drawingml/2006/main">
            <a:off x="2840473" y="5021580"/>
            <a:ext cx="3603990" cy="2590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4" name="">
            <a:extLst xmlns:a="http://schemas.openxmlformats.org/drawingml/2006/main">
              <a:ext uri="{FF2B5EF4-FFF2-40B4-BE49-F238E27FC236}">
                <a16:creationId xmlns:a16="http://schemas.microsoft.com/office/drawing/2014/main" id="{9C66CBCA-C202-4610-9DD0-AC2B1FB55904}"/>
              </a:ext>
            </a:extLst>
          </p:cNvPr>
          <p:cNvSpPr>
            <a:spLocks xmlns:a="http://schemas.openxmlformats.org/drawingml/2006/main" noGrp="1"/>
          </p:cNvSpPr>
          <p:nvPr/>
        </p:nvSpPr>
        <p:spPr>
          <a:xfrm xmlns:a="http://schemas.openxmlformats.org/drawingml/2006/main">
            <a:off x="2878573" y="5050155"/>
            <a:ext cx="3527790" cy="2019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0" b="0">
                <a:solidFill>
                  <a:srgbClr val="475569"/>
                </a:solidFill>
              </a:defRPr>
            </a:pPr>
            <a:r>
              <a:rPr sz="630" b="0">
                <a:solidFill>
                  <a:srgbClr val="475569"/>
                </a:solidFill>
              </a:rPr>
              <a:t>物资保障部 + 质量/财务/项目管理部</a:t>
            </a:r>
          </a:p>
        </p:txBody>
      </p:sp>
      <p:sp>
        <p:nvSpPr>
          <p:cNvPr id="35" name="">
            <a:extLst xmlns:a="http://schemas.openxmlformats.org/drawingml/2006/main">
              <a:ext uri="{FF2B5EF4-FFF2-40B4-BE49-F238E27FC236}">
                <a16:creationId xmlns:a16="http://schemas.microsoft.com/office/drawing/2014/main" id="{505A7DB7-FE57-4D4F-9619-5C0B7FC58A0C}"/>
              </a:ext>
            </a:extLst>
          </p:cNvPr>
          <p:cNvSpPr>
            <a:spLocks xmlns:a="http://schemas.openxmlformats.org/drawingml/2006/main" noGrp="1"/>
          </p:cNvSpPr>
          <p:nvPr/>
        </p:nvSpPr>
        <p:spPr>
          <a:xfrm xmlns:a="http://schemas.openxmlformats.org/drawingml/2006/main">
            <a:off x="6444463" y="5021580"/>
            <a:ext cx="4033037" cy="2590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6" name="">
            <a:extLst xmlns:a="http://schemas.openxmlformats.org/drawingml/2006/main">
              <a:ext uri="{FF2B5EF4-FFF2-40B4-BE49-F238E27FC236}">
                <a16:creationId xmlns:a16="http://schemas.microsoft.com/office/drawing/2014/main" id="{682B744F-050D-4DEA-8985-BCD0D7AF3C5E}"/>
              </a:ext>
            </a:extLst>
          </p:cNvPr>
          <p:cNvSpPr>
            <a:spLocks xmlns:a="http://schemas.openxmlformats.org/drawingml/2006/main" noGrp="1"/>
          </p:cNvSpPr>
          <p:nvPr/>
        </p:nvSpPr>
        <p:spPr>
          <a:xfrm xmlns:a="http://schemas.openxmlformats.org/drawingml/2006/main">
            <a:off x="6482563" y="5050155"/>
            <a:ext cx="3956837" cy="2019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0" b="0">
                <a:solidFill>
                  <a:srgbClr val="475569"/>
                </a:solidFill>
              </a:defRPr>
            </a:pPr>
            <a:r>
              <a:rPr sz="630" b="0">
                <a:solidFill>
                  <a:srgbClr val="475569"/>
                </a:solidFill>
              </a:rPr>
              <a:t>供应商协同范围；自研/采购倾向</a:t>
            </a:r>
          </a:p>
        </p:txBody>
      </p:sp>
      <p:sp>
        <p:nvSpPr>
          <p:cNvPr id="37" name="">
            <a:extLst xmlns:a="http://schemas.openxmlformats.org/drawingml/2006/main">
              <a:ext uri="{FF2B5EF4-FFF2-40B4-BE49-F238E27FC236}">
                <a16:creationId xmlns:a16="http://schemas.microsoft.com/office/drawing/2014/main" id="{94225CFD-0742-49B5-B908-A52B6CDDE42F}"/>
              </a:ext>
            </a:extLst>
          </p:cNvPr>
          <p:cNvSpPr>
            <a:spLocks xmlns:a="http://schemas.openxmlformats.org/drawingml/2006/main" noGrp="1"/>
          </p:cNvSpPr>
          <p:nvPr/>
        </p:nvSpPr>
        <p:spPr>
          <a:xfrm xmlns:a="http://schemas.openxmlformats.org/drawingml/2006/main">
            <a:off x="781050" y="5280660"/>
            <a:ext cx="2059423" cy="2590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8" name="">
            <a:extLst xmlns:a="http://schemas.openxmlformats.org/drawingml/2006/main">
              <a:ext uri="{FF2B5EF4-FFF2-40B4-BE49-F238E27FC236}">
                <a16:creationId xmlns:a16="http://schemas.microsoft.com/office/drawing/2014/main" id="{02DB52E3-B2D2-49A8-95DD-B88DDE6A2E2B}"/>
              </a:ext>
            </a:extLst>
          </p:cNvPr>
          <p:cNvSpPr>
            <a:spLocks xmlns:a="http://schemas.openxmlformats.org/drawingml/2006/main" noGrp="1"/>
          </p:cNvSpPr>
          <p:nvPr/>
        </p:nvSpPr>
        <p:spPr>
          <a:xfrm xmlns:a="http://schemas.openxmlformats.org/drawingml/2006/main">
            <a:off x="819150" y="5309235"/>
            <a:ext cx="1983223" cy="2019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0" b="0">
                <a:solidFill>
                  <a:srgbClr val="475569"/>
                </a:solidFill>
              </a:defRPr>
            </a:pPr>
            <a:r>
              <a:rPr sz="630" b="0">
                <a:solidFill>
                  <a:srgbClr val="475569"/>
                </a:solidFill>
              </a:rPr>
              <a:t>数据中台路线</a:t>
            </a:r>
          </a:p>
        </p:txBody>
      </p:sp>
      <p:sp>
        <p:nvSpPr>
          <p:cNvPr id="39" name="">
            <a:extLst xmlns:a="http://schemas.openxmlformats.org/drawingml/2006/main">
              <a:ext uri="{FF2B5EF4-FFF2-40B4-BE49-F238E27FC236}">
                <a16:creationId xmlns:a16="http://schemas.microsoft.com/office/drawing/2014/main" id="{36C0D329-FA43-428D-BDC2-DAE89A75E802}"/>
              </a:ext>
            </a:extLst>
          </p:cNvPr>
          <p:cNvSpPr>
            <a:spLocks xmlns:a="http://schemas.openxmlformats.org/drawingml/2006/main" noGrp="1"/>
          </p:cNvSpPr>
          <p:nvPr/>
        </p:nvSpPr>
        <p:spPr>
          <a:xfrm xmlns:a="http://schemas.openxmlformats.org/drawingml/2006/main">
            <a:off x="2840473" y="5280660"/>
            <a:ext cx="3603990" cy="2590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0" name="">
            <a:extLst xmlns:a="http://schemas.openxmlformats.org/drawingml/2006/main">
              <a:ext uri="{FF2B5EF4-FFF2-40B4-BE49-F238E27FC236}">
                <a16:creationId xmlns:a16="http://schemas.microsoft.com/office/drawing/2014/main" id="{09D5C640-6DF0-462E-B262-3195A99035A3}"/>
              </a:ext>
            </a:extLst>
          </p:cNvPr>
          <p:cNvSpPr>
            <a:spLocks xmlns:a="http://schemas.openxmlformats.org/drawingml/2006/main" noGrp="1"/>
          </p:cNvSpPr>
          <p:nvPr/>
        </p:nvSpPr>
        <p:spPr>
          <a:xfrm xmlns:a="http://schemas.openxmlformats.org/drawingml/2006/main">
            <a:off x="2878573" y="5309235"/>
            <a:ext cx="3527790" cy="2019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0" b="0">
                <a:solidFill>
                  <a:srgbClr val="475569"/>
                </a:solidFill>
              </a:defRPr>
            </a:pPr>
            <a:r>
              <a:rPr sz="630" b="0">
                <a:solidFill>
                  <a:srgbClr val="475569"/>
                </a:solidFill>
              </a:rPr>
              <a:t>信息化项目组 + 各系统供应商</a:t>
            </a:r>
          </a:p>
        </p:txBody>
      </p:sp>
      <p:sp>
        <p:nvSpPr>
          <p:cNvPr id="41" name="">
            <a:extLst xmlns:a="http://schemas.openxmlformats.org/drawingml/2006/main">
              <a:ext uri="{FF2B5EF4-FFF2-40B4-BE49-F238E27FC236}">
                <a16:creationId xmlns:a16="http://schemas.microsoft.com/office/drawing/2014/main" id="{A34EE877-1C9B-403E-B4EC-8C8EB4B59AB8}"/>
              </a:ext>
            </a:extLst>
          </p:cNvPr>
          <p:cNvSpPr>
            <a:spLocks xmlns:a="http://schemas.openxmlformats.org/drawingml/2006/main" noGrp="1"/>
          </p:cNvSpPr>
          <p:nvPr/>
        </p:nvSpPr>
        <p:spPr>
          <a:xfrm xmlns:a="http://schemas.openxmlformats.org/drawingml/2006/main">
            <a:off x="6444463" y="5280660"/>
            <a:ext cx="4033037" cy="2590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2" name="">
            <a:extLst xmlns:a="http://schemas.openxmlformats.org/drawingml/2006/main">
              <a:ext uri="{FF2B5EF4-FFF2-40B4-BE49-F238E27FC236}">
                <a16:creationId xmlns:a16="http://schemas.microsoft.com/office/drawing/2014/main" id="{860FAE25-5C78-4F79-A925-E034B7260FCC}"/>
              </a:ext>
            </a:extLst>
          </p:cNvPr>
          <p:cNvSpPr>
            <a:spLocks xmlns:a="http://schemas.openxmlformats.org/drawingml/2006/main" noGrp="1"/>
          </p:cNvSpPr>
          <p:nvPr/>
        </p:nvSpPr>
        <p:spPr>
          <a:xfrm xmlns:a="http://schemas.openxmlformats.org/drawingml/2006/main">
            <a:off x="6482563" y="5309235"/>
            <a:ext cx="3956837" cy="2019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0" b="0">
                <a:solidFill>
                  <a:srgbClr val="475569"/>
                </a:solidFill>
              </a:defRPr>
            </a:pPr>
            <a:r>
              <a:rPr sz="630" b="0">
                <a:solidFill>
                  <a:srgbClr val="475569"/>
                </a:solidFill>
              </a:rPr>
              <a:t>点对点、ESB、数据中台三案对比</a:t>
            </a:r>
          </a:p>
        </p:txBody>
      </p:sp>
      <p:sp>
        <p:nvSpPr>
          <p:cNvPr id="43" name="">
            <a:extLst xmlns:a="http://schemas.openxmlformats.org/drawingml/2006/main">
              <a:ext uri="{FF2B5EF4-FFF2-40B4-BE49-F238E27FC236}">
                <a16:creationId xmlns:a16="http://schemas.microsoft.com/office/drawing/2014/main" id="{244BF869-526B-4857-9EB2-FE72F9953AFB}"/>
              </a:ext>
            </a:extLst>
          </p:cNvPr>
          <p:cNvSpPr>
            <a:spLocks xmlns:a="http://schemas.openxmlformats.org/drawingml/2006/main" noGrp="1"/>
          </p:cNvSpPr>
          <p:nvPr/>
        </p:nvSpPr>
        <p:spPr>
          <a:xfrm xmlns:a="http://schemas.openxmlformats.org/drawingml/2006/main">
            <a:off x="781050" y="5539740"/>
            <a:ext cx="2059423" cy="2590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4" name="">
            <a:extLst xmlns:a="http://schemas.openxmlformats.org/drawingml/2006/main">
              <a:ext uri="{FF2B5EF4-FFF2-40B4-BE49-F238E27FC236}">
                <a16:creationId xmlns:a16="http://schemas.microsoft.com/office/drawing/2014/main" id="{B00B760A-D449-4F92-B94D-13BA24651D7A}"/>
              </a:ext>
            </a:extLst>
          </p:cNvPr>
          <p:cNvSpPr>
            <a:spLocks xmlns:a="http://schemas.openxmlformats.org/drawingml/2006/main" noGrp="1"/>
          </p:cNvSpPr>
          <p:nvPr/>
        </p:nvSpPr>
        <p:spPr>
          <a:xfrm xmlns:a="http://schemas.openxmlformats.org/drawingml/2006/main">
            <a:off x="819150" y="5568315"/>
            <a:ext cx="1983223" cy="2019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0" b="0">
                <a:solidFill>
                  <a:srgbClr val="475569"/>
                </a:solidFill>
              </a:defRPr>
            </a:pPr>
            <a:r>
              <a:rPr sz="630" b="0">
                <a:solidFill>
                  <a:srgbClr val="475569"/>
                </a:solidFill>
              </a:rPr>
              <a:t>主数据编码技术确认</a:t>
            </a:r>
          </a:p>
        </p:txBody>
      </p:sp>
      <p:sp>
        <p:nvSpPr>
          <p:cNvPr id="45" name="">
            <a:extLst xmlns:a="http://schemas.openxmlformats.org/drawingml/2006/main">
              <a:ext uri="{FF2B5EF4-FFF2-40B4-BE49-F238E27FC236}">
                <a16:creationId xmlns:a16="http://schemas.microsoft.com/office/drawing/2014/main" id="{D3C0B1C7-ACDE-4CF2-9E3C-F4010DEABFEE}"/>
              </a:ext>
            </a:extLst>
          </p:cNvPr>
          <p:cNvSpPr>
            <a:spLocks xmlns:a="http://schemas.openxmlformats.org/drawingml/2006/main" noGrp="1"/>
          </p:cNvSpPr>
          <p:nvPr/>
        </p:nvSpPr>
        <p:spPr>
          <a:xfrm xmlns:a="http://schemas.openxmlformats.org/drawingml/2006/main">
            <a:off x="2840473" y="5539740"/>
            <a:ext cx="3603990" cy="2590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6" name="">
            <a:extLst xmlns:a="http://schemas.openxmlformats.org/drawingml/2006/main">
              <a:ext uri="{FF2B5EF4-FFF2-40B4-BE49-F238E27FC236}">
                <a16:creationId xmlns:a16="http://schemas.microsoft.com/office/drawing/2014/main" id="{E92F0535-102F-4C8A-A248-D5C3081B4FC5}"/>
              </a:ext>
            </a:extLst>
          </p:cNvPr>
          <p:cNvSpPr>
            <a:spLocks xmlns:a="http://schemas.openxmlformats.org/drawingml/2006/main" noGrp="1"/>
          </p:cNvSpPr>
          <p:nvPr/>
        </p:nvSpPr>
        <p:spPr>
          <a:xfrm xmlns:a="http://schemas.openxmlformats.org/drawingml/2006/main">
            <a:off x="2878573" y="5568315"/>
            <a:ext cx="3527790" cy="2019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0" b="0">
                <a:solidFill>
                  <a:srgbClr val="475569"/>
                </a:solidFill>
              </a:defRPr>
            </a:pPr>
            <a:r>
              <a:rPr sz="630" b="0">
                <a:solidFill>
                  <a:srgbClr val="475569"/>
                </a:solidFill>
              </a:rPr>
              <a:t>工程技术部 + 信息化项目组 + U8/MES/翎瑞鸿翔</a:t>
            </a:r>
          </a:p>
        </p:txBody>
      </p:sp>
      <p:sp>
        <p:nvSpPr>
          <p:cNvPr id="47" name="">
            <a:extLst xmlns:a="http://schemas.openxmlformats.org/drawingml/2006/main">
              <a:ext uri="{FF2B5EF4-FFF2-40B4-BE49-F238E27FC236}">
                <a16:creationId xmlns:a16="http://schemas.microsoft.com/office/drawing/2014/main" id="{782472D5-4112-465A-88CA-6C6990D979B3}"/>
              </a:ext>
            </a:extLst>
          </p:cNvPr>
          <p:cNvSpPr>
            <a:spLocks xmlns:a="http://schemas.openxmlformats.org/drawingml/2006/main" noGrp="1"/>
          </p:cNvSpPr>
          <p:nvPr/>
        </p:nvSpPr>
        <p:spPr>
          <a:xfrm xmlns:a="http://schemas.openxmlformats.org/drawingml/2006/main">
            <a:off x="6444463" y="5539740"/>
            <a:ext cx="4033037" cy="2590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8" name="">
            <a:extLst xmlns:a="http://schemas.openxmlformats.org/drawingml/2006/main">
              <a:ext uri="{FF2B5EF4-FFF2-40B4-BE49-F238E27FC236}">
                <a16:creationId xmlns:a16="http://schemas.microsoft.com/office/drawing/2014/main" id="{0534108F-52F4-4C53-8390-379DA575D79E}"/>
              </a:ext>
            </a:extLst>
          </p:cNvPr>
          <p:cNvSpPr>
            <a:spLocks xmlns:a="http://schemas.openxmlformats.org/drawingml/2006/main" noGrp="1"/>
          </p:cNvSpPr>
          <p:nvPr/>
        </p:nvSpPr>
        <p:spPr>
          <a:xfrm xmlns:a="http://schemas.openxmlformats.org/drawingml/2006/main">
            <a:off x="6482563" y="5568315"/>
            <a:ext cx="3956837" cy="2019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0" b="0">
                <a:solidFill>
                  <a:srgbClr val="475569"/>
                </a:solidFill>
              </a:defRPr>
            </a:pPr>
            <a:r>
              <a:rPr sz="630" b="0">
                <a:solidFill>
                  <a:srgbClr val="475569"/>
                </a:solidFill>
              </a:rPr>
              <a:t>字符集、长度、唯一性、导入导出限制确认</a:t>
            </a:r>
          </a:p>
        </p:txBody>
      </p:sp>
      <p:sp>
        <p:nvSpPr>
          <p:cNvPr id="49" name="">
            <a:extLst xmlns:a="http://schemas.openxmlformats.org/drawingml/2006/main">
              <a:ext uri="{FF2B5EF4-FFF2-40B4-BE49-F238E27FC236}">
                <a16:creationId xmlns:a16="http://schemas.microsoft.com/office/drawing/2014/main" id="{F8D3DEC6-AC6A-4426-BD0E-8E06D03C82AC}"/>
              </a:ext>
            </a:extLst>
          </p:cNvPr>
          <p:cNvSpPr>
            <a:spLocks xmlns:a="http://schemas.openxmlformats.org/drawingml/2006/main" noGrp="1"/>
          </p:cNvSpPr>
          <p:nvPr/>
        </p:nvSpPr>
        <p:spPr>
          <a:xfrm xmlns:a="http://schemas.openxmlformats.org/drawingml/2006/main">
            <a:off x="781050" y="5798820"/>
            <a:ext cx="2059423" cy="2590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0" name="">
            <a:extLst xmlns:a="http://schemas.openxmlformats.org/drawingml/2006/main">
              <a:ext uri="{FF2B5EF4-FFF2-40B4-BE49-F238E27FC236}">
                <a16:creationId xmlns:a16="http://schemas.microsoft.com/office/drawing/2014/main" id="{CFC91429-6BF1-45FC-8367-7E8F35FF09FC}"/>
              </a:ext>
            </a:extLst>
          </p:cNvPr>
          <p:cNvSpPr>
            <a:spLocks xmlns:a="http://schemas.openxmlformats.org/drawingml/2006/main" noGrp="1"/>
          </p:cNvSpPr>
          <p:nvPr/>
        </p:nvSpPr>
        <p:spPr>
          <a:xfrm xmlns:a="http://schemas.openxmlformats.org/drawingml/2006/main">
            <a:off x="819150" y="5827395"/>
            <a:ext cx="1983223" cy="2019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0" b="0">
                <a:solidFill>
                  <a:srgbClr val="475569"/>
                </a:solidFill>
              </a:defRPr>
            </a:pPr>
            <a:r>
              <a:rPr sz="630" b="0">
                <a:solidFill>
                  <a:srgbClr val="475569"/>
                </a:solidFill>
              </a:rPr>
              <a:t>接口卡与Q1-Q8一页纸</a:t>
            </a:r>
          </a:p>
        </p:txBody>
      </p:sp>
      <p:sp>
        <p:nvSpPr>
          <p:cNvPr id="51" name="">
            <a:extLst xmlns:a="http://schemas.openxmlformats.org/drawingml/2006/main">
              <a:ext uri="{FF2B5EF4-FFF2-40B4-BE49-F238E27FC236}">
                <a16:creationId xmlns:a16="http://schemas.microsoft.com/office/drawing/2014/main" id="{B0D68142-554E-441B-9B1B-B4292C5D193E}"/>
              </a:ext>
            </a:extLst>
          </p:cNvPr>
          <p:cNvSpPr>
            <a:spLocks xmlns:a="http://schemas.openxmlformats.org/drawingml/2006/main" noGrp="1"/>
          </p:cNvSpPr>
          <p:nvPr/>
        </p:nvSpPr>
        <p:spPr>
          <a:xfrm xmlns:a="http://schemas.openxmlformats.org/drawingml/2006/main">
            <a:off x="2840473" y="5798820"/>
            <a:ext cx="3603990" cy="2590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2" name="">
            <a:extLst xmlns:a="http://schemas.openxmlformats.org/drawingml/2006/main">
              <a:ext uri="{FF2B5EF4-FFF2-40B4-BE49-F238E27FC236}">
                <a16:creationId xmlns:a16="http://schemas.microsoft.com/office/drawing/2014/main" id="{D7115E7B-7593-4FDC-8AC9-C87E187E8ECA}"/>
              </a:ext>
            </a:extLst>
          </p:cNvPr>
          <p:cNvSpPr>
            <a:spLocks xmlns:a="http://schemas.openxmlformats.org/drawingml/2006/main" noGrp="1"/>
          </p:cNvSpPr>
          <p:nvPr/>
        </p:nvSpPr>
        <p:spPr>
          <a:xfrm xmlns:a="http://schemas.openxmlformats.org/drawingml/2006/main">
            <a:off x="2878573" y="5827395"/>
            <a:ext cx="3527790" cy="2019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0" b="0">
                <a:solidFill>
                  <a:srgbClr val="475569"/>
                </a:solidFill>
              </a:defRPr>
            </a:pPr>
            <a:r>
              <a:rPr sz="630" b="0">
                <a:solidFill>
                  <a:srgbClr val="475569"/>
                </a:solidFill>
              </a:rPr>
              <a:t>信息化项目组 + 各行动项牵头部门</a:t>
            </a:r>
          </a:p>
        </p:txBody>
      </p:sp>
      <p:sp>
        <p:nvSpPr>
          <p:cNvPr id="53" name="">
            <a:extLst xmlns:a="http://schemas.openxmlformats.org/drawingml/2006/main">
              <a:ext uri="{FF2B5EF4-FFF2-40B4-BE49-F238E27FC236}">
                <a16:creationId xmlns:a16="http://schemas.microsoft.com/office/drawing/2014/main" id="{9F189D47-0B19-4925-A61F-0BA5C18F9A74}"/>
              </a:ext>
            </a:extLst>
          </p:cNvPr>
          <p:cNvSpPr>
            <a:spLocks xmlns:a="http://schemas.openxmlformats.org/drawingml/2006/main" noGrp="1"/>
          </p:cNvSpPr>
          <p:nvPr/>
        </p:nvSpPr>
        <p:spPr>
          <a:xfrm xmlns:a="http://schemas.openxmlformats.org/drawingml/2006/main">
            <a:off x="6444463" y="5798820"/>
            <a:ext cx="4033037" cy="2590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4" name="">
            <a:extLst xmlns:a="http://schemas.openxmlformats.org/drawingml/2006/main">
              <a:ext uri="{FF2B5EF4-FFF2-40B4-BE49-F238E27FC236}">
                <a16:creationId xmlns:a16="http://schemas.microsoft.com/office/drawing/2014/main" id="{D7508C89-F72A-4D41-A308-679D92D50BD3}"/>
              </a:ext>
            </a:extLst>
          </p:cNvPr>
          <p:cNvSpPr>
            <a:spLocks xmlns:a="http://schemas.openxmlformats.org/drawingml/2006/main" noGrp="1"/>
          </p:cNvSpPr>
          <p:nvPr/>
        </p:nvSpPr>
        <p:spPr>
          <a:xfrm xmlns:a="http://schemas.openxmlformats.org/drawingml/2006/main">
            <a:off x="6482563" y="5827395"/>
            <a:ext cx="3956837" cy="2019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0" b="0">
                <a:solidFill>
                  <a:srgbClr val="475569"/>
                </a:solidFill>
              </a:defRPr>
            </a:pPr>
            <a:r>
              <a:rPr sz="630" b="0">
                <a:solidFill>
                  <a:srgbClr val="475569"/>
                </a:solidFill>
              </a:rPr>
              <a:t>非PLM接口卡优先；Q1-Q8列明结论、风险和需补资料</a:t>
            </a:r>
          </a:p>
        </p:txBody>
      </p:sp>
      <p:sp>
        <p:nvSpPr>
          <p:cNvPr id="55" name="">
            <a:extLst xmlns:a="http://schemas.openxmlformats.org/drawingml/2006/main">
              <a:ext uri="{FF2B5EF4-FFF2-40B4-BE49-F238E27FC236}">
                <a16:creationId xmlns:a16="http://schemas.microsoft.com/office/drawing/2014/main" id="{6CAE62B0-D7F3-4FEA-B370-87B16A43BAF1}"/>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03 / 29</a:t>
            </a:r>
          </a:p>
        </p:txBody>
      </p:sp>
    </p:spTree>
    <p:extLst>
      <p:ext uri="{BB962C8B-B14F-4D97-AF65-F5344CB8AC3E}">
        <p14:creationId xmlns:p14="http://schemas.microsoft.com/office/powerpoint/2010/main" val="1086732286"/>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2CE43D58-BCAB-476B-8591-8C42C6FA3A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C803C7F-00F5-4E6F-8B36-4D1B260CE4C7}"/>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9025488-DB79-4983-860D-885E905E4240}"/>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842A6FF-222F-4DB5-A596-573089140958}"/>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目录</a:t>
            </a:r>
          </a:p>
        </p:txBody>
      </p:sp>
      <p:sp>
        <p:nvSpPr>
          <p:cNvPr id="6" name="">
            <a:extLst xmlns:a="http://schemas.openxmlformats.org/drawingml/2006/main">
              <a:ext uri="{FF2B5EF4-FFF2-40B4-BE49-F238E27FC236}">
                <a16:creationId xmlns:a16="http://schemas.microsoft.com/office/drawing/2014/main" id="{BFFA15AB-1CF6-46FA-9C8B-FF3808545390}"/>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EA8C4D02-9539-499C-B399-D8E3B551AA08}"/>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汇报结构</a:t>
            </a:r>
          </a:p>
        </p:txBody>
      </p:sp>
      <p:sp>
        <p:nvSpPr>
          <p:cNvPr id="8" name="">
            <a:extLst xmlns:a="http://schemas.openxmlformats.org/drawingml/2006/main">
              <a:ext uri="{FF2B5EF4-FFF2-40B4-BE49-F238E27FC236}">
                <a16:creationId xmlns:a16="http://schemas.microsoft.com/office/drawing/2014/main" id="{63B71867-67C3-46BD-B2DF-FCCD67F12CC5}"/>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会议议程和最新状态已前置；后续按预审逻辑展开</a:t>
            </a:r>
          </a:p>
        </p:txBody>
      </p:sp>
      <p:sp>
        <p:nvSpPr>
          <p:cNvPr id="9" name="">
            <a:extLst xmlns:a="http://schemas.openxmlformats.org/drawingml/2006/main">
              <a:ext uri="{FF2B5EF4-FFF2-40B4-BE49-F238E27FC236}">
                <a16:creationId xmlns:a16="http://schemas.microsoft.com/office/drawing/2014/main" id="{DA283871-2EA9-441D-BD75-57298942953C}"/>
              </a:ext>
            </a:extLst>
          </p:cNvPr>
          <p:cNvSpPr>
            <a:spLocks xmlns:a="http://schemas.openxmlformats.org/drawingml/2006/main" noGrp="1"/>
          </p:cNvSpPr>
          <p:nvPr/>
        </p:nvSpPr>
        <p:spPr>
          <a:xfrm xmlns:a="http://schemas.openxmlformats.org/drawingml/2006/main">
            <a:off x="876300" y="1809750"/>
            <a:ext cx="4762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B6D30C49-DF09-48BB-B949-6B7F94964E05}"/>
              </a:ext>
            </a:extLst>
          </p:cNvPr>
          <p:cNvSpPr>
            <a:spLocks xmlns:a="http://schemas.openxmlformats.org/drawingml/2006/main" noGrp="1"/>
          </p:cNvSpPr>
          <p:nvPr/>
        </p:nvSpPr>
        <p:spPr>
          <a:xfrm xmlns:a="http://schemas.openxmlformats.org/drawingml/2006/main">
            <a:off x="876300" y="1809750"/>
            <a:ext cx="57150" cy="685800"/>
          </a:xfrm>
          <a:prstGeom xmlns:a="http://schemas.openxmlformats.org/drawingml/2006/main" prst="rect">
            <a:avLst/>
          </a:prstGeom>
          <a:solidFill xmlns:a="http://schemas.openxmlformats.org/drawingml/2006/main">
            <a:srgbClr val="DC2626"/>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E3FA3981-AD1E-4959-ACCB-7AA718056DCD}"/>
              </a:ext>
            </a:extLst>
          </p:cNvPr>
          <p:cNvSpPr>
            <a:spLocks xmlns:a="http://schemas.openxmlformats.org/drawingml/2006/main" noGrp="1"/>
          </p:cNvSpPr>
          <p:nvPr/>
        </p:nvSpPr>
        <p:spPr>
          <a:xfrm xmlns:a="http://schemas.openxmlformats.org/drawingml/2006/main">
            <a:off x="1066800" y="1943100"/>
            <a:ext cx="514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93623"/>
          </a:bodyPr>
          <a:lstStyle xmlns:a="http://schemas.openxmlformats.org/drawingml/2006/main"/>
          <a:p xmlns:a="http://schemas.openxmlformats.org/drawingml/2006/main">
            <a:pPr algn="ctr">
              <a:defRPr sz="1575" b="1">
                <a:solidFill>
                  <a:srgbClr val="DC2626"/>
                </a:solidFill>
              </a:defRPr>
            </a:pPr>
            <a:r>
              <a:rPr sz="1575" b="1">
                <a:solidFill>
                  <a:srgbClr val="DC2626"/>
                </a:solidFill>
              </a:rPr>
              <a:t>00</a:t>
            </a:r>
          </a:p>
        </p:txBody>
      </p:sp>
      <p:sp>
        <p:nvSpPr>
          <p:cNvPr id="12" name="">
            <a:extLst xmlns:a="http://schemas.openxmlformats.org/drawingml/2006/main">
              <a:ext uri="{FF2B5EF4-FFF2-40B4-BE49-F238E27FC236}">
                <a16:creationId xmlns:a16="http://schemas.microsoft.com/office/drawing/2014/main" id="{587BA2E5-AC44-46AE-8B9A-A36F59A88FA4}"/>
              </a:ext>
            </a:extLst>
          </p:cNvPr>
          <p:cNvSpPr>
            <a:spLocks xmlns:a="http://schemas.openxmlformats.org/drawingml/2006/main" noGrp="1"/>
          </p:cNvSpPr>
          <p:nvPr/>
        </p:nvSpPr>
        <p:spPr>
          <a:xfrm xmlns:a="http://schemas.openxmlformats.org/drawingml/2006/main">
            <a:off x="1752600" y="19335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6739"/>
          </a:bodyPr>
          <a:lstStyle xmlns:a="http://schemas.openxmlformats.org/drawingml/2006/main"/>
          <a:p xmlns:a="http://schemas.openxmlformats.org/drawingml/2006/main">
            <a:pPr algn="l">
              <a:defRPr sz="1275" b="1">
                <a:solidFill>
                  <a:srgbClr val="0F2A5E"/>
                </a:solidFill>
              </a:defRPr>
            </a:pPr>
            <a:r>
              <a:rPr sz="1275" b="1">
                <a:solidFill>
                  <a:srgbClr val="0F2A5E"/>
                </a:solidFill>
              </a:rPr>
              <a:t>会议议程与最新状态</a:t>
            </a:r>
          </a:p>
        </p:txBody>
      </p:sp>
      <p:sp>
        <p:nvSpPr>
          <p:cNvPr id="13" name="">
            <a:extLst xmlns:a="http://schemas.openxmlformats.org/drawingml/2006/main">
              <a:ext uri="{FF2B5EF4-FFF2-40B4-BE49-F238E27FC236}">
                <a16:creationId xmlns:a16="http://schemas.microsoft.com/office/drawing/2014/main" id="{25F85D39-DA9E-4297-84F9-3330610F0C30}"/>
              </a:ext>
            </a:extLst>
          </p:cNvPr>
          <p:cNvSpPr>
            <a:spLocks xmlns:a="http://schemas.openxmlformats.org/drawingml/2006/main" noGrp="1"/>
          </p:cNvSpPr>
          <p:nvPr/>
        </p:nvSpPr>
        <p:spPr>
          <a:xfrm xmlns:a="http://schemas.openxmlformats.org/drawingml/2006/main">
            <a:off x="1752600" y="2190750"/>
            <a:ext cx="3486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825" b="0">
                <a:solidFill>
                  <a:srgbClr val="64748B"/>
                </a:solidFill>
              </a:defRPr>
            </a:pPr>
            <a:r>
              <a:rPr sz="825" b="0">
                <a:solidFill>
                  <a:srgbClr val="64748B"/>
                </a:solidFill>
              </a:rPr>
              <a:t>5月9日议程、5月7日PLM结论、待补事项</a:t>
            </a:r>
          </a:p>
        </p:txBody>
      </p:sp>
      <p:sp>
        <p:nvSpPr>
          <p:cNvPr id="14" name="">
            <a:extLst xmlns:a="http://schemas.openxmlformats.org/drawingml/2006/main">
              <a:ext uri="{FF2B5EF4-FFF2-40B4-BE49-F238E27FC236}">
                <a16:creationId xmlns:a16="http://schemas.microsoft.com/office/drawing/2014/main" id="{47C7A298-9B98-493C-A669-0079D89F76FA}"/>
              </a:ext>
            </a:extLst>
          </p:cNvPr>
          <p:cNvSpPr>
            <a:spLocks xmlns:a="http://schemas.openxmlformats.org/drawingml/2006/main" noGrp="1"/>
          </p:cNvSpPr>
          <p:nvPr/>
        </p:nvSpPr>
        <p:spPr>
          <a:xfrm xmlns:a="http://schemas.openxmlformats.org/drawingml/2006/main">
            <a:off x="6076950" y="1809750"/>
            <a:ext cx="4762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537CA136-190A-4FD2-8D24-CAE0A44B9C13}"/>
              </a:ext>
            </a:extLst>
          </p:cNvPr>
          <p:cNvSpPr>
            <a:spLocks xmlns:a="http://schemas.openxmlformats.org/drawingml/2006/main" noGrp="1"/>
          </p:cNvSpPr>
          <p:nvPr/>
        </p:nvSpPr>
        <p:spPr>
          <a:xfrm xmlns:a="http://schemas.openxmlformats.org/drawingml/2006/main">
            <a:off x="6076950" y="1809750"/>
            <a:ext cx="57150" cy="6858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20CBA537-8866-48EC-94D4-947ECB7F1ADF}"/>
              </a:ext>
            </a:extLst>
          </p:cNvPr>
          <p:cNvSpPr>
            <a:spLocks xmlns:a="http://schemas.openxmlformats.org/drawingml/2006/main" noGrp="1"/>
          </p:cNvSpPr>
          <p:nvPr/>
        </p:nvSpPr>
        <p:spPr>
          <a:xfrm xmlns:a="http://schemas.openxmlformats.org/drawingml/2006/main">
            <a:off x="6267450" y="1943100"/>
            <a:ext cx="514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93623"/>
          </a:bodyPr>
          <a:lstStyle xmlns:a="http://schemas.openxmlformats.org/drawingml/2006/main"/>
          <a:p xmlns:a="http://schemas.openxmlformats.org/drawingml/2006/main">
            <a:pPr algn="ctr">
              <a:defRPr sz="1575" b="1">
                <a:solidFill>
                  <a:srgbClr val="1A56DB"/>
                </a:solidFill>
              </a:defRPr>
            </a:pPr>
            <a:r>
              <a:rPr sz="1575" b="1">
                <a:solidFill>
                  <a:srgbClr val="1A56DB"/>
                </a:solidFill>
              </a:rPr>
              <a:t>01</a:t>
            </a:r>
          </a:p>
        </p:txBody>
      </p:sp>
      <p:sp>
        <p:nvSpPr>
          <p:cNvPr id="17" name="">
            <a:extLst xmlns:a="http://schemas.openxmlformats.org/drawingml/2006/main">
              <a:ext uri="{FF2B5EF4-FFF2-40B4-BE49-F238E27FC236}">
                <a16:creationId xmlns:a16="http://schemas.microsoft.com/office/drawing/2014/main" id="{69B3495D-B180-4945-B4F8-C4DC08B84A43}"/>
              </a:ext>
            </a:extLst>
          </p:cNvPr>
          <p:cNvSpPr>
            <a:spLocks xmlns:a="http://schemas.openxmlformats.org/drawingml/2006/main" noGrp="1"/>
          </p:cNvSpPr>
          <p:nvPr/>
        </p:nvSpPr>
        <p:spPr>
          <a:xfrm xmlns:a="http://schemas.openxmlformats.org/drawingml/2006/main">
            <a:off x="6953250" y="19335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6739"/>
          </a:bodyPr>
          <a:lstStyle xmlns:a="http://schemas.openxmlformats.org/drawingml/2006/main"/>
          <a:p xmlns:a="http://schemas.openxmlformats.org/drawingml/2006/main">
            <a:pPr algn="l">
              <a:defRPr sz="1275" b="1">
                <a:solidFill>
                  <a:srgbClr val="0F2A5E"/>
                </a:solidFill>
              </a:defRPr>
            </a:pPr>
            <a:r>
              <a:rPr sz="1275" b="1">
                <a:solidFill>
                  <a:srgbClr val="0F2A5E"/>
                </a:solidFill>
              </a:rPr>
              <a:t>预审定位与系统清单</a:t>
            </a:r>
          </a:p>
        </p:txBody>
      </p:sp>
      <p:sp>
        <p:nvSpPr>
          <p:cNvPr id="18" name="">
            <a:extLst xmlns:a="http://schemas.openxmlformats.org/drawingml/2006/main">
              <a:ext uri="{FF2B5EF4-FFF2-40B4-BE49-F238E27FC236}">
                <a16:creationId xmlns:a16="http://schemas.microsoft.com/office/drawing/2014/main" id="{9577E471-1B9A-459F-80DD-62391950D5E4}"/>
              </a:ext>
            </a:extLst>
          </p:cNvPr>
          <p:cNvSpPr>
            <a:spLocks xmlns:a="http://schemas.openxmlformats.org/drawingml/2006/main" noGrp="1"/>
          </p:cNvSpPr>
          <p:nvPr/>
        </p:nvSpPr>
        <p:spPr>
          <a:xfrm xmlns:a="http://schemas.openxmlformats.org/drawingml/2006/main">
            <a:off x="6953250" y="2190750"/>
            <a:ext cx="3486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825" b="0">
                <a:solidFill>
                  <a:srgbClr val="64748B"/>
                </a:solidFill>
              </a:defRPr>
            </a:pPr>
            <a:r>
              <a:rPr sz="825" b="0">
                <a:solidFill>
                  <a:srgbClr val="64748B"/>
                </a:solidFill>
              </a:rPr>
              <a:t>会议边界、最小输入、核心应用系统状态</a:t>
            </a:r>
          </a:p>
        </p:txBody>
      </p:sp>
      <p:sp>
        <p:nvSpPr>
          <p:cNvPr id="19" name="">
            <a:extLst xmlns:a="http://schemas.openxmlformats.org/drawingml/2006/main">
              <a:ext uri="{FF2B5EF4-FFF2-40B4-BE49-F238E27FC236}">
                <a16:creationId xmlns:a16="http://schemas.microsoft.com/office/drawing/2014/main" id="{6A5ECD94-E838-49D3-8F60-197F0DC7BA0F}"/>
              </a:ext>
            </a:extLst>
          </p:cNvPr>
          <p:cNvSpPr>
            <a:spLocks xmlns:a="http://schemas.openxmlformats.org/drawingml/2006/main" noGrp="1"/>
          </p:cNvSpPr>
          <p:nvPr/>
        </p:nvSpPr>
        <p:spPr>
          <a:xfrm xmlns:a="http://schemas.openxmlformats.org/drawingml/2006/main">
            <a:off x="876300" y="2876550"/>
            <a:ext cx="4762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E2E8F0"/>
            </a:solidFill>
            <a:prstDash val="solid"/>
          </a:ln>
        </p:spPr>
      </p:sp>
      <p:sp>
        <p:nvSpPr>
          <p:cNvPr id="20" name="">
            <a:extLst xmlns:a="http://schemas.openxmlformats.org/drawingml/2006/main">
              <a:ext uri="{FF2B5EF4-FFF2-40B4-BE49-F238E27FC236}">
                <a16:creationId xmlns:a16="http://schemas.microsoft.com/office/drawing/2014/main" id="{323E958B-0B74-4E51-8BD5-E602774F4DB6}"/>
              </a:ext>
            </a:extLst>
          </p:cNvPr>
          <p:cNvSpPr>
            <a:spLocks xmlns:a="http://schemas.openxmlformats.org/drawingml/2006/main" noGrp="1"/>
          </p:cNvSpPr>
          <p:nvPr/>
        </p:nvSpPr>
        <p:spPr>
          <a:xfrm xmlns:a="http://schemas.openxmlformats.org/drawingml/2006/main">
            <a:off x="876300" y="2876550"/>
            <a:ext cx="57150" cy="685800"/>
          </a:xfrm>
          <a:prstGeom xmlns:a="http://schemas.openxmlformats.org/drawingml/2006/main" prst="rect">
            <a:avLst/>
          </a:prstGeom>
          <a:solidFill xmlns:a="http://schemas.openxmlformats.org/drawingml/2006/main">
            <a:srgbClr val="0891B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B9BCC9B6-33D2-4E2A-B29E-3DF3249B4ADC}"/>
              </a:ext>
            </a:extLst>
          </p:cNvPr>
          <p:cNvSpPr>
            <a:spLocks xmlns:a="http://schemas.openxmlformats.org/drawingml/2006/main" noGrp="1"/>
          </p:cNvSpPr>
          <p:nvPr/>
        </p:nvSpPr>
        <p:spPr>
          <a:xfrm xmlns:a="http://schemas.openxmlformats.org/drawingml/2006/main">
            <a:off x="1066800" y="3009900"/>
            <a:ext cx="514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93623"/>
          </a:bodyPr>
          <a:lstStyle xmlns:a="http://schemas.openxmlformats.org/drawingml/2006/main"/>
          <a:p xmlns:a="http://schemas.openxmlformats.org/drawingml/2006/main">
            <a:pPr algn="ctr">
              <a:defRPr sz="1575" b="1">
                <a:solidFill>
                  <a:srgbClr val="0891B2"/>
                </a:solidFill>
              </a:defRPr>
            </a:pPr>
            <a:r>
              <a:rPr sz="1575" b="1">
                <a:solidFill>
                  <a:srgbClr val="0891B2"/>
                </a:solidFill>
              </a:rPr>
              <a:t>02</a:t>
            </a:r>
          </a:p>
        </p:txBody>
      </p:sp>
      <p:sp>
        <p:nvSpPr>
          <p:cNvPr id="22" name="">
            <a:extLst xmlns:a="http://schemas.openxmlformats.org/drawingml/2006/main">
              <a:ext uri="{FF2B5EF4-FFF2-40B4-BE49-F238E27FC236}">
                <a16:creationId xmlns:a16="http://schemas.microsoft.com/office/drawing/2014/main" id="{71736F06-1793-4358-9910-5C8DA2861D18}"/>
              </a:ext>
            </a:extLst>
          </p:cNvPr>
          <p:cNvSpPr>
            <a:spLocks xmlns:a="http://schemas.openxmlformats.org/drawingml/2006/main" noGrp="1"/>
          </p:cNvSpPr>
          <p:nvPr/>
        </p:nvSpPr>
        <p:spPr>
          <a:xfrm xmlns:a="http://schemas.openxmlformats.org/drawingml/2006/main">
            <a:off x="1752600" y="30003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6739"/>
          </a:bodyPr>
          <a:lstStyle xmlns:a="http://schemas.openxmlformats.org/drawingml/2006/main"/>
          <a:p xmlns:a="http://schemas.openxmlformats.org/drawingml/2006/main">
            <a:pPr algn="l">
              <a:defRPr sz="1275" b="1">
                <a:solidFill>
                  <a:srgbClr val="0F2A5E"/>
                </a:solidFill>
              </a:defRPr>
            </a:pPr>
            <a:r>
              <a:rPr sz="1275" b="1">
                <a:solidFill>
                  <a:srgbClr val="0F2A5E"/>
                </a:solidFill>
              </a:rPr>
              <a:t>总体拓扑与集成域</a:t>
            </a:r>
          </a:p>
        </p:txBody>
      </p:sp>
      <p:sp>
        <p:nvSpPr>
          <p:cNvPr id="23" name="">
            <a:extLst xmlns:a="http://schemas.openxmlformats.org/drawingml/2006/main">
              <a:ext uri="{FF2B5EF4-FFF2-40B4-BE49-F238E27FC236}">
                <a16:creationId xmlns:a16="http://schemas.microsoft.com/office/drawing/2014/main" id="{52ED00DA-BBE2-40E2-AEB9-4A1F55950B7E}"/>
              </a:ext>
            </a:extLst>
          </p:cNvPr>
          <p:cNvSpPr>
            <a:spLocks xmlns:a="http://schemas.openxmlformats.org/drawingml/2006/main" noGrp="1"/>
          </p:cNvSpPr>
          <p:nvPr/>
        </p:nvSpPr>
        <p:spPr>
          <a:xfrm xmlns:a="http://schemas.openxmlformats.org/drawingml/2006/main">
            <a:off x="1752600" y="3257550"/>
            <a:ext cx="3486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825" b="0">
                <a:solidFill>
                  <a:srgbClr val="64748B"/>
                </a:solidFill>
              </a:defRPr>
            </a:pPr>
            <a:r>
              <a:rPr sz="825" b="0">
                <a:solidFill>
                  <a:srgbClr val="64748B"/>
                </a:solidFill>
              </a:rPr>
              <a:t>系统拓扑、研发/采购/制造/质量四大集成域</a:t>
            </a:r>
          </a:p>
        </p:txBody>
      </p:sp>
      <p:sp>
        <p:nvSpPr>
          <p:cNvPr id="24" name="">
            <a:extLst xmlns:a="http://schemas.openxmlformats.org/drawingml/2006/main">
              <a:ext uri="{FF2B5EF4-FFF2-40B4-BE49-F238E27FC236}">
                <a16:creationId xmlns:a16="http://schemas.microsoft.com/office/drawing/2014/main" id="{1E884EED-C927-48F1-8DCB-262250AFD648}"/>
              </a:ext>
            </a:extLst>
          </p:cNvPr>
          <p:cNvSpPr>
            <a:spLocks xmlns:a="http://schemas.openxmlformats.org/drawingml/2006/main" noGrp="1"/>
          </p:cNvSpPr>
          <p:nvPr/>
        </p:nvSpPr>
        <p:spPr>
          <a:xfrm xmlns:a="http://schemas.openxmlformats.org/drawingml/2006/main">
            <a:off x="6076950" y="2876550"/>
            <a:ext cx="4762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E2E8F0"/>
            </a:solidFill>
            <a:prstDash val="solid"/>
          </a:ln>
        </p:spPr>
      </p:sp>
      <p:sp>
        <p:nvSpPr>
          <p:cNvPr id="25" name="">
            <a:extLst xmlns:a="http://schemas.openxmlformats.org/drawingml/2006/main">
              <a:ext uri="{FF2B5EF4-FFF2-40B4-BE49-F238E27FC236}">
                <a16:creationId xmlns:a16="http://schemas.microsoft.com/office/drawing/2014/main" id="{4D4D15BC-3C65-4E70-B6AB-55208A5505EE}"/>
              </a:ext>
            </a:extLst>
          </p:cNvPr>
          <p:cNvSpPr>
            <a:spLocks xmlns:a="http://schemas.openxmlformats.org/drawingml/2006/main" noGrp="1"/>
          </p:cNvSpPr>
          <p:nvPr/>
        </p:nvSpPr>
        <p:spPr>
          <a:xfrm xmlns:a="http://schemas.openxmlformats.org/drawingml/2006/main">
            <a:off x="6076950" y="2876550"/>
            <a:ext cx="57150" cy="685800"/>
          </a:xfrm>
          <a:prstGeom xmlns:a="http://schemas.openxmlformats.org/drawingml/2006/main" prst="rect">
            <a:avLst/>
          </a:prstGeom>
          <a:solidFill xmlns:a="http://schemas.openxmlformats.org/drawingml/2006/main">
            <a:srgbClr val="7C3AED"/>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3FFA9686-EE32-458A-AF04-FB6135C3426F}"/>
              </a:ext>
            </a:extLst>
          </p:cNvPr>
          <p:cNvSpPr>
            <a:spLocks xmlns:a="http://schemas.openxmlformats.org/drawingml/2006/main" noGrp="1"/>
          </p:cNvSpPr>
          <p:nvPr/>
        </p:nvSpPr>
        <p:spPr>
          <a:xfrm xmlns:a="http://schemas.openxmlformats.org/drawingml/2006/main">
            <a:off x="6267450" y="3009900"/>
            <a:ext cx="514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93623"/>
          </a:bodyPr>
          <a:lstStyle xmlns:a="http://schemas.openxmlformats.org/drawingml/2006/main"/>
          <a:p xmlns:a="http://schemas.openxmlformats.org/drawingml/2006/main">
            <a:pPr algn="ctr">
              <a:defRPr sz="1575" b="1">
                <a:solidFill>
                  <a:srgbClr val="7C3AED"/>
                </a:solidFill>
              </a:defRPr>
            </a:pPr>
            <a:r>
              <a:rPr sz="1575" b="1">
                <a:solidFill>
                  <a:srgbClr val="7C3AED"/>
                </a:solidFill>
              </a:rPr>
              <a:t>03</a:t>
            </a:r>
          </a:p>
        </p:txBody>
      </p:sp>
      <p:sp>
        <p:nvSpPr>
          <p:cNvPr id="27" name="">
            <a:extLst xmlns:a="http://schemas.openxmlformats.org/drawingml/2006/main">
              <a:ext uri="{FF2B5EF4-FFF2-40B4-BE49-F238E27FC236}">
                <a16:creationId xmlns:a16="http://schemas.microsoft.com/office/drawing/2014/main" id="{BA03E5E8-4C89-4314-9DEF-4E42B6BAAAC4}"/>
              </a:ext>
            </a:extLst>
          </p:cNvPr>
          <p:cNvSpPr>
            <a:spLocks xmlns:a="http://schemas.openxmlformats.org/drawingml/2006/main" noGrp="1"/>
          </p:cNvSpPr>
          <p:nvPr/>
        </p:nvSpPr>
        <p:spPr>
          <a:xfrm xmlns:a="http://schemas.openxmlformats.org/drawingml/2006/main">
            <a:off x="6953250" y="30003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6739"/>
          </a:bodyPr>
          <a:lstStyle xmlns:a="http://schemas.openxmlformats.org/drawingml/2006/main"/>
          <a:p xmlns:a="http://schemas.openxmlformats.org/drawingml/2006/main">
            <a:pPr algn="l">
              <a:defRPr sz="1275" b="1">
                <a:solidFill>
                  <a:srgbClr val="0F2A5E"/>
                </a:solidFill>
              </a:defRPr>
            </a:pPr>
            <a:r>
              <a:rPr sz="1275" b="1">
                <a:solidFill>
                  <a:srgbClr val="0F2A5E"/>
                </a:solidFill>
              </a:rPr>
              <a:t>MDM、黄金源与数据中台</a:t>
            </a:r>
          </a:p>
        </p:txBody>
      </p:sp>
      <p:sp>
        <p:nvSpPr>
          <p:cNvPr id="28" name="">
            <a:extLst xmlns:a="http://schemas.openxmlformats.org/drawingml/2006/main">
              <a:ext uri="{FF2B5EF4-FFF2-40B4-BE49-F238E27FC236}">
                <a16:creationId xmlns:a16="http://schemas.microsoft.com/office/drawing/2014/main" id="{D7B4E868-260C-4677-B1E8-A039751B0F25}"/>
              </a:ext>
            </a:extLst>
          </p:cNvPr>
          <p:cNvSpPr>
            <a:spLocks xmlns:a="http://schemas.openxmlformats.org/drawingml/2006/main" noGrp="1"/>
          </p:cNvSpPr>
          <p:nvPr/>
        </p:nvSpPr>
        <p:spPr>
          <a:xfrm xmlns:a="http://schemas.openxmlformats.org/drawingml/2006/main">
            <a:off x="6953250" y="3257550"/>
            <a:ext cx="3486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825" b="0">
                <a:solidFill>
                  <a:srgbClr val="64748B"/>
                </a:solidFill>
              </a:defRPr>
            </a:pPr>
            <a:r>
              <a:rPr sz="825" b="0">
                <a:solidFill>
                  <a:srgbClr val="64748B"/>
                </a:solidFill>
              </a:rPr>
              <a:t>主数据治理路径、字段台账、黄金源、Q7</a:t>
            </a:r>
          </a:p>
        </p:txBody>
      </p:sp>
      <p:sp>
        <p:nvSpPr>
          <p:cNvPr id="29" name="">
            <a:extLst xmlns:a="http://schemas.openxmlformats.org/drawingml/2006/main">
              <a:ext uri="{FF2B5EF4-FFF2-40B4-BE49-F238E27FC236}">
                <a16:creationId xmlns:a16="http://schemas.microsoft.com/office/drawing/2014/main" id="{15046EF8-2A2A-4FE1-999B-8B5B4198495F}"/>
              </a:ext>
            </a:extLst>
          </p:cNvPr>
          <p:cNvSpPr>
            <a:spLocks xmlns:a="http://schemas.openxmlformats.org/drawingml/2006/main" noGrp="1"/>
          </p:cNvSpPr>
          <p:nvPr/>
        </p:nvSpPr>
        <p:spPr>
          <a:xfrm xmlns:a="http://schemas.openxmlformats.org/drawingml/2006/main">
            <a:off x="876300" y="3943350"/>
            <a:ext cx="4762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4652EE74-EE7F-47C8-9E28-1CFA0569336A}"/>
              </a:ext>
            </a:extLst>
          </p:cNvPr>
          <p:cNvSpPr>
            <a:spLocks xmlns:a="http://schemas.openxmlformats.org/drawingml/2006/main" noGrp="1"/>
          </p:cNvSpPr>
          <p:nvPr/>
        </p:nvSpPr>
        <p:spPr>
          <a:xfrm xmlns:a="http://schemas.openxmlformats.org/drawingml/2006/main">
            <a:off x="876300" y="3943350"/>
            <a:ext cx="57150" cy="68580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1144917F-B336-452F-AB7F-7EB145094DF2}"/>
              </a:ext>
            </a:extLst>
          </p:cNvPr>
          <p:cNvSpPr>
            <a:spLocks xmlns:a="http://schemas.openxmlformats.org/drawingml/2006/main" noGrp="1"/>
          </p:cNvSpPr>
          <p:nvPr/>
        </p:nvSpPr>
        <p:spPr>
          <a:xfrm xmlns:a="http://schemas.openxmlformats.org/drawingml/2006/main">
            <a:off x="1066800" y="4076700"/>
            <a:ext cx="514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93623"/>
          </a:bodyPr>
          <a:lstStyle xmlns:a="http://schemas.openxmlformats.org/drawingml/2006/main"/>
          <a:p xmlns:a="http://schemas.openxmlformats.org/drawingml/2006/main">
            <a:pPr algn="ctr">
              <a:defRPr sz="1575" b="1">
                <a:solidFill>
                  <a:srgbClr val="16A34A"/>
                </a:solidFill>
              </a:defRPr>
            </a:pPr>
            <a:r>
              <a:rPr sz="1575" b="1">
                <a:solidFill>
                  <a:srgbClr val="16A34A"/>
                </a:solidFill>
              </a:rPr>
              <a:t>04</a:t>
            </a:r>
          </a:p>
        </p:txBody>
      </p:sp>
      <p:sp>
        <p:nvSpPr>
          <p:cNvPr id="32" name="">
            <a:extLst xmlns:a="http://schemas.openxmlformats.org/drawingml/2006/main">
              <a:ext uri="{FF2B5EF4-FFF2-40B4-BE49-F238E27FC236}">
                <a16:creationId xmlns:a16="http://schemas.microsoft.com/office/drawing/2014/main" id="{2564C78F-4921-4836-9BC2-AEF2835B1B22}"/>
              </a:ext>
            </a:extLst>
          </p:cNvPr>
          <p:cNvSpPr>
            <a:spLocks xmlns:a="http://schemas.openxmlformats.org/drawingml/2006/main" noGrp="1"/>
          </p:cNvSpPr>
          <p:nvPr/>
        </p:nvSpPr>
        <p:spPr>
          <a:xfrm xmlns:a="http://schemas.openxmlformats.org/drawingml/2006/main">
            <a:off x="1752600" y="40671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6739"/>
          </a:bodyPr>
          <a:lstStyle xmlns:a="http://schemas.openxmlformats.org/drawingml/2006/main"/>
          <a:p xmlns:a="http://schemas.openxmlformats.org/drawingml/2006/main">
            <a:pPr algn="l">
              <a:defRPr sz="1275" b="1">
                <a:solidFill>
                  <a:srgbClr val="0F2A5E"/>
                </a:solidFill>
              </a:defRPr>
            </a:pPr>
            <a:r>
              <a:rPr sz="1275" b="1">
                <a:solidFill>
                  <a:srgbClr val="0F2A5E"/>
                </a:solidFill>
              </a:rPr>
              <a:t>适航追溯与关键接口</a:t>
            </a:r>
          </a:p>
        </p:txBody>
      </p:sp>
      <p:sp>
        <p:nvSpPr>
          <p:cNvPr id="33" name="">
            <a:extLst xmlns:a="http://schemas.openxmlformats.org/drawingml/2006/main">
              <a:ext uri="{FF2B5EF4-FFF2-40B4-BE49-F238E27FC236}">
                <a16:creationId xmlns:a16="http://schemas.microsoft.com/office/drawing/2014/main" id="{6A405788-39E9-4A2D-9853-3A98995BAA84}"/>
              </a:ext>
            </a:extLst>
          </p:cNvPr>
          <p:cNvSpPr>
            <a:spLocks xmlns:a="http://schemas.openxmlformats.org/drawingml/2006/main" noGrp="1"/>
          </p:cNvSpPr>
          <p:nvPr/>
        </p:nvSpPr>
        <p:spPr>
          <a:xfrm xmlns:a="http://schemas.openxmlformats.org/drawingml/2006/main">
            <a:off x="1752600" y="4324350"/>
            <a:ext cx="3486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825" b="0">
                <a:solidFill>
                  <a:srgbClr val="64748B"/>
                </a:solidFill>
              </a:defRPr>
            </a:pPr>
            <a:r>
              <a:rPr sz="825" b="0">
                <a:solidFill>
                  <a:srgbClr val="64748B"/>
                </a:solidFill>
              </a:rPr>
              <a:t>零件编号+质量编号追溯、接口卡、字段映射</a:t>
            </a:r>
          </a:p>
        </p:txBody>
      </p:sp>
      <p:sp>
        <p:nvSpPr>
          <p:cNvPr id="34" name="">
            <a:extLst xmlns:a="http://schemas.openxmlformats.org/drawingml/2006/main">
              <a:ext uri="{FF2B5EF4-FFF2-40B4-BE49-F238E27FC236}">
                <a16:creationId xmlns:a16="http://schemas.microsoft.com/office/drawing/2014/main" id="{4D9E4514-8498-488B-AE38-EDAEB7E3241E}"/>
              </a:ext>
            </a:extLst>
          </p:cNvPr>
          <p:cNvSpPr>
            <a:spLocks xmlns:a="http://schemas.openxmlformats.org/drawingml/2006/main" noGrp="1"/>
          </p:cNvSpPr>
          <p:nvPr/>
        </p:nvSpPr>
        <p:spPr>
          <a:xfrm xmlns:a="http://schemas.openxmlformats.org/drawingml/2006/main">
            <a:off x="6076950" y="3943350"/>
            <a:ext cx="47625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E2E8F0"/>
            </a:solidFill>
            <a:prstDash val="solid"/>
          </a:ln>
        </p:spPr>
      </p:sp>
      <p:sp>
        <p:nvSpPr>
          <p:cNvPr id="35" name="">
            <a:extLst xmlns:a="http://schemas.openxmlformats.org/drawingml/2006/main">
              <a:ext uri="{FF2B5EF4-FFF2-40B4-BE49-F238E27FC236}">
                <a16:creationId xmlns:a16="http://schemas.microsoft.com/office/drawing/2014/main" id="{6EB08DF7-C138-4242-900A-2084543807A1}"/>
              </a:ext>
            </a:extLst>
          </p:cNvPr>
          <p:cNvSpPr>
            <a:spLocks xmlns:a="http://schemas.openxmlformats.org/drawingml/2006/main" noGrp="1"/>
          </p:cNvSpPr>
          <p:nvPr/>
        </p:nvSpPr>
        <p:spPr>
          <a:xfrm xmlns:a="http://schemas.openxmlformats.org/drawingml/2006/main">
            <a:off x="6076950" y="3943350"/>
            <a:ext cx="57150" cy="6858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CB5BF9D9-2079-4FBF-8059-4E9E1A7867C7}"/>
              </a:ext>
            </a:extLst>
          </p:cNvPr>
          <p:cNvSpPr>
            <a:spLocks xmlns:a="http://schemas.openxmlformats.org/drawingml/2006/main" noGrp="1"/>
          </p:cNvSpPr>
          <p:nvPr/>
        </p:nvSpPr>
        <p:spPr>
          <a:xfrm xmlns:a="http://schemas.openxmlformats.org/drawingml/2006/main">
            <a:off x="6267450" y="4076700"/>
            <a:ext cx="514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93623"/>
          </a:bodyPr>
          <a:lstStyle xmlns:a="http://schemas.openxmlformats.org/drawingml/2006/main"/>
          <a:p xmlns:a="http://schemas.openxmlformats.org/drawingml/2006/main">
            <a:pPr algn="ctr">
              <a:defRPr sz="1575" b="1">
                <a:solidFill>
                  <a:srgbClr val="D97706"/>
                </a:solidFill>
              </a:defRPr>
            </a:pPr>
            <a:r>
              <a:rPr sz="1575" b="1">
                <a:solidFill>
                  <a:srgbClr val="D97706"/>
                </a:solidFill>
              </a:rPr>
              <a:t>05</a:t>
            </a:r>
          </a:p>
        </p:txBody>
      </p:sp>
      <p:sp>
        <p:nvSpPr>
          <p:cNvPr id="37" name="">
            <a:extLst xmlns:a="http://schemas.openxmlformats.org/drawingml/2006/main">
              <a:ext uri="{FF2B5EF4-FFF2-40B4-BE49-F238E27FC236}">
                <a16:creationId xmlns:a16="http://schemas.microsoft.com/office/drawing/2014/main" id="{240D953F-0411-4FA7-A3AD-4348921A1FA8}"/>
              </a:ext>
            </a:extLst>
          </p:cNvPr>
          <p:cNvSpPr>
            <a:spLocks xmlns:a="http://schemas.openxmlformats.org/drawingml/2006/main" noGrp="1"/>
          </p:cNvSpPr>
          <p:nvPr/>
        </p:nvSpPr>
        <p:spPr>
          <a:xfrm xmlns:a="http://schemas.openxmlformats.org/drawingml/2006/main">
            <a:off x="6953250" y="40671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6739"/>
          </a:bodyPr>
          <a:lstStyle xmlns:a="http://schemas.openxmlformats.org/drawingml/2006/main"/>
          <a:p xmlns:a="http://schemas.openxmlformats.org/drawingml/2006/main">
            <a:pPr algn="l">
              <a:defRPr sz="1275" b="1">
                <a:solidFill>
                  <a:srgbClr val="0F2A5E"/>
                </a:solidFill>
              </a:defRPr>
            </a:pPr>
            <a:r>
              <a:rPr sz="1275" b="1">
                <a:solidFill>
                  <a:srgbClr val="0F2A5E"/>
                </a:solidFill>
              </a:rPr>
              <a:t>会前行动与会议组织</a:t>
            </a:r>
          </a:p>
        </p:txBody>
      </p:sp>
      <p:sp>
        <p:nvSpPr>
          <p:cNvPr id="38" name="">
            <a:extLst xmlns:a="http://schemas.openxmlformats.org/drawingml/2006/main">
              <a:ext uri="{FF2B5EF4-FFF2-40B4-BE49-F238E27FC236}">
                <a16:creationId xmlns:a16="http://schemas.microsoft.com/office/drawing/2014/main" id="{036FEE26-324F-4085-8702-5B54A6202955}"/>
              </a:ext>
            </a:extLst>
          </p:cNvPr>
          <p:cNvSpPr>
            <a:spLocks xmlns:a="http://schemas.openxmlformats.org/drawingml/2006/main" noGrp="1"/>
          </p:cNvSpPr>
          <p:nvPr/>
        </p:nvSpPr>
        <p:spPr>
          <a:xfrm xmlns:a="http://schemas.openxmlformats.org/drawingml/2006/main">
            <a:off x="6953250" y="4324350"/>
            <a:ext cx="3486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825" b="0">
                <a:solidFill>
                  <a:srgbClr val="64748B"/>
                </a:solidFill>
              </a:defRPr>
            </a:pPr>
            <a:r>
              <a:rPr sz="825" b="0">
                <a:solidFill>
                  <a:srgbClr val="64748B"/>
                </a:solidFill>
              </a:rPr>
              <a:t>未决问题、A1-A8、组织分工、Q1-Q8</a:t>
            </a:r>
          </a:p>
        </p:txBody>
      </p:sp>
      <p:sp>
        <p:nvSpPr>
          <p:cNvPr id="39" name="">
            <a:extLst xmlns:a="http://schemas.openxmlformats.org/drawingml/2006/main">
              <a:ext uri="{FF2B5EF4-FFF2-40B4-BE49-F238E27FC236}">
                <a16:creationId xmlns:a16="http://schemas.microsoft.com/office/drawing/2014/main" id="{218258E9-ACE0-4FF7-83BD-B59887457431}"/>
              </a:ext>
            </a:extLst>
          </p:cNvPr>
          <p:cNvSpPr>
            <a:spLocks xmlns:a="http://schemas.openxmlformats.org/drawingml/2006/main" noGrp="1"/>
          </p:cNvSpPr>
          <p:nvPr/>
        </p:nvSpPr>
        <p:spPr>
          <a:xfrm xmlns:a="http://schemas.openxmlformats.org/drawingml/2006/main">
            <a:off x="1219200" y="5257800"/>
            <a:ext cx="9067800" cy="723900"/>
          </a:xfrm>
          <a:prstGeom xmlns:a="http://schemas.openxmlformats.org/drawingml/2006/main" prst="roundRect">
            <a:avLst>
              <a:gd name="adj" fmla="val 10526"/>
            </a:avLst>
          </a:prstGeom>
          <a:solidFill xmlns:a="http://schemas.openxmlformats.org/drawingml/2006/main">
            <a:srgbClr val="EFF6FF"/>
          </a:solidFill>
          <a:ln xmlns:a="http://schemas.openxmlformats.org/drawingml/2006/main" w="9525">
            <a:solidFill>
              <a:srgbClr val="E2E8F0"/>
            </a:solidFill>
            <a:prstDash val="solid"/>
          </a:ln>
        </p:spPr>
      </p:sp>
      <p:sp>
        <p:nvSpPr>
          <p:cNvPr id="40" name="">
            <a:extLst xmlns:a="http://schemas.openxmlformats.org/drawingml/2006/main">
              <a:ext uri="{FF2B5EF4-FFF2-40B4-BE49-F238E27FC236}">
                <a16:creationId xmlns:a16="http://schemas.microsoft.com/office/drawing/2014/main" id="{00E287EA-6438-4BE3-9293-7885674F1CF2}"/>
              </a:ext>
            </a:extLst>
          </p:cNvPr>
          <p:cNvSpPr>
            <a:spLocks xmlns:a="http://schemas.openxmlformats.org/drawingml/2006/main" noGrp="1"/>
          </p:cNvSpPr>
          <p:nvPr/>
        </p:nvSpPr>
        <p:spPr>
          <a:xfrm xmlns:a="http://schemas.openxmlformats.org/drawingml/2006/main">
            <a:off x="1219200" y="5257800"/>
            <a:ext cx="57150" cy="7239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44D55D81-B273-47AD-A18C-E579C800F2D7}"/>
              </a:ext>
            </a:extLst>
          </p:cNvPr>
          <p:cNvSpPr>
            <a:spLocks xmlns:a="http://schemas.openxmlformats.org/drawingml/2006/main" noGrp="1"/>
          </p:cNvSpPr>
          <p:nvPr/>
        </p:nvSpPr>
        <p:spPr>
          <a:xfrm xmlns:a="http://schemas.openxmlformats.org/drawingml/2006/main">
            <a:off x="1390650" y="5372100"/>
            <a:ext cx="872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125" b="1">
                <a:solidFill>
                  <a:srgbClr val="1A56DB"/>
                </a:solidFill>
              </a:defRPr>
            </a:pPr>
            <a:r>
              <a:rPr sz="1125" b="1">
                <a:solidFill>
                  <a:srgbClr val="1A56DB"/>
                </a:solidFill>
              </a:rPr>
              <a:t>阅读方式</a:t>
            </a:r>
          </a:p>
        </p:txBody>
      </p:sp>
      <p:sp>
        <p:nvSpPr>
          <p:cNvPr id="42" name="">
            <a:extLst xmlns:a="http://schemas.openxmlformats.org/drawingml/2006/main">
              <a:ext uri="{FF2B5EF4-FFF2-40B4-BE49-F238E27FC236}">
                <a16:creationId xmlns:a16="http://schemas.microsoft.com/office/drawing/2014/main" id="{F679C8C0-5DAE-4C6E-9364-2ED238B1A83F}"/>
              </a:ext>
            </a:extLst>
          </p:cNvPr>
          <p:cNvSpPr>
            <a:spLocks xmlns:a="http://schemas.openxmlformats.org/drawingml/2006/main" noGrp="1"/>
          </p:cNvSpPr>
          <p:nvPr/>
        </p:nvSpPr>
        <p:spPr>
          <a:xfrm xmlns:a="http://schemas.openxmlformats.org/drawingml/2006/main">
            <a:off x="1390650" y="5638800"/>
            <a:ext cx="8724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00" b="0">
                <a:solidFill>
                  <a:srgbClr val="475569"/>
                </a:solidFill>
              </a:defRPr>
            </a:pPr>
            <a:r>
              <a:rPr sz="900" b="0">
                <a:solidFill>
                  <a:srgbClr val="475569"/>
                </a:solidFill>
              </a:rPr>
              <a:t>本材料按预审会节奏组织：先统一问题边界，再看系统关系和数据基石，最后锁定责任、输出物和会前补资料路径。</a:t>
            </a:r>
          </a:p>
        </p:txBody>
      </p:sp>
      <p:sp>
        <p:nvSpPr>
          <p:cNvPr id="43" name="">
            <a:extLst xmlns:a="http://schemas.openxmlformats.org/drawingml/2006/main">
              <a:ext uri="{FF2B5EF4-FFF2-40B4-BE49-F238E27FC236}">
                <a16:creationId xmlns:a16="http://schemas.microsoft.com/office/drawing/2014/main" id="{A8D397EF-EB90-4DA1-8036-C000310B3B2F}"/>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04 / 29</a:t>
            </a:r>
          </a:p>
        </p:txBody>
      </p:sp>
    </p:spTree>
    <p:extLst>
      <p:ext uri="{BB962C8B-B14F-4D97-AF65-F5344CB8AC3E}">
        <p14:creationId xmlns:p14="http://schemas.microsoft.com/office/powerpoint/2010/main" val="1040301195"/>
      </p:ext>
    </p:extLst>
  </p:cSld>
</p:sld>
</file>

<file path=ppt/slides/slide5.xml><?xml version="1.0" encoding="utf-8"?>
<p:sld xmlns:p="http://schemas.openxmlformats.org/presentationml/2006/main">
  <p:cSld>
    <p:bg>
      <p:bgPr>
        <a:solidFill xmlns:a="http://schemas.openxmlformats.org/drawingml/2006/main">
          <a:srgbClr val="0F2A5E"/>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6CF7D3F-1929-45EB-92F6-1B5E82830D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B1390C8-4AB7-40DD-AF2F-E2C8657616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9AC0E80-820E-4F69-8B68-4E122A598455}"/>
              </a:ext>
            </a:extLst>
          </p:cNvPr>
          <p:cNvSpPr>
            <a:spLocks xmlns:a="http://schemas.openxmlformats.org/drawingml/2006/main" noGrp="1"/>
          </p:cNvSpPr>
          <p:nvPr/>
        </p:nvSpPr>
        <p:spPr>
          <a:xfrm xmlns:a="http://schemas.openxmlformats.org/drawingml/2006/main">
            <a:off x="8001000" y="-1714500"/>
            <a:ext cx="5524500" cy="5524500"/>
          </a:xfrm>
          <a:prstGeom xmlns:a="http://schemas.openxmlformats.org/drawingml/2006/main" prst="ellipse">
            <a:avLst/>
          </a:prstGeom>
          <a:solidFill xmlns:a="http://schemas.openxmlformats.org/drawingml/2006/main">
            <a:srgbClr val="FFFFFF">
              <a:alpha val="705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1F13EBA-44B6-442B-9937-65F2E9F2944C}"/>
              </a:ext>
            </a:extLst>
          </p:cNvPr>
          <p:cNvSpPr>
            <a:spLocks xmlns:a="http://schemas.openxmlformats.org/drawingml/2006/main" noGrp="1"/>
          </p:cNvSpPr>
          <p:nvPr/>
        </p:nvSpPr>
        <p:spPr>
          <a:xfrm xmlns:a="http://schemas.openxmlformats.org/drawingml/2006/main">
            <a:off x="857250" y="1428750"/>
            <a:ext cx="76200" cy="371475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EABF14D-A7D8-485F-B7A3-4D75DC7CEE0D}"/>
              </a:ext>
            </a:extLst>
          </p:cNvPr>
          <p:cNvSpPr>
            <a:spLocks xmlns:a="http://schemas.openxmlformats.org/drawingml/2006/main" noGrp="1"/>
          </p:cNvSpPr>
          <p:nvPr/>
        </p:nvSpPr>
        <p:spPr>
          <a:xfrm xmlns:a="http://schemas.openxmlformats.org/drawingml/2006/main">
            <a:off x="1181100" y="1428750"/>
            <a:ext cx="1524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800" b="1">
                <a:solidFill>
                  <a:srgbClr val="7DD3FC"/>
                </a:solidFill>
              </a:defRPr>
            </a:pPr>
            <a:r>
              <a:rPr sz="1800" b="1">
                <a:solidFill>
                  <a:srgbClr val="7DD3FC"/>
                </a:solidFill>
              </a:rPr>
              <a:t>01</a:t>
            </a:r>
          </a:p>
        </p:txBody>
      </p:sp>
      <p:sp>
        <p:nvSpPr>
          <p:cNvPr id="7" name="">
            <a:extLst xmlns:a="http://schemas.openxmlformats.org/drawingml/2006/main">
              <a:ext uri="{FF2B5EF4-FFF2-40B4-BE49-F238E27FC236}">
                <a16:creationId xmlns:a16="http://schemas.microsoft.com/office/drawing/2014/main" id="{7E5A96A6-644C-4C6C-94A4-8575A807FF26}"/>
              </a:ext>
            </a:extLst>
          </p:cNvPr>
          <p:cNvSpPr>
            <a:spLocks xmlns:a="http://schemas.openxmlformats.org/drawingml/2006/main" noGrp="1"/>
          </p:cNvSpPr>
          <p:nvPr/>
        </p:nvSpPr>
        <p:spPr>
          <a:xfrm xmlns:a="http://schemas.openxmlformats.org/drawingml/2006/main">
            <a:off x="1181100" y="1981200"/>
            <a:ext cx="65722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3150" b="1">
                <a:solidFill>
                  <a:srgbClr val="FFFFFF"/>
                </a:solidFill>
              </a:defRPr>
            </a:pPr>
            <a:r>
              <a:rPr sz="3150" b="1">
                <a:solidFill>
                  <a:srgbClr val="FFFFFF"/>
                </a:solidFill>
              </a:rPr>
              <a:t>预审定位与系统清单</a:t>
            </a:r>
          </a:p>
        </p:txBody>
      </p:sp>
      <p:sp>
        <p:nvSpPr>
          <p:cNvPr id="8" name="">
            <a:extLst xmlns:a="http://schemas.openxmlformats.org/drawingml/2006/main">
              <a:ext uri="{FF2B5EF4-FFF2-40B4-BE49-F238E27FC236}">
                <a16:creationId xmlns:a16="http://schemas.microsoft.com/office/drawing/2014/main" id="{D284798A-B455-494C-A6AF-CFCAB739DD9A}"/>
              </a:ext>
            </a:extLst>
          </p:cNvPr>
          <p:cNvSpPr>
            <a:spLocks xmlns:a="http://schemas.openxmlformats.org/drawingml/2006/main" noGrp="1"/>
          </p:cNvSpPr>
          <p:nvPr/>
        </p:nvSpPr>
        <p:spPr>
          <a:xfrm xmlns:a="http://schemas.openxmlformats.org/drawingml/2006/main">
            <a:off x="1200150" y="2857500"/>
            <a:ext cx="6858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350" b="0">
                <a:solidFill>
                  <a:srgbClr val="DBEAFE"/>
                </a:solidFill>
              </a:defRPr>
            </a:pPr>
            <a:r>
              <a:rPr sz="1350" b="0">
                <a:solidFill>
                  <a:srgbClr val="DBEAFE"/>
                </a:solidFill>
              </a:rPr>
              <a:t>先统一会议边界，再确认系统状态和待补输入</a:t>
            </a:r>
          </a:p>
        </p:txBody>
      </p:sp>
      <p:sp>
        <p:nvSpPr>
          <p:cNvPr id="9" name="">
            <a:extLst xmlns:a="http://schemas.openxmlformats.org/drawingml/2006/main">
              <a:ext uri="{FF2B5EF4-FFF2-40B4-BE49-F238E27FC236}">
                <a16:creationId xmlns:a16="http://schemas.microsoft.com/office/drawing/2014/main" id="{9F1C773D-99B3-4924-A8B6-3C649A984A36}"/>
              </a:ext>
            </a:extLst>
          </p:cNvPr>
          <p:cNvSpPr>
            <a:spLocks xmlns:a="http://schemas.openxmlformats.org/drawingml/2006/main" noGrp="1"/>
          </p:cNvSpPr>
          <p:nvPr/>
        </p:nvSpPr>
        <p:spPr>
          <a:xfrm xmlns:a="http://schemas.openxmlformats.org/drawingml/2006/main">
            <a:off x="1257300" y="3638550"/>
            <a:ext cx="95250" cy="95250"/>
          </a:xfrm>
          <a:prstGeom xmlns:a="http://schemas.openxmlformats.org/drawingml/2006/main" prst="ellipse">
            <a:avLst/>
          </a:prstGeom>
          <a:solidFill xmlns:a="http://schemas.openxmlformats.org/drawingml/2006/main">
            <a:srgbClr val="7DD3FC"/>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295AA333-914B-42B9-95A4-EB2BB6F5066C}"/>
              </a:ext>
            </a:extLst>
          </p:cNvPr>
          <p:cNvSpPr>
            <a:spLocks xmlns:a="http://schemas.openxmlformats.org/drawingml/2006/main" noGrp="1"/>
          </p:cNvSpPr>
          <p:nvPr/>
        </p:nvSpPr>
        <p:spPr>
          <a:xfrm xmlns:a="http://schemas.openxmlformats.org/drawingml/2006/main">
            <a:off x="1504950" y="3533775"/>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EEF6FF"/>
                </a:solidFill>
              </a:defRPr>
            </a:pPr>
            <a:r>
              <a:rPr sz="1275" b="0">
                <a:solidFill>
                  <a:srgbClr val="EEF6FF"/>
                </a:solidFill>
              </a:rPr>
              <a:t>会议定位：预审 + 条件性决策</a:t>
            </a:r>
          </a:p>
        </p:txBody>
      </p:sp>
      <p:sp>
        <p:nvSpPr>
          <p:cNvPr id="11" name="">
            <a:extLst xmlns:a="http://schemas.openxmlformats.org/drawingml/2006/main">
              <a:ext uri="{FF2B5EF4-FFF2-40B4-BE49-F238E27FC236}">
                <a16:creationId xmlns:a16="http://schemas.microsoft.com/office/drawing/2014/main" id="{4C435901-6AC7-4E45-8D88-3DC7B5D358CB}"/>
              </a:ext>
            </a:extLst>
          </p:cNvPr>
          <p:cNvSpPr>
            <a:spLocks xmlns:a="http://schemas.openxmlformats.org/drawingml/2006/main" noGrp="1"/>
          </p:cNvSpPr>
          <p:nvPr/>
        </p:nvSpPr>
        <p:spPr>
          <a:xfrm xmlns:a="http://schemas.openxmlformats.org/drawingml/2006/main">
            <a:off x="1257300" y="4076700"/>
            <a:ext cx="95250" cy="95250"/>
          </a:xfrm>
          <a:prstGeom xmlns:a="http://schemas.openxmlformats.org/drawingml/2006/main" prst="ellipse">
            <a:avLst/>
          </a:prstGeom>
          <a:solidFill xmlns:a="http://schemas.openxmlformats.org/drawingml/2006/main">
            <a:srgbClr val="7DD3FC"/>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24FB155-7FB0-4E4F-8EFE-3E50DEFF69AC}"/>
              </a:ext>
            </a:extLst>
          </p:cNvPr>
          <p:cNvSpPr>
            <a:spLocks xmlns:a="http://schemas.openxmlformats.org/drawingml/2006/main" noGrp="1"/>
          </p:cNvSpPr>
          <p:nvPr/>
        </p:nvSpPr>
        <p:spPr>
          <a:xfrm xmlns:a="http://schemas.openxmlformats.org/drawingml/2006/main">
            <a:off x="1504950" y="3971925"/>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EEF6FF"/>
                </a:solidFill>
              </a:defRPr>
            </a:pPr>
            <a:r>
              <a:rPr sz="1275" b="0">
                <a:solidFill>
                  <a:srgbClr val="EEF6FF"/>
                </a:solidFill>
              </a:rPr>
              <a:t>核心系统：已定、一期边界、待细化分开表达</a:t>
            </a:r>
          </a:p>
        </p:txBody>
      </p:sp>
      <p:sp>
        <p:nvSpPr>
          <p:cNvPr id="13" name="">
            <a:extLst xmlns:a="http://schemas.openxmlformats.org/drawingml/2006/main">
              <a:ext uri="{FF2B5EF4-FFF2-40B4-BE49-F238E27FC236}">
                <a16:creationId xmlns:a16="http://schemas.microsoft.com/office/drawing/2014/main" id="{16E21EAE-1D2A-46BD-A182-7C5B96AEB549}"/>
              </a:ext>
            </a:extLst>
          </p:cNvPr>
          <p:cNvSpPr>
            <a:spLocks xmlns:a="http://schemas.openxmlformats.org/drawingml/2006/main" noGrp="1"/>
          </p:cNvSpPr>
          <p:nvPr/>
        </p:nvSpPr>
        <p:spPr>
          <a:xfrm xmlns:a="http://schemas.openxmlformats.org/drawingml/2006/main">
            <a:off x="1257300" y="4514850"/>
            <a:ext cx="95250" cy="95250"/>
          </a:xfrm>
          <a:prstGeom xmlns:a="http://schemas.openxmlformats.org/drawingml/2006/main" prst="ellipse">
            <a:avLst/>
          </a:prstGeom>
          <a:solidFill xmlns:a="http://schemas.openxmlformats.org/drawingml/2006/main">
            <a:srgbClr val="7DD3F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1B021435-BF6F-488A-A9BB-54D9882E21D2}"/>
              </a:ext>
            </a:extLst>
          </p:cNvPr>
          <p:cNvSpPr>
            <a:spLocks xmlns:a="http://schemas.openxmlformats.org/drawingml/2006/main" noGrp="1"/>
          </p:cNvSpPr>
          <p:nvPr/>
        </p:nvSpPr>
        <p:spPr>
          <a:xfrm xmlns:a="http://schemas.openxmlformats.org/drawingml/2006/main">
            <a:off x="1504950" y="4410075"/>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EEF6FF"/>
                </a:solidFill>
              </a:defRPr>
            </a:pPr>
            <a:r>
              <a:rPr sz="1275" b="0">
                <a:solidFill>
                  <a:srgbClr val="EEF6FF"/>
                </a:solidFill>
              </a:rPr>
              <a:t>资料不足：降级为待补资料项</a:t>
            </a:r>
          </a:p>
        </p:txBody>
      </p:sp>
      <p:sp>
        <p:nvSpPr>
          <p:cNvPr id="15" name="">
            <a:extLst xmlns:a="http://schemas.openxmlformats.org/drawingml/2006/main">
              <a:ext uri="{FF2B5EF4-FFF2-40B4-BE49-F238E27FC236}">
                <a16:creationId xmlns:a16="http://schemas.microsoft.com/office/drawing/2014/main" id="{0F8E8791-584B-4B8F-BE48-7ECDB69C8AC4}"/>
              </a:ext>
            </a:extLst>
          </p:cNvPr>
          <p:cNvSpPr>
            <a:spLocks xmlns:a="http://schemas.openxmlformats.org/drawingml/2006/main" noGrp="1"/>
          </p:cNvSpPr>
          <p:nvPr/>
        </p:nvSpPr>
        <p:spPr>
          <a:xfrm xmlns:a="http://schemas.openxmlformats.org/drawingml/2006/main">
            <a:off x="10477500" y="6210300"/>
            <a:ext cx="857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BFDBFE"/>
                </a:solidFill>
              </a:defRPr>
            </a:pPr>
            <a:r>
              <a:rPr sz="900" b="0">
                <a:solidFill>
                  <a:srgbClr val="BFDBFE"/>
                </a:solidFill>
              </a:rPr>
              <a:t>5 / 29</a:t>
            </a:r>
          </a:p>
        </p:txBody>
      </p:sp>
    </p:spTree>
    <p:extLst>
      <p:ext uri="{BB962C8B-B14F-4D97-AF65-F5344CB8AC3E}">
        <p14:creationId xmlns:p14="http://schemas.microsoft.com/office/powerpoint/2010/main" val="1296455014"/>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9612353-C545-4447-B200-48051D64BA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613CD4C-18EF-4F41-A39B-92E3D6940644}"/>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363C9E9-1A23-4A25-8753-F1B164C78774}"/>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44B2E4E-1D40-4B74-B8FF-5C265A5EC8AC}"/>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01.1 预审定位</a:t>
            </a:r>
          </a:p>
        </p:txBody>
      </p:sp>
      <p:sp>
        <p:nvSpPr>
          <p:cNvPr id="6" name="">
            <a:extLst xmlns:a="http://schemas.openxmlformats.org/drawingml/2006/main">
              <a:ext uri="{FF2B5EF4-FFF2-40B4-BE49-F238E27FC236}">
                <a16:creationId xmlns:a16="http://schemas.microsoft.com/office/drawing/2014/main" id="{F50F1B84-9B9F-49E3-AC91-CD86A3DBE5CA}"/>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E8B6A192-1BC7-433C-96F0-0227CBCBCD06}"/>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预审定位</a:t>
            </a:r>
          </a:p>
        </p:txBody>
      </p:sp>
      <p:sp>
        <p:nvSpPr>
          <p:cNvPr id="8" name="">
            <a:extLst xmlns:a="http://schemas.openxmlformats.org/drawingml/2006/main">
              <a:ext uri="{FF2B5EF4-FFF2-40B4-BE49-F238E27FC236}">
                <a16:creationId xmlns:a16="http://schemas.microsoft.com/office/drawing/2014/main" id="{2E7EAAEC-B59A-4DCC-8AB9-C1A76199B7AE}"/>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会议边界 · 系统清单 · 最小输入</a:t>
            </a:r>
          </a:p>
        </p:txBody>
      </p:sp>
      <p:sp>
        <p:nvSpPr>
          <p:cNvPr id="9" name="">
            <a:extLst xmlns:a="http://schemas.openxmlformats.org/drawingml/2006/main">
              <a:ext uri="{FF2B5EF4-FFF2-40B4-BE49-F238E27FC236}">
                <a16:creationId xmlns:a16="http://schemas.microsoft.com/office/drawing/2014/main" id="{1F2B468B-BE97-4DC2-A3E4-0648C788E660}"/>
              </a:ext>
            </a:extLst>
          </p:cNvPr>
          <p:cNvSpPr>
            <a:spLocks xmlns:a="http://schemas.openxmlformats.org/drawingml/2006/main" noGrp="1"/>
          </p:cNvSpPr>
          <p:nvPr/>
        </p:nvSpPr>
        <p:spPr>
          <a:xfrm xmlns:a="http://schemas.openxmlformats.org/drawingml/2006/main">
            <a:off x="552450" y="1771650"/>
            <a:ext cx="4953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B2C65166-86EE-4339-AE7E-B829FEA5EFFE}"/>
              </a:ext>
            </a:extLst>
          </p:cNvPr>
          <p:cNvSpPr>
            <a:spLocks xmlns:a="http://schemas.openxmlformats.org/drawingml/2006/main" noGrp="1"/>
          </p:cNvSpPr>
          <p:nvPr/>
        </p:nvSpPr>
        <p:spPr>
          <a:xfrm xmlns:a="http://schemas.openxmlformats.org/drawingml/2006/main">
            <a:off x="552450" y="1771650"/>
            <a:ext cx="47625" cy="142875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63B2E6D-8837-43C2-B90F-F8A6A69C1050}"/>
              </a:ext>
            </a:extLst>
          </p:cNvPr>
          <p:cNvSpPr>
            <a:spLocks xmlns:a="http://schemas.openxmlformats.org/drawingml/2006/main" noGrp="1"/>
          </p:cNvSpPr>
          <p:nvPr/>
        </p:nvSpPr>
        <p:spPr>
          <a:xfrm xmlns:a="http://schemas.openxmlformats.org/drawingml/2006/main">
            <a:off x="723900" y="1905000"/>
            <a:ext cx="4629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项目背景与目标</a:t>
            </a:r>
          </a:p>
        </p:txBody>
      </p:sp>
      <p:sp>
        <p:nvSpPr>
          <p:cNvPr id="12" name="">
            <a:extLst xmlns:a="http://schemas.openxmlformats.org/drawingml/2006/main">
              <a:ext uri="{FF2B5EF4-FFF2-40B4-BE49-F238E27FC236}">
                <a16:creationId xmlns:a16="http://schemas.microsoft.com/office/drawing/2014/main" id="{CA31B600-E830-43BF-8A13-7715AE5F0940}"/>
              </a:ext>
            </a:extLst>
          </p:cNvPr>
          <p:cNvSpPr>
            <a:spLocks xmlns:a="http://schemas.openxmlformats.org/drawingml/2006/main" noGrp="1"/>
          </p:cNvSpPr>
          <p:nvPr/>
        </p:nvSpPr>
        <p:spPr>
          <a:xfrm xmlns:a="http://schemas.openxmlformats.org/drawingml/2006/main">
            <a:off x="723900" y="2247900"/>
            <a:ext cx="46291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沈阳昌兴复材航空科技有限责任公司作为航空复合材料零部件制造商，推进全域数字化运营平台建设。核心目标：打通研发、制造、采购、质量、财务五大业务域数据流，实现从 EBOM → MBOM → 生产执行 → 成本核算的全链路数字化闭环，并满足航空适航零件编号+质量编号追溯要求。</a:t>
            </a:r>
          </a:p>
        </p:txBody>
      </p:sp>
      <p:sp>
        <p:nvSpPr>
          <p:cNvPr id="13" name="">
            <a:extLst xmlns:a="http://schemas.openxmlformats.org/drawingml/2006/main">
              <a:ext uri="{FF2B5EF4-FFF2-40B4-BE49-F238E27FC236}">
                <a16:creationId xmlns:a16="http://schemas.microsoft.com/office/drawing/2014/main" id="{33616362-5740-4728-BD32-E24BCC6EF857}"/>
              </a:ext>
            </a:extLst>
          </p:cNvPr>
          <p:cNvSpPr>
            <a:spLocks xmlns:a="http://schemas.openxmlformats.org/drawingml/2006/main" noGrp="1"/>
          </p:cNvSpPr>
          <p:nvPr/>
        </p:nvSpPr>
        <p:spPr>
          <a:xfrm xmlns:a="http://schemas.openxmlformats.org/drawingml/2006/main">
            <a:off x="5829300" y="1771650"/>
            <a:ext cx="5334000" cy="1428750"/>
          </a:xfrm>
          <a:prstGeom xmlns:a="http://schemas.openxmlformats.org/drawingml/2006/main" prst="roundRect">
            <a:avLst>
              <a:gd name="adj" fmla="val 5333"/>
            </a:avLst>
          </a:prstGeom>
          <a:solidFill xmlns:a="http://schemas.openxmlformats.org/drawingml/2006/main">
            <a:srgbClr val="FEF2F2"/>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2D0FC9D0-C150-45E4-9E60-CE9AD49E007E}"/>
              </a:ext>
            </a:extLst>
          </p:cNvPr>
          <p:cNvSpPr>
            <a:spLocks xmlns:a="http://schemas.openxmlformats.org/drawingml/2006/main" noGrp="1"/>
          </p:cNvSpPr>
          <p:nvPr/>
        </p:nvSpPr>
        <p:spPr>
          <a:xfrm xmlns:a="http://schemas.openxmlformats.org/drawingml/2006/main">
            <a:off x="5829300" y="1771650"/>
            <a:ext cx="57150" cy="1428750"/>
          </a:xfrm>
          <a:prstGeom xmlns:a="http://schemas.openxmlformats.org/drawingml/2006/main" prst="rect">
            <a:avLst/>
          </a:prstGeom>
          <a:solidFill xmlns:a="http://schemas.openxmlformats.org/drawingml/2006/main">
            <a:srgbClr val="DC2626"/>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40A9DF16-1624-49A9-9528-F9C8FC7284CE}"/>
              </a:ext>
            </a:extLst>
          </p:cNvPr>
          <p:cNvSpPr>
            <a:spLocks xmlns:a="http://schemas.openxmlformats.org/drawingml/2006/main" noGrp="1"/>
          </p:cNvSpPr>
          <p:nvPr/>
        </p:nvSpPr>
        <p:spPr>
          <a:xfrm xmlns:a="http://schemas.openxmlformats.org/drawingml/2006/main">
            <a:off x="6000750" y="1885950"/>
            <a:ext cx="4991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125" b="1">
                <a:solidFill>
                  <a:srgbClr val="DC2626"/>
                </a:solidFill>
              </a:defRPr>
            </a:pPr>
            <a:r>
              <a:rPr sz="1125" b="1">
                <a:solidFill>
                  <a:srgbClr val="DC2626"/>
                </a:solidFill>
              </a:rPr>
              <a:t>会议定位调整</a:t>
            </a:r>
          </a:p>
        </p:txBody>
      </p:sp>
      <p:sp>
        <p:nvSpPr>
          <p:cNvPr id="16" name="">
            <a:extLst xmlns:a="http://schemas.openxmlformats.org/drawingml/2006/main">
              <a:ext uri="{FF2B5EF4-FFF2-40B4-BE49-F238E27FC236}">
                <a16:creationId xmlns:a16="http://schemas.microsoft.com/office/drawing/2014/main" id="{0B307C6E-D35B-4999-BDB8-F514E5683420}"/>
              </a:ext>
            </a:extLst>
          </p:cNvPr>
          <p:cNvSpPr>
            <a:spLocks xmlns:a="http://schemas.openxmlformats.org/drawingml/2006/main" noGrp="1"/>
          </p:cNvSpPr>
          <p:nvPr/>
        </p:nvSpPr>
        <p:spPr>
          <a:xfrm xmlns:a="http://schemas.openxmlformats.org/drawingml/2006/main">
            <a:off x="6000750" y="2152650"/>
            <a:ext cx="4991100" cy="971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00" b="0">
                <a:solidFill>
                  <a:srgbClr val="475569"/>
                </a:solidFill>
              </a:defRPr>
            </a:pPr>
            <a:r>
              <a:rPr sz="900" b="0">
                <a:solidFill>
                  <a:srgbClr val="475569"/>
                </a:solidFill>
              </a:rPr>
              <a:t>会议定位调整：2026-05-09 建议作为“系统集成方案预审会”，不是最终决策会</a:t>
            </a:r>
          </a:p>
          <a:p xmlns:a="http://schemas.openxmlformats.org/drawingml/2006/main">
            <a:pPr algn="l">
              <a:defRPr sz="900" b="0">
                <a:solidFill>
                  <a:srgbClr val="475569"/>
                </a:solidFill>
              </a:defRPr>
            </a:pPr>
            <a:r>
              <a:rPr sz="900" b="0">
                <a:solidFill>
                  <a:srgbClr val="475569"/>
                </a:solidFill>
              </a:rPr>
              <a:t>先确认组织职责、数据责任人、流程确认人和集成预审工作组。</a:t>
            </a:r>
          </a:p>
          <a:p xmlns:a="http://schemas.openxmlformats.org/drawingml/2006/main">
            <a:pPr algn="l">
              <a:defRPr sz="900" b="0">
                <a:solidFill>
                  <a:srgbClr val="475569"/>
                </a:solidFill>
              </a:defRPr>
            </a:pPr>
            <a:r>
              <a:rPr sz="900" b="0">
                <a:solidFill>
                  <a:srgbClr val="475569"/>
                </a:solidFill>
              </a:rPr>
              <a:t>先确认 MDM 主数据建设路径：组织与身份先行，流程牵引，术语统一，字段落账。</a:t>
            </a:r>
          </a:p>
          <a:p xmlns:a="http://schemas.openxmlformats.org/drawingml/2006/main">
            <a:pPr algn="l">
              <a:defRPr sz="900" b="0">
                <a:solidFill>
                  <a:srgbClr val="475569"/>
                </a:solidFill>
              </a:defRPr>
            </a:pPr>
            <a:r>
              <a:rPr sz="900" b="0">
                <a:solidFill>
                  <a:srgbClr val="475569"/>
                </a:solidFill>
              </a:rPr>
              <a:t>Q1–Q8 按成熟度分为“可表决、需补资料、需供应商确认”，不强行形成最终结论。</a:t>
            </a:r>
          </a:p>
          <a:p xmlns:a="http://schemas.openxmlformats.org/drawingml/2006/main">
            <a:pPr algn="l">
              <a:defRPr sz="900" b="0">
                <a:solidFill>
                  <a:srgbClr val="475569"/>
                </a:solidFill>
              </a:defRPr>
            </a:pPr>
            <a:r>
              <a:rPr sz="900" b="0">
                <a:solidFill>
                  <a:srgbClr val="475569"/>
                </a:solidFill>
              </a:rPr>
              <a:t>PLM、EBOM→MBOM、ECO、SCIM、数据中台、编码技术约束等未决项列入预审整改清单。</a:t>
            </a:r>
          </a:p>
        </p:txBody>
      </p:sp>
      <p:sp>
        <p:nvSpPr>
          <p:cNvPr id="17" name="">
            <a:extLst xmlns:a="http://schemas.openxmlformats.org/drawingml/2006/main">
              <a:ext uri="{FF2B5EF4-FFF2-40B4-BE49-F238E27FC236}">
                <a16:creationId xmlns:a16="http://schemas.microsoft.com/office/drawing/2014/main" id="{64D6AD74-C790-46E8-B8EF-6A7E845647D4}"/>
              </a:ext>
            </a:extLst>
          </p:cNvPr>
          <p:cNvSpPr>
            <a:spLocks xmlns:a="http://schemas.openxmlformats.org/drawingml/2006/main" noGrp="1"/>
          </p:cNvSpPr>
          <p:nvPr/>
        </p:nvSpPr>
        <p:spPr>
          <a:xfrm xmlns:a="http://schemas.openxmlformats.org/drawingml/2006/main">
            <a:off x="552450" y="3600450"/>
            <a:ext cx="32575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10F577F3-46A1-48D0-9F12-B25830E8F371}"/>
              </a:ext>
            </a:extLst>
          </p:cNvPr>
          <p:cNvSpPr>
            <a:spLocks xmlns:a="http://schemas.openxmlformats.org/drawingml/2006/main" noGrp="1"/>
          </p:cNvSpPr>
          <p:nvPr/>
        </p:nvSpPr>
        <p:spPr>
          <a:xfrm xmlns:a="http://schemas.openxmlformats.org/drawingml/2006/main">
            <a:off x="552450" y="3600450"/>
            <a:ext cx="47625" cy="15240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9328666E-B476-4A0D-9EAC-80395D28453C}"/>
              </a:ext>
            </a:extLst>
          </p:cNvPr>
          <p:cNvSpPr>
            <a:spLocks xmlns:a="http://schemas.openxmlformats.org/drawingml/2006/main" noGrp="1"/>
          </p:cNvSpPr>
          <p:nvPr/>
        </p:nvSpPr>
        <p:spPr>
          <a:xfrm xmlns:a="http://schemas.openxmlformats.org/drawingml/2006/main">
            <a:off x="723900" y="3733800"/>
            <a:ext cx="2933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预审会要确认什么</a:t>
            </a:r>
          </a:p>
        </p:txBody>
      </p:sp>
      <p:sp>
        <p:nvSpPr>
          <p:cNvPr id="20" name="">
            <a:extLst xmlns:a="http://schemas.openxmlformats.org/drawingml/2006/main">
              <a:ext uri="{FF2B5EF4-FFF2-40B4-BE49-F238E27FC236}">
                <a16:creationId xmlns:a16="http://schemas.microsoft.com/office/drawing/2014/main" id="{96437DFE-4B46-4D2F-825A-B185E63F546E}"/>
              </a:ext>
            </a:extLst>
          </p:cNvPr>
          <p:cNvSpPr>
            <a:spLocks xmlns:a="http://schemas.openxmlformats.org/drawingml/2006/main" noGrp="1"/>
          </p:cNvSpPr>
          <p:nvPr/>
        </p:nvSpPr>
        <p:spPr>
          <a:xfrm xmlns:a="http://schemas.openxmlformats.org/drawingml/2006/main">
            <a:off x="723900" y="4076700"/>
            <a:ext cx="293370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确认集成方案是否具备进入详细设计的输入条件，明确会后补资料项、责任人、输出物和截止日期。</a:t>
            </a:r>
          </a:p>
        </p:txBody>
      </p:sp>
      <p:sp>
        <p:nvSpPr>
          <p:cNvPr id="21" name="">
            <a:extLst xmlns:a="http://schemas.openxmlformats.org/drawingml/2006/main">
              <a:ext uri="{FF2B5EF4-FFF2-40B4-BE49-F238E27FC236}">
                <a16:creationId xmlns:a16="http://schemas.microsoft.com/office/drawing/2014/main" id="{351FFED8-408F-42E6-93C7-00ECFE68A6DA}"/>
              </a:ext>
            </a:extLst>
          </p:cNvPr>
          <p:cNvSpPr>
            <a:spLocks xmlns:a="http://schemas.openxmlformats.org/drawingml/2006/main" noGrp="1"/>
          </p:cNvSpPr>
          <p:nvPr/>
        </p:nvSpPr>
        <p:spPr>
          <a:xfrm xmlns:a="http://schemas.openxmlformats.org/drawingml/2006/main">
            <a:off x="4114800" y="3600450"/>
            <a:ext cx="32575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6C64ADD2-591F-475B-971E-5EF8AAF65AD7}"/>
              </a:ext>
            </a:extLst>
          </p:cNvPr>
          <p:cNvSpPr>
            <a:spLocks xmlns:a="http://schemas.openxmlformats.org/drawingml/2006/main" noGrp="1"/>
          </p:cNvSpPr>
          <p:nvPr/>
        </p:nvSpPr>
        <p:spPr>
          <a:xfrm xmlns:a="http://schemas.openxmlformats.org/drawingml/2006/main">
            <a:off x="4114800" y="3600450"/>
            <a:ext cx="47625" cy="15240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DD169C16-0694-4AF8-B1B8-C52EF80CDEA8}"/>
              </a:ext>
            </a:extLst>
          </p:cNvPr>
          <p:cNvSpPr>
            <a:spLocks xmlns:a="http://schemas.openxmlformats.org/drawingml/2006/main" noGrp="1"/>
          </p:cNvSpPr>
          <p:nvPr/>
        </p:nvSpPr>
        <p:spPr>
          <a:xfrm xmlns:a="http://schemas.openxmlformats.org/drawingml/2006/main">
            <a:off x="4286250" y="3733800"/>
            <a:ext cx="2933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预审会不做什么</a:t>
            </a:r>
          </a:p>
        </p:txBody>
      </p:sp>
      <p:sp>
        <p:nvSpPr>
          <p:cNvPr id="24" name="">
            <a:extLst xmlns:a="http://schemas.openxmlformats.org/drawingml/2006/main">
              <a:ext uri="{FF2B5EF4-FFF2-40B4-BE49-F238E27FC236}">
                <a16:creationId xmlns:a16="http://schemas.microsoft.com/office/drawing/2014/main" id="{6E8A6AC7-C801-48E4-9363-0408AAF51C7D}"/>
              </a:ext>
            </a:extLst>
          </p:cNvPr>
          <p:cNvSpPr>
            <a:spLocks xmlns:a="http://schemas.openxmlformats.org/drawingml/2006/main" noGrp="1"/>
          </p:cNvSpPr>
          <p:nvPr/>
        </p:nvSpPr>
        <p:spPr>
          <a:xfrm xmlns:a="http://schemas.openxmlformats.org/drawingml/2006/main">
            <a:off x="4286250" y="4076700"/>
            <a:ext cx="293370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不把供应商未确认能力、接口字段、实施周期和系统边界写成最终决议；资料不足则降级为待补资料项。</a:t>
            </a:r>
          </a:p>
        </p:txBody>
      </p:sp>
      <p:sp>
        <p:nvSpPr>
          <p:cNvPr id="25" name="">
            <a:extLst xmlns:a="http://schemas.openxmlformats.org/drawingml/2006/main">
              <a:ext uri="{FF2B5EF4-FFF2-40B4-BE49-F238E27FC236}">
                <a16:creationId xmlns:a16="http://schemas.microsoft.com/office/drawing/2014/main" id="{EE5930EB-AD11-42FD-9CF6-3B5079A03864}"/>
              </a:ext>
            </a:extLst>
          </p:cNvPr>
          <p:cNvSpPr>
            <a:spLocks xmlns:a="http://schemas.openxmlformats.org/drawingml/2006/main" noGrp="1"/>
          </p:cNvSpPr>
          <p:nvPr/>
        </p:nvSpPr>
        <p:spPr>
          <a:xfrm xmlns:a="http://schemas.openxmlformats.org/drawingml/2006/main">
            <a:off x="7677150" y="3600450"/>
            <a:ext cx="32575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1612CDCD-476E-4EE4-8D04-87A694AC902C}"/>
              </a:ext>
            </a:extLst>
          </p:cNvPr>
          <p:cNvSpPr>
            <a:spLocks xmlns:a="http://schemas.openxmlformats.org/drawingml/2006/main" noGrp="1"/>
          </p:cNvSpPr>
          <p:nvPr/>
        </p:nvSpPr>
        <p:spPr>
          <a:xfrm xmlns:a="http://schemas.openxmlformats.org/drawingml/2006/main">
            <a:off x="7677150" y="3600450"/>
            <a:ext cx="47625" cy="152400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781E4F41-D81D-4F03-AC9C-ED431B4CA40C}"/>
              </a:ext>
            </a:extLst>
          </p:cNvPr>
          <p:cNvSpPr>
            <a:spLocks xmlns:a="http://schemas.openxmlformats.org/drawingml/2006/main" noGrp="1"/>
          </p:cNvSpPr>
          <p:nvPr/>
        </p:nvSpPr>
        <p:spPr>
          <a:xfrm xmlns:a="http://schemas.openxmlformats.org/drawingml/2006/main">
            <a:off x="7848600" y="3733800"/>
            <a:ext cx="2933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MDM 是前置基石</a:t>
            </a:r>
          </a:p>
        </p:txBody>
      </p:sp>
      <p:sp>
        <p:nvSpPr>
          <p:cNvPr id="28" name="">
            <a:extLst xmlns:a="http://schemas.openxmlformats.org/drawingml/2006/main">
              <a:ext uri="{FF2B5EF4-FFF2-40B4-BE49-F238E27FC236}">
                <a16:creationId xmlns:a16="http://schemas.microsoft.com/office/drawing/2014/main" id="{E6EB9E5C-68E8-4DC8-B661-5A628B4E601D}"/>
              </a:ext>
            </a:extLst>
          </p:cNvPr>
          <p:cNvSpPr>
            <a:spLocks xmlns:a="http://schemas.openxmlformats.org/drawingml/2006/main" noGrp="1"/>
          </p:cNvSpPr>
          <p:nvPr/>
        </p:nvSpPr>
        <p:spPr>
          <a:xfrm xmlns:a="http://schemas.openxmlformats.org/drawingml/2006/main">
            <a:off x="7848600" y="4076700"/>
            <a:ext cx="293370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没有统一组织、人员、物料、BOM、供应商、批次、资质和术语口径，接口设计只能形成点状连接，无法形成稳定集成。</a:t>
            </a:r>
          </a:p>
        </p:txBody>
      </p:sp>
      <p:sp>
        <p:nvSpPr>
          <p:cNvPr id="29" name="">
            <a:extLst xmlns:a="http://schemas.openxmlformats.org/drawingml/2006/main">
              <a:ext uri="{FF2B5EF4-FFF2-40B4-BE49-F238E27FC236}">
                <a16:creationId xmlns:a16="http://schemas.microsoft.com/office/drawing/2014/main" id="{0537A035-8123-4C6D-8F90-96364A38ED6E}"/>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06 / 29</a:t>
            </a:r>
          </a:p>
        </p:txBody>
      </p:sp>
    </p:spTree>
    <p:extLst>
      <p:ext uri="{BB962C8B-B14F-4D97-AF65-F5344CB8AC3E}">
        <p14:creationId xmlns:p14="http://schemas.microsoft.com/office/powerpoint/2010/main" val="1132035679"/>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645351ED-F6BC-457E-865F-AF40753F3D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AAF19CA-9EF0-44AD-8694-83B7FD2A7CB6}"/>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8AFEC38-9F45-4BC5-9A62-57562DBFA7BF}"/>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6A411FE7-0D9B-45AA-B9DA-2A39E647F663}"/>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01.2 系统清单</a:t>
            </a:r>
          </a:p>
        </p:txBody>
      </p:sp>
      <p:sp>
        <p:nvSpPr>
          <p:cNvPr id="6" name="">
            <a:extLst xmlns:a="http://schemas.openxmlformats.org/drawingml/2006/main">
              <a:ext uri="{FF2B5EF4-FFF2-40B4-BE49-F238E27FC236}">
                <a16:creationId xmlns:a16="http://schemas.microsoft.com/office/drawing/2014/main" id="{FBEEEFCC-0BC6-4CCD-85CD-61D62F09B147}"/>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FF8250AD-6015-4F50-9EA2-4EEED0607DD2}"/>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核心应用系统与当前确认状态</a:t>
            </a:r>
          </a:p>
        </p:txBody>
      </p:sp>
      <p:sp>
        <p:nvSpPr>
          <p:cNvPr id="8" name="">
            <a:extLst xmlns:a="http://schemas.openxmlformats.org/drawingml/2006/main">
              <a:ext uri="{FF2B5EF4-FFF2-40B4-BE49-F238E27FC236}">
                <a16:creationId xmlns:a16="http://schemas.microsoft.com/office/drawing/2014/main" id="{FDF6F937-A645-46E9-97F3-5D968D6B0AC5}"/>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ERP、MES、OA 已确定；PLM已定翎瑞鸿翔一期，PDM、CAPP、WMS、SCIM仍需边界细化</a:t>
            </a:r>
          </a:p>
        </p:txBody>
      </p:sp>
      <p:sp>
        <p:nvSpPr>
          <p:cNvPr id="9" name="">
            <a:extLst xmlns:a="http://schemas.openxmlformats.org/drawingml/2006/main">
              <a:ext uri="{FF2B5EF4-FFF2-40B4-BE49-F238E27FC236}">
                <a16:creationId xmlns:a16="http://schemas.microsoft.com/office/drawing/2014/main" id="{BDADFDC8-5F28-4508-8DCE-CB5F0E756232}"/>
              </a:ext>
            </a:extLst>
          </p:cNvPr>
          <p:cNvSpPr>
            <a:spLocks xmlns:a="http://schemas.openxmlformats.org/drawingml/2006/main" noGrp="1"/>
          </p:cNvSpPr>
          <p:nvPr/>
        </p:nvSpPr>
        <p:spPr>
          <a:xfrm xmlns:a="http://schemas.openxmlformats.org/drawingml/2006/main">
            <a:off x="552450" y="1809750"/>
            <a:ext cx="24765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F351554A-BC36-4D63-84E2-0948C25815FC}"/>
              </a:ext>
            </a:extLst>
          </p:cNvPr>
          <p:cNvSpPr>
            <a:spLocks xmlns:a="http://schemas.openxmlformats.org/drawingml/2006/main" noGrp="1"/>
          </p:cNvSpPr>
          <p:nvPr/>
        </p:nvSpPr>
        <p:spPr>
          <a:xfrm xmlns:a="http://schemas.openxmlformats.org/drawingml/2006/main">
            <a:off x="552450" y="1809750"/>
            <a:ext cx="47625" cy="131445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46EC1F5-5DB1-42B8-A139-7A06200E1887}"/>
              </a:ext>
            </a:extLst>
          </p:cNvPr>
          <p:cNvSpPr>
            <a:spLocks xmlns:a="http://schemas.openxmlformats.org/drawingml/2006/main" noGrp="1"/>
          </p:cNvSpPr>
          <p:nvPr/>
        </p:nvSpPr>
        <p:spPr>
          <a:xfrm xmlns:a="http://schemas.openxmlformats.org/drawingml/2006/main">
            <a:off x="723900" y="19431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ERP</a:t>
            </a:r>
          </a:p>
        </p:txBody>
      </p:sp>
      <p:sp>
        <p:nvSpPr>
          <p:cNvPr id="12" name="">
            <a:extLst xmlns:a="http://schemas.openxmlformats.org/drawingml/2006/main">
              <a:ext uri="{FF2B5EF4-FFF2-40B4-BE49-F238E27FC236}">
                <a16:creationId xmlns:a16="http://schemas.microsoft.com/office/drawing/2014/main" id="{B4FA6E16-3783-44C0-ABC6-B30338034155}"/>
              </a:ext>
            </a:extLst>
          </p:cNvPr>
          <p:cNvSpPr>
            <a:spLocks xmlns:a="http://schemas.openxmlformats.org/drawingml/2006/main" noGrp="1"/>
          </p:cNvSpPr>
          <p:nvPr/>
        </p:nvSpPr>
        <p:spPr>
          <a:xfrm xmlns:a="http://schemas.openxmlformats.org/drawingml/2006/main">
            <a:off x="723900" y="2286000"/>
            <a:ext cx="21526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用友 U8 ✅ 确定</a:t>
            </a:r>
          </a:p>
          <a:p xmlns:a="http://schemas.openxmlformats.org/drawingml/2006/main">
            <a:r>
              <a:t/>
            </a:r>
          </a:p>
        </p:txBody>
      </p:sp>
      <p:sp>
        <p:nvSpPr>
          <p:cNvPr id="13" name="">
            <a:extLst xmlns:a="http://schemas.openxmlformats.org/drawingml/2006/main">
              <a:ext uri="{FF2B5EF4-FFF2-40B4-BE49-F238E27FC236}">
                <a16:creationId xmlns:a16="http://schemas.microsoft.com/office/drawing/2014/main" id="{5F70E4BD-45A1-4462-8932-0E54B20F20A0}"/>
              </a:ext>
            </a:extLst>
          </p:cNvPr>
          <p:cNvSpPr>
            <a:spLocks xmlns:a="http://schemas.openxmlformats.org/drawingml/2006/main" noGrp="1"/>
          </p:cNvSpPr>
          <p:nvPr/>
        </p:nvSpPr>
        <p:spPr>
          <a:xfrm xmlns:a="http://schemas.openxmlformats.org/drawingml/2006/main">
            <a:off x="3333750" y="1809750"/>
            <a:ext cx="24765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8B55908F-4F8E-43F3-AE48-7AB28BEDE4EC}"/>
              </a:ext>
            </a:extLst>
          </p:cNvPr>
          <p:cNvSpPr>
            <a:spLocks xmlns:a="http://schemas.openxmlformats.org/drawingml/2006/main" noGrp="1"/>
          </p:cNvSpPr>
          <p:nvPr/>
        </p:nvSpPr>
        <p:spPr>
          <a:xfrm xmlns:a="http://schemas.openxmlformats.org/drawingml/2006/main">
            <a:off x="3333750" y="1809750"/>
            <a:ext cx="47625" cy="13144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D44D9D48-D8EF-4BD5-8188-A275479F0B66}"/>
              </a:ext>
            </a:extLst>
          </p:cNvPr>
          <p:cNvSpPr>
            <a:spLocks xmlns:a="http://schemas.openxmlformats.org/drawingml/2006/main" noGrp="1"/>
          </p:cNvSpPr>
          <p:nvPr/>
        </p:nvSpPr>
        <p:spPr>
          <a:xfrm xmlns:a="http://schemas.openxmlformats.org/drawingml/2006/main">
            <a:off x="3505200" y="19431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MES</a:t>
            </a:r>
          </a:p>
        </p:txBody>
      </p:sp>
      <p:sp>
        <p:nvSpPr>
          <p:cNvPr id="16" name="">
            <a:extLst xmlns:a="http://schemas.openxmlformats.org/drawingml/2006/main">
              <a:ext uri="{FF2B5EF4-FFF2-40B4-BE49-F238E27FC236}">
                <a16:creationId xmlns:a16="http://schemas.microsoft.com/office/drawing/2014/main" id="{7695031B-548E-42F0-B1D4-D914433BCEA9}"/>
              </a:ext>
            </a:extLst>
          </p:cNvPr>
          <p:cNvSpPr>
            <a:spLocks xmlns:a="http://schemas.openxmlformats.org/drawingml/2006/main" noGrp="1"/>
          </p:cNvSpPr>
          <p:nvPr/>
        </p:nvSpPr>
        <p:spPr>
          <a:xfrm xmlns:a="http://schemas.openxmlformats.org/drawingml/2006/main">
            <a:off x="3505200" y="2286000"/>
            <a:ext cx="21526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北京虎蜥 ✅ 确定</a:t>
            </a:r>
          </a:p>
          <a:p xmlns:a="http://schemas.openxmlformats.org/drawingml/2006/main">
            <a:r>
              <a:t/>
            </a:r>
          </a:p>
        </p:txBody>
      </p:sp>
      <p:sp>
        <p:nvSpPr>
          <p:cNvPr id="17" name="">
            <a:extLst xmlns:a="http://schemas.openxmlformats.org/drawingml/2006/main">
              <a:ext uri="{FF2B5EF4-FFF2-40B4-BE49-F238E27FC236}">
                <a16:creationId xmlns:a16="http://schemas.microsoft.com/office/drawing/2014/main" id="{F7168F8D-C063-452D-A774-1155495EA857}"/>
              </a:ext>
            </a:extLst>
          </p:cNvPr>
          <p:cNvSpPr>
            <a:spLocks xmlns:a="http://schemas.openxmlformats.org/drawingml/2006/main" noGrp="1"/>
          </p:cNvSpPr>
          <p:nvPr/>
        </p:nvSpPr>
        <p:spPr>
          <a:xfrm xmlns:a="http://schemas.openxmlformats.org/drawingml/2006/main">
            <a:off x="6115050" y="1809750"/>
            <a:ext cx="24765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435A0D51-DE04-4CE2-88A5-45B753743E09}"/>
              </a:ext>
            </a:extLst>
          </p:cNvPr>
          <p:cNvSpPr>
            <a:spLocks xmlns:a="http://schemas.openxmlformats.org/drawingml/2006/main" noGrp="1"/>
          </p:cNvSpPr>
          <p:nvPr/>
        </p:nvSpPr>
        <p:spPr>
          <a:xfrm xmlns:a="http://schemas.openxmlformats.org/drawingml/2006/main">
            <a:off x="6115050" y="1809750"/>
            <a:ext cx="47625" cy="13144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82092BA0-30CA-4521-91B7-7E112552C309}"/>
              </a:ext>
            </a:extLst>
          </p:cNvPr>
          <p:cNvSpPr>
            <a:spLocks xmlns:a="http://schemas.openxmlformats.org/drawingml/2006/main" noGrp="1"/>
          </p:cNvSpPr>
          <p:nvPr/>
        </p:nvSpPr>
        <p:spPr>
          <a:xfrm xmlns:a="http://schemas.openxmlformats.org/drawingml/2006/main">
            <a:off x="6286500" y="19431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OA</a:t>
            </a:r>
          </a:p>
        </p:txBody>
      </p:sp>
      <p:sp>
        <p:nvSpPr>
          <p:cNvPr id="20" name="">
            <a:extLst xmlns:a="http://schemas.openxmlformats.org/drawingml/2006/main">
              <a:ext uri="{FF2B5EF4-FFF2-40B4-BE49-F238E27FC236}">
                <a16:creationId xmlns:a16="http://schemas.microsoft.com/office/drawing/2014/main" id="{39914E4B-04CB-4896-B594-DDC1535DF894}"/>
              </a:ext>
            </a:extLst>
          </p:cNvPr>
          <p:cNvSpPr>
            <a:spLocks xmlns:a="http://schemas.openxmlformats.org/drawingml/2006/main" noGrp="1"/>
          </p:cNvSpPr>
          <p:nvPr/>
        </p:nvSpPr>
        <p:spPr>
          <a:xfrm xmlns:a="http://schemas.openxmlformats.org/drawingml/2006/main">
            <a:off x="6286500" y="2286000"/>
            <a:ext cx="21526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华天动力 ✅ 确定</a:t>
            </a:r>
          </a:p>
          <a:p xmlns:a="http://schemas.openxmlformats.org/drawingml/2006/main">
            <a:r>
              <a:t/>
            </a:r>
          </a:p>
        </p:txBody>
      </p:sp>
      <p:sp>
        <p:nvSpPr>
          <p:cNvPr id="21" name="">
            <a:extLst xmlns:a="http://schemas.openxmlformats.org/drawingml/2006/main">
              <a:ext uri="{FF2B5EF4-FFF2-40B4-BE49-F238E27FC236}">
                <a16:creationId xmlns:a16="http://schemas.microsoft.com/office/drawing/2014/main" id="{3883F94A-5729-4BB1-87F7-DF3F3A741669}"/>
              </a:ext>
            </a:extLst>
          </p:cNvPr>
          <p:cNvSpPr>
            <a:spLocks xmlns:a="http://schemas.openxmlformats.org/drawingml/2006/main" noGrp="1"/>
          </p:cNvSpPr>
          <p:nvPr/>
        </p:nvSpPr>
        <p:spPr>
          <a:xfrm xmlns:a="http://schemas.openxmlformats.org/drawingml/2006/main">
            <a:off x="8896350" y="1809750"/>
            <a:ext cx="24765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137B5292-8995-4D5B-A544-F65B70752667}"/>
              </a:ext>
            </a:extLst>
          </p:cNvPr>
          <p:cNvSpPr>
            <a:spLocks xmlns:a="http://schemas.openxmlformats.org/drawingml/2006/main" noGrp="1"/>
          </p:cNvSpPr>
          <p:nvPr/>
        </p:nvSpPr>
        <p:spPr>
          <a:xfrm xmlns:a="http://schemas.openxmlformats.org/drawingml/2006/main">
            <a:off x="8896350" y="1809750"/>
            <a:ext cx="47625" cy="1314450"/>
          </a:xfrm>
          <a:prstGeom xmlns:a="http://schemas.openxmlformats.org/drawingml/2006/main" prst="rect">
            <a:avLst/>
          </a:prstGeom>
          <a:solidFill xmlns:a="http://schemas.openxmlformats.org/drawingml/2006/main">
            <a:srgbClr val="7C3AED"/>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8CBC5AEE-2E63-4EE9-8277-38382BAB5D8C}"/>
              </a:ext>
            </a:extLst>
          </p:cNvPr>
          <p:cNvSpPr>
            <a:spLocks xmlns:a="http://schemas.openxmlformats.org/drawingml/2006/main" noGrp="1"/>
          </p:cNvSpPr>
          <p:nvPr/>
        </p:nvSpPr>
        <p:spPr>
          <a:xfrm xmlns:a="http://schemas.openxmlformats.org/drawingml/2006/main">
            <a:off x="9067800" y="19431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PLM</a:t>
            </a:r>
          </a:p>
        </p:txBody>
      </p:sp>
      <p:sp>
        <p:nvSpPr>
          <p:cNvPr id="24" name="">
            <a:extLst xmlns:a="http://schemas.openxmlformats.org/drawingml/2006/main">
              <a:ext uri="{FF2B5EF4-FFF2-40B4-BE49-F238E27FC236}">
                <a16:creationId xmlns:a16="http://schemas.microsoft.com/office/drawing/2014/main" id="{0420653A-5D76-443C-BC82-C8129756DB3C}"/>
              </a:ext>
            </a:extLst>
          </p:cNvPr>
          <p:cNvSpPr>
            <a:spLocks xmlns:a="http://schemas.openxmlformats.org/drawingml/2006/main" noGrp="1"/>
          </p:cNvSpPr>
          <p:nvPr/>
        </p:nvSpPr>
        <p:spPr>
          <a:xfrm xmlns:a="http://schemas.openxmlformats.org/drawingml/2006/main">
            <a:off x="9067800" y="2286000"/>
            <a:ext cx="21526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翎瑞鸿翔 ✅ 一期</a:t>
            </a:r>
          </a:p>
          <a:p xmlns:a="http://schemas.openxmlformats.org/drawingml/2006/main">
            <a:r>
              <a:t/>
            </a:r>
          </a:p>
        </p:txBody>
      </p:sp>
      <p:sp>
        <p:nvSpPr>
          <p:cNvPr id="25" name="">
            <a:extLst xmlns:a="http://schemas.openxmlformats.org/drawingml/2006/main">
              <a:ext uri="{FF2B5EF4-FFF2-40B4-BE49-F238E27FC236}">
                <a16:creationId xmlns:a16="http://schemas.microsoft.com/office/drawing/2014/main" id="{521C984D-D0F3-45C9-926A-94C6D0250DA4}"/>
              </a:ext>
            </a:extLst>
          </p:cNvPr>
          <p:cNvSpPr>
            <a:spLocks xmlns:a="http://schemas.openxmlformats.org/drawingml/2006/main" noGrp="1"/>
          </p:cNvSpPr>
          <p:nvPr/>
        </p:nvSpPr>
        <p:spPr>
          <a:xfrm xmlns:a="http://schemas.openxmlformats.org/drawingml/2006/main">
            <a:off x="552450" y="3448050"/>
            <a:ext cx="24765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F9638394-4327-4407-BA4E-AB27397A8B72}"/>
              </a:ext>
            </a:extLst>
          </p:cNvPr>
          <p:cNvSpPr>
            <a:spLocks xmlns:a="http://schemas.openxmlformats.org/drawingml/2006/main" noGrp="1"/>
          </p:cNvSpPr>
          <p:nvPr/>
        </p:nvSpPr>
        <p:spPr>
          <a:xfrm xmlns:a="http://schemas.openxmlformats.org/drawingml/2006/main">
            <a:off x="552450" y="3448050"/>
            <a:ext cx="47625" cy="1314450"/>
          </a:xfrm>
          <a:prstGeom xmlns:a="http://schemas.openxmlformats.org/drawingml/2006/main" prst="rect">
            <a:avLst/>
          </a:prstGeom>
          <a:solidFill xmlns:a="http://schemas.openxmlformats.org/drawingml/2006/main">
            <a:srgbClr val="0891B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EC3BB316-E314-4228-8F0D-DAABA450FDB0}"/>
              </a:ext>
            </a:extLst>
          </p:cNvPr>
          <p:cNvSpPr>
            <a:spLocks xmlns:a="http://schemas.openxmlformats.org/drawingml/2006/main" noGrp="1"/>
          </p:cNvSpPr>
          <p:nvPr/>
        </p:nvSpPr>
        <p:spPr>
          <a:xfrm xmlns:a="http://schemas.openxmlformats.org/drawingml/2006/main">
            <a:off x="723900" y="35814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PDM</a:t>
            </a:r>
          </a:p>
        </p:txBody>
      </p:sp>
      <p:sp>
        <p:nvSpPr>
          <p:cNvPr id="28" name="">
            <a:extLst xmlns:a="http://schemas.openxmlformats.org/drawingml/2006/main">
              <a:ext uri="{FF2B5EF4-FFF2-40B4-BE49-F238E27FC236}">
                <a16:creationId xmlns:a16="http://schemas.microsoft.com/office/drawing/2014/main" id="{B86DDA3C-DF63-4003-9D56-6C28F6EE1FDC}"/>
              </a:ext>
            </a:extLst>
          </p:cNvPr>
          <p:cNvSpPr>
            <a:spLocks xmlns:a="http://schemas.openxmlformats.org/drawingml/2006/main" noGrp="1"/>
          </p:cNvSpPr>
          <p:nvPr/>
        </p:nvSpPr>
        <p:spPr>
          <a:xfrm xmlns:a="http://schemas.openxmlformats.org/drawingml/2006/main">
            <a:off x="723900" y="3924300"/>
            <a:ext cx="21526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翎瑞鸿翔（一期）</a:t>
            </a:r>
          </a:p>
          <a:p xmlns:a="http://schemas.openxmlformats.org/drawingml/2006/main">
            <a:r>
              <a:t/>
            </a:r>
          </a:p>
        </p:txBody>
      </p:sp>
      <p:sp>
        <p:nvSpPr>
          <p:cNvPr id="29" name="">
            <a:extLst xmlns:a="http://schemas.openxmlformats.org/drawingml/2006/main">
              <a:ext uri="{FF2B5EF4-FFF2-40B4-BE49-F238E27FC236}">
                <a16:creationId xmlns:a16="http://schemas.microsoft.com/office/drawing/2014/main" id="{268FF11A-0B49-456B-8343-E91DA80399C7}"/>
              </a:ext>
            </a:extLst>
          </p:cNvPr>
          <p:cNvSpPr>
            <a:spLocks xmlns:a="http://schemas.openxmlformats.org/drawingml/2006/main" noGrp="1"/>
          </p:cNvSpPr>
          <p:nvPr/>
        </p:nvSpPr>
        <p:spPr>
          <a:xfrm xmlns:a="http://schemas.openxmlformats.org/drawingml/2006/main">
            <a:off x="3333750" y="3448050"/>
            <a:ext cx="24765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F84BE660-A8FB-4544-96CF-FBE1218316E3}"/>
              </a:ext>
            </a:extLst>
          </p:cNvPr>
          <p:cNvSpPr>
            <a:spLocks xmlns:a="http://schemas.openxmlformats.org/drawingml/2006/main" noGrp="1"/>
          </p:cNvSpPr>
          <p:nvPr/>
        </p:nvSpPr>
        <p:spPr>
          <a:xfrm xmlns:a="http://schemas.openxmlformats.org/drawingml/2006/main">
            <a:off x="3333750" y="3448050"/>
            <a:ext cx="47625" cy="1314450"/>
          </a:xfrm>
          <a:prstGeom xmlns:a="http://schemas.openxmlformats.org/drawingml/2006/main" prst="rect">
            <a:avLst/>
          </a:prstGeom>
          <a:solidFill xmlns:a="http://schemas.openxmlformats.org/drawingml/2006/main">
            <a:srgbClr val="EA580C"/>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6A55553C-CAFB-4478-98CF-71DBBA3B1F2C}"/>
              </a:ext>
            </a:extLst>
          </p:cNvPr>
          <p:cNvSpPr>
            <a:spLocks xmlns:a="http://schemas.openxmlformats.org/drawingml/2006/main" noGrp="1"/>
          </p:cNvSpPr>
          <p:nvPr/>
        </p:nvSpPr>
        <p:spPr>
          <a:xfrm xmlns:a="http://schemas.openxmlformats.org/drawingml/2006/main">
            <a:off x="3505200" y="35814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CAPP</a:t>
            </a:r>
          </a:p>
        </p:txBody>
      </p:sp>
      <p:sp>
        <p:nvSpPr>
          <p:cNvPr id="32" name="">
            <a:extLst xmlns:a="http://schemas.openxmlformats.org/drawingml/2006/main">
              <a:ext uri="{FF2B5EF4-FFF2-40B4-BE49-F238E27FC236}">
                <a16:creationId xmlns:a16="http://schemas.microsoft.com/office/drawing/2014/main" id="{BFEAC1D6-702F-4F41-A728-6F11F242082B}"/>
              </a:ext>
            </a:extLst>
          </p:cNvPr>
          <p:cNvSpPr>
            <a:spLocks xmlns:a="http://schemas.openxmlformats.org/drawingml/2006/main" noGrp="1"/>
          </p:cNvSpPr>
          <p:nvPr/>
        </p:nvSpPr>
        <p:spPr>
          <a:xfrm xmlns:a="http://schemas.openxmlformats.org/drawingml/2006/main">
            <a:off x="3505200" y="3924300"/>
            <a:ext cx="21526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 待确认</a:t>
            </a:r>
          </a:p>
          <a:p xmlns:a="http://schemas.openxmlformats.org/drawingml/2006/main">
            <a:r>
              <a:t/>
            </a:r>
          </a:p>
        </p:txBody>
      </p:sp>
      <p:sp>
        <p:nvSpPr>
          <p:cNvPr id="33" name="">
            <a:extLst xmlns:a="http://schemas.openxmlformats.org/drawingml/2006/main">
              <a:ext uri="{FF2B5EF4-FFF2-40B4-BE49-F238E27FC236}">
                <a16:creationId xmlns:a16="http://schemas.microsoft.com/office/drawing/2014/main" id="{37FC439A-7DFD-41A3-BF3D-6D81BDB2E15F}"/>
              </a:ext>
            </a:extLst>
          </p:cNvPr>
          <p:cNvSpPr>
            <a:spLocks xmlns:a="http://schemas.openxmlformats.org/drawingml/2006/main" noGrp="1"/>
          </p:cNvSpPr>
          <p:nvPr/>
        </p:nvSpPr>
        <p:spPr>
          <a:xfrm xmlns:a="http://schemas.openxmlformats.org/drawingml/2006/main">
            <a:off x="6115050" y="3448050"/>
            <a:ext cx="24765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54171490-5F78-4F14-87DA-322FE4FC3181}"/>
              </a:ext>
            </a:extLst>
          </p:cNvPr>
          <p:cNvSpPr>
            <a:spLocks xmlns:a="http://schemas.openxmlformats.org/drawingml/2006/main" noGrp="1"/>
          </p:cNvSpPr>
          <p:nvPr/>
        </p:nvSpPr>
        <p:spPr>
          <a:xfrm xmlns:a="http://schemas.openxmlformats.org/drawingml/2006/main">
            <a:off x="6115050" y="3448050"/>
            <a:ext cx="47625" cy="1314450"/>
          </a:xfrm>
          <a:prstGeom xmlns:a="http://schemas.openxmlformats.org/drawingml/2006/main" prst="rect">
            <a:avLst/>
          </a:prstGeom>
          <a:solidFill xmlns:a="http://schemas.openxmlformats.org/drawingml/2006/main">
            <a:srgbClr val="DB2777"/>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6A081BDE-7E42-4AB2-8E6B-BE607A293AB1}"/>
              </a:ext>
            </a:extLst>
          </p:cNvPr>
          <p:cNvSpPr>
            <a:spLocks xmlns:a="http://schemas.openxmlformats.org/drawingml/2006/main" noGrp="1"/>
          </p:cNvSpPr>
          <p:nvPr/>
        </p:nvSpPr>
        <p:spPr>
          <a:xfrm xmlns:a="http://schemas.openxmlformats.org/drawingml/2006/main">
            <a:off x="6286500" y="35814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WMS</a:t>
            </a:r>
          </a:p>
        </p:txBody>
      </p:sp>
      <p:sp>
        <p:nvSpPr>
          <p:cNvPr id="36" name="">
            <a:extLst xmlns:a="http://schemas.openxmlformats.org/drawingml/2006/main">
              <a:ext uri="{FF2B5EF4-FFF2-40B4-BE49-F238E27FC236}">
                <a16:creationId xmlns:a16="http://schemas.microsoft.com/office/drawing/2014/main" id="{9FD9D4CA-F49C-4888-985C-0CCE84463C2C}"/>
              </a:ext>
            </a:extLst>
          </p:cNvPr>
          <p:cNvSpPr>
            <a:spLocks xmlns:a="http://schemas.openxmlformats.org/drawingml/2006/main" noGrp="1"/>
          </p:cNvSpPr>
          <p:nvPr/>
        </p:nvSpPr>
        <p:spPr>
          <a:xfrm xmlns:a="http://schemas.openxmlformats.org/drawingml/2006/main">
            <a:off x="6286500" y="3924300"/>
            <a:ext cx="21526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 待确认</a:t>
            </a:r>
          </a:p>
          <a:p xmlns:a="http://schemas.openxmlformats.org/drawingml/2006/main">
            <a:r>
              <a:t/>
            </a:r>
          </a:p>
        </p:txBody>
      </p:sp>
      <p:sp>
        <p:nvSpPr>
          <p:cNvPr id="37" name="">
            <a:extLst xmlns:a="http://schemas.openxmlformats.org/drawingml/2006/main">
              <a:ext uri="{FF2B5EF4-FFF2-40B4-BE49-F238E27FC236}">
                <a16:creationId xmlns:a16="http://schemas.microsoft.com/office/drawing/2014/main" id="{016EA348-357C-450B-80B0-461F5A34DB02}"/>
              </a:ext>
            </a:extLst>
          </p:cNvPr>
          <p:cNvSpPr>
            <a:spLocks xmlns:a="http://schemas.openxmlformats.org/drawingml/2006/main" noGrp="1"/>
          </p:cNvSpPr>
          <p:nvPr/>
        </p:nvSpPr>
        <p:spPr>
          <a:xfrm xmlns:a="http://schemas.openxmlformats.org/drawingml/2006/main">
            <a:off x="8896350" y="3448050"/>
            <a:ext cx="247650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92837F1D-251F-4C93-9A79-8CE11D2ACF71}"/>
              </a:ext>
            </a:extLst>
          </p:cNvPr>
          <p:cNvSpPr>
            <a:spLocks xmlns:a="http://schemas.openxmlformats.org/drawingml/2006/main" noGrp="1"/>
          </p:cNvSpPr>
          <p:nvPr/>
        </p:nvSpPr>
        <p:spPr>
          <a:xfrm xmlns:a="http://schemas.openxmlformats.org/drawingml/2006/main">
            <a:off x="8896350" y="3448050"/>
            <a:ext cx="47625" cy="131445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5803B28D-99ED-45DF-80C3-BD5672766AF7}"/>
              </a:ext>
            </a:extLst>
          </p:cNvPr>
          <p:cNvSpPr>
            <a:spLocks xmlns:a="http://schemas.openxmlformats.org/drawingml/2006/main" noGrp="1"/>
          </p:cNvSpPr>
          <p:nvPr/>
        </p:nvSpPr>
        <p:spPr>
          <a:xfrm xmlns:a="http://schemas.openxmlformats.org/drawingml/2006/main">
            <a:off x="9067800" y="35814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SCIM</a:t>
            </a:r>
          </a:p>
        </p:txBody>
      </p:sp>
      <p:sp>
        <p:nvSpPr>
          <p:cNvPr id="40" name="">
            <a:extLst xmlns:a="http://schemas.openxmlformats.org/drawingml/2006/main">
              <a:ext uri="{FF2B5EF4-FFF2-40B4-BE49-F238E27FC236}">
                <a16:creationId xmlns:a16="http://schemas.microsoft.com/office/drawing/2014/main" id="{CB194D4A-5947-4EF8-A27A-EE15E534A2F5}"/>
              </a:ext>
            </a:extLst>
          </p:cNvPr>
          <p:cNvSpPr>
            <a:spLocks xmlns:a="http://schemas.openxmlformats.org/drawingml/2006/main" noGrp="1"/>
          </p:cNvSpPr>
          <p:nvPr/>
        </p:nvSpPr>
        <p:spPr>
          <a:xfrm xmlns:a="http://schemas.openxmlformats.org/drawingml/2006/main">
            <a:off x="9067800" y="3924300"/>
            <a:ext cx="21526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 自研or采购待决</a:t>
            </a:r>
          </a:p>
          <a:p xmlns:a="http://schemas.openxmlformats.org/drawingml/2006/main">
            <a:r>
              <a:t/>
            </a:r>
          </a:p>
        </p:txBody>
      </p:sp>
      <p:sp>
        <p:nvSpPr>
          <p:cNvPr id="41" name="">
            <a:extLst xmlns:a="http://schemas.openxmlformats.org/drawingml/2006/main">
              <a:ext uri="{FF2B5EF4-FFF2-40B4-BE49-F238E27FC236}">
                <a16:creationId xmlns:a16="http://schemas.microsoft.com/office/drawing/2014/main" id="{97433870-2010-4E47-981E-9FEFE314F2DB}"/>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07 / 29</a:t>
            </a:r>
          </a:p>
        </p:txBody>
      </p:sp>
    </p:spTree>
    <p:extLst>
      <p:ext uri="{BB962C8B-B14F-4D97-AF65-F5344CB8AC3E}">
        <p14:creationId xmlns:p14="http://schemas.microsoft.com/office/powerpoint/2010/main" val="1271967371"/>
      </p:ext>
    </p:extLst>
  </p:cSld>
</p:sld>
</file>

<file path=ppt/slides/slide8.xml><?xml version="1.0" encoding="utf-8"?>
<p:sld xmlns:p="http://schemas.openxmlformats.org/presentationml/2006/main">
  <p:cSld>
    <p:bg>
      <p:bgPr>
        <a:solidFill xmlns:a="http://schemas.openxmlformats.org/drawingml/2006/main">
          <a:srgbClr val="0F2A5E"/>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8FD2742F-7C56-4B0E-8CD4-7B1B9A88111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01FED3C-B111-46B2-826F-44479C0E5E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8E864AE-EED9-4A26-A218-39839E6F4488}"/>
              </a:ext>
            </a:extLst>
          </p:cNvPr>
          <p:cNvSpPr>
            <a:spLocks xmlns:a="http://schemas.openxmlformats.org/drawingml/2006/main" noGrp="1"/>
          </p:cNvSpPr>
          <p:nvPr/>
        </p:nvSpPr>
        <p:spPr>
          <a:xfrm xmlns:a="http://schemas.openxmlformats.org/drawingml/2006/main">
            <a:off x="8001000" y="-1714500"/>
            <a:ext cx="5524500" cy="5524500"/>
          </a:xfrm>
          <a:prstGeom xmlns:a="http://schemas.openxmlformats.org/drawingml/2006/main" prst="ellipse">
            <a:avLst/>
          </a:prstGeom>
          <a:solidFill xmlns:a="http://schemas.openxmlformats.org/drawingml/2006/main">
            <a:srgbClr val="FFFFFF">
              <a:alpha val="705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BEC430C-0568-40F7-927D-C20A6434117D}"/>
              </a:ext>
            </a:extLst>
          </p:cNvPr>
          <p:cNvSpPr>
            <a:spLocks xmlns:a="http://schemas.openxmlformats.org/drawingml/2006/main" noGrp="1"/>
          </p:cNvSpPr>
          <p:nvPr/>
        </p:nvSpPr>
        <p:spPr>
          <a:xfrm xmlns:a="http://schemas.openxmlformats.org/drawingml/2006/main">
            <a:off x="857250" y="1428750"/>
            <a:ext cx="76200" cy="3714750"/>
          </a:xfrm>
          <a:prstGeom xmlns:a="http://schemas.openxmlformats.org/drawingml/2006/main" prst="rect">
            <a:avLst/>
          </a:prstGeom>
          <a:solidFill xmlns:a="http://schemas.openxmlformats.org/drawingml/2006/main">
            <a:srgbClr val="0891B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E50309D3-6EB7-4D65-8C95-B9857FC81823}"/>
              </a:ext>
            </a:extLst>
          </p:cNvPr>
          <p:cNvSpPr>
            <a:spLocks xmlns:a="http://schemas.openxmlformats.org/drawingml/2006/main" noGrp="1"/>
          </p:cNvSpPr>
          <p:nvPr/>
        </p:nvSpPr>
        <p:spPr>
          <a:xfrm xmlns:a="http://schemas.openxmlformats.org/drawingml/2006/main">
            <a:off x="1181100" y="1428750"/>
            <a:ext cx="1524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800" b="1">
                <a:solidFill>
                  <a:srgbClr val="7DD3FC"/>
                </a:solidFill>
              </a:defRPr>
            </a:pPr>
            <a:r>
              <a:rPr sz="1800" b="1">
                <a:solidFill>
                  <a:srgbClr val="7DD3FC"/>
                </a:solidFill>
              </a:rPr>
              <a:t>02</a:t>
            </a:r>
          </a:p>
        </p:txBody>
      </p:sp>
      <p:sp>
        <p:nvSpPr>
          <p:cNvPr id="7" name="">
            <a:extLst xmlns:a="http://schemas.openxmlformats.org/drawingml/2006/main">
              <a:ext uri="{FF2B5EF4-FFF2-40B4-BE49-F238E27FC236}">
                <a16:creationId xmlns:a16="http://schemas.microsoft.com/office/drawing/2014/main" id="{5C17966A-5EF7-41C5-9293-B9FFD86DAC5C}"/>
              </a:ext>
            </a:extLst>
          </p:cNvPr>
          <p:cNvSpPr>
            <a:spLocks xmlns:a="http://schemas.openxmlformats.org/drawingml/2006/main" noGrp="1"/>
          </p:cNvSpPr>
          <p:nvPr/>
        </p:nvSpPr>
        <p:spPr>
          <a:xfrm xmlns:a="http://schemas.openxmlformats.org/drawingml/2006/main">
            <a:off x="1181100" y="1981200"/>
            <a:ext cx="65722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3150" b="1">
                <a:solidFill>
                  <a:srgbClr val="FFFFFF"/>
                </a:solidFill>
              </a:defRPr>
            </a:pPr>
            <a:r>
              <a:rPr sz="3150" b="1">
                <a:solidFill>
                  <a:srgbClr val="FFFFFF"/>
                </a:solidFill>
              </a:rPr>
              <a:t>总体拓扑与四大集成域</a:t>
            </a:r>
          </a:p>
        </p:txBody>
      </p:sp>
      <p:sp>
        <p:nvSpPr>
          <p:cNvPr id="8" name="">
            <a:extLst xmlns:a="http://schemas.openxmlformats.org/drawingml/2006/main">
              <a:ext uri="{FF2B5EF4-FFF2-40B4-BE49-F238E27FC236}">
                <a16:creationId xmlns:a16="http://schemas.microsoft.com/office/drawing/2014/main" id="{E60365BE-1384-45D6-8267-22CB3986083D}"/>
              </a:ext>
            </a:extLst>
          </p:cNvPr>
          <p:cNvSpPr>
            <a:spLocks xmlns:a="http://schemas.openxmlformats.org/drawingml/2006/main" noGrp="1"/>
          </p:cNvSpPr>
          <p:nvPr/>
        </p:nvSpPr>
        <p:spPr>
          <a:xfrm xmlns:a="http://schemas.openxmlformats.org/drawingml/2006/main">
            <a:off x="1200150" y="2857500"/>
            <a:ext cx="6858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350" b="0">
                <a:solidFill>
                  <a:srgbClr val="DBEAFE"/>
                </a:solidFill>
              </a:defRPr>
            </a:pPr>
            <a:r>
              <a:rPr sz="1350" b="0">
                <a:solidFill>
                  <a:srgbClr val="DBEAFE"/>
                </a:solidFill>
              </a:rPr>
              <a:t>从系统关系进入研发、采购、制造、质量四条业务链</a:t>
            </a:r>
          </a:p>
        </p:txBody>
      </p:sp>
      <p:sp>
        <p:nvSpPr>
          <p:cNvPr id="9" name="">
            <a:extLst xmlns:a="http://schemas.openxmlformats.org/drawingml/2006/main">
              <a:ext uri="{FF2B5EF4-FFF2-40B4-BE49-F238E27FC236}">
                <a16:creationId xmlns:a16="http://schemas.microsoft.com/office/drawing/2014/main" id="{6AEC52B9-D9A0-4C4C-A51A-FC3558491F8F}"/>
              </a:ext>
            </a:extLst>
          </p:cNvPr>
          <p:cNvSpPr>
            <a:spLocks xmlns:a="http://schemas.openxmlformats.org/drawingml/2006/main" noGrp="1"/>
          </p:cNvSpPr>
          <p:nvPr/>
        </p:nvSpPr>
        <p:spPr>
          <a:xfrm xmlns:a="http://schemas.openxmlformats.org/drawingml/2006/main">
            <a:off x="1257300" y="3638550"/>
            <a:ext cx="95250" cy="95250"/>
          </a:xfrm>
          <a:prstGeom xmlns:a="http://schemas.openxmlformats.org/drawingml/2006/main" prst="ellipse">
            <a:avLst/>
          </a:prstGeom>
          <a:solidFill xmlns:a="http://schemas.openxmlformats.org/drawingml/2006/main">
            <a:srgbClr val="7DD3FC"/>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29B5B011-E048-4810-9924-F73DCE926D78}"/>
              </a:ext>
            </a:extLst>
          </p:cNvPr>
          <p:cNvSpPr>
            <a:spLocks xmlns:a="http://schemas.openxmlformats.org/drawingml/2006/main" noGrp="1"/>
          </p:cNvSpPr>
          <p:nvPr/>
        </p:nvSpPr>
        <p:spPr>
          <a:xfrm xmlns:a="http://schemas.openxmlformats.org/drawingml/2006/main">
            <a:off x="1504950" y="3533775"/>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EEF6FF"/>
                </a:solidFill>
              </a:defRPr>
            </a:pPr>
            <a:r>
              <a:rPr sz="1275" b="0">
                <a:solidFill>
                  <a:srgbClr val="EEF6FF"/>
                </a:solidFill>
              </a:rPr>
              <a:t>总体拓扑只表达已确认主链关系</a:t>
            </a:r>
          </a:p>
        </p:txBody>
      </p:sp>
      <p:sp>
        <p:nvSpPr>
          <p:cNvPr id="11" name="">
            <a:extLst xmlns:a="http://schemas.openxmlformats.org/drawingml/2006/main">
              <a:ext uri="{FF2B5EF4-FFF2-40B4-BE49-F238E27FC236}">
                <a16:creationId xmlns:a16="http://schemas.microsoft.com/office/drawing/2014/main" id="{443456F0-8195-4E2C-AF44-81249DF4DE12}"/>
              </a:ext>
            </a:extLst>
          </p:cNvPr>
          <p:cNvSpPr>
            <a:spLocks xmlns:a="http://schemas.openxmlformats.org/drawingml/2006/main" noGrp="1"/>
          </p:cNvSpPr>
          <p:nvPr/>
        </p:nvSpPr>
        <p:spPr>
          <a:xfrm xmlns:a="http://schemas.openxmlformats.org/drawingml/2006/main">
            <a:off x="1257300" y="4076700"/>
            <a:ext cx="95250" cy="95250"/>
          </a:xfrm>
          <a:prstGeom xmlns:a="http://schemas.openxmlformats.org/drawingml/2006/main" prst="ellipse">
            <a:avLst/>
          </a:prstGeom>
          <a:solidFill xmlns:a="http://schemas.openxmlformats.org/drawingml/2006/main">
            <a:srgbClr val="7DD3FC"/>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D9734F8-872F-4FA8-99BE-04AC17C08D33}"/>
              </a:ext>
            </a:extLst>
          </p:cNvPr>
          <p:cNvSpPr>
            <a:spLocks xmlns:a="http://schemas.openxmlformats.org/drawingml/2006/main" noGrp="1"/>
          </p:cNvSpPr>
          <p:nvPr/>
        </p:nvSpPr>
        <p:spPr>
          <a:xfrm xmlns:a="http://schemas.openxmlformats.org/drawingml/2006/main">
            <a:off x="1504950" y="3971925"/>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EEF6FF"/>
                </a:solidFill>
              </a:defRPr>
            </a:pPr>
            <a:r>
              <a:rPr sz="1275" b="0">
                <a:solidFill>
                  <a:srgbClr val="EEF6FF"/>
                </a:solidFill>
              </a:rPr>
              <a:t>四大集成域展开原 H5 的点击内容</a:t>
            </a:r>
          </a:p>
        </p:txBody>
      </p:sp>
      <p:sp>
        <p:nvSpPr>
          <p:cNvPr id="13" name="">
            <a:extLst xmlns:a="http://schemas.openxmlformats.org/drawingml/2006/main">
              <a:ext uri="{FF2B5EF4-FFF2-40B4-BE49-F238E27FC236}">
                <a16:creationId xmlns:a16="http://schemas.microsoft.com/office/drawing/2014/main" id="{302213CA-CF61-4698-BD15-C743E193A4D7}"/>
              </a:ext>
            </a:extLst>
          </p:cNvPr>
          <p:cNvSpPr>
            <a:spLocks xmlns:a="http://schemas.openxmlformats.org/drawingml/2006/main" noGrp="1"/>
          </p:cNvSpPr>
          <p:nvPr/>
        </p:nvSpPr>
        <p:spPr>
          <a:xfrm xmlns:a="http://schemas.openxmlformats.org/drawingml/2006/main">
            <a:off x="1257300" y="4514850"/>
            <a:ext cx="95250" cy="95250"/>
          </a:xfrm>
          <a:prstGeom xmlns:a="http://schemas.openxmlformats.org/drawingml/2006/main" prst="ellipse">
            <a:avLst/>
          </a:prstGeom>
          <a:solidFill xmlns:a="http://schemas.openxmlformats.org/drawingml/2006/main">
            <a:srgbClr val="7DD3F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3483E1E9-1A5C-4C63-ACC3-1C3890C01DE8}"/>
              </a:ext>
            </a:extLst>
          </p:cNvPr>
          <p:cNvSpPr>
            <a:spLocks xmlns:a="http://schemas.openxmlformats.org/drawingml/2006/main" noGrp="1"/>
          </p:cNvSpPr>
          <p:nvPr/>
        </p:nvSpPr>
        <p:spPr>
          <a:xfrm xmlns:a="http://schemas.openxmlformats.org/drawingml/2006/main">
            <a:off x="1504950" y="4410075"/>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EEF6FF"/>
                </a:solidFill>
              </a:defRPr>
            </a:pPr>
            <a:r>
              <a:rPr sz="1275" b="0">
                <a:solidFill>
                  <a:srgbClr val="EEF6FF"/>
                </a:solidFill>
              </a:rPr>
              <a:t>BOM 差异决定后续转换和追溯复杂度</a:t>
            </a:r>
          </a:p>
        </p:txBody>
      </p:sp>
      <p:sp>
        <p:nvSpPr>
          <p:cNvPr id="15" name="">
            <a:extLst xmlns:a="http://schemas.openxmlformats.org/drawingml/2006/main">
              <a:ext uri="{FF2B5EF4-FFF2-40B4-BE49-F238E27FC236}">
                <a16:creationId xmlns:a16="http://schemas.microsoft.com/office/drawing/2014/main" id="{9A0CBFE3-9273-49CF-AC4C-6A9FFAB34728}"/>
              </a:ext>
            </a:extLst>
          </p:cNvPr>
          <p:cNvSpPr>
            <a:spLocks xmlns:a="http://schemas.openxmlformats.org/drawingml/2006/main" noGrp="1"/>
          </p:cNvSpPr>
          <p:nvPr/>
        </p:nvSpPr>
        <p:spPr>
          <a:xfrm xmlns:a="http://schemas.openxmlformats.org/drawingml/2006/main">
            <a:off x="10477500" y="6210300"/>
            <a:ext cx="857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BFDBFE"/>
                </a:solidFill>
              </a:defRPr>
            </a:pPr>
            <a:r>
              <a:rPr sz="900" b="0">
                <a:solidFill>
                  <a:srgbClr val="BFDBFE"/>
                </a:solidFill>
              </a:rPr>
              <a:t>8 / 29</a:t>
            </a:r>
          </a:p>
        </p:txBody>
      </p:sp>
    </p:spTree>
    <p:extLst>
      <p:ext uri="{BB962C8B-B14F-4D97-AF65-F5344CB8AC3E}">
        <p14:creationId xmlns:p14="http://schemas.microsoft.com/office/powerpoint/2010/main" val="1587717803"/>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38F03B0-93FA-4417-B1C8-BB2DB98BC0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E4DF046-FB76-4AA6-BBF5-CDAA93636DD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11041C2-4276-4E76-B046-7107A9E102D0}"/>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0D1AE58-68F3-4D76-A287-0575258755BF}"/>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02.1 总体拓扑</a:t>
            </a:r>
          </a:p>
        </p:txBody>
      </p:sp>
      <p:sp>
        <p:nvSpPr>
          <p:cNvPr id="6" name="">
            <a:extLst xmlns:a="http://schemas.openxmlformats.org/drawingml/2006/main">
              <a:ext uri="{FF2B5EF4-FFF2-40B4-BE49-F238E27FC236}">
                <a16:creationId xmlns:a16="http://schemas.microsoft.com/office/drawing/2014/main" id="{A8529F15-C745-42BB-A798-83C87AC2BD42}"/>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4562667B-869C-4717-879E-AA435683071C}"/>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核心系统关系与横向基础设施</a:t>
            </a:r>
          </a:p>
        </p:txBody>
      </p:sp>
      <p:sp>
        <p:nvSpPr>
          <p:cNvPr id="8" name="">
            <a:extLst xmlns:a="http://schemas.openxmlformats.org/drawingml/2006/main">
              <a:ext uri="{FF2B5EF4-FFF2-40B4-BE49-F238E27FC236}">
                <a16:creationId xmlns:a16="http://schemas.microsoft.com/office/drawing/2014/main" id="{C902FF19-0946-49BE-93CF-1C95DD8BB094}"/>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系统间数据流向总览 · 数据中台为横向基础设施层</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3a1970461904807"/>
          <a:stretch xmlns:a="http://schemas.openxmlformats.org/drawingml/2006/main"/>
        </p:blipFill>
        <p:spPr>
          <a:xfrm xmlns:a="http://schemas.openxmlformats.org/drawingml/2006/main">
            <a:off x="719112" y="1752600"/>
            <a:ext cx="7591476" cy="46291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6530CC5-2F17-418C-A397-E0FB59729725}"/>
              </a:ext>
            </a:extLst>
          </p:cNvPr>
          <p:cNvSpPr>
            <a:spLocks xmlns:a="http://schemas.openxmlformats.org/drawingml/2006/main" noGrp="1"/>
          </p:cNvSpPr>
          <p:nvPr/>
        </p:nvSpPr>
        <p:spPr>
          <a:xfrm xmlns:a="http://schemas.openxmlformats.org/drawingml/2006/main">
            <a:off x="8724900" y="1847850"/>
            <a:ext cx="2571750" cy="3295650"/>
          </a:xfrm>
          <a:prstGeom xmlns:a="http://schemas.openxmlformats.org/drawingml/2006/main" prst="roundRect">
            <a:avLst>
              <a:gd name="adj" fmla="val 2963"/>
            </a:avLst>
          </a:prstGeom>
          <a:solidFill xmlns:a="http://schemas.openxmlformats.org/drawingml/2006/main">
            <a:srgbClr val="EFF6FF"/>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AFD3A076-515A-498F-B161-E11F16552F67}"/>
              </a:ext>
            </a:extLst>
          </p:cNvPr>
          <p:cNvSpPr>
            <a:spLocks xmlns:a="http://schemas.openxmlformats.org/drawingml/2006/main" noGrp="1"/>
          </p:cNvSpPr>
          <p:nvPr/>
        </p:nvSpPr>
        <p:spPr>
          <a:xfrm xmlns:a="http://schemas.openxmlformats.org/drawingml/2006/main">
            <a:off x="8724900" y="1847850"/>
            <a:ext cx="57150" cy="329565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82E19F19-B67F-4998-A692-CC3953011EC8}"/>
              </a:ext>
            </a:extLst>
          </p:cNvPr>
          <p:cNvSpPr>
            <a:spLocks xmlns:a="http://schemas.openxmlformats.org/drawingml/2006/main" noGrp="1"/>
          </p:cNvSpPr>
          <p:nvPr/>
        </p:nvSpPr>
        <p:spPr>
          <a:xfrm xmlns:a="http://schemas.openxmlformats.org/drawingml/2006/main">
            <a:off x="8896350" y="1962150"/>
            <a:ext cx="2228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125" b="1">
                <a:solidFill>
                  <a:srgbClr val="1A56DB"/>
                </a:solidFill>
              </a:defRPr>
            </a:pPr>
            <a:r>
              <a:rPr sz="1125" b="1">
                <a:solidFill>
                  <a:srgbClr val="1A56DB"/>
                </a:solidFill>
              </a:rPr>
              <a:t>口径约束</a:t>
            </a:r>
          </a:p>
        </p:txBody>
      </p:sp>
      <p:sp>
        <p:nvSpPr>
          <p:cNvPr id="13" name="">
            <a:extLst xmlns:a="http://schemas.openxmlformats.org/drawingml/2006/main">
              <a:ext uri="{FF2B5EF4-FFF2-40B4-BE49-F238E27FC236}">
                <a16:creationId xmlns:a16="http://schemas.microsoft.com/office/drawing/2014/main" id="{572C719A-B01E-4491-AD7B-8A68E23E5F9E}"/>
              </a:ext>
            </a:extLst>
          </p:cNvPr>
          <p:cNvSpPr>
            <a:spLocks xmlns:a="http://schemas.openxmlformats.org/drawingml/2006/main" noGrp="1"/>
          </p:cNvSpPr>
          <p:nvPr/>
        </p:nvSpPr>
        <p:spPr>
          <a:xfrm xmlns:a="http://schemas.openxmlformats.org/drawingml/2006/main">
            <a:off x="8896350" y="2228850"/>
            <a:ext cx="2228850" cy="2838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00" b="0">
                <a:solidFill>
                  <a:srgbClr val="475569"/>
                </a:solidFill>
              </a:defRPr>
            </a:pPr>
            <a:r>
              <a:rPr sz="900" b="0">
                <a:solidFill>
                  <a:srgbClr val="475569"/>
                </a:solidFill>
              </a:rPr>
              <a:t>数据中台是横向基础设施层，不属于任何业务域，是所有域的共享底座。当前方案尚未决策（Q7），拓扑图中以虚线框标注。OA 作为流程协同层横向贯穿所有域。为保证口径严谨，主拓扑仅展示当前文档已确认的主链关系；接口边界和主写方尚未明确的关系，暂不在主图中直连表达。</a:t>
            </a:r>
          </a:p>
        </p:txBody>
      </p:sp>
      <p:sp>
        <p:nvSpPr>
          <p:cNvPr id="14" name="">
            <a:extLst xmlns:a="http://schemas.openxmlformats.org/drawingml/2006/main">
              <a:ext uri="{FF2B5EF4-FFF2-40B4-BE49-F238E27FC236}">
                <a16:creationId xmlns:a16="http://schemas.microsoft.com/office/drawing/2014/main" id="{35F7D3D4-F136-4A20-AF01-7055B6A49765}"/>
              </a:ext>
            </a:extLst>
          </p:cNvPr>
          <p:cNvSpPr>
            <a:spLocks xmlns:a="http://schemas.openxmlformats.org/drawingml/2006/main" noGrp="1"/>
          </p:cNvSpPr>
          <p:nvPr/>
        </p:nvSpPr>
        <p:spPr>
          <a:xfrm xmlns:a="http://schemas.openxmlformats.org/drawingml/2006/main">
            <a:off x="8724900" y="5353050"/>
            <a:ext cx="2571750" cy="800100"/>
          </a:xfrm>
          <a:prstGeom xmlns:a="http://schemas.openxmlformats.org/drawingml/2006/main" prst="roundRect">
            <a:avLst>
              <a:gd name="adj" fmla="val 9524"/>
            </a:avLst>
          </a:prstGeom>
          <a:solidFill xmlns:a="http://schemas.openxmlformats.org/drawingml/2006/main">
            <a:srgbClr val="ECFEFF"/>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B251FB63-2B39-4AA5-A31E-662E29246965}"/>
              </a:ext>
            </a:extLst>
          </p:cNvPr>
          <p:cNvSpPr>
            <a:spLocks xmlns:a="http://schemas.openxmlformats.org/drawingml/2006/main" noGrp="1"/>
          </p:cNvSpPr>
          <p:nvPr/>
        </p:nvSpPr>
        <p:spPr>
          <a:xfrm xmlns:a="http://schemas.openxmlformats.org/drawingml/2006/main">
            <a:off x="8724900" y="5353050"/>
            <a:ext cx="57150" cy="800100"/>
          </a:xfrm>
          <a:prstGeom xmlns:a="http://schemas.openxmlformats.org/drawingml/2006/main" prst="rect">
            <a:avLst/>
          </a:prstGeom>
          <a:solidFill xmlns:a="http://schemas.openxmlformats.org/drawingml/2006/main">
            <a:srgbClr val="0891B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6F40BD6-096A-407C-A121-9E08BA38C847}"/>
              </a:ext>
            </a:extLst>
          </p:cNvPr>
          <p:cNvSpPr>
            <a:spLocks xmlns:a="http://schemas.openxmlformats.org/drawingml/2006/main" noGrp="1"/>
          </p:cNvSpPr>
          <p:nvPr/>
        </p:nvSpPr>
        <p:spPr>
          <a:xfrm xmlns:a="http://schemas.openxmlformats.org/drawingml/2006/main">
            <a:off x="8896350" y="5467350"/>
            <a:ext cx="2228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125" b="1">
                <a:solidFill>
                  <a:srgbClr val="0891B2"/>
                </a:solidFill>
              </a:defRPr>
            </a:pPr>
            <a:r>
              <a:rPr sz="1125" b="1">
                <a:solidFill>
                  <a:srgbClr val="0891B2"/>
                </a:solidFill>
              </a:rPr>
              <a:t>读图口径</a:t>
            </a:r>
          </a:p>
        </p:txBody>
      </p:sp>
      <p:sp>
        <p:nvSpPr>
          <p:cNvPr id="17" name="">
            <a:extLst xmlns:a="http://schemas.openxmlformats.org/drawingml/2006/main">
              <a:ext uri="{FF2B5EF4-FFF2-40B4-BE49-F238E27FC236}">
                <a16:creationId xmlns:a16="http://schemas.microsoft.com/office/drawing/2014/main" id="{C3216FD1-ABB5-4BF6-9CC1-49B3CEA647BD}"/>
              </a:ext>
            </a:extLst>
          </p:cNvPr>
          <p:cNvSpPr>
            <a:spLocks xmlns:a="http://schemas.openxmlformats.org/drawingml/2006/main" noGrp="1"/>
          </p:cNvSpPr>
          <p:nvPr/>
        </p:nvSpPr>
        <p:spPr>
          <a:xfrm xmlns:a="http://schemas.openxmlformats.org/drawingml/2006/main">
            <a:off x="8896350" y="5734050"/>
            <a:ext cx="22288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00" b="0">
                <a:solidFill>
                  <a:srgbClr val="475569"/>
                </a:solidFill>
              </a:defRPr>
            </a:pPr>
            <a:r>
              <a:rPr sz="900" b="0">
                <a:solidFill>
                  <a:srgbClr val="475569"/>
                </a:solidFill>
              </a:rPr>
              <a:t>主图只表达当前已确认主链关系；边界和主写方未明确的关系暂不直连。</a:t>
            </a:r>
          </a:p>
        </p:txBody>
      </p:sp>
      <p:sp>
        <p:nvSpPr>
          <p:cNvPr id="18" name="">
            <a:extLst xmlns:a="http://schemas.openxmlformats.org/drawingml/2006/main">
              <a:ext uri="{FF2B5EF4-FFF2-40B4-BE49-F238E27FC236}">
                <a16:creationId xmlns:a16="http://schemas.microsoft.com/office/drawing/2014/main" id="{6B28425D-4DF4-4B50-A586-F4514740F496}"/>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09 / 29</a:t>
            </a:r>
          </a:p>
        </p:txBody>
      </p:sp>
    </p:spTree>
    <p:extLst>
      <p:ext uri="{BB962C8B-B14F-4D97-AF65-F5344CB8AC3E}">
        <p14:creationId xmlns:p14="http://schemas.microsoft.com/office/powerpoint/2010/main" val="1445160069"/>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8FB7F4FC-C014-4304-A13F-62EA6B472C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044E300-7B1A-42B5-9172-179A1B70AFD5}"/>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E88E3F4A-731E-4C57-9976-510DEA53BE9F}"/>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4977ADD-FFF2-4BDA-B516-4EBA399C4467}"/>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02.2 四大集成域</a:t>
            </a:r>
          </a:p>
        </p:txBody>
      </p:sp>
      <p:sp>
        <p:nvSpPr>
          <p:cNvPr id="6" name="">
            <a:extLst xmlns:a="http://schemas.openxmlformats.org/drawingml/2006/main">
              <a:ext uri="{FF2B5EF4-FFF2-40B4-BE49-F238E27FC236}">
                <a16:creationId xmlns:a16="http://schemas.microsoft.com/office/drawing/2014/main" id="{DE5E4A49-90D5-418D-8F08-02BE5FFCB992}"/>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A7A8113A-843F-4E78-8D3A-6419717C51EE}"/>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四大集成域</a:t>
            </a:r>
          </a:p>
        </p:txBody>
      </p:sp>
      <p:sp>
        <p:nvSpPr>
          <p:cNvPr id="8" name="">
            <a:extLst xmlns:a="http://schemas.openxmlformats.org/drawingml/2006/main">
              <a:ext uri="{FF2B5EF4-FFF2-40B4-BE49-F238E27FC236}">
                <a16:creationId xmlns:a16="http://schemas.microsoft.com/office/drawing/2014/main" id="{359D8517-51CF-4C00-9C64-2E39E6B0728F}"/>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研发域 · 采购域 · 制造域 · 质量域</a:t>
            </a:r>
          </a:p>
        </p:txBody>
      </p:sp>
      <p:sp>
        <p:nvSpPr>
          <p:cNvPr id="9" name="">
            <a:extLst xmlns:a="http://schemas.openxmlformats.org/drawingml/2006/main">
              <a:ext uri="{FF2B5EF4-FFF2-40B4-BE49-F238E27FC236}">
                <a16:creationId xmlns:a16="http://schemas.microsoft.com/office/drawing/2014/main" id="{08F4EA15-E2A1-4073-91AE-00EF7B60C7E6}"/>
              </a:ext>
            </a:extLst>
          </p:cNvPr>
          <p:cNvSpPr>
            <a:spLocks xmlns:a="http://schemas.openxmlformats.org/drawingml/2006/main" noGrp="1"/>
          </p:cNvSpPr>
          <p:nvPr/>
        </p:nvSpPr>
        <p:spPr>
          <a:xfrm xmlns:a="http://schemas.openxmlformats.org/drawingml/2006/main">
            <a:off x="552450" y="1790700"/>
            <a:ext cx="4953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18E91DEB-4842-48E4-82FD-090911D2644C}"/>
              </a:ext>
            </a:extLst>
          </p:cNvPr>
          <p:cNvSpPr>
            <a:spLocks xmlns:a="http://schemas.openxmlformats.org/drawingml/2006/main" noGrp="1"/>
          </p:cNvSpPr>
          <p:nvPr/>
        </p:nvSpPr>
        <p:spPr>
          <a:xfrm xmlns:a="http://schemas.openxmlformats.org/drawingml/2006/main">
            <a:off x="552450" y="1790700"/>
            <a:ext cx="47625" cy="1257300"/>
          </a:xfrm>
          <a:prstGeom xmlns:a="http://schemas.openxmlformats.org/drawingml/2006/main" prst="rect">
            <a:avLst/>
          </a:prstGeom>
          <a:solidFill xmlns:a="http://schemas.openxmlformats.org/drawingml/2006/main">
            <a:srgbClr val="7C3AED"/>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856B4E37-D98A-4038-83E5-DAC33368EF9F}"/>
              </a:ext>
            </a:extLst>
          </p:cNvPr>
          <p:cNvSpPr>
            <a:spLocks xmlns:a="http://schemas.openxmlformats.org/drawingml/2006/main" noGrp="1"/>
          </p:cNvSpPr>
          <p:nvPr/>
        </p:nvSpPr>
        <p:spPr>
          <a:xfrm xmlns:a="http://schemas.openxmlformats.org/drawingml/2006/main">
            <a:off x="723900" y="1924050"/>
            <a:ext cx="4629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研发域</a:t>
            </a:r>
          </a:p>
        </p:txBody>
      </p:sp>
      <p:sp>
        <p:nvSpPr>
          <p:cNvPr id="12" name="">
            <a:extLst xmlns:a="http://schemas.openxmlformats.org/drawingml/2006/main">
              <a:ext uri="{FF2B5EF4-FFF2-40B4-BE49-F238E27FC236}">
                <a16:creationId xmlns:a16="http://schemas.microsoft.com/office/drawing/2014/main" id="{B969C14E-35A1-4E9F-AAF6-17DFEEB2DF60}"/>
              </a:ext>
            </a:extLst>
          </p:cNvPr>
          <p:cNvSpPr>
            <a:spLocks xmlns:a="http://schemas.openxmlformats.org/drawingml/2006/main" noGrp="1"/>
          </p:cNvSpPr>
          <p:nvPr/>
        </p:nvSpPr>
        <p:spPr>
          <a:xfrm xmlns:a="http://schemas.openxmlformats.org/drawingml/2006/main">
            <a:off x="723900" y="2266950"/>
            <a:ext cx="4629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PLM → PDM → CAPP / ERP-PP</a:t>
            </a:r>
          </a:p>
          <a:p xmlns:a="http://schemas.openxmlformats.org/drawingml/2006/main">
            <a:pPr algn="l">
              <a:defRPr sz="975" b="0">
                <a:solidFill>
                  <a:srgbClr val="475569"/>
                </a:solidFill>
              </a:defRPr>
            </a:pPr>
            <a:r>
              <a:rPr sz="975" b="0">
                <a:solidFill>
                  <a:srgbClr val="475569"/>
                </a:solidFill>
              </a:rPr>
              <a:t>EBOM、MBD、ECO、受控发布驱动工艺与计划。</a:t>
            </a:r>
          </a:p>
        </p:txBody>
      </p:sp>
      <p:sp>
        <p:nvSpPr>
          <p:cNvPr id="13" name="">
            <a:extLst xmlns:a="http://schemas.openxmlformats.org/drawingml/2006/main">
              <a:ext uri="{FF2B5EF4-FFF2-40B4-BE49-F238E27FC236}">
                <a16:creationId xmlns:a16="http://schemas.microsoft.com/office/drawing/2014/main" id="{CAEA9FB7-6370-45DB-B780-62B941D2B3C8}"/>
              </a:ext>
            </a:extLst>
          </p:cNvPr>
          <p:cNvSpPr>
            <a:spLocks xmlns:a="http://schemas.openxmlformats.org/drawingml/2006/main" noGrp="1"/>
          </p:cNvSpPr>
          <p:nvPr/>
        </p:nvSpPr>
        <p:spPr>
          <a:xfrm xmlns:a="http://schemas.openxmlformats.org/drawingml/2006/main">
            <a:off x="6000750" y="1790700"/>
            <a:ext cx="4953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955942E6-A2C7-47EA-B730-FD9394B2B5A0}"/>
              </a:ext>
            </a:extLst>
          </p:cNvPr>
          <p:cNvSpPr>
            <a:spLocks xmlns:a="http://schemas.openxmlformats.org/drawingml/2006/main" noGrp="1"/>
          </p:cNvSpPr>
          <p:nvPr/>
        </p:nvSpPr>
        <p:spPr>
          <a:xfrm xmlns:a="http://schemas.openxmlformats.org/drawingml/2006/main">
            <a:off x="6000750" y="1790700"/>
            <a:ext cx="47625" cy="125730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EAC56DE1-B517-43BB-B519-32D2CD23B758}"/>
              </a:ext>
            </a:extLst>
          </p:cNvPr>
          <p:cNvSpPr>
            <a:spLocks xmlns:a="http://schemas.openxmlformats.org/drawingml/2006/main" noGrp="1"/>
          </p:cNvSpPr>
          <p:nvPr/>
        </p:nvSpPr>
        <p:spPr>
          <a:xfrm xmlns:a="http://schemas.openxmlformats.org/drawingml/2006/main">
            <a:off x="6172200" y="1924050"/>
            <a:ext cx="4629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采购域</a:t>
            </a:r>
          </a:p>
        </p:txBody>
      </p:sp>
      <p:sp>
        <p:nvSpPr>
          <p:cNvPr id="16" name="">
            <a:extLst xmlns:a="http://schemas.openxmlformats.org/drawingml/2006/main">
              <a:ext uri="{FF2B5EF4-FFF2-40B4-BE49-F238E27FC236}">
                <a16:creationId xmlns:a16="http://schemas.microsoft.com/office/drawing/2014/main" id="{87085325-FA1D-4E2B-847D-8690555A9A6F}"/>
              </a:ext>
            </a:extLst>
          </p:cNvPr>
          <p:cNvSpPr>
            <a:spLocks xmlns:a="http://schemas.openxmlformats.org/drawingml/2006/main" noGrp="1"/>
          </p:cNvSpPr>
          <p:nvPr/>
        </p:nvSpPr>
        <p:spPr>
          <a:xfrm xmlns:a="http://schemas.openxmlformats.org/drawingml/2006/main">
            <a:off x="6172200" y="2266950"/>
            <a:ext cx="4629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ERP-MM → SCIM → 合同 → WMS → MES</a:t>
            </a:r>
          </a:p>
          <a:p xmlns:a="http://schemas.openxmlformats.org/drawingml/2006/main">
            <a:pPr algn="l">
              <a:defRPr sz="975" b="0">
                <a:solidFill>
                  <a:srgbClr val="475569"/>
                </a:solidFill>
              </a:defRPr>
            </a:pPr>
            <a:r>
              <a:rPr sz="975" b="0">
                <a:solidFill>
                  <a:srgbClr val="475569"/>
                </a:solidFill>
              </a:rPr>
              <a:t>采购需求、供应商协同、合同、库存和领料串联。</a:t>
            </a:r>
          </a:p>
        </p:txBody>
      </p:sp>
      <p:sp>
        <p:nvSpPr>
          <p:cNvPr id="17" name="">
            <a:extLst xmlns:a="http://schemas.openxmlformats.org/drawingml/2006/main">
              <a:ext uri="{FF2B5EF4-FFF2-40B4-BE49-F238E27FC236}">
                <a16:creationId xmlns:a16="http://schemas.microsoft.com/office/drawing/2014/main" id="{E58E26B5-FB9E-47EC-A2E5-1EDB5C14BAA6}"/>
              </a:ext>
            </a:extLst>
          </p:cNvPr>
          <p:cNvSpPr>
            <a:spLocks xmlns:a="http://schemas.openxmlformats.org/drawingml/2006/main" noGrp="1"/>
          </p:cNvSpPr>
          <p:nvPr/>
        </p:nvSpPr>
        <p:spPr>
          <a:xfrm xmlns:a="http://schemas.openxmlformats.org/drawingml/2006/main">
            <a:off x="552450" y="3448050"/>
            <a:ext cx="4953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03FDA710-28C2-4EB7-8D56-ACB626C93582}"/>
              </a:ext>
            </a:extLst>
          </p:cNvPr>
          <p:cNvSpPr>
            <a:spLocks xmlns:a="http://schemas.openxmlformats.org/drawingml/2006/main" noGrp="1"/>
          </p:cNvSpPr>
          <p:nvPr/>
        </p:nvSpPr>
        <p:spPr>
          <a:xfrm xmlns:a="http://schemas.openxmlformats.org/drawingml/2006/main">
            <a:off x="552450" y="3448050"/>
            <a:ext cx="47625" cy="125730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60EF14EB-F9D2-4B5B-B92C-B4B500FB5B46}"/>
              </a:ext>
            </a:extLst>
          </p:cNvPr>
          <p:cNvSpPr>
            <a:spLocks xmlns:a="http://schemas.openxmlformats.org/drawingml/2006/main" noGrp="1"/>
          </p:cNvSpPr>
          <p:nvPr/>
        </p:nvSpPr>
        <p:spPr>
          <a:xfrm xmlns:a="http://schemas.openxmlformats.org/drawingml/2006/main">
            <a:off x="723900" y="3581400"/>
            <a:ext cx="4629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制造域</a:t>
            </a:r>
          </a:p>
        </p:txBody>
      </p:sp>
      <p:sp>
        <p:nvSpPr>
          <p:cNvPr id="20" name="">
            <a:extLst xmlns:a="http://schemas.openxmlformats.org/drawingml/2006/main">
              <a:ext uri="{FF2B5EF4-FFF2-40B4-BE49-F238E27FC236}">
                <a16:creationId xmlns:a16="http://schemas.microsoft.com/office/drawing/2014/main" id="{2EF18AD8-BE4E-4514-BE0D-185534A5B5CA}"/>
              </a:ext>
            </a:extLst>
          </p:cNvPr>
          <p:cNvSpPr>
            <a:spLocks xmlns:a="http://schemas.openxmlformats.org/drawingml/2006/main" noGrp="1"/>
          </p:cNvSpPr>
          <p:nvPr/>
        </p:nvSpPr>
        <p:spPr>
          <a:xfrm xmlns:a="http://schemas.openxmlformats.org/drawingml/2006/main">
            <a:off x="723900" y="3924300"/>
            <a:ext cx="4629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ERP-PP ⇄ MES ⇄ ERP-CO/FI</a:t>
            </a:r>
          </a:p>
          <a:p xmlns:a="http://schemas.openxmlformats.org/drawingml/2006/main">
            <a:pPr algn="l">
              <a:defRPr sz="975" b="0">
                <a:solidFill>
                  <a:srgbClr val="475569"/>
                </a:solidFill>
              </a:defRPr>
            </a:pPr>
            <a:r>
              <a:rPr sz="975" b="0">
                <a:solidFill>
                  <a:srgbClr val="475569"/>
                </a:solidFill>
              </a:rPr>
              <a:t>订单下达、排产执行、完工反馈、工时成本闭环。</a:t>
            </a:r>
          </a:p>
        </p:txBody>
      </p:sp>
      <p:sp>
        <p:nvSpPr>
          <p:cNvPr id="21" name="">
            <a:extLst xmlns:a="http://schemas.openxmlformats.org/drawingml/2006/main">
              <a:ext uri="{FF2B5EF4-FFF2-40B4-BE49-F238E27FC236}">
                <a16:creationId xmlns:a16="http://schemas.microsoft.com/office/drawing/2014/main" id="{18E6EEB4-57B8-464D-B033-373F1605987A}"/>
              </a:ext>
            </a:extLst>
          </p:cNvPr>
          <p:cNvSpPr>
            <a:spLocks xmlns:a="http://schemas.openxmlformats.org/drawingml/2006/main" noGrp="1"/>
          </p:cNvSpPr>
          <p:nvPr/>
        </p:nvSpPr>
        <p:spPr>
          <a:xfrm xmlns:a="http://schemas.openxmlformats.org/drawingml/2006/main">
            <a:off x="6000750" y="3448050"/>
            <a:ext cx="4953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62F0071D-23E3-4DAF-9321-66A20B15A32E}"/>
              </a:ext>
            </a:extLst>
          </p:cNvPr>
          <p:cNvSpPr>
            <a:spLocks xmlns:a="http://schemas.openxmlformats.org/drawingml/2006/main" noGrp="1"/>
          </p:cNvSpPr>
          <p:nvPr/>
        </p:nvSpPr>
        <p:spPr>
          <a:xfrm xmlns:a="http://schemas.openxmlformats.org/drawingml/2006/main">
            <a:off x="6000750" y="3448050"/>
            <a:ext cx="47625" cy="12573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F2D2E5F4-1BA8-4D12-A408-41CC3850C724}"/>
              </a:ext>
            </a:extLst>
          </p:cNvPr>
          <p:cNvSpPr>
            <a:spLocks xmlns:a="http://schemas.openxmlformats.org/drawingml/2006/main" noGrp="1"/>
          </p:cNvSpPr>
          <p:nvPr/>
        </p:nvSpPr>
        <p:spPr>
          <a:xfrm xmlns:a="http://schemas.openxmlformats.org/drawingml/2006/main">
            <a:off x="6172200" y="3581400"/>
            <a:ext cx="4629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质量域</a:t>
            </a:r>
          </a:p>
        </p:txBody>
      </p:sp>
      <p:sp>
        <p:nvSpPr>
          <p:cNvPr id="24" name="">
            <a:extLst xmlns:a="http://schemas.openxmlformats.org/drawingml/2006/main">
              <a:ext uri="{FF2B5EF4-FFF2-40B4-BE49-F238E27FC236}">
                <a16:creationId xmlns:a16="http://schemas.microsoft.com/office/drawing/2014/main" id="{DE32BF2A-5B33-44C3-996F-FE15FC19F653}"/>
              </a:ext>
            </a:extLst>
          </p:cNvPr>
          <p:cNvSpPr>
            <a:spLocks xmlns:a="http://schemas.openxmlformats.org/drawingml/2006/main" noGrp="1"/>
          </p:cNvSpPr>
          <p:nvPr/>
        </p:nvSpPr>
        <p:spPr>
          <a:xfrm xmlns:a="http://schemas.openxmlformats.org/drawingml/2006/main">
            <a:off x="6172200" y="3924300"/>
            <a:ext cx="4629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研发 → 采购 → 制造 → 交付</a:t>
            </a:r>
          </a:p>
          <a:p xmlns:a="http://schemas.openxmlformats.org/drawingml/2006/main">
            <a:pPr algn="l">
              <a:defRPr sz="975" b="0">
                <a:solidFill>
                  <a:srgbClr val="475569"/>
                </a:solidFill>
              </a:defRPr>
            </a:pPr>
            <a:r>
              <a:rPr sz="975" b="0">
                <a:solidFill>
                  <a:srgbClr val="475569"/>
                </a:solidFill>
              </a:rPr>
              <a:t>质量文件、FAI、NDT、适航符合性贯穿全域。</a:t>
            </a:r>
          </a:p>
        </p:txBody>
      </p:sp>
      <p:sp>
        <p:nvSpPr>
          <p:cNvPr id="25" name="">
            <a:extLst xmlns:a="http://schemas.openxmlformats.org/drawingml/2006/main">
              <a:ext uri="{FF2B5EF4-FFF2-40B4-BE49-F238E27FC236}">
                <a16:creationId xmlns:a16="http://schemas.microsoft.com/office/drawing/2014/main" id="{06BE3B82-2398-42DF-B544-1DDB7A222C72}"/>
              </a:ext>
            </a:extLst>
          </p:cNvPr>
          <p:cNvSpPr>
            <a:spLocks xmlns:a="http://schemas.openxmlformats.org/drawingml/2006/main" noGrp="1"/>
          </p:cNvSpPr>
          <p:nvPr/>
        </p:nvSpPr>
        <p:spPr>
          <a:xfrm xmlns:a="http://schemas.openxmlformats.org/drawingml/2006/main">
            <a:off x="552450" y="6286500"/>
            <a:ext cx="4953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98304"/>
          </a:bodyPr>
          <a:lstStyle xmlns:a="http://schemas.openxmlformats.org/drawingml/2006/main"/>
          <a:p xmlns:a="http://schemas.openxmlformats.org/drawingml/2006/main">
            <a:pPr algn="l">
              <a:defRPr sz="750" b="0">
                <a:solidFill>
                  <a:srgbClr val="64748B"/>
                </a:solidFill>
              </a:defRPr>
            </a:pPr>
            <a:r>
              <a:rPr sz="750" b="0">
                <a:solidFill>
                  <a:srgbClr val="64748B"/>
                </a:solidFill>
              </a:rPr>
              <a:t>差异表用于提示后续 EBOM→MBOM 与追溯规则的预审重点。</a:t>
            </a:r>
          </a:p>
        </p:txBody>
      </p:sp>
      <p:sp>
        <p:nvSpPr>
          <p:cNvPr id="26" name="">
            <a:extLst xmlns:a="http://schemas.openxmlformats.org/drawingml/2006/main">
              <a:ext uri="{FF2B5EF4-FFF2-40B4-BE49-F238E27FC236}">
                <a16:creationId xmlns:a16="http://schemas.microsoft.com/office/drawing/2014/main" id="{A4B34BDA-DA4A-4BAF-A5FA-6A6CF4887C91}"/>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10 / 29</a:t>
            </a:r>
          </a:p>
        </p:txBody>
      </p:sp>
    </p:spTree>
    <p:extLst>
      <p:ext uri="{BB962C8B-B14F-4D97-AF65-F5344CB8AC3E}">
        <p14:creationId xmlns:p14="http://schemas.microsoft.com/office/powerpoint/2010/main" val="63553814"/>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6B9F3B0D-E32D-4A09-9D69-CEACA74960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43F409F-5964-4A90-8F35-CE193944CDC6}"/>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68D8CC2-D7F0-4D51-8E40-9EFDFA1DB1D1}"/>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4210107-7316-48C7-9F95-6E185F03239A}"/>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02.3 研发域</a:t>
            </a:r>
          </a:p>
        </p:txBody>
      </p:sp>
      <p:sp>
        <p:nvSpPr>
          <p:cNvPr id="6" name="">
            <a:extLst xmlns:a="http://schemas.openxmlformats.org/drawingml/2006/main">
              <a:ext uri="{FF2B5EF4-FFF2-40B4-BE49-F238E27FC236}">
                <a16:creationId xmlns:a16="http://schemas.microsoft.com/office/drawing/2014/main" id="{D4FAD508-6BB4-4114-9CA8-A1369BB483D9}"/>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4BA663FD-C93F-4DD1-AB83-ED2FC40ED860}"/>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PLM → PDM → CAPP / ERP-PP</a:t>
            </a:r>
          </a:p>
        </p:txBody>
      </p:sp>
      <p:sp>
        <p:nvSpPr>
          <p:cNvPr id="8" name="">
            <a:extLst xmlns:a="http://schemas.openxmlformats.org/drawingml/2006/main">
              <a:ext uri="{FF2B5EF4-FFF2-40B4-BE49-F238E27FC236}">
                <a16:creationId xmlns:a16="http://schemas.microsoft.com/office/drawing/2014/main" id="{2557F7B5-43A8-428A-9485-8DA3AD96A575}"/>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EBOM、MBD、ECO、受控发布驱动工艺与计划</a:t>
            </a:r>
          </a:p>
        </p:txBody>
      </p:sp>
      <p:sp>
        <p:nvSpPr>
          <p:cNvPr id="9" name="">
            <a:extLst xmlns:a="http://schemas.openxmlformats.org/drawingml/2006/main">
              <a:ext uri="{FF2B5EF4-FFF2-40B4-BE49-F238E27FC236}">
                <a16:creationId xmlns:a16="http://schemas.microsoft.com/office/drawing/2014/main" id="{BDAB799B-D173-4F81-833C-70EBB36CB366}"/>
              </a:ext>
            </a:extLst>
          </p:cNvPr>
          <p:cNvSpPr>
            <a:spLocks xmlns:a="http://schemas.openxmlformats.org/drawingml/2006/main" noGrp="1"/>
          </p:cNvSpPr>
          <p:nvPr/>
        </p:nvSpPr>
        <p:spPr>
          <a:xfrm xmlns:a="http://schemas.openxmlformats.org/drawingml/2006/main">
            <a:off x="590550" y="1771650"/>
            <a:ext cx="4857750" cy="871538"/>
          </a:xfrm>
          <a:prstGeom xmlns:a="http://schemas.openxmlformats.org/drawingml/2006/main" prst="roundRect">
            <a:avLst>
              <a:gd name="adj" fmla="val 874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5D5F5200-849E-4701-826D-43F48FC2353D}"/>
              </a:ext>
            </a:extLst>
          </p:cNvPr>
          <p:cNvSpPr>
            <a:spLocks xmlns:a="http://schemas.openxmlformats.org/drawingml/2006/main" noGrp="1"/>
          </p:cNvSpPr>
          <p:nvPr/>
        </p:nvSpPr>
        <p:spPr>
          <a:xfrm xmlns:a="http://schemas.openxmlformats.org/drawingml/2006/main">
            <a:off x="742950" y="1914525"/>
            <a:ext cx="285750" cy="285750"/>
          </a:xfrm>
          <a:prstGeom xmlns:a="http://schemas.openxmlformats.org/drawingml/2006/main" prst="ellipse">
            <a:avLst/>
          </a:prstGeom>
          <a:solidFill xmlns:a="http://schemas.openxmlformats.org/drawingml/2006/main">
            <a:srgbClr val="7C3AED"/>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2F70735C-D662-4148-8182-B486F91CF6E6}"/>
              </a:ext>
            </a:extLst>
          </p:cNvPr>
          <p:cNvSpPr>
            <a:spLocks xmlns:a="http://schemas.openxmlformats.org/drawingml/2006/main" noGrp="1"/>
          </p:cNvSpPr>
          <p:nvPr/>
        </p:nvSpPr>
        <p:spPr>
          <a:xfrm xmlns:a="http://schemas.openxmlformats.org/drawingml/2006/main">
            <a:off x="742950" y="1952625"/>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825" b="1">
                <a:solidFill>
                  <a:srgbClr val="FFFFFF"/>
                </a:solidFill>
              </a:defRPr>
            </a:pPr>
            <a:r>
              <a:rPr sz="825" b="1">
                <a:solidFill>
                  <a:srgbClr val="FFFFFF"/>
                </a:solidFill>
              </a:rPr>
              <a:t>1</a:t>
            </a:r>
          </a:p>
        </p:txBody>
      </p:sp>
      <p:sp>
        <p:nvSpPr>
          <p:cNvPr id="12" name="">
            <a:extLst xmlns:a="http://schemas.openxmlformats.org/drawingml/2006/main">
              <a:ext uri="{FF2B5EF4-FFF2-40B4-BE49-F238E27FC236}">
                <a16:creationId xmlns:a16="http://schemas.microsoft.com/office/drawing/2014/main" id="{2571076D-0236-412C-807F-AAD5966F5F10}"/>
              </a:ext>
            </a:extLst>
          </p:cNvPr>
          <p:cNvSpPr>
            <a:spLocks xmlns:a="http://schemas.openxmlformats.org/drawingml/2006/main" noGrp="1"/>
          </p:cNvSpPr>
          <p:nvPr/>
        </p:nvSpPr>
        <p:spPr>
          <a:xfrm xmlns:a="http://schemas.openxmlformats.org/drawingml/2006/main">
            <a:off x="1143000" y="1885950"/>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PLM — 工程发布</a:t>
            </a:r>
          </a:p>
        </p:txBody>
      </p:sp>
      <p:sp>
        <p:nvSpPr>
          <p:cNvPr id="13" name="">
            <a:extLst xmlns:a="http://schemas.openxmlformats.org/drawingml/2006/main">
              <a:ext uri="{FF2B5EF4-FFF2-40B4-BE49-F238E27FC236}">
                <a16:creationId xmlns:a16="http://schemas.microsoft.com/office/drawing/2014/main" id="{4B016EEC-F1AF-4BA6-A8DC-9119CC71F567}"/>
              </a:ext>
            </a:extLst>
          </p:cNvPr>
          <p:cNvSpPr>
            <a:spLocks xmlns:a="http://schemas.openxmlformats.org/drawingml/2006/main" noGrp="1"/>
          </p:cNvSpPr>
          <p:nvPr/>
        </p:nvSpPr>
        <p:spPr>
          <a:xfrm xmlns:a="http://schemas.openxmlformats.org/drawingml/2006/main">
            <a:off x="1143000" y="2133600"/>
            <a:ext cx="4152900" cy="4524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输出 EBOM 结构、铺层顺序、材料规范号、固化工艺规范、NDT 检测规范、三维 MBD 模型和虚拟件标记。</a:t>
            </a:r>
          </a:p>
        </p:txBody>
      </p:sp>
      <p:sp>
        <p:nvSpPr>
          <p:cNvPr id="14" name="">
            <a:extLst xmlns:a="http://schemas.openxmlformats.org/drawingml/2006/main">
              <a:ext uri="{FF2B5EF4-FFF2-40B4-BE49-F238E27FC236}">
                <a16:creationId xmlns:a16="http://schemas.microsoft.com/office/drawing/2014/main" id="{B1F85513-C2CD-40F0-AF2A-13692CA779E3}"/>
              </a:ext>
            </a:extLst>
          </p:cNvPr>
          <p:cNvSpPr>
            <a:spLocks xmlns:a="http://schemas.openxmlformats.org/drawingml/2006/main" noGrp="1"/>
          </p:cNvSpPr>
          <p:nvPr/>
        </p:nvSpPr>
        <p:spPr>
          <a:xfrm xmlns:a="http://schemas.openxmlformats.org/drawingml/2006/main">
            <a:off x="876300" y="2652713"/>
            <a:ext cx="28575" cy="95250"/>
          </a:xfrm>
          <a:prstGeom xmlns:a="http://schemas.openxmlformats.org/drawingml/2006/main" prst="rect">
            <a:avLst/>
          </a:prstGeom>
          <a:solidFill xmlns:a="http://schemas.openxmlformats.org/drawingml/2006/main">
            <a:srgbClr val="7C3AE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34B65086-3950-46E9-B361-B0DDF6C6781B}"/>
              </a:ext>
            </a:extLst>
          </p:cNvPr>
          <p:cNvSpPr>
            <a:spLocks xmlns:a="http://schemas.openxmlformats.org/drawingml/2006/main" noGrp="1"/>
          </p:cNvSpPr>
          <p:nvPr/>
        </p:nvSpPr>
        <p:spPr>
          <a:xfrm xmlns:a="http://schemas.openxmlformats.org/drawingml/2006/main">
            <a:off x="590550" y="2757488"/>
            <a:ext cx="4857750" cy="871538"/>
          </a:xfrm>
          <a:prstGeom xmlns:a="http://schemas.openxmlformats.org/drawingml/2006/main" prst="roundRect">
            <a:avLst>
              <a:gd name="adj" fmla="val 8743"/>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7D08424E-B52B-4035-AED2-36391A7635D8}"/>
              </a:ext>
            </a:extLst>
          </p:cNvPr>
          <p:cNvSpPr>
            <a:spLocks xmlns:a="http://schemas.openxmlformats.org/drawingml/2006/main" noGrp="1"/>
          </p:cNvSpPr>
          <p:nvPr/>
        </p:nvSpPr>
        <p:spPr>
          <a:xfrm xmlns:a="http://schemas.openxmlformats.org/drawingml/2006/main">
            <a:off x="742950" y="2900363"/>
            <a:ext cx="285750" cy="285750"/>
          </a:xfrm>
          <a:prstGeom xmlns:a="http://schemas.openxmlformats.org/drawingml/2006/main" prst="ellipse">
            <a:avLst/>
          </a:prstGeom>
          <a:solidFill xmlns:a="http://schemas.openxmlformats.org/drawingml/2006/main">
            <a:srgbClr val="0891B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E7F1FB5B-4850-4C94-8568-E7F291F8D3B1}"/>
              </a:ext>
            </a:extLst>
          </p:cNvPr>
          <p:cNvSpPr>
            <a:spLocks xmlns:a="http://schemas.openxmlformats.org/drawingml/2006/main" noGrp="1"/>
          </p:cNvSpPr>
          <p:nvPr/>
        </p:nvSpPr>
        <p:spPr>
          <a:xfrm xmlns:a="http://schemas.openxmlformats.org/drawingml/2006/main">
            <a:off x="742950" y="2938463"/>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825" b="1">
                <a:solidFill>
                  <a:srgbClr val="FFFFFF"/>
                </a:solidFill>
              </a:defRPr>
            </a:pPr>
            <a:r>
              <a:rPr sz="825" b="1">
                <a:solidFill>
                  <a:srgbClr val="FFFFFF"/>
                </a:solidFill>
              </a:rPr>
              <a:t>2</a:t>
            </a:r>
          </a:p>
        </p:txBody>
      </p:sp>
      <p:sp>
        <p:nvSpPr>
          <p:cNvPr id="18" name="">
            <a:extLst xmlns:a="http://schemas.openxmlformats.org/drawingml/2006/main">
              <a:ext uri="{FF2B5EF4-FFF2-40B4-BE49-F238E27FC236}">
                <a16:creationId xmlns:a16="http://schemas.microsoft.com/office/drawing/2014/main" id="{2CB36A5B-C2A6-4314-AA18-3A760EFDED2D}"/>
              </a:ext>
            </a:extLst>
          </p:cNvPr>
          <p:cNvSpPr>
            <a:spLocks xmlns:a="http://schemas.openxmlformats.org/drawingml/2006/main" noGrp="1"/>
          </p:cNvSpPr>
          <p:nvPr/>
        </p:nvSpPr>
        <p:spPr>
          <a:xfrm xmlns:a="http://schemas.openxmlformats.org/drawingml/2006/main">
            <a:off x="1143000" y="2871788"/>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PDM — 受控 BOM 管理</a:t>
            </a:r>
          </a:p>
        </p:txBody>
      </p:sp>
      <p:sp>
        <p:nvSpPr>
          <p:cNvPr id="19" name="">
            <a:extLst xmlns:a="http://schemas.openxmlformats.org/drawingml/2006/main">
              <a:ext uri="{FF2B5EF4-FFF2-40B4-BE49-F238E27FC236}">
                <a16:creationId xmlns:a16="http://schemas.microsoft.com/office/drawing/2014/main" id="{1F713384-FDE7-4358-AAC1-8A3050DE1919}"/>
              </a:ext>
            </a:extLst>
          </p:cNvPr>
          <p:cNvSpPr>
            <a:spLocks xmlns:a="http://schemas.openxmlformats.org/drawingml/2006/main" noGrp="1"/>
          </p:cNvSpPr>
          <p:nvPr/>
        </p:nvSpPr>
        <p:spPr>
          <a:xfrm xmlns:a="http://schemas.openxmlformats.org/drawingml/2006/main">
            <a:off x="1143000" y="3119438"/>
            <a:ext cx="4152900" cy="4524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过滤虚拟件、版本锁定、受控发布；同时推送 CAPP 和 ERP-PP，质量文件归档受控。</a:t>
            </a:r>
          </a:p>
        </p:txBody>
      </p:sp>
      <p:sp>
        <p:nvSpPr>
          <p:cNvPr id="20" name="">
            <a:extLst xmlns:a="http://schemas.openxmlformats.org/drawingml/2006/main">
              <a:ext uri="{FF2B5EF4-FFF2-40B4-BE49-F238E27FC236}">
                <a16:creationId xmlns:a16="http://schemas.microsoft.com/office/drawing/2014/main" id="{A6706988-6995-4A91-AEB8-88F149791BF4}"/>
              </a:ext>
            </a:extLst>
          </p:cNvPr>
          <p:cNvSpPr>
            <a:spLocks xmlns:a="http://schemas.openxmlformats.org/drawingml/2006/main" noGrp="1"/>
          </p:cNvSpPr>
          <p:nvPr/>
        </p:nvSpPr>
        <p:spPr>
          <a:xfrm xmlns:a="http://schemas.openxmlformats.org/drawingml/2006/main">
            <a:off x="876300" y="3638550"/>
            <a:ext cx="28575" cy="95250"/>
          </a:xfrm>
          <a:prstGeom xmlns:a="http://schemas.openxmlformats.org/drawingml/2006/main" prst="rect">
            <a:avLst/>
          </a:prstGeom>
          <a:solidFill xmlns:a="http://schemas.openxmlformats.org/drawingml/2006/main">
            <a:srgbClr val="0891B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D8F726B0-E639-4357-B1E3-1FA5156C79C7}"/>
              </a:ext>
            </a:extLst>
          </p:cNvPr>
          <p:cNvSpPr>
            <a:spLocks xmlns:a="http://schemas.openxmlformats.org/drawingml/2006/main" noGrp="1"/>
          </p:cNvSpPr>
          <p:nvPr/>
        </p:nvSpPr>
        <p:spPr>
          <a:xfrm xmlns:a="http://schemas.openxmlformats.org/drawingml/2006/main">
            <a:off x="590550" y="3743325"/>
            <a:ext cx="4857750" cy="871538"/>
          </a:xfrm>
          <a:prstGeom xmlns:a="http://schemas.openxmlformats.org/drawingml/2006/main" prst="roundRect">
            <a:avLst>
              <a:gd name="adj" fmla="val 8743"/>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010B4DCC-60B5-4493-A86C-944FD38F2656}"/>
              </a:ext>
            </a:extLst>
          </p:cNvPr>
          <p:cNvSpPr>
            <a:spLocks xmlns:a="http://schemas.openxmlformats.org/drawingml/2006/main" noGrp="1"/>
          </p:cNvSpPr>
          <p:nvPr/>
        </p:nvSpPr>
        <p:spPr>
          <a:xfrm xmlns:a="http://schemas.openxmlformats.org/drawingml/2006/main">
            <a:off x="742950" y="3886200"/>
            <a:ext cx="285750" cy="285750"/>
          </a:xfrm>
          <a:prstGeom xmlns:a="http://schemas.openxmlformats.org/drawingml/2006/main" prst="ellipse">
            <a:avLst/>
          </a:prstGeom>
          <a:solidFill xmlns:a="http://schemas.openxmlformats.org/drawingml/2006/main">
            <a:srgbClr val="EA580C"/>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0E6B462E-B115-4C94-BDB3-1A7E594A6EC3}"/>
              </a:ext>
            </a:extLst>
          </p:cNvPr>
          <p:cNvSpPr>
            <a:spLocks xmlns:a="http://schemas.openxmlformats.org/drawingml/2006/main" noGrp="1"/>
          </p:cNvSpPr>
          <p:nvPr/>
        </p:nvSpPr>
        <p:spPr>
          <a:xfrm xmlns:a="http://schemas.openxmlformats.org/drawingml/2006/main">
            <a:off x="742950" y="392430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825" b="1">
                <a:solidFill>
                  <a:srgbClr val="FFFFFF"/>
                </a:solidFill>
              </a:defRPr>
            </a:pPr>
            <a:r>
              <a:rPr sz="825" b="1">
                <a:solidFill>
                  <a:srgbClr val="FFFFFF"/>
                </a:solidFill>
              </a:rPr>
              <a:t>3a</a:t>
            </a:r>
          </a:p>
        </p:txBody>
      </p:sp>
      <p:sp>
        <p:nvSpPr>
          <p:cNvPr id="24" name="">
            <a:extLst xmlns:a="http://schemas.openxmlformats.org/drawingml/2006/main">
              <a:ext uri="{FF2B5EF4-FFF2-40B4-BE49-F238E27FC236}">
                <a16:creationId xmlns:a16="http://schemas.microsoft.com/office/drawing/2014/main" id="{C3B3AF16-0418-49A3-8DC2-2C9E1CB30192}"/>
              </a:ext>
            </a:extLst>
          </p:cNvPr>
          <p:cNvSpPr>
            <a:spLocks xmlns:a="http://schemas.openxmlformats.org/drawingml/2006/main" noGrp="1"/>
          </p:cNvSpPr>
          <p:nvPr/>
        </p:nvSpPr>
        <p:spPr>
          <a:xfrm xmlns:a="http://schemas.openxmlformats.org/drawingml/2006/main">
            <a:off x="1143000" y="3857625"/>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CAPP — 工艺路线设计</a:t>
            </a:r>
          </a:p>
        </p:txBody>
      </p:sp>
      <p:sp>
        <p:nvSpPr>
          <p:cNvPr id="25" name="">
            <a:extLst xmlns:a="http://schemas.openxmlformats.org/drawingml/2006/main">
              <a:ext uri="{FF2B5EF4-FFF2-40B4-BE49-F238E27FC236}">
                <a16:creationId xmlns:a16="http://schemas.microsoft.com/office/drawing/2014/main" id="{DC1BDC75-3196-4445-9256-882EBF16A6CB}"/>
              </a:ext>
            </a:extLst>
          </p:cNvPr>
          <p:cNvSpPr>
            <a:spLocks xmlns:a="http://schemas.openxmlformats.org/drawingml/2006/main" noGrp="1"/>
          </p:cNvSpPr>
          <p:nvPr/>
        </p:nvSpPr>
        <p:spPr>
          <a:xfrm xmlns:a="http://schemas.openxmlformats.org/drawingml/2006/main">
            <a:off x="1143000" y="4105275"/>
            <a:ext cx="4152900" cy="4524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接收 EBOM + MBD，展开铺层、固化、脱模、修边、NDT、表面处理、检验，输出 MBOM、工时定额和工装编号。</a:t>
            </a:r>
          </a:p>
        </p:txBody>
      </p:sp>
      <p:sp>
        <p:nvSpPr>
          <p:cNvPr id="26" name="">
            <a:extLst xmlns:a="http://schemas.openxmlformats.org/drawingml/2006/main">
              <a:ext uri="{FF2B5EF4-FFF2-40B4-BE49-F238E27FC236}">
                <a16:creationId xmlns:a16="http://schemas.microsoft.com/office/drawing/2014/main" id="{1B0CA482-992A-4888-8120-EE7B76332C55}"/>
              </a:ext>
            </a:extLst>
          </p:cNvPr>
          <p:cNvSpPr>
            <a:spLocks xmlns:a="http://schemas.openxmlformats.org/drawingml/2006/main" noGrp="1"/>
          </p:cNvSpPr>
          <p:nvPr/>
        </p:nvSpPr>
        <p:spPr>
          <a:xfrm xmlns:a="http://schemas.openxmlformats.org/drawingml/2006/main">
            <a:off x="876300" y="4624388"/>
            <a:ext cx="28575" cy="95250"/>
          </a:xfrm>
          <a:prstGeom xmlns:a="http://schemas.openxmlformats.org/drawingml/2006/main" prst="rect">
            <a:avLst/>
          </a:prstGeom>
          <a:solidFill xmlns:a="http://schemas.openxmlformats.org/drawingml/2006/main">
            <a:srgbClr val="EA580C"/>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05FDE10F-48C2-4E7E-8E7F-A8F51B4A682C}"/>
              </a:ext>
            </a:extLst>
          </p:cNvPr>
          <p:cNvSpPr>
            <a:spLocks xmlns:a="http://schemas.openxmlformats.org/drawingml/2006/main" noGrp="1"/>
          </p:cNvSpPr>
          <p:nvPr/>
        </p:nvSpPr>
        <p:spPr>
          <a:xfrm xmlns:a="http://schemas.openxmlformats.org/drawingml/2006/main">
            <a:off x="590550" y="4729163"/>
            <a:ext cx="4857750" cy="871538"/>
          </a:xfrm>
          <a:prstGeom xmlns:a="http://schemas.openxmlformats.org/drawingml/2006/main" prst="roundRect">
            <a:avLst>
              <a:gd name="adj" fmla="val 8743"/>
            </a:avLst>
          </a:prstGeom>
          <a:solidFill xmlns:a="http://schemas.openxmlformats.org/drawingml/2006/main">
            <a:srgbClr val="FFFFFF"/>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0CFF8ED3-D514-4A45-BDD2-9DDB1C08DDB0}"/>
              </a:ext>
            </a:extLst>
          </p:cNvPr>
          <p:cNvSpPr>
            <a:spLocks xmlns:a="http://schemas.openxmlformats.org/drawingml/2006/main" noGrp="1"/>
          </p:cNvSpPr>
          <p:nvPr/>
        </p:nvSpPr>
        <p:spPr>
          <a:xfrm xmlns:a="http://schemas.openxmlformats.org/drawingml/2006/main">
            <a:off x="742950" y="4872038"/>
            <a:ext cx="285750" cy="285750"/>
          </a:xfrm>
          <a:prstGeom xmlns:a="http://schemas.openxmlformats.org/drawingml/2006/main" prst="ellipse">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9EFEC82F-A2F4-4025-8EBE-51511237E808}"/>
              </a:ext>
            </a:extLst>
          </p:cNvPr>
          <p:cNvSpPr>
            <a:spLocks xmlns:a="http://schemas.openxmlformats.org/drawingml/2006/main" noGrp="1"/>
          </p:cNvSpPr>
          <p:nvPr/>
        </p:nvSpPr>
        <p:spPr>
          <a:xfrm xmlns:a="http://schemas.openxmlformats.org/drawingml/2006/main">
            <a:off x="742950" y="4910138"/>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825" b="1">
                <a:solidFill>
                  <a:srgbClr val="FFFFFF"/>
                </a:solidFill>
              </a:defRPr>
            </a:pPr>
            <a:r>
              <a:rPr sz="825" b="1">
                <a:solidFill>
                  <a:srgbClr val="FFFFFF"/>
                </a:solidFill>
              </a:rPr>
              <a:t>3b</a:t>
            </a:r>
          </a:p>
        </p:txBody>
      </p:sp>
      <p:sp>
        <p:nvSpPr>
          <p:cNvPr id="30" name="">
            <a:extLst xmlns:a="http://schemas.openxmlformats.org/drawingml/2006/main">
              <a:ext uri="{FF2B5EF4-FFF2-40B4-BE49-F238E27FC236}">
                <a16:creationId xmlns:a16="http://schemas.microsoft.com/office/drawing/2014/main" id="{B58E3F50-A359-4196-9182-A00714D8F1FF}"/>
              </a:ext>
            </a:extLst>
          </p:cNvPr>
          <p:cNvSpPr>
            <a:spLocks xmlns:a="http://schemas.openxmlformats.org/drawingml/2006/main" noGrp="1"/>
          </p:cNvSpPr>
          <p:nvPr/>
        </p:nvSpPr>
        <p:spPr>
          <a:xfrm xmlns:a="http://schemas.openxmlformats.org/drawingml/2006/main">
            <a:off x="1143000" y="4843463"/>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ERP-PP — 生产计划</a:t>
            </a:r>
          </a:p>
        </p:txBody>
      </p:sp>
      <p:sp>
        <p:nvSpPr>
          <p:cNvPr id="31" name="">
            <a:extLst xmlns:a="http://schemas.openxmlformats.org/drawingml/2006/main">
              <a:ext uri="{FF2B5EF4-FFF2-40B4-BE49-F238E27FC236}">
                <a16:creationId xmlns:a16="http://schemas.microsoft.com/office/drawing/2014/main" id="{D027FABF-C686-411E-B295-2E89B031DAFF}"/>
              </a:ext>
            </a:extLst>
          </p:cNvPr>
          <p:cNvSpPr>
            <a:spLocks xmlns:a="http://schemas.openxmlformats.org/drawingml/2006/main" noGrp="1"/>
          </p:cNvSpPr>
          <p:nvPr/>
        </p:nvSpPr>
        <p:spPr>
          <a:xfrm xmlns:a="http://schemas.openxmlformats.org/drawingml/2006/main">
            <a:off x="1143000" y="5091113"/>
            <a:ext cx="4152900" cy="4524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接收 MBOM + 工艺路线，进行 MRP 运算，生成生产订单和采购需求。</a:t>
            </a:r>
          </a:p>
        </p:txBody>
      </p:sp>
      <p:sp>
        <p:nvSpPr>
          <p:cNvPr id="32" name="">
            <a:extLst xmlns:a="http://schemas.openxmlformats.org/drawingml/2006/main">
              <a:ext uri="{FF2B5EF4-FFF2-40B4-BE49-F238E27FC236}">
                <a16:creationId xmlns:a16="http://schemas.microsoft.com/office/drawing/2014/main" id="{322EEB53-1DB7-4DC3-938B-484448AE49FA}"/>
              </a:ext>
            </a:extLst>
          </p:cNvPr>
          <p:cNvSpPr>
            <a:spLocks xmlns:a="http://schemas.openxmlformats.org/drawingml/2006/main" noGrp="1"/>
          </p:cNvSpPr>
          <p:nvPr/>
        </p:nvSpPr>
        <p:spPr>
          <a:xfrm xmlns:a="http://schemas.openxmlformats.org/drawingml/2006/main">
            <a:off x="5810250" y="1809750"/>
            <a:ext cx="1527717" cy="34290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33" name="">
            <a:extLst xmlns:a="http://schemas.openxmlformats.org/drawingml/2006/main">
              <a:ext uri="{FF2B5EF4-FFF2-40B4-BE49-F238E27FC236}">
                <a16:creationId xmlns:a16="http://schemas.microsoft.com/office/drawing/2014/main" id="{7F11FBB1-3A2F-40F9-AAC3-37C0D2045617}"/>
              </a:ext>
            </a:extLst>
          </p:cNvPr>
          <p:cNvSpPr>
            <a:spLocks xmlns:a="http://schemas.openxmlformats.org/drawingml/2006/main" noGrp="1"/>
          </p:cNvSpPr>
          <p:nvPr/>
        </p:nvSpPr>
        <p:spPr>
          <a:xfrm xmlns:a="http://schemas.openxmlformats.org/drawingml/2006/main">
            <a:off x="5848350" y="1838325"/>
            <a:ext cx="1451517"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1">
                <a:solidFill>
                  <a:srgbClr val="FFFFFF"/>
                </a:solidFill>
              </a:defRPr>
            </a:pPr>
            <a:r>
              <a:rPr sz="690" b="1">
                <a:solidFill>
                  <a:srgbClr val="FFFFFF"/>
                </a:solidFill>
              </a:rPr>
              <a:t>传递内容</a:t>
            </a:r>
          </a:p>
        </p:txBody>
      </p:sp>
      <p:sp>
        <p:nvSpPr>
          <p:cNvPr id="34" name="">
            <a:extLst xmlns:a="http://schemas.openxmlformats.org/drawingml/2006/main">
              <a:ext uri="{FF2B5EF4-FFF2-40B4-BE49-F238E27FC236}">
                <a16:creationId xmlns:a16="http://schemas.microsoft.com/office/drawing/2014/main" id="{FB5CD8BE-46C7-4A55-B4D7-16A31C1CFD53}"/>
              </a:ext>
            </a:extLst>
          </p:cNvPr>
          <p:cNvSpPr>
            <a:spLocks xmlns:a="http://schemas.openxmlformats.org/drawingml/2006/main" noGrp="1"/>
          </p:cNvSpPr>
          <p:nvPr/>
        </p:nvSpPr>
        <p:spPr>
          <a:xfrm xmlns:a="http://schemas.openxmlformats.org/drawingml/2006/main">
            <a:off x="7337967" y="1809750"/>
            <a:ext cx="1527717" cy="34290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35" name="">
            <a:extLst xmlns:a="http://schemas.openxmlformats.org/drawingml/2006/main">
              <a:ext uri="{FF2B5EF4-FFF2-40B4-BE49-F238E27FC236}">
                <a16:creationId xmlns:a16="http://schemas.microsoft.com/office/drawing/2014/main" id="{DF255C6A-4CE9-4CBF-907E-F5800A36E225}"/>
              </a:ext>
            </a:extLst>
          </p:cNvPr>
          <p:cNvSpPr>
            <a:spLocks xmlns:a="http://schemas.openxmlformats.org/drawingml/2006/main" noGrp="1"/>
          </p:cNvSpPr>
          <p:nvPr/>
        </p:nvSpPr>
        <p:spPr>
          <a:xfrm xmlns:a="http://schemas.openxmlformats.org/drawingml/2006/main">
            <a:off x="7376067" y="1838325"/>
            <a:ext cx="1451517"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1">
                <a:solidFill>
                  <a:srgbClr val="FFFFFF"/>
                </a:solidFill>
              </a:defRPr>
            </a:pPr>
            <a:r>
              <a:rPr sz="690" b="1">
                <a:solidFill>
                  <a:srgbClr val="FFFFFF"/>
                </a:solidFill>
              </a:rPr>
              <a:t>接收方</a:t>
            </a:r>
          </a:p>
        </p:txBody>
      </p:sp>
      <p:sp>
        <p:nvSpPr>
          <p:cNvPr id="36" name="">
            <a:extLst xmlns:a="http://schemas.openxmlformats.org/drawingml/2006/main">
              <a:ext uri="{FF2B5EF4-FFF2-40B4-BE49-F238E27FC236}">
                <a16:creationId xmlns:a16="http://schemas.microsoft.com/office/drawing/2014/main" id="{6AA7545E-4809-449C-BDDB-58A2612EE2C5}"/>
              </a:ext>
            </a:extLst>
          </p:cNvPr>
          <p:cNvSpPr>
            <a:spLocks xmlns:a="http://schemas.openxmlformats.org/drawingml/2006/main" noGrp="1"/>
          </p:cNvSpPr>
          <p:nvPr/>
        </p:nvSpPr>
        <p:spPr>
          <a:xfrm xmlns:a="http://schemas.openxmlformats.org/drawingml/2006/main">
            <a:off x="8865684" y="1809750"/>
            <a:ext cx="2164266" cy="34290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37" name="">
            <a:extLst xmlns:a="http://schemas.openxmlformats.org/drawingml/2006/main">
              <a:ext uri="{FF2B5EF4-FFF2-40B4-BE49-F238E27FC236}">
                <a16:creationId xmlns:a16="http://schemas.microsoft.com/office/drawing/2014/main" id="{908DA6CC-133B-4DE9-9957-721C6C06ECF2}"/>
              </a:ext>
            </a:extLst>
          </p:cNvPr>
          <p:cNvSpPr>
            <a:spLocks xmlns:a="http://schemas.openxmlformats.org/drawingml/2006/main" noGrp="1"/>
          </p:cNvSpPr>
          <p:nvPr/>
        </p:nvSpPr>
        <p:spPr>
          <a:xfrm xmlns:a="http://schemas.openxmlformats.org/drawingml/2006/main">
            <a:off x="8903784" y="1838325"/>
            <a:ext cx="2088066"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1">
                <a:solidFill>
                  <a:srgbClr val="FFFFFF"/>
                </a:solidFill>
              </a:defRPr>
            </a:pPr>
            <a:r>
              <a:rPr sz="690" b="1">
                <a:solidFill>
                  <a:srgbClr val="FFFFFF"/>
                </a:solidFill>
              </a:rPr>
              <a:t>意义</a:t>
            </a:r>
          </a:p>
        </p:txBody>
      </p:sp>
      <p:sp>
        <p:nvSpPr>
          <p:cNvPr id="38" name="">
            <a:extLst xmlns:a="http://schemas.openxmlformats.org/drawingml/2006/main">
              <a:ext uri="{FF2B5EF4-FFF2-40B4-BE49-F238E27FC236}">
                <a16:creationId xmlns:a16="http://schemas.microsoft.com/office/drawing/2014/main" id="{494C5B28-414A-41D2-BF23-1143CF661829}"/>
              </a:ext>
            </a:extLst>
          </p:cNvPr>
          <p:cNvSpPr>
            <a:spLocks xmlns:a="http://schemas.openxmlformats.org/drawingml/2006/main" noGrp="1"/>
          </p:cNvSpPr>
          <p:nvPr/>
        </p:nvSpPr>
        <p:spPr>
          <a:xfrm xmlns:a="http://schemas.openxmlformats.org/drawingml/2006/main">
            <a:off x="5810250" y="2152650"/>
            <a:ext cx="1527717" cy="34290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9" name="">
            <a:extLst xmlns:a="http://schemas.openxmlformats.org/drawingml/2006/main">
              <a:ext uri="{FF2B5EF4-FFF2-40B4-BE49-F238E27FC236}">
                <a16:creationId xmlns:a16="http://schemas.microsoft.com/office/drawing/2014/main" id="{66716DFD-ED41-4825-A9C7-93910FED5A5E}"/>
              </a:ext>
            </a:extLst>
          </p:cNvPr>
          <p:cNvSpPr>
            <a:spLocks xmlns:a="http://schemas.openxmlformats.org/drawingml/2006/main" noGrp="1"/>
          </p:cNvSpPr>
          <p:nvPr/>
        </p:nvSpPr>
        <p:spPr>
          <a:xfrm xmlns:a="http://schemas.openxmlformats.org/drawingml/2006/main">
            <a:off x="5848350" y="2181225"/>
            <a:ext cx="1451517"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含标注的三维模型</a:t>
            </a:r>
          </a:p>
        </p:txBody>
      </p:sp>
      <p:sp>
        <p:nvSpPr>
          <p:cNvPr id="40" name="">
            <a:extLst xmlns:a="http://schemas.openxmlformats.org/drawingml/2006/main">
              <a:ext uri="{FF2B5EF4-FFF2-40B4-BE49-F238E27FC236}">
                <a16:creationId xmlns:a16="http://schemas.microsoft.com/office/drawing/2014/main" id="{6C7FA244-AC38-439C-B357-971AABA60BC5}"/>
              </a:ext>
            </a:extLst>
          </p:cNvPr>
          <p:cNvSpPr>
            <a:spLocks xmlns:a="http://schemas.openxmlformats.org/drawingml/2006/main" noGrp="1"/>
          </p:cNvSpPr>
          <p:nvPr/>
        </p:nvSpPr>
        <p:spPr>
          <a:xfrm xmlns:a="http://schemas.openxmlformats.org/drawingml/2006/main">
            <a:off x="7337967" y="2152650"/>
            <a:ext cx="1527717" cy="34290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1" name="">
            <a:extLst xmlns:a="http://schemas.openxmlformats.org/drawingml/2006/main">
              <a:ext uri="{FF2B5EF4-FFF2-40B4-BE49-F238E27FC236}">
                <a16:creationId xmlns:a16="http://schemas.microsoft.com/office/drawing/2014/main" id="{B162F9B9-0802-4CF0-A33D-4E2348422DC5}"/>
              </a:ext>
            </a:extLst>
          </p:cNvPr>
          <p:cNvSpPr>
            <a:spLocks xmlns:a="http://schemas.openxmlformats.org/drawingml/2006/main" noGrp="1"/>
          </p:cNvSpPr>
          <p:nvPr/>
        </p:nvSpPr>
        <p:spPr>
          <a:xfrm xmlns:a="http://schemas.openxmlformats.org/drawingml/2006/main">
            <a:off x="7376067" y="2181225"/>
            <a:ext cx="1451517"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CAPP / 三维工艺</a:t>
            </a:r>
          </a:p>
        </p:txBody>
      </p:sp>
      <p:sp>
        <p:nvSpPr>
          <p:cNvPr id="42" name="">
            <a:extLst xmlns:a="http://schemas.openxmlformats.org/drawingml/2006/main">
              <a:ext uri="{FF2B5EF4-FFF2-40B4-BE49-F238E27FC236}">
                <a16:creationId xmlns:a16="http://schemas.microsoft.com/office/drawing/2014/main" id="{6744B551-385A-40DD-BCBD-5AA7DC919812}"/>
              </a:ext>
            </a:extLst>
          </p:cNvPr>
          <p:cNvSpPr>
            <a:spLocks xmlns:a="http://schemas.openxmlformats.org/drawingml/2006/main" noGrp="1"/>
          </p:cNvSpPr>
          <p:nvPr/>
        </p:nvSpPr>
        <p:spPr>
          <a:xfrm xmlns:a="http://schemas.openxmlformats.org/drawingml/2006/main">
            <a:off x="8865684" y="2152650"/>
            <a:ext cx="2164266" cy="34290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3" name="">
            <a:extLst xmlns:a="http://schemas.openxmlformats.org/drawingml/2006/main">
              <a:ext uri="{FF2B5EF4-FFF2-40B4-BE49-F238E27FC236}">
                <a16:creationId xmlns:a16="http://schemas.microsoft.com/office/drawing/2014/main" id="{0C897971-BB06-4CB0-A6EC-BFC61305AC08}"/>
              </a:ext>
            </a:extLst>
          </p:cNvPr>
          <p:cNvSpPr>
            <a:spLocks xmlns:a="http://schemas.openxmlformats.org/drawingml/2006/main" noGrp="1"/>
          </p:cNvSpPr>
          <p:nvPr/>
        </p:nvSpPr>
        <p:spPr>
          <a:xfrm xmlns:a="http://schemas.openxmlformats.org/drawingml/2006/main">
            <a:off x="8903784" y="2181225"/>
            <a:ext cx="2088066"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工艺设计直接读取模型，无需二维图纸</a:t>
            </a:r>
          </a:p>
        </p:txBody>
      </p:sp>
      <p:sp>
        <p:nvSpPr>
          <p:cNvPr id="44" name="">
            <a:extLst xmlns:a="http://schemas.openxmlformats.org/drawingml/2006/main">
              <a:ext uri="{FF2B5EF4-FFF2-40B4-BE49-F238E27FC236}">
                <a16:creationId xmlns:a16="http://schemas.microsoft.com/office/drawing/2014/main" id="{4F177699-3184-47CE-B653-709E1353CB8B}"/>
              </a:ext>
            </a:extLst>
          </p:cNvPr>
          <p:cNvSpPr>
            <a:spLocks xmlns:a="http://schemas.openxmlformats.org/drawingml/2006/main" noGrp="1"/>
          </p:cNvSpPr>
          <p:nvPr/>
        </p:nvSpPr>
        <p:spPr>
          <a:xfrm xmlns:a="http://schemas.openxmlformats.org/drawingml/2006/main">
            <a:off x="5810250" y="2495550"/>
            <a:ext cx="1527717" cy="34290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5" name="">
            <a:extLst xmlns:a="http://schemas.openxmlformats.org/drawingml/2006/main">
              <a:ext uri="{FF2B5EF4-FFF2-40B4-BE49-F238E27FC236}">
                <a16:creationId xmlns:a16="http://schemas.microsoft.com/office/drawing/2014/main" id="{C7093ECD-1CE0-4AFE-969E-67967B8508CC}"/>
              </a:ext>
            </a:extLst>
          </p:cNvPr>
          <p:cNvSpPr>
            <a:spLocks xmlns:a="http://schemas.openxmlformats.org/drawingml/2006/main" noGrp="1"/>
          </p:cNvSpPr>
          <p:nvPr/>
        </p:nvSpPr>
        <p:spPr>
          <a:xfrm xmlns:a="http://schemas.openxmlformats.org/drawingml/2006/main">
            <a:off x="5848350" y="2524125"/>
            <a:ext cx="1451517"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材料/公差定义</a:t>
            </a:r>
          </a:p>
        </p:txBody>
      </p:sp>
      <p:sp>
        <p:nvSpPr>
          <p:cNvPr id="46" name="">
            <a:extLst xmlns:a="http://schemas.openxmlformats.org/drawingml/2006/main">
              <a:ext uri="{FF2B5EF4-FFF2-40B4-BE49-F238E27FC236}">
                <a16:creationId xmlns:a16="http://schemas.microsoft.com/office/drawing/2014/main" id="{F8AE2A1E-0E5D-4738-B054-BA938B5142DD}"/>
              </a:ext>
            </a:extLst>
          </p:cNvPr>
          <p:cNvSpPr>
            <a:spLocks xmlns:a="http://schemas.openxmlformats.org/drawingml/2006/main" noGrp="1"/>
          </p:cNvSpPr>
          <p:nvPr/>
        </p:nvSpPr>
        <p:spPr>
          <a:xfrm xmlns:a="http://schemas.openxmlformats.org/drawingml/2006/main">
            <a:off x="7337967" y="2495550"/>
            <a:ext cx="1527717" cy="34290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7" name="">
            <a:extLst xmlns:a="http://schemas.openxmlformats.org/drawingml/2006/main">
              <a:ext uri="{FF2B5EF4-FFF2-40B4-BE49-F238E27FC236}">
                <a16:creationId xmlns:a16="http://schemas.microsoft.com/office/drawing/2014/main" id="{8BAE6ACA-3B07-43D6-AF20-0F866F414CC7}"/>
              </a:ext>
            </a:extLst>
          </p:cNvPr>
          <p:cNvSpPr>
            <a:spLocks xmlns:a="http://schemas.openxmlformats.org/drawingml/2006/main" noGrp="1"/>
          </p:cNvSpPr>
          <p:nvPr/>
        </p:nvSpPr>
        <p:spPr>
          <a:xfrm xmlns:a="http://schemas.openxmlformats.org/drawingml/2006/main">
            <a:off x="7376067" y="2524125"/>
            <a:ext cx="1451517"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CAPP → 计划管控</a:t>
            </a:r>
          </a:p>
        </p:txBody>
      </p:sp>
      <p:sp>
        <p:nvSpPr>
          <p:cNvPr id="48" name="">
            <a:extLst xmlns:a="http://schemas.openxmlformats.org/drawingml/2006/main">
              <a:ext uri="{FF2B5EF4-FFF2-40B4-BE49-F238E27FC236}">
                <a16:creationId xmlns:a16="http://schemas.microsoft.com/office/drawing/2014/main" id="{24B37163-EB62-4ED5-A846-1C77EDB1901E}"/>
              </a:ext>
            </a:extLst>
          </p:cNvPr>
          <p:cNvSpPr>
            <a:spLocks xmlns:a="http://schemas.openxmlformats.org/drawingml/2006/main" noGrp="1"/>
          </p:cNvSpPr>
          <p:nvPr/>
        </p:nvSpPr>
        <p:spPr>
          <a:xfrm xmlns:a="http://schemas.openxmlformats.org/drawingml/2006/main">
            <a:off x="8865684" y="2495550"/>
            <a:ext cx="2164266" cy="34290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9" name="">
            <a:extLst xmlns:a="http://schemas.openxmlformats.org/drawingml/2006/main">
              <a:ext uri="{FF2B5EF4-FFF2-40B4-BE49-F238E27FC236}">
                <a16:creationId xmlns:a16="http://schemas.microsoft.com/office/drawing/2014/main" id="{9BD314F8-C7EE-4B39-8BAC-EC403DC65341}"/>
              </a:ext>
            </a:extLst>
          </p:cNvPr>
          <p:cNvSpPr>
            <a:spLocks xmlns:a="http://schemas.openxmlformats.org/drawingml/2006/main" noGrp="1"/>
          </p:cNvSpPr>
          <p:nvPr/>
        </p:nvSpPr>
        <p:spPr>
          <a:xfrm xmlns:a="http://schemas.openxmlformats.org/drawingml/2006/main">
            <a:off x="8903784" y="2524125"/>
            <a:ext cx="2088066"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驱动下料管理、零件采购规格</a:t>
            </a:r>
          </a:p>
        </p:txBody>
      </p:sp>
      <p:sp>
        <p:nvSpPr>
          <p:cNvPr id="50" name="">
            <a:extLst xmlns:a="http://schemas.openxmlformats.org/drawingml/2006/main">
              <a:ext uri="{FF2B5EF4-FFF2-40B4-BE49-F238E27FC236}">
                <a16:creationId xmlns:a16="http://schemas.microsoft.com/office/drawing/2014/main" id="{B59A7299-C72B-4155-AEE5-07F426E2F6F8}"/>
              </a:ext>
            </a:extLst>
          </p:cNvPr>
          <p:cNvSpPr>
            <a:spLocks xmlns:a="http://schemas.openxmlformats.org/drawingml/2006/main" noGrp="1"/>
          </p:cNvSpPr>
          <p:nvPr/>
        </p:nvSpPr>
        <p:spPr>
          <a:xfrm xmlns:a="http://schemas.openxmlformats.org/drawingml/2006/main">
            <a:off x="5810250" y="2838450"/>
            <a:ext cx="1527717" cy="34290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1" name="">
            <a:extLst xmlns:a="http://schemas.openxmlformats.org/drawingml/2006/main">
              <a:ext uri="{FF2B5EF4-FFF2-40B4-BE49-F238E27FC236}">
                <a16:creationId xmlns:a16="http://schemas.microsoft.com/office/drawing/2014/main" id="{7565BBF4-4308-4673-A385-578FC9A28CF6}"/>
              </a:ext>
            </a:extLst>
          </p:cNvPr>
          <p:cNvSpPr>
            <a:spLocks xmlns:a="http://schemas.openxmlformats.org/drawingml/2006/main" noGrp="1"/>
          </p:cNvSpPr>
          <p:nvPr/>
        </p:nvSpPr>
        <p:spPr>
          <a:xfrm xmlns:a="http://schemas.openxmlformats.org/drawingml/2006/main">
            <a:off x="5848350" y="2867025"/>
            <a:ext cx="1451517"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更改管理</a:t>
            </a:r>
          </a:p>
        </p:txBody>
      </p:sp>
      <p:sp>
        <p:nvSpPr>
          <p:cNvPr id="52" name="">
            <a:extLst xmlns:a="http://schemas.openxmlformats.org/drawingml/2006/main">
              <a:ext uri="{FF2B5EF4-FFF2-40B4-BE49-F238E27FC236}">
                <a16:creationId xmlns:a16="http://schemas.microsoft.com/office/drawing/2014/main" id="{CCF430F4-5F09-40CD-982F-768FF987A332}"/>
              </a:ext>
            </a:extLst>
          </p:cNvPr>
          <p:cNvSpPr>
            <a:spLocks xmlns:a="http://schemas.openxmlformats.org/drawingml/2006/main" noGrp="1"/>
          </p:cNvSpPr>
          <p:nvPr/>
        </p:nvSpPr>
        <p:spPr>
          <a:xfrm xmlns:a="http://schemas.openxmlformats.org/drawingml/2006/main">
            <a:off x="7337967" y="2838450"/>
            <a:ext cx="1527717" cy="34290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3" name="">
            <a:extLst xmlns:a="http://schemas.openxmlformats.org/drawingml/2006/main">
              <a:ext uri="{FF2B5EF4-FFF2-40B4-BE49-F238E27FC236}">
                <a16:creationId xmlns:a16="http://schemas.microsoft.com/office/drawing/2014/main" id="{60DFF34D-93B1-4423-8FA8-FDD7CD5AC21B}"/>
              </a:ext>
            </a:extLst>
          </p:cNvPr>
          <p:cNvSpPr>
            <a:spLocks xmlns:a="http://schemas.openxmlformats.org/drawingml/2006/main" noGrp="1"/>
          </p:cNvSpPr>
          <p:nvPr/>
        </p:nvSpPr>
        <p:spPr>
          <a:xfrm xmlns:a="http://schemas.openxmlformats.org/drawingml/2006/main">
            <a:off x="7376067" y="2867025"/>
            <a:ext cx="1451517"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PDM → EBOM</a:t>
            </a:r>
          </a:p>
        </p:txBody>
      </p:sp>
      <p:sp>
        <p:nvSpPr>
          <p:cNvPr id="54" name="">
            <a:extLst xmlns:a="http://schemas.openxmlformats.org/drawingml/2006/main">
              <a:ext uri="{FF2B5EF4-FFF2-40B4-BE49-F238E27FC236}">
                <a16:creationId xmlns:a16="http://schemas.microsoft.com/office/drawing/2014/main" id="{1C980B31-6E54-4065-B9B9-F9B4F9C7AF76}"/>
              </a:ext>
            </a:extLst>
          </p:cNvPr>
          <p:cNvSpPr>
            <a:spLocks xmlns:a="http://schemas.openxmlformats.org/drawingml/2006/main" noGrp="1"/>
          </p:cNvSpPr>
          <p:nvPr/>
        </p:nvSpPr>
        <p:spPr>
          <a:xfrm xmlns:a="http://schemas.openxmlformats.org/drawingml/2006/main">
            <a:off x="8865684" y="2838450"/>
            <a:ext cx="2164266" cy="34290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5" name="">
            <a:extLst xmlns:a="http://schemas.openxmlformats.org/drawingml/2006/main">
              <a:ext uri="{FF2B5EF4-FFF2-40B4-BE49-F238E27FC236}">
                <a16:creationId xmlns:a16="http://schemas.microsoft.com/office/drawing/2014/main" id="{6BEFF257-F9C3-41DB-BBF1-025AF5D0F0EE}"/>
              </a:ext>
            </a:extLst>
          </p:cNvPr>
          <p:cNvSpPr>
            <a:spLocks xmlns:a="http://schemas.openxmlformats.org/drawingml/2006/main" noGrp="1"/>
          </p:cNvSpPr>
          <p:nvPr/>
        </p:nvSpPr>
        <p:spPr>
          <a:xfrm xmlns:a="http://schemas.openxmlformats.org/drawingml/2006/main">
            <a:off x="8903784" y="2867025"/>
            <a:ext cx="2088066"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设计变更自动触发BOM版本更新</a:t>
            </a:r>
          </a:p>
        </p:txBody>
      </p:sp>
      <p:sp>
        <p:nvSpPr>
          <p:cNvPr id="56" name="">
            <a:extLst xmlns:a="http://schemas.openxmlformats.org/drawingml/2006/main">
              <a:ext uri="{FF2B5EF4-FFF2-40B4-BE49-F238E27FC236}">
                <a16:creationId xmlns:a16="http://schemas.microsoft.com/office/drawing/2014/main" id="{02C116C1-E0A5-462D-AD5C-0179B213D52C}"/>
              </a:ext>
            </a:extLst>
          </p:cNvPr>
          <p:cNvSpPr>
            <a:spLocks xmlns:a="http://schemas.openxmlformats.org/drawingml/2006/main" noGrp="1"/>
          </p:cNvSpPr>
          <p:nvPr/>
        </p:nvSpPr>
        <p:spPr>
          <a:xfrm xmlns:a="http://schemas.openxmlformats.org/drawingml/2006/main">
            <a:off x="5810250" y="3181350"/>
            <a:ext cx="1527717" cy="34290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7" name="">
            <a:extLst xmlns:a="http://schemas.openxmlformats.org/drawingml/2006/main">
              <a:ext uri="{FF2B5EF4-FFF2-40B4-BE49-F238E27FC236}">
                <a16:creationId xmlns:a16="http://schemas.microsoft.com/office/drawing/2014/main" id="{2857950B-8C15-4649-8487-0A8BBD469272}"/>
              </a:ext>
            </a:extLst>
          </p:cNvPr>
          <p:cNvSpPr>
            <a:spLocks xmlns:a="http://schemas.openxmlformats.org/drawingml/2006/main" noGrp="1"/>
          </p:cNvSpPr>
          <p:nvPr/>
        </p:nvSpPr>
        <p:spPr>
          <a:xfrm xmlns:a="http://schemas.openxmlformats.org/drawingml/2006/main">
            <a:off x="5848350" y="3209925"/>
            <a:ext cx="1451517"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设计资源</a:t>
            </a:r>
          </a:p>
        </p:txBody>
      </p:sp>
      <p:sp>
        <p:nvSpPr>
          <p:cNvPr id="58" name="">
            <a:extLst xmlns:a="http://schemas.openxmlformats.org/drawingml/2006/main">
              <a:ext uri="{FF2B5EF4-FFF2-40B4-BE49-F238E27FC236}">
                <a16:creationId xmlns:a16="http://schemas.microsoft.com/office/drawing/2014/main" id="{A0BB1588-CAD9-44F0-BA40-23B9EACA45C5}"/>
              </a:ext>
            </a:extLst>
          </p:cNvPr>
          <p:cNvSpPr>
            <a:spLocks xmlns:a="http://schemas.openxmlformats.org/drawingml/2006/main" noGrp="1"/>
          </p:cNvSpPr>
          <p:nvPr/>
        </p:nvSpPr>
        <p:spPr>
          <a:xfrm xmlns:a="http://schemas.openxmlformats.org/drawingml/2006/main">
            <a:off x="7337967" y="3181350"/>
            <a:ext cx="1527717" cy="34290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9" name="">
            <a:extLst xmlns:a="http://schemas.openxmlformats.org/drawingml/2006/main">
              <a:ext uri="{FF2B5EF4-FFF2-40B4-BE49-F238E27FC236}">
                <a16:creationId xmlns:a16="http://schemas.microsoft.com/office/drawing/2014/main" id="{EA068107-0018-4537-8055-93A3B2F533DA}"/>
              </a:ext>
            </a:extLst>
          </p:cNvPr>
          <p:cNvSpPr>
            <a:spLocks xmlns:a="http://schemas.openxmlformats.org/drawingml/2006/main" noGrp="1"/>
          </p:cNvSpPr>
          <p:nvPr/>
        </p:nvSpPr>
        <p:spPr>
          <a:xfrm xmlns:a="http://schemas.openxmlformats.org/drawingml/2006/main">
            <a:off x="7376067" y="3209925"/>
            <a:ext cx="1451517"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PDM归档受控</a:t>
            </a:r>
          </a:p>
        </p:txBody>
      </p:sp>
      <p:sp>
        <p:nvSpPr>
          <p:cNvPr id="60" name="">
            <a:extLst xmlns:a="http://schemas.openxmlformats.org/drawingml/2006/main">
              <a:ext uri="{FF2B5EF4-FFF2-40B4-BE49-F238E27FC236}">
                <a16:creationId xmlns:a16="http://schemas.microsoft.com/office/drawing/2014/main" id="{E54A840D-095A-439D-A1E7-E1FB0BF334C6}"/>
              </a:ext>
            </a:extLst>
          </p:cNvPr>
          <p:cNvSpPr>
            <a:spLocks xmlns:a="http://schemas.openxmlformats.org/drawingml/2006/main" noGrp="1"/>
          </p:cNvSpPr>
          <p:nvPr/>
        </p:nvSpPr>
        <p:spPr>
          <a:xfrm xmlns:a="http://schemas.openxmlformats.org/drawingml/2006/main">
            <a:off x="8865684" y="3181350"/>
            <a:ext cx="2164266" cy="34290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1" name="">
            <a:extLst xmlns:a="http://schemas.openxmlformats.org/drawingml/2006/main">
              <a:ext uri="{FF2B5EF4-FFF2-40B4-BE49-F238E27FC236}">
                <a16:creationId xmlns:a16="http://schemas.microsoft.com/office/drawing/2014/main" id="{6E8BDD0E-D1B1-4CEB-96BB-F368CB020D2A}"/>
              </a:ext>
            </a:extLst>
          </p:cNvPr>
          <p:cNvSpPr>
            <a:spLocks xmlns:a="http://schemas.openxmlformats.org/drawingml/2006/main" noGrp="1"/>
          </p:cNvSpPr>
          <p:nvPr/>
        </p:nvSpPr>
        <p:spPr>
          <a:xfrm xmlns:a="http://schemas.openxmlformats.org/drawingml/2006/main">
            <a:off x="8903784" y="3209925"/>
            <a:ext cx="2088066"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90" b="0">
                <a:solidFill>
                  <a:srgbClr val="475569"/>
                </a:solidFill>
              </a:defRPr>
            </a:pPr>
            <a:r>
              <a:rPr sz="690" b="0">
                <a:solidFill>
                  <a:srgbClr val="475569"/>
                </a:solidFill>
              </a:rPr>
              <a:t>确保制造端使用唯一受控版本</a:t>
            </a:r>
          </a:p>
        </p:txBody>
      </p:sp>
      <p:sp>
        <p:nvSpPr>
          <p:cNvPr id="62" name="">
            <a:extLst xmlns:a="http://schemas.openxmlformats.org/drawingml/2006/main">
              <a:ext uri="{FF2B5EF4-FFF2-40B4-BE49-F238E27FC236}">
                <a16:creationId xmlns:a16="http://schemas.microsoft.com/office/drawing/2014/main" id="{C190BEF7-4ACE-406A-BD11-1BEEC7DEA021}"/>
              </a:ext>
            </a:extLst>
          </p:cNvPr>
          <p:cNvSpPr>
            <a:spLocks xmlns:a="http://schemas.openxmlformats.org/drawingml/2006/main" noGrp="1"/>
          </p:cNvSpPr>
          <p:nvPr/>
        </p:nvSpPr>
        <p:spPr>
          <a:xfrm xmlns:a="http://schemas.openxmlformats.org/drawingml/2006/main">
            <a:off x="5810250" y="3790950"/>
            <a:ext cx="5219700" cy="933450"/>
          </a:xfrm>
          <a:prstGeom xmlns:a="http://schemas.openxmlformats.org/drawingml/2006/main" prst="roundRect">
            <a:avLst>
              <a:gd name="adj" fmla="val 8163"/>
            </a:avLst>
          </a:prstGeom>
          <a:solidFill xmlns:a="http://schemas.openxmlformats.org/drawingml/2006/main">
            <a:srgbClr val="F5F3FF"/>
          </a:solidFill>
          <a:ln xmlns:a="http://schemas.openxmlformats.org/drawingml/2006/main" w="9525">
            <a:solidFill>
              <a:srgbClr val="E2E8F0"/>
            </a:solidFill>
            <a:prstDash val="solid"/>
          </a:ln>
        </p:spPr>
      </p:sp>
      <p:sp>
        <p:nvSpPr>
          <p:cNvPr id="63" name="">
            <a:extLst xmlns:a="http://schemas.openxmlformats.org/drawingml/2006/main">
              <a:ext uri="{FF2B5EF4-FFF2-40B4-BE49-F238E27FC236}">
                <a16:creationId xmlns:a16="http://schemas.microsoft.com/office/drawing/2014/main" id="{928D37AE-0C13-4464-99CD-D24B6728C3EE}"/>
              </a:ext>
            </a:extLst>
          </p:cNvPr>
          <p:cNvSpPr>
            <a:spLocks xmlns:a="http://schemas.openxmlformats.org/drawingml/2006/main" noGrp="1"/>
          </p:cNvSpPr>
          <p:nvPr/>
        </p:nvSpPr>
        <p:spPr>
          <a:xfrm xmlns:a="http://schemas.openxmlformats.org/drawingml/2006/main">
            <a:off x="5810250" y="3790950"/>
            <a:ext cx="57150" cy="933450"/>
          </a:xfrm>
          <a:prstGeom xmlns:a="http://schemas.openxmlformats.org/drawingml/2006/main" prst="rect">
            <a:avLst/>
          </a:prstGeom>
          <a:solidFill xmlns:a="http://schemas.openxmlformats.org/drawingml/2006/main">
            <a:srgbClr val="7C3AED"/>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FCB18FDA-8482-46A4-8C31-4C20B3B141D0}"/>
              </a:ext>
            </a:extLst>
          </p:cNvPr>
          <p:cNvSpPr>
            <a:spLocks xmlns:a="http://schemas.openxmlformats.org/drawingml/2006/main" noGrp="1"/>
          </p:cNvSpPr>
          <p:nvPr/>
        </p:nvSpPr>
        <p:spPr>
          <a:xfrm xmlns:a="http://schemas.openxmlformats.org/drawingml/2006/main">
            <a:off x="5981700" y="3905250"/>
            <a:ext cx="4876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125" b="1">
                <a:solidFill>
                  <a:srgbClr val="7C3AED"/>
                </a:solidFill>
              </a:defRPr>
            </a:pPr>
            <a:r>
              <a:rPr sz="1125" b="1">
                <a:solidFill>
                  <a:srgbClr val="7C3AED"/>
                </a:solidFill>
              </a:rPr>
              <a:t>MBD 关键作用</a:t>
            </a:r>
          </a:p>
        </p:txBody>
      </p:sp>
      <p:sp>
        <p:nvSpPr>
          <p:cNvPr id="65" name="">
            <a:extLst xmlns:a="http://schemas.openxmlformats.org/drawingml/2006/main">
              <a:ext uri="{FF2B5EF4-FFF2-40B4-BE49-F238E27FC236}">
                <a16:creationId xmlns:a16="http://schemas.microsoft.com/office/drawing/2014/main" id="{814F2117-B73B-4F89-9B50-585AEF59B6CF}"/>
              </a:ext>
            </a:extLst>
          </p:cNvPr>
          <p:cNvSpPr>
            <a:spLocks xmlns:a="http://schemas.openxmlformats.org/drawingml/2006/main" noGrp="1"/>
          </p:cNvSpPr>
          <p:nvPr/>
        </p:nvSpPr>
        <p:spPr>
          <a:xfrm xmlns:a="http://schemas.openxmlformats.org/drawingml/2006/main">
            <a:off x="5981700" y="4171950"/>
            <a:ext cx="48768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00" b="0">
                <a:solidFill>
                  <a:srgbClr val="475569"/>
                </a:solidFill>
              </a:defRPr>
            </a:pPr>
            <a:r>
              <a:rPr sz="900" b="0">
                <a:solidFill>
                  <a:srgbClr val="475569"/>
                </a:solidFill>
              </a:rPr>
              <a:t>三维模型、PMI 标注、材料/公差定义和更改管理信息进入 CAPP 与 PDM，降低二维图纸依赖，确保制造端使用唯一受控版本。</a:t>
            </a:r>
          </a:p>
        </p:txBody>
      </p:sp>
      <p:sp>
        <p:nvSpPr>
          <p:cNvPr id="66" name="">
            <a:extLst xmlns:a="http://schemas.openxmlformats.org/drawingml/2006/main">
              <a:ext uri="{FF2B5EF4-FFF2-40B4-BE49-F238E27FC236}">
                <a16:creationId xmlns:a16="http://schemas.microsoft.com/office/drawing/2014/main" id="{2571EE3D-1450-41A4-A79D-EEAC52733C1D}"/>
              </a:ext>
            </a:extLst>
          </p:cNvPr>
          <p:cNvSpPr>
            <a:spLocks xmlns:a="http://schemas.openxmlformats.org/drawingml/2006/main" noGrp="1"/>
          </p:cNvSpPr>
          <p:nvPr/>
        </p:nvSpPr>
        <p:spPr>
          <a:xfrm xmlns:a="http://schemas.openxmlformats.org/drawingml/2006/main">
            <a:off x="5810250" y="5010150"/>
            <a:ext cx="23812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E2E8F0"/>
            </a:solidFill>
            <a:prstDash val="solid"/>
          </a:ln>
        </p:spPr>
      </p:sp>
      <p:sp>
        <p:nvSpPr>
          <p:cNvPr id="67" name="">
            <a:extLst xmlns:a="http://schemas.openxmlformats.org/drawingml/2006/main">
              <a:ext uri="{FF2B5EF4-FFF2-40B4-BE49-F238E27FC236}">
                <a16:creationId xmlns:a16="http://schemas.microsoft.com/office/drawing/2014/main" id="{D4D01967-F30A-46E5-B09A-64B97A5D0B76}"/>
              </a:ext>
            </a:extLst>
          </p:cNvPr>
          <p:cNvSpPr>
            <a:spLocks xmlns:a="http://schemas.openxmlformats.org/drawingml/2006/main" noGrp="1"/>
          </p:cNvSpPr>
          <p:nvPr/>
        </p:nvSpPr>
        <p:spPr>
          <a:xfrm xmlns:a="http://schemas.openxmlformats.org/drawingml/2006/main">
            <a:off x="5810250" y="5010150"/>
            <a:ext cx="47625" cy="819150"/>
          </a:xfrm>
          <a:prstGeom xmlns:a="http://schemas.openxmlformats.org/drawingml/2006/main" prst="rect">
            <a:avLst/>
          </a:prstGeom>
          <a:solidFill xmlns:a="http://schemas.openxmlformats.org/drawingml/2006/main">
            <a:srgbClr val="0891B2"/>
          </a:solidFill>
          <a:ln xmlns:a="http://schemas.openxmlformats.org/drawingml/2006/main" w="0">
            <a:solidFill>
              <a:srgbClr val="000000">
                <a:alpha val="0"/>
              </a:srgbClr>
            </a:solidFill>
            <a:prstDash val="solid"/>
          </a:ln>
        </p:spPr>
      </p:sp>
      <p:sp>
        <p:nvSpPr>
          <p:cNvPr id="68" name="">
            <a:extLst xmlns:a="http://schemas.openxmlformats.org/drawingml/2006/main">
              <a:ext uri="{FF2B5EF4-FFF2-40B4-BE49-F238E27FC236}">
                <a16:creationId xmlns:a16="http://schemas.microsoft.com/office/drawing/2014/main" id="{C33C696A-87F0-4E69-94BE-2BABBF20D9FE}"/>
              </a:ext>
            </a:extLst>
          </p:cNvPr>
          <p:cNvSpPr>
            <a:spLocks xmlns:a="http://schemas.openxmlformats.org/drawingml/2006/main" noGrp="1"/>
          </p:cNvSpPr>
          <p:nvPr/>
        </p:nvSpPr>
        <p:spPr>
          <a:xfrm xmlns:a="http://schemas.openxmlformats.org/drawingml/2006/main">
            <a:off x="5981700" y="5143500"/>
            <a:ext cx="2057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受控发布</a:t>
            </a:r>
          </a:p>
        </p:txBody>
      </p:sp>
      <p:sp>
        <p:nvSpPr>
          <p:cNvPr id="69" name="">
            <a:extLst xmlns:a="http://schemas.openxmlformats.org/drawingml/2006/main">
              <a:ext uri="{FF2B5EF4-FFF2-40B4-BE49-F238E27FC236}">
                <a16:creationId xmlns:a16="http://schemas.microsoft.com/office/drawing/2014/main" id="{ABF70CB6-2DBA-40B3-8812-EA3167B6BF21}"/>
              </a:ext>
            </a:extLst>
          </p:cNvPr>
          <p:cNvSpPr>
            <a:spLocks xmlns:a="http://schemas.openxmlformats.org/drawingml/2006/main" noGrp="1"/>
          </p:cNvSpPr>
          <p:nvPr/>
        </p:nvSpPr>
        <p:spPr>
          <a:xfrm xmlns:a="http://schemas.openxmlformats.org/drawingml/2006/main">
            <a:off x="5981700" y="5486400"/>
            <a:ext cx="2057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74750"/>
          </a:bodyPr>
          <a:lstStyle xmlns:a="http://schemas.openxmlformats.org/drawingml/2006/main"/>
          <a:p xmlns:a="http://schemas.openxmlformats.org/drawingml/2006/main">
            <a:pPr algn="l">
              <a:defRPr sz="975" b="0">
                <a:solidFill>
                  <a:srgbClr val="475569"/>
                </a:solidFill>
              </a:defRPr>
            </a:pPr>
            <a:r>
              <a:rPr sz="975" b="0">
                <a:solidFill>
                  <a:srgbClr val="475569"/>
                </a:solidFill>
              </a:rPr>
              <a:t>发布版本与接收版本一一对应，不覆盖旧版本。</a:t>
            </a:r>
          </a:p>
        </p:txBody>
      </p:sp>
      <p:sp>
        <p:nvSpPr>
          <p:cNvPr id="70" name="">
            <a:extLst xmlns:a="http://schemas.openxmlformats.org/drawingml/2006/main">
              <a:ext uri="{FF2B5EF4-FFF2-40B4-BE49-F238E27FC236}">
                <a16:creationId xmlns:a16="http://schemas.microsoft.com/office/drawing/2014/main" id="{D4EA2C3F-5922-4C66-A07A-A7B6961FABBF}"/>
              </a:ext>
            </a:extLst>
          </p:cNvPr>
          <p:cNvSpPr>
            <a:spLocks xmlns:a="http://schemas.openxmlformats.org/drawingml/2006/main" noGrp="1"/>
          </p:cNvSpPr>
          <p:nvPr/>
        </p:nvSpPr>
        <p:spPr>
          <a:xfrm xmlns:a="http://schemas.openxmlformats.org/drawingml/2006/main">
            <a:off x="8458200" y="5010150"/>
            <a:ext cx="23812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E2E8F0"/>
            </a:solidFill>
            <a:prstDash val="solid"/>
          </a:ln>
        </p:spPr>
      </p:sp>
      <p:sp>
        <p:nvSpPr>
          <p:cNvPr id="71" name="">
            <a:extLst xmlns:a="http://schemas.openxmlformats.org/drawingml/2006/main">
              <a:ext uri="{FF2B5EF4-FFF2-40B4-BE49-F238E27FC236}">
                <a16:creationId xmlns:a16="http://schemas.microsoft.com/office/drawing/2014/main" id="{7B62FE97-DF00-414C-A157-501BD8B3F467}"/>
              </a:ext>
            </a:extLst>
          </p:cNvPr>
          <p:cNvSpPr>
            <a:spLocks xmlns:a="http://schemas.openxmlformats.org/drawingml/2006/main" noGrp="1"/>
          </p:cNvSpPr>
          <p:nvPr/>
        </p:nvSpPr>
        <p:spPr>
          <a:xfrm xmlns:a="http://schemas.openxmlformats.org/drawingml/2006/main">
            <a:off x="8458200" y="5010150"/>
            <a:ext cx="47625" cy="8191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72" name="">
            <a:extLst xmlns:a="http://schemas.openxmlformats.org/drawingml/2006/main">
              <a:ext uri="{FF2B5EF4-FFF2-40B4-BE49-F238E27FC236}">
                <a16:creationId xmlns:a16="http://schemas.microsoft.com/office/drawing/2014/main" id="{DBECEEAB-0B61-469A-A849-2210889B46EF}"/>
              </a:ext>
            </a:extLst>
          </p:cNvPr>
          <p:cNvSpPr>
            <a:spLocks xmlns:a="http://schemas.openxmlformats.org/drawingml/2006/main" noGrp="1"/>
          </p:cNvSpPr>
          <p:nvPr/>
        </p:nvSpPr>
        <p:spPr>
          <a:xfrm xmlns:a="http://schemas.openxmlformats.org/drawingml/2006/main">
            <a:off x="8629650" y="5143500"/>
            <a:ext cx="2057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最新结论</a:t>
            </a:r>
          </a:p>
        </p:txBody>
      </p:sp>
      <p:sp>
        <p:nvSpPr>
          <p:cNvPr id="73" name="">
            <a:extLst xmlns:a="http://schemas.openxmlformats.org/drawingml/2006/main">
              <a:ext uri="{FF2B5EF4-FFF2-40B4-BE49-F238E27FC236}">
                <a16:creationId xmlns:a16="http://schemas.microsoft.com/office/drawing/2014/main" id="{14E8AB2F-4956-4640-A873-A3D9C2B15987}"/>
              </a:ext>
            </a:extLst>
          </p:cNvPr>
          <p:cNvSpPr>
            <a:spLocks xmlns:a="http://schemas.openxmlformats.org/drawingml/2006/main" noGrp="1"/>
          </p:cNvSpPr>
          <p:nvPr/>
        </p:nvSpPr>
        <p:spPr>
          <a:xfrm xmlns:a="http://schemas.openxmlformats.org/drawingml/2006/main">
            <a:off x="8629650" y="5486400"/>
            <a:ext cx="2057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56714"/>
          </a:bodyPr>
          <a:lstStyle xmlns:a="http://schemas.openxmlformats.org/drawingml/2006/main"/>
          <a:p xmlns:a="http://schemas.openxmlformats.org/drawingml/2006/main">
            <a:pPr algn="l">
              <a:defRPr sz="975" b="0">
                <a:solidFill>
                  <a:srgbClr val="475569"/>
                </a:solidFill>
              </a:defRPr>
            </a:pPr>
            <a:r>
              <a:rPr sz="975" b="0">
                <a:solidFill>
                  <a:srgbClr val="475569"/>
                </a:solidFill>
              </a:rPr>
              <a:t>翎瑞鸿翔一期覆盖 MBOM、ECO、工程项目管理；接口资料仍待补齐。</a:t>
            </a:r>
          </a:p>
        </p:txBody>
      </p:sp>
      <p:sp>
        <p:nvSpPr>
          <p:cNvPr id="74" name="">
            <a:extLst xmlns:a="http://schemas.openxmlformats.org/drawingml/2006/main">
              <a:ext uri="{FF2B5EF4-FFF2-40B4-BE49-F238E27FC236}">
                <a16:creationId xmlns:a16="http://schemas.microsoft.com/office/drawing/2014/main" id="{421E9073-23B0-4BD5-BAA3-3541894942E2}"/>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11 / 29</a:t>
            </a:r>
          </a:p>
        </p:txBody>
      </p:sp>
    </p:spTree>
    <p:extLst>
      <p:ext uri="{BB962C8B-B14F-4D97-AF65-F5344CB8AC3E}">
        <p14:creationId xmlns:p14="http://schemas.microsoft.com/office/powerpoint/2010/main" val="1978044223"/>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E89C57E-79FD-41E5-8B9F-C73C01EC99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0C5E37F-3ABB-4C22-B7A9-70980491A14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45B36FD-8390-47E8-8A14-D29C5AB8DAD2}"/>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052047D-DDF5-4530-929B-BC5FE7BAAA95}"/>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02.4 BOM体系</a:t>
            </a:r>
          </a:p>
        </p:txBody>
      </p:sp>
      <p:sp>
        <p:nvSpPr>
          <p:cNvPr id="6" name="">
            <a:extLst xmlns:a="http://schemas.openxmlformats.org/drawingml/2006/main">
              <a:ext uri="{FF2B5EF4-FFF2-40B4-BE49-F238E27FC236}">
                <a16:creationId xmlns:a16="http://schemas.microsoft.com/office/drawing/2014/main" id="{CABE219E-4D93-47F7-9969-B7FED0B80233}"/>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83B62502-CAD0-4DE7-B2FD-A1D04CA32C85}"/>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四态 BOM 与航空复材差异</a:t>
            </a:r>
          </a:p>
        </p:txBody>
      </p:sp>
      <p:sp>
        <p:nvSpPr>
          <p:cNvPr id="8" name="">
            <a:extLst xmlns:a="http://schemas.openxmlformats.org/drawingml/2006/main">
              <a:ext uri="{FF2B5EF4-FFF2-40B4-BE49-F238E27FC236}">
                <a16:creationId xmlns:a16="http://schemas.microsoft.com/office/drawing/2014/main" id="{6BE9EDE0-494E-4E71-875F-4AAFD4215A1F}"/>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EBOM、MBOM、PBOM、SBOM 与航空复材差异表单独展开</a:t>
            </a:r>
          </a:p>
        </p:txBody>
      </p:sp>
      <p:sp>
        <p:nvSpPr>
          <p:cNvPr id="9" name="">
            <a:extLst xmlns:a="http://schemas.openxmlformats.org/drawingml/2006/main">
              <a:ext uri="{FF2B5EF4-FFF2-40B4-BE49-F238E27FC236}">
                <a16:creationId xmlns:a16="http://schemas.microsoft.com/office/drawing/2014/main" id="{8926E271-8A8B-49CE-9A01-9448918AE0E7}"/>
              </a:ext>
            </a:extLst>
          </p:cNvPr>
          <p:cNvSpPr>
            <a:spLocks xmlns:a="http://schemas.openxmlformats.org/drawingml/2006/main" noGrp="1"/>
          </p:cNvSpPr>
          <p:nvPr/>
        </p:nvSpPr>
        <p:spPr>
          <a:xfrm xmlns:a="http://schemas.openxmlformats.org/drawingml/2006/main">
            <a:off x="552450" y="1714500"/>
            <a:ext cx="24765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7A395540-36E1-45D4-A106-D134254922E5}"/>
              </a:ext>
            </a:extLst>
          </p:cNvPr>
          <p:cNvSpPr>
            <a:spLocks xmlns:a="http://schemas.openxmlformats.org/drawingml/2006/main" noGrp="1"/>
          </p:cNvSpPr>
          <p:nvPr/>
        </p:nvSpPr>
        <p:spPr>
          <a:xfrm xmlns:a="http://schemas.openxmlformats.org/drawingml/2006/main">
            <a:off x="552450" y="1714500"/>
            <a:ext cx="47625" cy="1219200"/>
          </a:xfrm>
          <a:prstGeom xmlns:a="http://schemas.openxmlformats.org/drawingml/2006/main" prst="rect">
            <a:avLst/>
          </a:prstGeom>
          <a:solidFill xmlns:a="http://schemas.openxmlformats.org/drawingml/2006/main">
            <a:srgbClr val="7C3AED"/>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88798095-967B-46B2-BD63-4D3043A22DEE}"/>
              </a:ext>
            </a:extLst>
          </p:cNvPr>
          <p:cNvSpPr>
            <a:spLocks xmlns:a="http://schemas.openxmlformats.org/drawingml/2006/main" noGrp="1"/>
          </p:cNvSpPr>
          <p:nvPr/>
        </p:nvSpPr>
        <p:spPr>
          <a:xfrm xmlns:a="http://schemas.openxmlformats.org/drawingml/2006/main">
            <a:off x="723900" y="184785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EBOM 工程BOM</a:t>
            </a:r>
          </a:p>
        </p:txBody>
      </p:sp>
      <p:sp>
        <p:nvSpPr>
          <p:cNvPr id="12" name="">
            <a:extLst xmlns:a="http://schemas.openxmlformats.org/drawingml/2006/main">
              <a:ext uri="{FF2B5EF4-FFF2-40B4-BE49-F238E27FC236}">
                <a16:creationId xmlns:a16="http://schemas.microsoft.com/office/drawing/2014/main" id="{5B2946AB-C5CA-4DC1-B38A-9A400C9DAF01}"/>
              </a:ext>
            </a:extLst>
          </p:cNvPr>
          <p:cNvSpPr>
            <a:spLocks xmlns:a="http://schemas.openxmlformats.org/drawingml/2006/main" noGrp="1"/>
          </p:cNvSpPr>
          <p:nvPr/>
        </p:nvSpPr>
        <p:spPr>
          <a:xfrm xmlns:a="http://schemas.openxmlformats.org/drawingml/2006/main">
            <a:off x="723900" y="2190750"/>
            <a:ext cx="21526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PLM 主导</a:t>
            </a:r>
          </a:p>
          <a:p xmlns:a="http://schemas.openxmlformats.org/drawingml/2006/main">
            <a:pPr algn="l">
              <a:defRPr sz="975" b="0">
                <a:solidFill>
                  <a:srgbClr val="475569"/>
                </a:solidFill>
              </a:defRPr>
            </a:pPr>
            <a:r>
              <a:rPr sz="975" b="0">
                <a:solidFill>
                  <a:srgbClr val="475569"/>
                </a:solidFill>
              </a:rPr>
              <a:t>铺层顺序、纤维方向、材料规范号、固化工艺规范，含虚拟件。</a:t>
            </a:r>
          </a:p>
        </p:txBody>
      </p:sp>
      <p:sp>
        <p:nvSpPr>
          <p:cNvPr id="13" name="">
            <a:extLst xmlns:a="http://schemas.openxmlformats.org/drawingml/2006/main">
              <a:ext uri="{FF2B5EF4-FFF2-40B4-BE49-F238E27FC236}">
                <a16:creationId xmlns:a16="http://schemas.microsoft.com/office/drawing/2014/main" id="{F3F43AF4-7D1D-47C9-82FB-EFDA879CDACF}"/>
              </a:ext>
            </a:extLst>
          </p:cNvPr>
          <p:cNvSpPr>
            <a:spLocks xmlns:a="http://schemas.openxmlformats.org/drawingml/2006/main" noGrp="1"/>
          </p:cNvSpPr>
          <p:nvPr/>
        </p:nvSpPr>
        <p:spPr>
          <a:xfrm xmlns:a="http://schemas.openxmlformats.org/drawingml/2006/main">
            <a:off x="3295650" y="1714500"/>
            <a:ext cx="24765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AE2CFC57-0A80-47C7-9035-D09D1F7BBF1E}"/>
              </a:ext>
            </a:extLst>
          </p:cNvPr>
          <p:cNvSpPr>
            <a:spLocks xmlns:a="http://schemas.openxmlformats.org/drawingml/2006/main" noGrp="1"/>
          </p:cNvSpPr>
          <p:nvPr/>
        </p:nvSpPr>
        <p:spPr>
          <a:xfrm xmlns:a="http://schemas.openxmlformats.org/drawingml/2006/main">
            <a:off x="3295650" y="1714500"/>
            <a:ext cx="47625" cy="121920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8F3A06D2-321D-40C8-93FD-43A632D8CB07}"/>
              </a:ext>
            </a:extLst>
          </p:cNvPr>
          <p:cNvSpPr>
            <a:spLocks xmlns:a="http://schemas.openxmlformats.org/drawingml/2006/main" noGrp="1"/>
          </p:cNvSpPr>
          <p:nvPr/>
        </p:nvSpPr>
        <p:spPr>
          <a:xfrm xmlns:a="http://schemas.openxmlformats.org/drawingml/2006/main">
            <a:off x="3467100" y="184785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MBOM 制造BOM</a:t>
            </a:r>
          </a:p>
        </p:txBody>
      </p:sp>
      <p:sp>
        <p:nvSpPr>
          <p:cNvPr id="16" name="">
            <a:extLst xmlns:a="http://schemas.openxmlformats.org/drawingml/2006/main">
              <a:ext uri="{FF2B5EF4-FFF2-40B4-BE49-F238E27FC236}">
                <a16:creationId xmlns:a16="http://schemas.microsoft.com/office/drawing/2014/main" id="{6252EDA5-FA64-4D13-B4D9-2CB7BE43F3BE}"/>
              </a:ext>
            </a:extLst>
          </p:cNvPr>
          <p:cNvSpPr>
            <a:spLocks xmlns:a="http://schemas.openxmlformats.org/drawingml/2006/main" noGrp="1"/>
          </p:cNvSpPr>
          <p:nvPr/>
        </p:nvSpPr>
        <p:spPr>
          <a:xfrm xmlns:a="http://schemas.openxmlformats.org/drawingml/2006/main">
            <a:off x="3467100" y="2190750"/>
            <a:ext cx="21526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CAPP / MES 主导</a:t>
            </a:r>
          </a:p>
          <a:p xmlns:a="http://schemas.openxmlformats.org/drawingml/2006/main">
            <a:pPr algn="l">
              <a:defRPr sz="975" b="0">
                <a:solidFill>
                  <a:srgbClr val="475569"/>
                </a:solidFill>
              </a:defRPr>
            </a:pPr>
            <a:r>
              <a:rPr sz="975" b="0">
                <a:solidFill>
                  <a:srgbClr val="475569"/>
                </a:solidFill>
              </a:rPr>
              <a:t>工序分工、工装编号、工时定额、损耗率、工艺规范号。</a:t>
            </a:r>
          </a:p>
        </p:txBody>
      </p:sp>
      <p:sp>
        <p:nvSpPr>
          <p:cNvPr id="17" name="">
            <a:extLst xmlns:a="http://schemas.openxmlformats.org/drawingml/2006/main">
              <a:ext uri="{FF2B5EF4-FFF2-40B4-BE49-F238E27FC236}">
                <a16:creationId xmlns:a16="http://schemas.microsoft.com/office/drawing/2014/main" id="{F74B0F56-33B7-4917-BEB9-B2CFDD37FFEB}"/>
              </a:ext>
            </a:extLst>
          </p:cNvPr>
          <p:cNvSpPr>
            <a:spLocks xmlns:a="http://schemas.openxmlformats.org/drawingml/2006/main" noGrp="1"/>
          </p:cNvSpPr>
          <p:nvPr/>
        </p:nvSpPr>
        <p:spPr>
          <a:xfrm xmlns:a="http://schemas.openxmlformats.org/drawingml/2006/main">
            <a:off x="6038850" y="1714500"/>
            <a:ext cx="24765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76F2D350-5EE5-40ED-AD77-5E3D6C49EDE1}"/>
              </a:ext>
            </a:extLst>
          </p:cNvPr>
          <p:cNvSpPr>
            <a:spLocks xmlns:a="http://schemas.openxmlformats.org/drawingml/2006/main" noGrp="1"/>
          </p:cNvSpPr>
          <p:nvPr/>
        </p:nvSpPr>
        <p:spPr>
          <a:xfrm xmlns:a="http://schemas.openxmlformats.org/drawingml/2006/main">
            <a:off x="6038850" y="1714500"/>
            <a:ext cx="47625" cy="12192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4BF9B0F2-6915-4F2C-B927-C53D4C093E4C}"/>
              </a:ext>
            </a:extLst>
          </p:cNvPr>
          <p:cNvSpPr>
            <a:spLocks xmlns:a="http://schemas.openxmlformats.org/drawingml/2006/main" noGrp="1"/>
          </p:cNvSpPr>
          <p:nvPr/>
        </p:nvSpPr>
        <p:spPr>
          <a:xfrm xmlns:a="http://schemas.openxmlformats.org/drawingml/2006/main">
            <a:off x="6210300" y="184785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PBOM 采购BOM</a:t>
            </a:r>
          </a:p>
        </p:txBody>
      </p:sp>
      <p:sp>
        <p:nvSpPr>
          <p:cNvPr id="20" name="">
            <a:extLst xmlns:a="http://schemas.openxmlformats.org/drawingml/2006/main">
              <a:ext uri="{FF2B5EF4-FFF2-40B4-BE49-F238E27FC236}">
                <a16:creationId xmlns:a16="http://schemas.microsoft.com/office/drawing/2014/main" id="{623FF5D8-42A1-47EB-A293-89E4ED0493C9}"/>
              </a:ext>
            </a:extLst>
          </p:cNvPr>
          <p:cNvSpPr>
            <a:spLocks xmlns:a="http://schemas.openxmlformats.org/drawingml/2006/main" noGrp="1"/>
          </p:cNvSpPr>
          <p:nvPr/>
        </p:nvSpPr>
        <p:spPr>
          <a:xfrm xmlns:a="http://schemas.openxmlformats.org/drawingml/2006/main">
            <a:off x="6210300" y="2190750"/>
            <a:ext cx="21526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ERP-MM 主导</a:t>
            </a:r>
          </a:p>
          <a:p xmlns:a="http://schemas.openxmlformats.org/drawingml/2006/main">
            <a:pPr algn="l">
              <a:defRPr sz="975" b="0">
                <a:solidFill>
                  <a:srgbClr val="475569"/>
                </a:solidFill>
              </a:defRPr>
            </a:pPr>
            <a:r>
              <a:rPr sz="975" b="0">
                <a:solidFill>
                  <a:srgbClr val="475569"/>
                </a:solidFill>
              </a:rPr>
              <a:t>预浸料规格、批次要求、有效期、供应商资质、ASL。</a:t>
            </a:r>
          </a:p>
        </p:txBody>
      </p:sp>
      <p:sp>
        <p:nvSpPr>
          <p:cNvPr id="21" name="">
            <a:extLst xmlns:a="http://schemas.openxmlformats.org/drawingml/2006/main">
              <a:ext uri="{FF2B5EF4-FFF2-40B4-BE49-F238E27FC236}">
                <a16:creationId xmlns:a16="http://schemas.microsoft.com/office/drawing/2014/main" id="{CFD1B34C-B68A-497A-8976-D6D0B590FEF3}"/>
              </a:ext>
            </a:extLst>
          </p:cNvPr>
          <p:cNvSpPr>
            <a:spLocks xmlns:a="http://schemas.openxmlformats.org/drawingml/2006/main" noGrp="1"/>
          </p:cNvSpPr>
          <p:nvPr/>
        </p:nvSpPr>
        <p:spPr>
          <a:xfrm xmlns:a="http://schemas.openxmlformats.org/drawingml/2006/main">
            <a:off x="8782050" y="1714500"/>
            <a:ext cx="24765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B15193FE-D474-4D72-81E3-6ACC4D036FE2}"/>
              </a:ext>
            </a:extLst>
          </p:cNvPr>
          <p:cNvSpPr>
            <a:spLocks xmlns:a="http://schemas.openxmlformats.org/drawingml/2006/main" noGrp="1"/>
          </p:cNvSpPr>
          <p:nvPr/>
        </p:nvSpPr>
        <p:spPr>
          <a:xfrm xmlns:a="http://schemas.openxmlformats.org/drawingml/2006/main">
            <a:off x="8782050" y="1714500"/>
            <a:ext cx="47625" cy="1219200"/>
          </a:xfrm>
          <a:prstGeom xmlns:a="http://schemas.openxmlformats.org/drawingml/2006/main" prst="rect">
            <a:avLst/>
          </a:prstGeom>
          <a:solidFill xmlns:a="http://schemas.openxmlformats.org/drawingml/2006/main">
            <a:srgbClr val="0891B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2C887F21-1A94-4A01-B15D-BE21FB2F0BFF}"/>
              </a:ext>
            </a:extLst>
          </p:cNvPr>
          <p:cNvSpPr>
            <a:spLocks xmlns:a="http://schemas.openxmlformats.org/drawingml/2006/main" noGrp="1"/>
          </p:cNvSpPr>
          <p:nvPr/>
        </p:nvSpPr>
        <p:spPr>
          <a:xfrm xmlns:a="http://schemas.openxmlformats.org/drawingml/2006/main">
            <a:off x="8953500" y="184785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SBOM 构型BOM</a:t>
            </a:r>
          </a:p>
        </p:txBody>
      </p:sp>
      <p:sp>
        <p:nvSpPr>
          <p:cNvPr id="24" name="">
            <a:extLst xmlns:a="http://schemas.openxmlformats.org/drawingml/2006/main">
              <a:ext uri="{FF2B5EF4-FFF2-40B4-BE49-F238E27FC236}">
                <a16:creationId xmlns:a16="http://schemas.microsoft.com/office/drawing/2014/main" id="{0F2BD9AB-3FED-4B70-A0D6-333CFAAD8DA7}"/>
              </a:ext>
            </a:extLst>
          </p:cNvPr>
          <p:cNvSpPr>
            <a:spLocks xmlns:a="http://schemas.openxmlformats.org/drawingml/2006/main" noGrp="1"/>
          </p:cNvSpPr>
          <p:nvPr/>
        </p:nvSpPr>
        <p:spPr>
          <a:xfrm xmlns:a="http://schemas.openxmlformats.org/drawingml/2006/main">
            <a:off x="8953500" y="2190750"/>
            <a:ext cx="21526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PDM / 适航 主导</a:t>
            </a:r>
          </a:p>
          <a:p xmlns:a="http://schemas.openxmlformats.org/drawingml/2006/main">
            <a:pPr algn="l">
              <a:defRPr sz="975" b="0">
                <a:solidFill>
                  <a:srgbClr val="475569"/>
                </a:solidFill>
              </a:defRPr>
            </a:pPr>
            <a:r>
              <a:rPr sz="975" b="0">
                <a:solidFill>
                  <a:srgbClr val="475569"/>
                </a:solidFill>
              </a:rPr>
              <a:t>件号、序列号、适用性、构型偏离、SoC、FAI。</a:t>
            </a:r>
          </a:p>
        </p:txBody>
      </p:sp>
      <p:sp>
        <p:nvSpPr>
          <p:cNvPr id="25" name="">
            <a:extLst xmlns:a="http://schemas.openxmlformats.org/drawingml/2006/main">
              <a:ext uri="{FF2B5EF4-FFF2-40B4-BE49-F238E27FC236}">
                <a16:creationId xmlns:a16="http://schemas.microsoft.com/office/drawing/2014/main" id="{AE2E6639-138D-4192-A25B-71A1CFC1717F}"/>
              </a:ext>
            </a:extLst>
          </p:cNvPr>
          <p:cNvSpPr>
            <a:spLocks xmlns:a="http://schemas.openxmlformats.org/drawingml/2006/main" noGrp="1"/>
          </p:cNvSpPr>
          <p:nvPr/>
        </p:nvSpPr>
        <p:spPr>
          <a:xfrm xmlns:a="http://schemas.openxmlformats.org/drawingml/2006/main">
            <a:off x="552450" y="3238500"/>
            <a:ext cx="2430517" cy="347663"/>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26" name="">
            <a:extLst xmlns:a="http://schemas.openxmlformats.org/drawingml/2006/main">
              <a:ext uri="{FF2B5EF4-FFF2-40B4-BE49-F238E27FC236}">
                <a16:creationId xmlns:a16="http://schemas.microsoft.com/office/drawing/2014/main" id="{18E1EF32-DDA0-4322-96C3-ACA0F8368BE0}"/>
              </a:ext>
            </a:extLst>
          </p:cNvPr>
          <p:cNvSpPr>
            <a:spLocks xmlns:a="http://schemas.openxmlformats.org/drawingml/2006/main" noGrp="1"/>
          </p:cNvSpPr>
          <p:nvPr/>
        </p:nvSpPr>
        <p:spPr>
          <a:xfrm xmlns:a="http://schemas.openxmlformats.org/drawingml/2006/main">
            <a:off x="590550" y="3267075"/>
            <a:ext cx="235431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1">
                <a:solidFill>
                  <a:srgbClr val="FFFFFF"/>
                </a:solidFill>
              </a:defRPr>
            </a:pPr>
            <a:r>
              <a:rPr sz="653" b="1">
                <a:solidFill>
                  <a:srgbClr val="FFFFFF"/>
                </a:solidFill>
              </a:rPr>
              <a:t>差异点</a:t>
            </a:r>
          </a:p>
        </p:txBody>
      </p:sp>
      <p:sp>
        <p:nvSpPr>
          <p:cNvPr id="27" name="">
            <a:extLst xmlns:a="http://schemas.openxmlformats.org/drawingml/2006/main">
              <a:ext uri="{FF2B5EF4-FFF2-40B4-BE49-F238E27FC236}">
                <a16:creationId xmlns:a16="http://schemas.microsoft.com/office/drawing/2014/main" id="{BF75D376-7239-42CC-ACAC-CF015A8A86F3}"/>
              </a:ext>
            </a:extLst>
          </p:cNvPr>
          <p:cNvSpPr>
            <a:spLocks xmlns:a="http://schemas.openxmlformats.org/drawingml/2006/main" noGrp="1"/>
          </p:cNvSpPr>
          <p:nvPr/>
        </p:nvSpPr>
        <p:spPr>
          <a:xfrm xmlns:a="http://schemas.openxmlformats.org/drawingml/2006/main">
            <a:off x="2982967" y="3238500"/>
            <a:ext cx="3038147" cy="347663"/>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28" name="">
            <a:extLst xmlns:a="http://schemas.openxmlformats.org/drawingml/2006/main">
              <a:ext uri="{FF2B5EF4-FFF2-40B4-BE49-F238E27FC236}">
                <a16:creationId xmlns:a16="http://schemas.microsoft.com/office/drawing/2014/main" id="{A7D886D9-DBC8-4372-AF08-6F938708659A}"/>
              </a:ext>
            </a:extLst>
          </p:cNvPr>
          <p:cNvSpPr>
            <a:spLocks xmlns:a="http://schemas.openxmlformats.org/drawingml/2006/main" noGrp="1"/>
          </p:cNvSpPr>
          <p:nvPr/>
        </p:nvSpPr>
        <p:spPr>
          <a:xfrm xmlns:a="http://schemas.openxmlformats.org/drawingml/2006/main">
            <a:off x="3021067" y="3267075"/>
            <a:ext cx="296194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1">
                <a:solidFill>
                  <a:srgbClr val="FFFFFF"/>
                </a:solidFill>
              </a:defRPr>
            </a:pPr>
            <a:r>
              <a:rPr sz="653" b="1">
                <a:solidFill>
                  <a:srgbClr val="FFFFFF"/>
                </a:solidFill>
              </a:rPr>
              <a:t>普通制造</a:t>
            </a:r>
          </a:p>
        </p:txBody>
      </p:sp>
      <p:sp>
        <p:nvSpPr>
          <p:cNvPr id="29" name="">
            <a:extLst xmlns:a="http://schemas.openxmlformats.org/drawingml/2006/main">
              <a:ext uri="{FF2B5EF4-FFF2-40B4-BE49-F238E27FC236}">
                <a16:creationId xmlns:a16="http://schemas.microsoft.com/office/drawing/2014/main" id="{67BEBF34-681F-40CE-B425-41F27CBA8269}"/>
              </a:ext>
            </a:extLst>
          </p:cNvPr>
          <p:cNvSpPr>
            <a:spLocks xmlns:a="http://schemas.openxmlformats.org/drawingml/2006/main" noGrp="1"/>
          </p:cNvSpPr>
          <p:nvPr/>
        </p:nvSpPr>
        <p:spPr>
          <a:xfrm xmlns:a="http://schemas.openxmlformats.org/drawingml/2006/main">
            <a:off x="6021114" y="3238500"/>
            <a:ext cx="5104086" cy="347663"/>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30" name="">
            <a:extLst xmlns:a="http://schemas.openxmlformats.org/drawingml/2006/main">
              <a:ext uri="{FF2B5EF4-FFF2-40B4-BE49-F238E27FC236}">
                <a16:creationId xmlns:a16="http://schemas.microsoft.com/office/drawing/2014/main" id="{18FBCB20-9521-4ADF-97E4-B86D941C069C}"/>
              </a:ext>
            </a:extLst>
          </p:cNvPr>
          <p:cNvSpPr>
            <a:spLocks xmlns:a="http://schemas.openxmlformats.org/drawingml/2006/main" noGrp="1"/>
          </p:cNvSpPr>
          <p:nvPr/>
        </p:nvSpPr>
        <p:spPr>
          <a:xfrm xmlns:a="http://schemas.openxmlformats.org/drawingml/2006/main">
            <a:off x="6059214" y="3267075"/>
            <a:ext cx="5027886"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1">
                <a:solidFill>
                  <a:srgbClr val="FFFFFF"/>
                </a:solidFill>
              </a:defRPr>
            </a:pPr>
            <a:r>
              <a:rPr sz="653" b="1">
                <a:solidFill>
                  <a:srgbClr val="FFFFFF"/>
                </a:solidFill>
              </a:rPr>
              <a:t>航空复材制造</a:t>
            </a:r>
          </a:p>
        </p:txBody>
      </p:sp>
      <p:sp>
        <p:nvSpPr>
          <p:cNvPr id="31" name="">
            <a:extLst xmlns:a="http://schemas.openxmlformats.org/drawingml/2006/main">
              <a:ext uri="{FF2B5EF4-FFF2-40B4-BE49-F238E27FC236}">
                <a16:creationId xmlns:a16="http://schemas.microsoft.com/office/drawing/2014/main" id="{430079B8-BF17-4BB7-A1E7-2AFCD74039AC}"/>
              </a:ext>
            </a:extLst>
          </p:cNvPr>
          <p:cNvSpPr>
            <a:spLocks xmlns:a="http://schemas.openxmlformats.org/drawingml/2006/main" noGrp="1"/>
          </p:cNvSpPr>
          <p:nvPr/>
        </p:nvSpPr>
        <p:spPr>
          <a:xfrm xmlns:a="http://schemas.openxmlformats.org/drawingml/2006/main">
            <a:off x="552450" y="3586163"/>
            <a:ext cx="2430517" cy="3476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2" name="">
            <a:extLst xmlns:a="http://schemas.openxmlformats.org/drawingml/2006/main">
              <a:ext uri="{FF2B5EF4-FFF2-40B4-BE49-F238E27FC236}">
                <a16:creationId xmlns:a16="http://schemas.microsoft.com/office/drawing/2014/main" id="{F682109F-813A-4205-9984-63D94C38B8DD}"/>
              </a:ext>
            </a:extLst>
          </p:cNvPr>
          <p:cNvSpPr>
            <a:spLocks xmlns:a="http://schemas.openxmlformats.org/drawingml/2006/main" noGrp="1"/>
          </p:cNvSpPr>
          <p:nvPr/>
        </p:nvSpPr>
        <p:spPr>
          <a:xfrm xmlns:a="http://schemas.openxmlformats.org/drawingml/2006/main">
            <a:off x="590550" y="3614738"/>
            <a:ext cx="235431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BOM最小单元</a:t>
            </a:r>
          </a:p>
        </p:txBody>
      </p:sp>
      <p:sp>
        <p:nvSpPr>
          <p:cNvPr id="33" name="">
            <a:extLst xmlns:a="http://schemas.openxmlformats.org/drawingml/2006/main">
              <a:ext uri="{FF2B5EF4-FFF2-40B4-BE49-F238E27FC236}">
                <a16:creationId xmlns:a16="http://schemas.microsoft.com/office/drawing/2014/main" id="{C952A907-11A8-49B1-A63A-E00A20772DDE}"/>
              </a:ext>
            </a:extLst>
          </p:cNvPr>
          <p:cNvSpPr>
            <a:spLocks xmlns:a="http://schemas.openxmlformats.org/drawingml/2006/main" noGrp="1"/>
          </p:cNvSpPr>
          <p:nvPr/>
        </p:nvSpPr>
        <p:spPr>
          <a:xfrm xmlns:a="http://schemas.openxmlformats.org/drawingml/2006/main">
            <a:off x="2982967" y="3586163"/>
            <a:ext cx="3038147" cy="3476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4" name="">
            <a:extLst xmlns:a="http://schemas.openxmlformats.org/drawingml/2006/main">
              <a:ext uri="{FF2B5EF4-FFF2-40B4-BE49-F238E27FC236}">
                <a16:creationId xmlns:a16="http://schemas.microsoft.com/office/drawing/2014/main" id="{12810B16-F298-4A9D-A0F8-C3A67036DD3F}"/>
              </a:ext>
            </a:extLst>
          </p:cNvPr>
          <p:cNvSpPr>
            <a:spLocks xmlns:a="http://schemas.openxmlformats.org/drawingml/2006/main" noGrp="1"/>
          </p:cNvSpPr>
          <p:nvPr/>
        </p:nvSpPr>
        <p:spPr>
          <a:xfrm xmlns:a="http://schemas.openxmlformats.org/drawingml/2006/main">
            <a:off x="3021067" y="3614738"/>
            <a:ext cx="296194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零件</a:t>
            </a:r>
          </a:p>
        </p:txBody>
      </p:sp>
      <p:sp>
        <p:nvSpPr>
          <p:cNvPr id="35" name="">
            <a:extLst xmlns:a="http://schemas.openxmlformats.org/drawingml/2006/main">
              <a:ext uri="{FF2B5EF4-FFF2-40B4-BE49-F238E27FC236}">
                <a16:creationId xmlns:a16="http://schemas.microsoft.com/office/drawing/2014/main" id="{032F6F46-EA97-4D17-8458-EF7352E1E6CD}"/>
              </a:ext>
            </a:extLst>
          </p:cNvPr>
          <p:cNvSpPr>
            <a:spLocks xmlns:a="http://schemas.openxmlformats.org/drawingml/2006/main" noGrp="1"/>
          </p:cNvSpPr>
          <p:nvPr/>
        </p:nvSpPr>
        <p:spPr>
          <a:xfrm xmlns:a="http://schemas.openxmlformats.org/drawingml/2006/main">
            <a:off x="6021114" y="3586163"/>
            <a:ext cx="5104086" cy="3476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6" name="">
            <a:extLst xmlns:a="http://schemas.openxmlformats.org/drawingml/2006/main">
              <a:ext uri="{FF2B5EF4-FFF2-40B4-BE49-F238E27FC236}">
                <a16:creationId xmlns:a16="http://schemas.microsoft.com/office/drawing/2014/main" id="{21B2B988-EDDE-4A2F-A789-7D436B88BD28}"/>
              </a:ext>
            </a:extLst>
          </p:cNvPr>
          <p:cNvSpPr>
            <a:spLocks xmlns:a="http://schemas.openxmlformats.org/drawingml/2006/main" noGrp="1"/>
          </p:cNvSpPr>
          <p:nvPr/>
        </p:nvSpPr>
        <p:spPr>
          <a:xfrm xmlns:a="http://schemas.openxmlformats.org/drawingml/2006/main">
            <a:off x="6059214" y="3614738"/>
            <a:ext cx="5027886"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铺层（Ply），一个蒙皮可能有数十层</a:t>
            </a:r>
          </a:p>
        </p:txBody>
      </p:sp>
      <p:sp>
        <p:nvSpPr>
          <p:cNvPr id="37" name="">
            <a:extLst xmlns:a="http://schemas.openxmlformats.org/drawingml/2006/main">
              <a:ext uri="{FF2B5EF4-FFF2-40B4-BE49-F238E27FC236}">
                <a16:creationId xmlns:a16="http://schemas.microsoft.com/office/drawing/2014/main" id="{96632A4F-065F-4DE0-AB40-96C1D4EAB726}"/>
              </a:ext>
            </a:extLst>
          </p:cNvPr>
          <p:cNvSpPr>
            <a:spLocks xmlns:a="http://schemas.openxmlformats.org/drawingml/2006/main" noGrp="1"/>
          </p:cNvSpPr>
          <p:nvPr/>
        </p:nvSpPr>
        <p:spPr>
          <a:xfrm xmlns:a="http://schemas.openxmlformats.org/drawingml/2006/main">
            <a:off x="552450" y="3933825"/>
            <a:ext cx="2430517" cy="347663"/>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8" name="">
            <a:extLst xmlns:a="http://schemas.openxmlformats.org/drawingml/2006/main">
              <a:ext uri="{FF2B5EF4-FFF2-40B4-BE49-F238E27FC236}">
                <a16:creationId xmlns:a16="http://schemas.microsoft.com/office/drawing/2014/main" id="{6A47DA91-6757-4C5D-8190-093B2ACC0722}"/>
              </a:ext>
            </a:extLst>
          </p:cNvPr>
          <p:cNvSpPr>
            <a:spLocks xmlns:a="http://schemas.openxmlformats.org/drawingml/2006/main" noGrp="1"/>
          </p:cNvSpPr>
          <p:nvPr/>
        </p:nvSpPr>
        <p:spPr>
          <a:xfrm xmlns:a="http://schemas.openxmlformats.org/drawingml/2006/main">
            <a:off x="590550" y="3962400"/>
            <a:ext cx="235431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材料属性</a:t>
            </a:r>
          </a:p>
        </p:txBody>
      </p:sp>
      <p:sp>
        <p:nvSpPr>
          <p:cNvPr id="39" name="">
            <a:extLst xmlns:a="http://schemas.openxmlformats.org/drawingml/2006/main">
              <a:ext uri="{FF2B5EF4-FFF2-40B4-BE49-F238E27FC236}">
                <a16:creationId xmlns:a16="http://schemas.microsoft.com/office/drawing/2014/main" id="{3DAE6813-CB1A-4BAC-8C75-04E7285AC845}"/>
              </a:ext>
            </a:extLst>
          </p:cNvPr>
          <p:cNvSpPr>
            <a:spLocks xmlns:a="http://schemas.openxmlformats.org/drawingml/2006/main" noGrp="1"/>
          </p:cNvSpPr>
          <p:nvPr/>
        </p:nvSpPr>
        <p:spPr>
          <a:xfrm xmlns:a="http://schemas.openxmlformats.org/drawingml/2006/main">
            <a:off x="2982967" y="3933825"/>
            <a:ext cx="3038147" cy="347663"/>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0" name="">
            <a:extLst xmlns:a="http://schemas.openxmlformats.org/drawingml/2006/main">
              <a:ext uri="{FF2B5EF4-FFF2-40B4-BE49-F238E27FC236}">
                <a16:creationId xmlns:a16="http://schemas.microsoft.com/office/drawing/2014/main" id="{1CB88517-7012-46FE-AA08-89B353828255}"/>
              </a:ext>
            </a:extLst>
          </p:cNvPr>
          <p:cNvSpPr>
            <a:spLocks xmlns:a="http://schemas.openxmlformats.org/drawingml/2006/main" noGrp="1"/>
          </p:cNvSpPr>
          <p:nvPr/>
        </p:nvSpPr>
        <p:spPr>
          <a:xfrm xmlns:a="http://schemas.openxmlformats.org/drawingml/2006/main">
            <a:off x="3021067" y="3962400"/>
            <a:ext cx="296194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材料牌号</a:t>
            </a:r>
          </a:p>
        </p:txBody>
      </p:sp>
      <p:sp>
        <p:nvSpPr>
          <p:cNvPr id="41" name="">
            <a:extLst xmlns:a="http://schemas.openxmlformats.org/drawingml/2006/main">
              <a:ext uri="{FF2B5EF4-FFF2-40B4-BE49-F238E27FC236}">
                <a16:creationId xmlns:a16="http://schemas.microsoft.com/office/drawing/2014/main" id="{B8019FB8-A03C-4329-9A21-8A7CC04C09AA}"/>
              </a:ext>
            </a:extLst>
          </p:cNvPr>
          <p:cNvSpPr>
            <a:spLocks xmlns:a="http://schemas.openxmlformats.org/drawingml/2006/main" noGrp="1"/>
          </p:cNvSpPr>
          <p:nvPr/>
        </p:nvSpPr>
        <p:spPr>
          <a:xfrm xmlns:a="http://schemas.openxmlformats.org/drawingml/2006/main">
            <a:off x="6021114" y="3933825"/>
            <a:ext cx="5104086" cy="347663"/>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2" name="">
            <a:extLst xmlns:a="http://schemas.openxmlformats.org/drawingml/2006/main">
              <a:ext uri="{FF2B5EF4-FFF2-40B4-BE49-F238E27FC236}">
                <a16:creationId xmlns:a16="http://schemas.microsoft.com/office/drawing/2014/main" id="{EBE452E8-2DA4-4A6C-84A8-2F6FF5476435}"/>
              </a:ext>
            </a:extLst>
          </p:cNvPr>
          <p:cNvSpPr>
            <a:spLocks xmlns:a="http://schemas.openxmlformats.org/drawingml/2006/main" noGrp="1"/>
          </p:cNvSpPr>
          <p:nvPr/>
        </p:nvSpPr>
        <p:spPr>
          <a:xfrm xmlns:a="http://schemas.openxmlformats.org/drawingml/2006/main">
            <a:off x="6059214" y="3962400"/>
            <a:ext cx="5027886"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预浸料批次号 + 有效期 + 存储条件</a:t>
            </a:r>
          </a:p>
        </p:txBody>
      </p:sp>
      <p:sp>
        <p:nvSpPr>
          <p:cNvPr id="43" name="">
            <a:extLst xmlns:a="http://schemas.openxmlformats.org/drawingml/2006/main">
              <a:ext uri="{FF2B5EF4-FFF2-40B4-BE49-F238E27FC236}">
                <a16:creationId xmlns:a16="http://schemas.microsoft.com/office/drawing/2014/main" id="{1028B819-CA28-4FB1-BAC6-7EB73B9EADE7}"/>
              </a:ext>
            </a:extLst>
          </p:cNvPr>
          <p:cNvSpPr>
            <a:spLocks xmlns:a="http://schemas.openxmlformats.org/drawingml/2006/main" noGrp="1"/>
          </p:cNvSpPr>
          <p:nvPr/>
        </p:nvSpPr>
        <p:spPr>
          <a:xfrm xmlns:a="http://schemas.openxmlformats.org/drawingml/2006/main">
            <a:off x="552450" y="4281488"/>
            <a:ext cx="2430517" cy="3476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4" name="">
            <a:extLst xmlns:a="http://schemas.openxmlformats.org/drawingml/2006/main">
              <a:ext uri="{FF2B5EF4-FFF2-40B4-BE49-F238E27FC236}">
                <a16:creationId xmlns:a16="http://schemas.microsoft.com/office/drawing/2014/main" id="{AC70A134-5EC9-4EF5-B27E-CBE8850E3BB5}"/>
              </a:ext>
            </a:extLst>
          </p:cNvPr>
          <p:cNvSpPr>
            <a:spLocks xmlns:a="http://schemas.openxmlformats.org/drawingml/2006/main" noGrp="1"/>
          </p:cNvSpPr>
          <p:nvPr/>
        </p:nvSpPr>
        <p:spPr>
          <a:xfrm xmlns:a="http://schemas.openxmlformats.org/drawingml/2006/main">
            <a:off x="590550" y="4310063"/>
            <a:ext cx="235431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工艺参数</a:t>
            </a:r>
          </a:p>
        </p:txBody>
      </p:sp>
      <p:sp>
        <p:nvSpPr>
          <p:cNvPr id="45" name="">
            <a:extLst xmlns:a="http://schemas.openxmlformats.org/drawingml/2006/main">
              <a:ext uri="{FF2B5EF4-FFF2-40B4-BE49-F238E27FC236}">
                <a16:creationId xmlns:a16="http://schemas.microsoft.com/office/drawing/2014/main" id="{F3C27FF0-0ACB-4CF7-97A7-F6AF06D98196}"/>
              </a:ext>
            </a:extLst>
          </p:cNvPr>
          <p:cNvSpPr>
            <a:spLocks xmlns:a="http://schemas.openxmlformats.org/drawingml/2006/main" noGrp="1"/>
          </p:cNvSpPr>
          <p:nvPr/>
        </p:nvSpPr>
        <p:spPr>
          <a:xfrm xmlns:a="http://schemas.openxmlformats.org/drawingml/2006/main">
            <a:off x="2982967" y="4281488"/>
            <a:ext cx="3038147" cy="3476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6" name="">
            <a:extLst xmlns:a="http://schemas.openxmlformats.org/drawingml/2006/main">
              <a:ext uri="{FF2B5EF4-FFF2-40B4-BE49-F238E27FC236}">
                <a16:creationId xmlns:a16="http://schemas.microsoft.com/office/drawing/2014/main" id="{CDFC46DE-990E-4E11-87BE-00D09A249B0D}"/>
              </a:ext>
            </a:extLst>
          </p:cNvPr>
          <p:cNvSpPr>
            <a:spLocks xmlns:a="http://schemas.openxmlformats.org/drawingml/2006/main" noGrp="1"/>
          </p:cNvSpPr>
          <p:nvPr/>
        </p:nvSpPr>
        <p:spPr>
          <a:xfrm xmlns:a="http://schemas.openxmlformats.org/drawingml/2006/main">
            <a:off x="3021067" y="4310063"/>
            <a:ext cx="296194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工艺路线</a:t>
            </a:r>
          </a:p>
        </p:txBody>
      </p:sp>
      <p:sp>
        <p:nvSpPr>
          <p:cNvPr id="47" name="">
            <a:extLst xmlns:a="http://schemas.openxmlformats.org/drawingml/2006/main">
              <a:ext uri="{FF2B5EF4-FFF2-40B4-BE49-F238E27FC236}">
                <a16:creationId xmlns:a16="http://schemas.microsoft.com/office/drawing/2014/main" id="{01E6A329-AC98-4F0E-8F38-A119ED09213A}"/>
              </a:ext>
            </a:extLst>
          </p:cNvPr>
          <p:cNvSpPr>
            <a:spLocks xmlns:a="http://schemas.openxmlformats.org/drawingml/2006/main" noGrp="1"/>
          </p:cNvSpPr>
          <p:nvPr/>
        </p:nvSpPr>
        <p:spPr>
          <a:xfrm xmlns:a="http://schemas.openxmlformats.org/drawingml/2006/main">
            <a:off x="6021114" y="4281488"/>
            <a:ext cx="5104086" cy="3476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8" name="">
            <a:extLst xmlns:a="http://schemas.openxmlformats.org/drawingml/2006/main">
              <a:ext uri="{FF2B5EF4-FFF2-40B4-BE49-F238E27FC236}">
                <a16:creationId xmlns:a16="http://schemas.microsoft.com/office/drawing/2014/main" id="{EA433474-9A25-482B-B104-B75B48D7098B}"/>
              </a:ext>
            </a:extLst>
          </p:cNvPr>
          <p:cNvSpPr>
            <a:spLocks xmlns:a="http://schemas.openxmlformats.org/drawingml/2006/main" noGrp="1"/>
          </p:cNvSpPr>
          <p:nvPr/>
        </p:nvSpPr>
        <p:spPr>
          <a:xfrm xmlns:a="http://schemas.openxmlformats.org/drawingml/2006/main">
            <a:off x="6059214" y="4310063"/>
            <a:ext cx="5027886"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固化曲线（温度/压力/时间）+ 热压罐编号，必须记录到件</a:t>
            </a:r>
          </a:p>
        </p:txBody>
      </p:sp>
      <p:sp>
        <p:nvSpPr>
          <p:cNvPr id="49" name="">
            <a:extLst xmlns:a="http://schemas.openxmlformats.org/drawingml/2006/main">
              <a:ext uri="{FF2B5EF4-FFF2-40B4-BE49-F238E27FC236}">
                <a16:creationId xmlns:a16="http://schemas.microsoft.com/office/drawing/2014/main" id="{EED2D6FD-0F4A-44AD-98DC-B06484529FF5}"/>
              </a:ext>
            </a:extLst>
          </p:cNvPr>
          <p:cNvSpPr>
            <a:spLocks xmlns:a="http://schemas.openxmlformats.org/drawingml/2006/main" noGrp="1"/>
          </p:cNvSpPr>
          <p:nvPr/>
        </p:nvSpPr>
        <p:spPr>
          <a:xfrm xmlns:a="http://schemas.openxmlformats.org/drawingml/2006/main">
            <a:off x="552450" y="4629150"/>
            <a:ext cx="2430517" cy="347663"/>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0" name="">
            <a:extLst xmlns:a="http://schemas.openxmlformats.org/drawingml/2006/main">
              <a:ext uri="{FF2B5EF4-FFF2-40B4-BE49-F238E27FC236}">
                <a16:creationId xmlns:a16="http://schemas.microsoft.com/office/drawing/2014/main" id="{2DBD1DCD-9ABD-41A9-A157-710AD394F7B5}"/>
              </a:ext>
            </a:extLst>
          </p:cNvPr>
          <p:cNvSpPr>
            <a:spLocks xmlns:a="http://schemas.openxmlformats.org/drawingml/2006/main" noGrp="1"/>
          </p:cNvSpPr>
          <p:nvPr/>
        </p:nvSpPr>
        <p:spPr>
          <a:xfrm xmlns:a="http://schemas.openxmlformats.org/drawingml/2006/main">
            <a:off x="590550" y="4657725"/>
            <a:ext cx="235431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质量记录</a:t>
            </a:r>
          </a:p>
        </p:txBody>
      </p:sp>
      <p:sp>
        <p:nvSpPr>
          <p:cNvPr id="51" name="">
            <a:extLst xmlns:a="http://schemas.openxmlformats.org/drawingml/2006/main">
              <a:ext uri="{FF2B5EF4-FFF2-40B4-BE49-F238E27FC236}">
                <a16:creationId xmlns:a16="http://schemas.microsoft.com/office/drawing/2014/main" id="{DE6A5085-2A69-45B5-8044-1C60091C6EF1}"/>
              </a:ext>
            </a:extLst>
          </p:cNvPr>
          <p:cNvSpPr>
            <a:spLocks xmlns:a="http://schemas.openxmlformats.org/drawingml/2006/main" noGrp="1"/>
          </p:cNvSpPr>
          <p:nvPr/>
        </p:nvSpPr>
        <p:spPr>
          <a:xfrm xmlns:a="http://schemas.openxmlformats.org/drawingml/2006/main">
            <a:off x="2982967" y="4629150"/>
            <a:ext cx="3038147" cy="347663"/>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2" name="">
            <a:extLst xmlns:a="http://schemas.openxmlformats.org/drawingml/2006/main">
              <a:ext uri="{FF2B5EF4-FFF2-40B4-BE49-F238E27FC236}">
                <a16:creationId xmlns:a16="http://schemas.microsoft.com/office/drawing/2014/main" id="{47EE4646-8F74-4F4A-AFE9-99E03A4AB529}"/>
              </a:ext>
            </a:extLst>
          </p:cNvPr>
          <p:cNvSpPr>
            <a:spLocks xmlns:a="http://schemas.openxmlformats.org/drawingml/2006/main" noGrp="1"/>
          </p:cNvSpPr>
          <p:nvPr/>
        </p:nvSpPr>
        <p:spPr>
          <a:xfrm xmlns:a="http://schemas.openxmlformats.org/drawingml/2006/main">
            <a:off x="3021067" y="4657725"/>
            <a:ext cx="296194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检验合格</a:t>
            </a:r>
          </a:p>
        </p:txBody>
      </p:sp>
      <p:sp>
        <p:nvSpPr>
          <p:cNvPr id="53" name="">
            <a:extLst xmlns:a="http://schemas.openxmlformats.org/drawingml/2006/main">
              <a:ext uri="{FF2B5EF4-FFF2-40B4-BE49-F238E27FC236}">
                <a16:creationId xmlns:a16="http://schemas.microsoft.com/office/drawing/2014/main" id="{27FFBACC-FFD0-402F-935B-DEDA5A09F30F}"/>
              </a:ext>
            </a:extLst>
          </p:cNvPr>
          <p:cNvSpPr>
            <a:spLocks xmlns:a="http://schemas.openxmlformats.org/drawingml/2006/main" noGrp="1"/>
          </p:cNvSpPr>
          <p:nvPr/>
        </p:nvSpPr>
        <p:spPr>
          <a:xfrm xmlns:a="http://schemas.openxmlformats.org/drawingml/2006/main">
            <a:off x="6021114" y="4629150"/>
            <a:ext cx="5104086" cy="347663"/>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4" name="">
            <a:extLst xmlns:a="http://schemas.openxmlformats.org/drawingml/2006/main">
              <a:ext uri="{FF2B5EF4-FFF2-40B4-BE49-F238E27FC236}">
                <a16:creationId xmlns:a16="http://schemas.microsoft.com/office/drawing/2014/main" id="{774DD944-A6EB-4A91-8317-B3582156B02D}"/>
              </a:ext>
            </a:extLst>
          </p:cNvPr>
          <p:cNvSpPr>
            <a:spLocks xmlns:a="http://schemas.openxmlformats.org/drawingml/2006/main" noGrp="1"/>
          </p:cNvSpPr>
          <p:nvPr/>
        </p:nvSpPr>
        <p:spPr>
          <a:xfrm xmlns:a="http://schemas.openxmlformats.org/drawingml/2006/main">
            <a:off x="6059214" y="4657725"/>
            <a:ext cx="5027886"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NDT报告（超声C扫/X射线）+ 孔隙率检测，记录到件</a:t>
            </a:r>
          </a:p>
        </p:txBody>
      </p:sp>
      <p:sp>
        <p:nvSpPr>
          <p:cNvPr id="55" name="">
            <a:extLst xmlns:a="http://schemas.openxmlformats.org/drawingml/2006/main">
              <a:ext uri="{FF2B5EF4-FFF2-40B4-BE49-F238E27FC236}">
                <a16:creationId xmlns:a16="http://schemas.microsoft.com/office/drawing/2014/main" id="{4A78F555-F040-48E9-879C-11FBF9DAA3D1}"/>
              </a:ext>
            </a:extLst>
          </p:cNvPr>
          <p:cNvSpPr>
            <a:spLocks xmlns:a="http://schemas.openxmlformats.org/drawingml/2006/main" noGrp="1"/>
          </p:cNvSpPr>
          <p:nvPr/>
        </p:nvSpPr>
        <p:spPr>
          <a:xfrm xmlns:a="http://schemas.openxmlformats.org/drawingml/2006/main">
            <a:off x="552450" y="4976813"/>
            <a:ext cx="2430517" cy="3476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6" name="">
            <a:extLst xmlns:a="http://schemas.openxmlformats.org/drawingml/2006/main">
              <a:ext uri="{FF2B5EF4-FFF2-40B4-BE49-F238E27FC236}">
                <a16:creationId xmlns:a16="http://schemas.microsoft.com/office/drawing/2014/main" id="{71A94E4D-69E0-4C6E-9050-7D5E14CC69C9}"/>
              </a:ext>
            </a:extLst>
          </p:cNvPr>
          <p:cNvSpPr>
            <a:spLocks xmlns:a="http://schemas.openxmlformats.org/drawingml/2006/main" noGrp="1"/>
          </p:cNvSpPr>
          <p:nvPr/>
        </p:nvSpPr>
        <p:spPr>
          <a:xfrm xmlns:a="http://schemas.openxmlformats.org/drawingml/2006/main">
            <a:off x="590550" y="5005388"/>
            <a:ext cx="235431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版本管理</a:t>
            </a:r>
          </a:p>
        </p:txBody>
      </p:sp>
      <p:sp>
        <p:nvSpPr>
          <p:cNvPr id="57" name="">
            <a:extLst xmlns:a="http://schemas.openxmlformats.org/drawingml/2006/main">
              <a:ext uri="{FF2B5EF4-FFF2-40B4-BE49-F238E27FC236}">
                <a16:creationId xmlns:a16="http://schemas.microsoft.com/office/drawing/2014/main" id="{2FE2A993-5CD7-4AF1-8248-01EA58948EEA}"/>
              </a:ext>
            </a:extLst>
          </p:cNvPr>
          <p:cNvSpPr>
            <a:spLocks xmlns:a="http://schemas.openxmlformats.org/drawingml/2006/main" noGrp="1"/>
          </p:cNvSpPr>
          <p:nvPr/>
        </p:nvSpPr>
        <p:spPr>
          <a:xfrm xmlns:a="http://schemas.openxmlformats.org/drawingml/2006/main">
            <a:off x="2982967" y="4976813"/>
            <a:ext cx="3038147" cy="3476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8" name="">
            <a:extLst xmlns:a="http://schemas.openxmlformats.org/drawingml/2006/main">
              <a:ext uri="{FF2B5EF4-FFF2-40B4-BE49-F238E27FC236}">
                <a16:creationId xmlns:a16="http://schemas.microsoft.com/office/drawing/2014/main" id="{31588CB2-CA46-40D3-B7AD-A7433DB540F1}"/>
              </a:ext>
            </a:extLst>
          </p:cNvPr>
          <p:cNvSpPr>
            <a:spLocks xmlns:a="http://schemas.openxmlformats.org/drawingml/2006/main" noGrp="1"/>
          </p:cNvSpPr>
          <p:nvPr/>
        </p:nvSpPr>
        <p:spPr>
          <a:xfrm xmlns:a="http://schemas.openxmlformats.org/drawingml/2006/main">
            <a:off x="3021067" y="5005388"/>
            <a:ext cx="296194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版次</a:t>
            </a:r>
          </a:p>
        </p:txBody>
      </p:sp>
      <p:sp>
        <p:nvSpPr>
          <p:cNvPr id="59" name="">
            <a:extLst xmlns:a="http://schemas.openxmlformats.org/drawingml/2006/main">
              <a:ext uri="{FF2B5EF4-FFF2-40B4-BE49-F238E27FC236}">
                <a16:creationId xmlns:a16="http://schemas.microsoft.com/office/drawing/2014/main" id="{E4E8D27F-BA49-46BB-8CD8-BBC9FA825F02}"/>
              </a:ext>
            </a:extLst>
          </p:cNvPr>
          <p:cNvSpPr>
            <a:spLocks xmlns:a="http://schemas.openxmlformats.org/drawingml/2006/main" noGrp="1"/>
          </p:cNvSpPr>
          <p:nvPr/>
        </p:nvSpPr>
        <p:spPr>
          <a:xfrm xmlns:a="http://schemas.openxmlformats.org/drawingml/2006/main">
            <a:off x="6021114" y="4976813"/>
            <a:ext cx="5104086" cy="3476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0" name="">
            <a:extLst xmlns:a="http://schemas.openxmlformats.org/drawingml/2006/main">
              <a:ext uri="{FF2B5EF4-FFF2-40B4-BE49-F238E27FC236}">
                <a16:creationId xmlns:a16="http://schemas.microsoft.com/office/drawing/2014/main" id="{223531F8-D0EE-4D66-848B-B6F64855B39A}"/>
              </a:ext>
            </a:extLst>
          </p:cNvPr>
          <p:cNvSpPr>
            <a:spLocks xmlns:a="http://schemas.openxmlformats.org/drawingml/2006/main" noGrp="1"/>
          </p:cNvSpPr>
          <p:nvPr/>
        </p:nvSpPr>
        <p:spPr>
          <a:xfrm xmlns:a="http://schemas.openxmlformats.org/drawingml/2006/main">
            <a:off x="6059214" y="5005388"/>
            <a:ext cx="5027886"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构型状态 + ECO/EO变更单 + 偏离/超差记录，适航局可查</a:t>
            </a:r>
          </a:p>
        </p:txBody>
      </p:sp>
      <p:sp>
        <p:nvSpPr>
          <p:cNvPr id="61" name="">
            <a:extLst xmlns:a="http://schemas.openxmlformats.org/drawingml/2006/main">
              <a:ext uri="{FF2B5EF4-FFF2-40B4-BE49-F238E27FC236}">
                <a16:creationId xmlns:a16="http://schemas.microsoft.com/office/drawing/2014/main" id="{2EBD0ED6-8110-4280-8E92-163329112905}"/>
              </a:ext>
            </a:extLst>
          </p:cNvPr>
          <p:cNvSpPr>
            <a:spLocks xmlns:a="http://schemas.openxmlformats.org/drawingml/2006/main" noGrp="1"/>
          </p:cNvSpPr>
          <p:nvPr/>
        </p:nvSpPr>
        <p:spPr>
          <a:xfrm xmlns:a="http://schemas.openxmlformats.org/drawingml/2006/main">
            <a:off x="552450" y="5324475"/>
            <a:ext cx="2430517" cy="347663"/>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2" name="">
            <a:extLst xmlns:a="http://schemas.openxmlformats.org/drawingml/2006/main">
              <a:ext uri="{FF2B5EF4-FFF2-40B4-BE49-F238E27FC236}">
                <a16:creationId xmlns:a16="http://schemas.microsoft.com/office/drawing/2014/main" id="{E1950867-3AFA-4C9A-B177-E38A9C33CE5F}"/>
              </a:ext>
            </a:extLst>
          </p:cNvPr>
          <p:cNvSpPr>
            <a:spLocks xmlns:a="http://schemas.openxmlformats.org/drawingml/2006/main" noGrp="1"/>
          </p:cNvSpPr>
          <p:nvPr/>
        </p:nvSpPr>
        <p:spPr>
          <a:xfrm xmlns:a="http://schemas.openxmlformats.org/drawingml/2006/main">
            <a:off x="590550" y="5353050"/>
            <a:ext cx="235431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追溯要求</a:t>
            </a:r>
          </a:p>
        </p:txBody>
      </p:sp>
      <p:sp>
        <p:nvSpPr>
          <p:cNvPr id="63" name="">
            <a:extLst xmlns:a="http://schemas.openxmlformats.org/drawingml/2006/main">
              <a:ext uri="{FF2B5EF4-FFF2-40B4-BE49-F238E27FC236}">
                <a16:creationId xmlns:a16="http://schemas.microsoft.com/office/drawing/2014/main" id="{B12ED88B-8E2C-4459-B543-1B1BF2403147}"/>
              </a:ext>
            </a:extLst>
          </p:cNvPr>
          <p:cNvSpPr>
            <a:spLocks xmlns:a="http://schemas.openxmlformats.org/drawingml/2006/main" noGrp="1"/>
          </p:cNvSpPr>
          <p:nvPr/>
        </p:nvSpPr>
        <p:spPr>
          <a:xfrm xmlns:a="http://schemas.openxmlformats.org/drawingml/2006/main">
            <a:off x="2982967" y="5324475"/>
            <a:ext cx="3038147" cy="347663"/>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4" name="">
            <a:extLst xmlns:a="http://schemas.openxmlformats.org/drawingml/2006/main">
              <a:ext uri="{FF2B5EF4-FFF2-40B4-BE49-F238E27FC236}">
                <a16:creationId xmlns:a16="http://schemas.microsoft.com/office/drawing/2014/main" id="{342B1ED1-828C-45A9-8E3D-8E904582844C}"/>
              </a:ext>
            </a:extLst>
          </p:cNvPr>
          <p:cNvSpPr>
            <a:spLocks xmlns:a="http://schemas.openxmlformats.org/drawingml/2006/main" noGrp="1"/>
          </p:cNvSpPr>
          <p:nvPr/>
        </p:nvSpPr>
        <p:spPr>
          <a:xfrm xmlns:a="http://schemas.openxmlformats.org/drawingml/2006/main">
            <a:off x="3021067" y="5353050"/>
            <a:ext cx="296194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批次追溯</a:t>
            </a:r>
          </a:p>
        </p:txBody>
      </p:sp>
      <p:sp>
        <p:nvSpPr>
          <p:cNvPr id="65" name="">
            <a:extLst xmlns:a="http://schemas.openxmlformats.org/drawingml/2006/main">
              <a:ext uri="{FF2B5EF4-FFF2-40B4-BE49-F238E27FC236}">
                <a16:creationId xmlns:a16="http://schemas.microsoft.com/office/drawing/2014/main" id="{927C2244-F9CC-4C3E-859B-DA5ED2D56B66}"/>
              </a:ext>
            </a:extLst>
          </p:cNvPr>
          <p:cNvSpPr>
            <a:spLocks xmlns:a="http://schemas.openxmlformats.org/drawingml/2006/main" noGrp="1"/>
          </p:cNvSpPr>
          <p:nvPr/>
        </p:nvSpPr>
        <p:spPr>
          <a:xfrm xmlns:a="http://schemas.openxmlformats.org/drawingml/2006/main">
            <a:off x="6021114" y="5324475"/>
            <a:ext cx="5104086" cy="347663"/>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6" name="">
            <a:extLst xmlns:a="http://schemas.openxmlformats.org/drawingml/2006/main">
              <a:ext uri="{FF2B5EF4-FFF2-40B4-BE49-F238E27FC236}">
                <a16:creationId xmlns:a16="http://schemas.microsoft.com/office/drawing/2014/main" id="{4DCBA02D-B2AD-4456-9DF6-D1389114B879}"/>
              </a:ext>
            </a:extLst>
          </p:cNvPr>
          <p:cNvSpPr>
            <a:spLocks xmlns:a="http://schemas.openxmlformats.org/drawingml/2006/main" noGrp="1"/>
          </p:cNvSpPr>
          <p:nvPr/>
        </p:nvSpPr>
        <p:spPr>
          <a:xfrm xmlns:a="http://schemas.openxmlformats.org/drawingml/2006/main">
            <a:off x="6059214" y="5353050"/>
            <a:ext cx="5027886"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零件编号+质量编号追溯，每个零件独立档案，终身保存</a:t>
            </a:r>
          </a:p>
        </p:txBody>
      </p:sp>
      <p:sp>
        <p:nvSpPr>
          <p:cNvPr id="67" name="">
            <a:extLst xmlns:a="http://schemas.openxmlformats.org/drawingml/2006/main">
              <a:ext uri="{FF2B5EF4-FFF2-40B4-BE49-F238E27FC236}">
                <a16:creationId xmlns:a16="http://schemas.microsoft.com/office/drawing/2014/main" id="{258637BA-2D0F-4FAA-A685-5C36209A7FBE}"/>
              </a:ext>
            </a:extLst>
          </p:cNvPr>
          <p:cNvSpPr>
            <a:spLocks xmlns:a="http://schemas.openxmlformats.org/drawingml/2006/main" noGrp="1"/>
          </p:cNvSpPr>
          <p:nvPr/>
        </p:nvSpPr>
        <p:spPr>
          <a:xfrm xmlns:a="http://schemas.openxmlformats.org/drawingml/2006/main">
            <a:off x="552450" y="5672138"/>
            <a:ext cx="2430517" cy="3476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8" name="">
            <a:extLst xmlns:a="http://schemas.openxmlformats.org/drawingml/2006/main">
              <a:ext uri="{FF2B5EF4-FFF2-40B4-BE49-F238E27FC236}">
                <a16:creationId xmlns:a16="http://schemas.microsoft.com/office/drawing/2014/main" id="{39CF9657-E655-4272-A997-6AA7A951D013}"/>
              </a:ext>
            </a:extLst>
          </p:cNvPr>
          <p:cNvSpPr>
            <a:spLocks xmlns:a="http://schemas.openxmlformats.org/drawingml/2006/main" noGrp="1"/>
          </p:cNvSpPr>
          <p:nvPr/>
        </p:nvSpPr>
        <p:spPr>
          <a:xfrm xmlns:a="http://schemas.openxmlformats.org/drawingml/2006/main">
            <a:off x="590550" y="5700713"/>
            <a:ext cx="235431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有效期管理</a:t>
            </a:r>
          </a:p>
        </p:txBody>
      </p:sp>
      <p:sp>
        <p:nvSpPr>
          <p:cNvPr id="69" name="">
            <a:extLst xmlns:a="http://schemas.openxmlformats.org/drawingml/2006/main">
              <a:ext uri="{FF2B5EF4-FFF2-40B4-BE49-F238E27FC236}">
                <a16:creationId xmlns:a16="http://schemas.microsoft.com/office/drawing/2014/main" id="{2EE72117-D34F-4A36-B09E-6210CEF21262}"/>
              </a:ext>
            </a:extLst>
          </p:cNvPr>
          <p:cNvSpPr>
            <a:spLocks xmlns:a="http://schemas.openxmlformats.org/drawingml/2006/main" noGrp="1"/>
          </p:cNvSpPr>
          <p:nvPr/>
        </p:nvSpPr>
        <p:spPr>
          <a:xfrm xmlns:a="http://schemas.openxmlformats.org/drawingml/2006/main">
            <a:off x="2982967" y="5672138"/>
            <a:ext cx="3038147" cy="3476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0" name="">
            <a:extLst xmlns:a="http://schemas.openxmlformats.org/drawingml/2006/main">
              <a:ext uri="{FF2B5EF4-FFF2-40B4-BE49-F238E27FC236}">
                <a16:creationId xmlns:a16="http://schemas.microsoft.com/office/drawing/2014/main" id="{6BDB0477-6840-4BAE-8CAF-E2C313D70448}"/>
              </a:ext>
            </a:extLst>
          </p:cNvPr>
          <p:cNvSpPr>
            <a:spLocks xmlns:a="http://schemas.openxmlformats.org/drawingml/2006/main" noGrp="1"/>
          </p:cNvSpPr>
          <p:nvPr/>
        </p:nvSpPr>
        <p:spPr>
          <a:xfrm xmlns:a="http://schemas.openxmlformats.org/drawingml/2006/main">
            <a:off x="3021067" y="5700713"/>
            <a:ext cx="2961947"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无</a:t>
            </a:r>
          </a:p>
        </p:txBody>
      </p:sp>
      <p:sp>
        <p:nvSpPr>
          <p:cNvPr id="71" name="">
            <a:extLst xmlns:a="http://schemas.openxmlformats.org/drawingml/2006/main">
              <a:ext uri="{FF2B5EF4-FFF2-40B4-BE49-F238E27FC236}">
                <a16:creationId xmlns:a16="http://schemas.microsoft.com/office/drawing/2014/main" id="{6B16AA4E-1077-40CB-ABEE-56F64B6873F9}"/>
              </a:ext>
            </a:extLst>
          </p:cNvPr>
          <p:cNvSpPr>
            <a:spLocks xmlns:a="http://schemas.openxmlformats.org/drawingml/2006/main" noGrp="1"/>
          </p:cNvSpPr>
          <p:nvPr/>
        </p:nvSpPr>
        <p:spPr>
          <a:xfrm xmlns:a="http://schemas.openxmlformats.org/drawingml/2006/main">
            <a:off x="6021114" y="5672138"/>
            <a:ext cx="5104086" cy="3476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2" name="">
            <a:extLst xmlns:a="http://schemas.openxmlformats.org/drawingml/2006/main">
              <a:ext uri="{FF2B5EF4-FFF2-40B4-BE49-F238E27FC236}">
                <a16:creationId xmlns:a16="http://schemas.microsoft.com/office/drawing/2014/main" id="{00990E09-C08A-4481-9FEF-85832D16E8B5}"/>
              </a:ext>
            </a:extLst>
          </p:cNvPr>
          <p:cNvSpPr>
            <a:spLocks xmlns:a="http://schemas.openxmlformats.org/drawingml/2006/main" noGrp="1"/>
          </p:cNvSpPr>
          <p:nvPr/>
        </p:nvSpPr>
        <p:spPr>
          <a:xfrm xmlns:a="http://schemas.openxmlformats.org/drawingml/2006/main">
            <a:off x="6059214" y="5700713"/>
            <a:ext cx="5027886" cy="2905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53" b="0">
                <a:solidFill>
                  <a:srgbClr val="475569"/>
                </a:solidFill>
              </a:defRPr>
            </a:pPr>
            <a:r>
              <a:rPr sz="653" b="0">
                <a:solidFill>
                  <a:srgbClr val="475569"/>
                </a:solidFill>
              </a:rPr>
              <a:t>预浸料冷冻存储时间 + 环境暴露时间 + 上机时限，超期作废</a:t>
            </a:r>
          </a:p>
        </p:txBody>
      </p:sp>
      <p:sp>
        <p:nvSpPr>
          <p:cNvPr id="73" name="">
            <a:extLst xmlns:a="http://schemas.openxmlformats.org/drawingml/2006/main">
              <a:ext uri="{FF2B5EF4-FFF2-40B4-BE49-F238E27FC236}">
                <a16:creationId xmlns:a16="http://schemas.microsoft.com/office/drawing/2014/main" id="{95C7F454-F533-4353-A397-94B04791846E}"/>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12 / 29</a:t>
            </a:r>
          </a:p>
        </p:txBody>
      </p:sp>
    </p:spTree>
    <p:extLst>
      <p:ext uri="{BB962C8B-B14F-4D97-AF65-F5344CB8AC3E}">
        <p14:creationId xmlns:p14="http://schemas.microsoft.com/office/powerpoint/2010/main" val="50558186"/>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7D76CA5-C508-41CC-99E7-3424A62B88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E617ECB-8BB5-4759-9DE2-E075F26CB10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1423F5B-A7F4-4ADE-810C-B98531D08403}"/>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4F6AC28-F068-4743-BA1F-1AC1B3C897AB}"/>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02.5 采购与制造</a:t>
            </a:r>
          </a:p>
        </p:txBody>
      </p:sp>
      <p:sp>
        <p:nvSpPr>
          <p:cNvPr id="6" name="">
            <a:extLst xmlns:a="http://schemas.openxmlformats.org/drawingml/2006/main">
              <a:ext uri="{FF2B5EF4-FFF2-40B4-BE49-F238E27FC236}">
                <a16:creationId xmlns:a16="http://schemas.microsoft.com/office/drawing/2014/main" id="{E8E1D74A-38A5-42FF-9C0B-26054E60A079}"/>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814CFAA4-4BA0-4553-AA3D-D89A48B7D686}"/>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采购协同链 + 制造执行闭环</a:t>
            </a:r>
          </a:p>
        </p:txBody>
      </p:sp>
      <p:sp>
        <p:nvSpPr>
          <p:cNvPr id="8" name="">
            <a:extLst xmlns:a="http://schemas.openxmlformats.org/drawingml/2006/main">
              <a:ext uri="{FF2B5EF4-FFF2-40B4-BE49-F238E27FC236}">
                <a16:creationId xmlns:a16="http://schemas.microsoft.com/office/drawing/2014/main" id="{E44449BA-E826-4B70-B4F9-DC5256541B96}"/>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ERP、SCIM、WMS、MES 与财务成本闭环展开</a:t>
            </a:r>
          </a:p>
        </p:txBody>
      </p:sp>
      <p:sp>
        <p:nvSpPr>
          <p:cNvPr id="9" name="">
            <a:extLst xmlns:a="http://schemas.openxmlformats.org/drawingml/2006/main">
              <a:ext uri="{FF2B5EF4-FFF2-40B4-BE49-F238E27FC236}">
                <a16:creationId xmlns:a16="http://schemas.microsoft.com/office/drawing/2014/main" id="{053D1E15-B4AD-4169-8661-FE3A9032621C}"/>
              </a:ext>
            </a:extLst>
          </p:cNvPr>
          <p:cNvSpPr>
            <a:spLocks xmlns:a="http://schemas.openxmlformats.org/drawingml/2006/main" noGrp="1"/>
          </p:cNvSpPr>
          <p:nvPr/>
        </p:nvSpPr>
        <p:spPr>
          <a:xfrm xmlns:a="http://schemas.openxmlformats.org/drawingml/2006/main">
            <a:off x="552450" y="1752600"/>
            <a:ext cx="4857750" cy="842963"/>
          </a:xfrm>
          <a:prstGeom xmlns:a="http://schemas.openxmlformats.org/drawingml/2006/main" prst="roundRect">
            <a:avLst>
              <a:gd name="adj" fmla="val 9040"/>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14F0D5A4-9C2B-4443-BE3F-CCF06CBFFA49}"/>
              </a:ext>
            </a:extLst>
          </p:cNvPr>
          <p:cNvSpPr>
            <a:spLocks xmlns:a="http://schemas.openxmlformats.org/drawingml/2006/main" noGrp="1"/>
          </p:cNvSpPr>
          <p:nvPr/>
        </p:nvSpPr>
        <p:spPr>
          <a:xfrm xmlns:a="http://schemas.openxmlformats.org/drawingml/2006/main">
            <a:off x="704850" y="1895475"/>
            <a:ext cx="285750" cy="285750"/>
          </a:xfrm>
          <a:prstGeom xmlns:a="http://schemas.openxmlformats.org/drawingml/2006/main" prst="ellipse">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BE75E37-1D22-4F8B-9C05-F0A39ECB492E}"/>
              </a:ext>
            </a:extLst>
          </p:cNvPr>
          <p:cNvSpPr>
            <a:spLocks xmlns:a="http://schemas.openxmlformats.org/drawingml/2006/main" noGrp="1"/>
          </p:cNvSpPr>
          <p:nvPr/>
        </p:nvSpPr>
        <p:spPr>
          <a:xfrm xmlns:a="http://schemas.openxmlformats.org/drawingml/2006/main">
            <a:off x="704850" y="1933575"/>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825" b="1">
                <a:solidFill>
                  <a:srgbClr val="FFFFFF"/>
                </a:solidFill>
              </a:defRPr>
            </a:pPr>
            <a:r>
              <a:rPr sz="825" b="1">
                <a:solidFill>
                  <a:srgbClr val="FFFFFF"/>
                </a:solidFill>
              </a:rPr>
              <a:t>1</a:t>
            </a:r>
          </a:p>
        </p:txBody>
      </p:sp>
      <p:sp>
        <p:nvSpPr>
          <p:cNvPr id="12" name="">
            <a:extLst xmlns:a="http://schemas.openxmlformats.org/drawingml/2006/main">
              <a:ext uri="{FF2B5EF4-FFF2-40B4-BE49-F238E27FC236}">
                <a16:creationId xmlns:a16="http://schemas.microsoft.com/office/drawing/2014/main" id="{16D1980A-8B6D-4B01-9231-F5CC7B805EF8}"/>
              </a:ext>
            </a:extLst>
          </p:cNvPr>
          <p:cNvSpPr>
            <a:spLocks xmlns:a="http://schemas.openxmlformats.org/drawingml/2006/main" noGrp="1"/>
          </p:cNvSpPr>
          <p:nvPr/>
        </p:nvSpPr>
        <p:spPr>
          <a:xfrm xmlns:a="http://schemas.openxmlformats.org/drawingml/2006/main">
            <a:off x="1104900" y="1866900"/>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ERP-PP / ERP-MM</a:t>
            </a:r>
          </a:p>
        </p:txBody>
      </p:sp>
      <p:sp>
        <p:nvSpPr>
          <p:cNvPr id="13" name="">
            <a:extLst xmlns:a="http://schemas.openxmlformats.org/drawingml/2006/main">
              <a:ext uri="{FF2B5EF4-FFF2-40B4-BE49-F238E27FC236}">
                <a16:creationId xmlns:a16="http://schemas.microsoft.com/office/drawing/2014/main" id="{19A27DC9-3828-48FB-961E-1F3261168DF2}"/>
              </a:ext>
            </a:extLst>
          </p:cNvPr>
          <p:cNvSpPr>
            <a:spLocks xmlns:a="http://schemas.openxmlformats.org/drawingml/2006/main" noGrp="1"/>
          </p:cNvSpPr>
          <p:nvPr/>
        </p:nvSpPr>
        <p:spPr>
          <a:xfrm xmlns:a="http://schemas.openxmlformats.org/drawingml/2006/main">
            <a:off x="1104900" y="2114550"/>
            <a:ext cx="4152900" cy="42386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MRP 运算生成物料需求，触发采购申请与采购订单。</a:t>
            </a:r>
          </a:p>
        </p:txBody>
      </p:sp>
      <p:sp>
        <p:nvSpPr>
          <p:cNvPr id="14" name="">
            <a:extLst xmlns:a="http://schemas.openxmlformats.org/drawingml/2006/main">
              <a:ext uri="{FF2B5EF4-FFF2-40B4-BE49-F238E27FC236}">
                <a16:creationId xmlns:a16="http://schemas.microsoft.com/office/drawing/2014/main" id="{87676645-41E8-4E65-ABAB-696A891F450E}"/>
              </a:ext>
            </a:extLst>
          </p:cNvPr>
          <p:cNvSpPr>
            <a:spLocks xmlns:a="http://schemas.openxmlformats.org/drawingml/2006/main" noGrp="1"/>
          </p:cNvSpPr>
          <p:nvPr/>
        </p:nvSpPr>
        <p:spPr>
          <a:xfrm xmlns:a="http://schemas.openxmlformats.org/drawingml/2006/main">
            <a:off x="838200" y="2605088"/>
            <a:ext cx="28575" cy="9525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F5013220-4844-4872-8C02-A5715A972974}"/>
              </a:ext>
            </a:extLst>
          </p:cNvPr>
          <p:cNvSpPr>
            <a:spLocks xmlns:a="http://schemas.openxmlformats.org/drawingml/2006/main" noGrp="1"/>
          </p:cNvSpPr>
          <p:nvPr/>
        </p:nvSpPr>
        <p:spPr>
          <a:xfrm xmlns:a="http://schemas.openxmlformats.org/drawingml/2006/main">
            <a:off x="552450" y="2709863"/>
            <a:ext cx="4857750" cy="842963"/>
          </a:xfrm>
          <a:prstGeom xmlns:a="http://schemas.openxmlformats.org/drawingml/2006/main" prst="roundRect">
            <a:avLst>
              <a:gd name="adj" fmla="val 9040"/>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7AB1347A-C38C-400C-938B-836238125328}"/>
              </a:ext>
            </a:extLst>
          </p:cNvPr>
          <p:cNvSpPr>
            <a:spLocks xmlns:a="http://schemas.openxmlformats.org/drawingml/2006/main" noGrp="1"/>
          </p:cNvSpPr>
          <p:nvPr/>
        </p:nvSpPr>
        <p:spPr>
          <a:xfrm xmlns:a="http://schemas.openxmlformats.org/drawingml/2006/main">
            <a:off x="704850" y="2852738"/>
            <a:ext cx="285750" cy="285750"/>
          </a:xfrm>
          <a:prstGeom xmlns:a="http://schemas.openxmlformats.org/drawingml/2006/main" prst="ellipse">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4DC773CC-2104-4423-94B9-1A52FAC336B6}"/>
              </a:ext>
            </a:extLst>
          </p:cNvPr>
          <p:cNvSpPr>
            <a:spLocks xmlns:a="http://schemas.openxmlformats.org/drawingml/2006/main" noGrp="1"/>
          </p:cNvSpPr>
          <p:nvPr/>
        </p:nvSpPr>
        <p:spPr>
          <a:xfrm xmlns:a="http://schemas.openxmlformats.org/drawingml/2006/main">
            <a:off x="704850" y="2890838"/>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825" b="1">
                <a:solidFill>
                  <a:srgbClr val="FFFFFF"/>
                </a:solidFill>
              </a:defRPr>
            </a:pPr>
            <a:r>
              <a:rPr sz="825" b="1">
                <a:solidFill>
                  <a:srgbClr val="FFFFFF"/>
                </a:solidFill>
              </a:rPr>
              <a:t>2</a:t>
            </a:r>
          </a:p>
        </p:txBody>
      </p:sp>
      <p:sp>
        <p:nvSpPr>
          <p:cNvPr id="18" name="">
            <a:extLst xmlns:a="http://schemas.openxmlformats.org/drawingml/2006/main">
              <a:ext uri="{FF2B5EF4-FFF2-40B4-BE49-F238E27FC236}">
                <a16:creationId xmlns:a16="http://schemas.microsoft.com/office/drawing/2014/main" id="{48BEA24F-8ED5-4FBD-861D-26AB2DC1787B}"/>
              </a:ext>
            </a:extLst>
          </p:cNvPr>
          <p:cNvSpPr>
            <a:spLocks xmlns:a="http://schemas.openxmlformats.org/drawingml/2006/main" noGrp="1"/>
          </p:cNvSpPr>
          <p:nvPr/>
        </p:nvSpPr>
        <p:spPr>
          <a:xfrm xmlns:a="http://schemas.openxmlformats.org/drawingml/2006/main">
            <a:off x="1104900" y="2824163"/>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SCIM 供应商协同</a:t>
            </a:r>
          </a:p>
        </p:txBody>
      </p:sp>
      <p:sp>
        <p:nvSpPr>
          <p:cNvPr id="19" name="">
            <a:extLst xmlns:a="http://schemas.openxmlformats.org/drawingml/2006/main">
              <a:ext uri="{FF2B5EF4-FFF2-40B4-BE49-F238E27FC236}">
                <a16:creationId xmlns:a16="http://schemas.microsoft.com/office/drawing/2014/main" id="{3D1BA794-1D20-4439-AB40-02FAEDF89955}"/>
              </a:ext>
            </a:extLst>
          </p:cNvPr>
          <p:cNvSpPr>
            <a:spLocks xmlns:a="http://schemas.openxmlformats.org/drawingml/2006/main" noGrp="1"/>
          </p:cNvSpPr>
          <p:nvPr/>
        </p:nvSpPr>
        <p:spPr>
          <a:xfrm xmlns:a="http://schemas.openxmlformats.org/drawingml/2006/main">
            <a:off x="1104900" y="3071813"/>
            <a:ext cx="4152900" cy="42386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供应商商务管理、技术协同、海关/下料、首件检验、不合格品控制和供应商质量。</a:t>
            </a:r>
          </a:p>
        </p:txBody>
      </p:sp>
      <p:sp>
        <p:nvSpPr>
          <p:cNvPr id="20" name="">
            <a:extLst xmlns:a="http://schemas.openxmlformats.org/drawingml/2006/main">
              <a:ext uri="{FF2B5EF4-FFF2-40B4-BE49-F238E27FC236}">
                <a16:creationId xmlns:a16="http://schemas.microsoft.com/office/drawing/2014/main" id="{21C8220B-F444-4A88-BE1F-93D7F651BED6}"/>
              </a:ext>
            </a:extLst>
          </p:cNvPr>
          <p:cNvSpPr>
            <a:spLocks xmlns:a="http://schemas.openxmlformats.org/drawingml/2006/main" noGrp="1"/>
          </p:cNvSpPr>
          <p:nvPr/>
        </p:nvSpPr>
        <p:spPr>
          <a:xfrm xmlns:a="http://schemas.openxmlformats.org/drawingml/2006/main">
            <a:off x="838200" y="3562350"/>
            <a:ext cx="28575" cy="9525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FA08ACF0-A456-4CB2-91D6-52F115ADB15C}"/>
              </a:ext>
            </a:extLst>
          </p:cNvPr>
          <p:cNvSpPr>
            <a:spLocks xmlns:a="http://schemas.openxmlformats.org/drawingml/2006/main" noGrp="1"/>
          </p:cNvSpPr>
          <p:nvPr/>
        </p:nvSpPr>
        <p:spPr>
          <a:xfrm xmlns:a="http://schemas.openxmlformats.org/drawingml/2006/main">
            <a:off x="552450" y="3667125"/>
            <a:ext cx="4857750" cy="842963"/>
          </a:xfrm>
          <a:prstGeom xmlns:a="http://schemas.openxmlformats.org/drawingml/2006/main" prst="roundRect">
            <a:avLst>
              <a:gd name="adj" fmla="val 9040"/>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6A593EE4-6E3A-4D14-BE81-81C9DD3D66DE}"/>
              </a:ext>
            </a:extLst>
          </p:cNvPr>
          <p:cNvSpPr>
            <a:spLocks xmlns:a="http://schemas.openxmlformats.org/drawingml/2006/main" noGrp="1"/>
          </p:cNvSpPr>
          <p:nvPr/>
        </p:nvSpPr>
        <p:spPr>
          <a:xfrm xmlns:a="http://schemas.openxmlformats.org/drawingml/2006/main">
            <a:off x="704850" y="3810000"/>
            <a:ext cx="285750" cy="285750"/>
          </a:xfrm>
          <a:prstGeom xmlns:a="http://schemas.openxmlformats.org/drawingml/2006/main" prst="ellipse">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9331B43A-17BD-4D4D-94DF-7F1CD6086043}"/>
              </a:ext>
            </a:extLst>
          </p:cNvPr>
          <p:cNvSpPr>
            <a:spLocks xmlns:a="http://schemas.openxmlformats.org/drawingml/2006/main" noGrp="1"/>
          </p:cNvSpPr>
          <p:nvPr/>
        </p:nvSpPr>
        <p:spPr>
          <a:xfrm xmlns:a="http://schemas.openxmlformats.org/drawingml/2006/main">
            <a:off x="704850" y="384810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825" b="1">
                <a:solidFill>
                  <a:srgbClr val="FFFFFF"/>
                </a:solidFill>
              </a:defRPr>
            </a:pPr>
            <a:r>
              <a:rPr sz="825" b="1">
                <a:solidFill>
                  <a:srgbClr val="FFFFFF"/>
                </a:solidFill>
              </a:rPr>
              <a:t>3</a:t>
            </a:r>
          </a:p>
        </p:txBody>
      </p:sp>
      <p:sp>
        <p:nvSpPr>
          <p:cNvPr id="24" name="">
            <a:extLst xmlns:a="http://schemas.openxmlformats.org/drawingml/2006/main">
              <a:ext uri="{FF2B5EF4-FFF2-40B4-BE49-F238E27FC236}">
                <a16:creationId xmlns:a16="http://schemas.microsoft.com/office/drawing/2014/main" id="{4D82E74F-0875-4B36-9259-8FA58AE783BE}"/>
              </a:ext>
            </a:extLst>
          </p:cNvPr>
          <p:cNvSpPr>
            <a:spLocks xmlns:a="http://schemas.openxmlformats.org/drawingml/2006/main" noGrp="1"/>
          </p:cNvSpPr>
          <p:nvPr/>
        </p:nvSpPr>
        <p:spPr>
          <a:xfrm xmlns:a="http://schemas.openxmlformats.org/drawingml/2006/main">
            <a:off x="1104900" y="3781425"/>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合同管理 / OA</a:t>
            </a:r>
          </a:p>
        </p:txBody>
      </p:sp>
      <p:sp>
        <p:nvSpPr>
          <p:cNvPr id="25" name="">
            <a:extLst xmlns:a="http://schemas.openxmlformats.org/drawingml/2006/main">
              <a:ext uri="{FF2B5EF4-FFF2-40B4-BE49-F238E27FC236}">
                <a16:creationId xmlns:a16="http://schemas.microsoft.com/office/drawing/2014/main" id="{FFED5C8D-DFB2-41ED-9479-BB0A8DD5B36A}"/>
              </a:ext>
            </a:extLst>
          </p:cNvPr>
          <p:cNvSpPr>
            <a:spLocks xmlns:a="http://schemas.openxmlformats.org/drawingml/2006/main" noGrp="1"/>
          </p:cNvSpPr>
          <p:nvPr/>
        </p:nvSpPr>
        <p:spPr>
          <a:xfrm xmlns:a="http://schemas.openxmlformats.org/drawingml/2006/main">
            <a:off x="1104900" y="4029075"/>
            <a:ext cx="4152900" cy="42386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合同准备、签订、执行由流程协同驱动。</a:t>
            </a:r>
          </a:p>
        </p:txBody>
      </p:sp>
      <p:sp>
        <p:nvSpPr>
          <p:cNvPr id="26" name="">
            <a:extLst xmlns:a="http://schemas.openxmlformats.org/drawingml/2006/main">
              <a:ext uri="{FF2B5EF4-FFF2-40B4-BE49-F238E27FC236}">
                <a16:creationId xmlns:a16="http://schemas.microsoft.com/office/drawing/2014/main" id="{7D161FED-C5A0-4105-8E74-A65F97F7DAC9}"/>
              </a:ext>
            </a:extLst>
          </p:cNvPr>
          <p:cNvSpPr>
            <a:spLocks xmlns:a="http://schemas.openxmlformats.org/drawingml/2006/main" noGrp="1"/>
          </p:cNvSpPr>
          <p:nvPr/>
        </p:nvSpPr>
        <p:spPr>
          <a:xfrm xmlns:a="http://schemas.openxmlformats.org/drawingml/2006/main">
            <a:off x="838200" y="4519613"/>
            <a:ext cx="28575" cy="952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D56D81EE-24EA-4EAB-BADA-0F13613E1FCA}"/>
              </a:ext>
            </a:extLst>
          </p:cNvPr>
          <p:cNvSpPr>
            <a:spLocks xmlns:a="http://schemas.openxmlformats.org/drawingml/2006/main" noGrp="1"/>
          </p:cNvSpPr>
          <p:nvPr/>
        </p:nvSpPr>
        <p:spPr>
          <a:xfrm xmlns:a="http://schemas.openxmlformats.org/drawingml/2006/main">
            <a:off x="552450" y="4624388"/>
            <a:ext cx="4857750" cy="842963"/>
          </a:xfrm>
          <a:prstGeom xmlns:a="http://schemas.openxmlformats.org/drawingml/2006/main" prst="roundRect">
            <a:avLst>
              <a:gd name="adj" fmla="val 9040"/>
            </a:avLst>
          </a:prstGeom>
          <a:solidFill xmlns:a="http://schemas.openxmlformats.org/drawingml/2006/main">
            <a:srgbClr val="FFFFFF"/>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475C8D9B-63B0-48FF-8469-A7F941FBF535}"/>
              </a:ext>
            </a:extLst>
          </p:cNvPr>
          <p:cNvSpPr>
            <a:spLocks xmlns:a="http://schemas.openxmlformats.org/drawingml/2006/main" noGrp="1"/>
          </p:cNvSpPr>
          <p:nvPr/>
        </p:nvSpPr>
        <p:spPr>
          <a:xfrm xmlns:a="http://schemas.openxmlformats.org/drawingml/2006/main">
            <a:off x="704850" y="4767263"/>
            <a:ext cx="285750" cy="285750"/>
          </a:xfrm>
          <a:prstGeom xmlns:a="http://schemas.openxmlformats.org/drawingml/2006/main" prst="ellipse">
            <a:avLst/>
          </a:prstGeom>
          <a:solidFill xmlns:a="http://schemas.openxmlformats.org/drawingml/2006/main">
            <a:srgbClr val="DB2777"/>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3494EC0A-F278-4FBD-A672-1CE2E7B5950D}"/>
              </a:ext>
            </a:extLst>
          </p:cNvPr>
          <p:cNvSpPr>
            <a:spLocks xmlns:a="http://schemas.openxmlformats.org/drawingml/2006/main" noGrp="1"/>
          </p:cNvSpPr>
          <p:nvPr/>
        </p:nvSpPr>
        <p:spPr>
          <a:xfrm xmlns:a="http://schemas.openxmlformats.org/drawingml/2006/main">
            <a:off x="704850" y="4805363"/>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825" b="1">
                <a:solidFill>
                  <a:srgbClr val="FFFFFF"/>
                </a:solidFill>
              </a:defRPr>
            </a:pPr>
            <a:r>
              <a:rPr sz="825" b="1">
                <a:solidFill>
                  <a:srgbClr val="FFFFFF"/>
                </a:solidFill>
              </a:rPr>
              <a:t>4</a:t>
            </a:r>
          </a:p>
        </p:txBody>
      </p:sp>
      <p:sp>
        <p:nvSpPr>
          <p:cNvPr id="30" name="">
            <a:extLst xmlns:a="http://schemas.openxmlformats.org/drawingml/2006/main">
              <a:ext uri="{FF2B5EF4-FFF2-40B4-BE49-F238E27FC236}">
                <a16:creationId xmlns:a16="http://schemas.microsoft.com/office/drawing/2014/main" id="{2C123B99-E659-4578-85DB-6B2B0D89688D}"/>
              </a:ext>
            </a:extLst>
          </p:cNvPr>
          <p:cNvSpPr>
            <a:spLocks xmlns:a="http://schemas.openxmlformats.org/drawingml/2006/main" noGrp="1"/>
          </p:cNvSpPr>
          <p:nvPr/>
        </p:nvSpPr>
        <p:spPr>
          <a:xfrm xmlns:a="http://schemas.openxmlformats.org/drawingml/2006/main">
            <a:off x="1104900" y="4738688"/>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WMS → MES</a:t>
            </a:r>
          </a:p>
        </p:txBody>
      </p:sp>
      <p:sp>
        <p:nvSpPr>
          <p:cNvPr id="31" name="">
            <a:extLst xmlns:a="http://schemas.openxmlformats.org/drawingml/2006/main">
              <a:ext uri="{FF2B5EF4-FFF2-40B4-BE49-F238E27FC236}">
                <a16:creationId xmlns:a16="http://schemas.microsoft.com/office/drawing/2014/main" id="{8E3150DA-C63A-47CA-B8EC-BC934972E238}"/>
              </a:ext>
            </a:extLst>
          </p:cNvPr>
          <p:cNvSpPr>
            <a:spLocks xmlns:a="http://schemas.openxmlformats.org/drawingml/2006/main" noGrp="1"/>
          </p:cNvSpPr>
          <p:nvPr/>
        </p:nvSpPr>
        <p:spPr>
          <a:xfrm xmlns:a="http://schemas.openxmlformats.org/drawingml/2006/main">
            <a:off x="1104900" y="4986338"/>
            <a:ext cx="4152900" cy="42386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到货入库、库位、预浸料有效期、出入库、领料与工单绑定。</a:t>
            </a:r>
          </a:p>
        </p:txBody>
      </p:sp>
      <p:sp>
        <p:nvSpPr>
          <p:cNvPr id="32" name="">
            <a:extLst xmlns:a="http://schemas.openxmlformats.org/drawingml/2006/main">
              <a:ext uri="{FF2B5EF4-FFF2-40B4-BE49-F238E27FC236}">
                <a16:creationId xmlns:a16="http://schemas.microsoft.com/office/drawing/2014/main" id="{05691A49-DF85-43A2-AEFD-2E863EEB5D2C}"/>
              </a:ext>
            </a:extLst>
          </p:cNvPr>
          <p:cNvSpPr>
            <a:spLocks xmlns:a="http://schemas.openxmlformats.org/drawingml/2006/main" noGrp="1"/>
          </p:cNvSpPr>
          <p:nvPr/>
        </p:nvSpPr>
        <p:spPr>
          <a:xfrm xmlns:a="http://schemas.openxmlformats.org/drawingml/2006/main">
            <a:off x="6115050" y="1752600"/>
            <a:ext cx="4857750" cy="842963"/>
          </a:xfrm>
          <a:prstGeom xmlns:a="http://schemas.openxmlformats.org/drawingml/2006/main" prst="roundRect">
            <a:avLst>
              <a:gd name="adj" fmla="val 9040"/>
            </a:avLst>
          </a:prstGeom>
          <a:solidFill xmlns:a="http://schemas.openxmlformats.org/drawingml/2006/main">
            <a:srgbClr val="FFFFFF"/>
          </a:solidFill>
          <a:ln xmlns:a="http://schemas.openxmlformats.org/drawingml/2006/main" w="9525">
            <a:solidFill>
              <a:srgbClr val="E2E8F0"/>
            </a:solidFill>
            <a:prstDash val="solid"/>
          </a:ln>
        </p:spPr>
      </p:sp>
      <p:sp>
        <p:nvSpPr>
          <p:cNvPr id="33" name="">
            <a:extLst xmlns:a="http://schemas.openxmlformats.org/drawingml/2006/main">
              <a:ext uri="{FF2B5EF4-FFF2-40B4-BE49-F238E27FC236}">
                <a16:creationId xmlns:a16="http://schemas.microsoft.com/office/drawing/2014/main" id="{AC3FF8C9-4AC2-4FA0-9FE5-1C0B93083283}"/>
              </a:ext>
            </a:extLst>
          </p:cNvPr>
          <p:cNvSpPr>
            <a:spLocks xmlns:a="http://schemas.openxmlformats.org/drawingml/2006/main" noGrp="1"/>
          </p:cNvSpPr>
          <p:nvPr/>
        </p:nvSpPr>
        <p:spPr>
          <a:xfrm xmlns:a="http://schemas.openxmlformats.org/drawingml/2006/main">
            <a:off x="6267450" y="1895475"/>
            <a:ext cx="285750" cy="285750"/>
          </a:xfrm>
          <a:prstGeom xmlns:a="http://schemas.openxmlformats.org/drawingml/2006/main" prst="ellipse">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E2FFCF1B-4504-41BB-88A7-911790EDD1E8}"/>
              </a:ext>
            </a:extLst>
          </p:cNvPr>
          <p:cNvSpPr>
            <a:spLocks xmlns:a="http://schemas.openxmlformats.org/drawingml/2006/main" noGrp="1"/>
          </p:cNvSpPr>
          <p:nvPr/>
        </p:nvSpPr>
        <p:spPr>
          <a:xfrm xmlns:a="http://schemas.openxmlformats.org/drawingml/2006/main">
            <a:off x="6267450" y="1933575"/>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825" b="1">
                <a:solidFill>
                  <a:srgbClr val="FFFFFF"/>
                </a:solidFill>
              </a:defRPr>
            </a:pPr>
            <a:r>
              <a:rPr sz="825" b="1">
                <a:solidFill>
                  <a:srgbClr val="FFFFFF"/>
                </a:solidFill>
              </a:rPr>
              <a:t>1</a:t>
            </a:r>
          </a:p>
        </p:txBody>
      </p:sp>
      <p:sp>
        <p:nvSpPr>
          <p:cNvPr id="35" name="">
            <a:extLst xmlns:a="http://schemas.openxmlformats.org/drawingml/2006/main">
              <a:ext uri="{FF2B5EF4-FFF2-40B4-BE49-F238E27FC236}">
                <a16:creationId xmlns:a16="http://schemas.microsoft.com/office/drawing/2014/main" id="{A3857F6D-A660-4BB0-A2CE-0A9B8139D15A}"/>
              </a:ext>
            </a:extLst>
          </p:cNvPr>
          <p:cNvSpPr>
            <a:spLocks xmlns:a="http://schemas.openxmlformats.org/drawingml/2006/main" noGrp="1"/>
          </p:cNvSpPr>
          <p:nvPr/>
        </p:nvSpPr>
        <p:spPr>
          <a:xfrm xmlns:a="http://schemas.openxmlformats.org/drawingml/2006/main">
            <a:off x="6667500" y="1866900"/>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ERP-PP 下达生产订单</a:t>
            </a:r>
          </a:p>
        </p:txBody>
      </p:sp>
      <p:sp>
        <p:nvSpPr>
          <p:cNvPr id="36" name="">
            <a:extLst xmlns:a="http://schemas.openxmlformats.org/drawingml/2006/main">
              <a:ext uri="{FF2B5EF4-FFF2-40B4-BE49-F238E27FC236}">
                <a16:creationId xmlns:a16="http://schemas.microsoft.com/office/drawing/2014/main" id="{ECAA21C5-7A94-4DEE-BB92-0D1E0C105966}"/>
              </a:ext>
            </a:extLst>
          </p:cNvPr>
          <p:cNvSpPr>
            <a:spLocks xmlns:a="http://schemas.openxmlformats.org/drawingml/2006/main" noGrp="1"/>
          </p:cNvSpPr>
          <p:nvPr/>
        </p:nvSpPr>
        <p:spPr>
          <a:xfrm xmlns:a="http://schemas.openxmlformats.org/drawingml/2006/main">
            <a:off x="6667500" y="2114550"/>
            <a:ext cx="4152900" cy="42386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生产订单、工艺路线、MBOM 推送 MES。</a:t>
            </a:r>
          </a:p>
        </p:txBody>
      </p:sp>
      <p:sp>
        <p:nvSpPr>
          <p:cNvPr id="37" name="">
            <a:extLst xmlns:a="http://schemas.openxmlformats.org/drawingml/2006/main">
              <a:ext uri="{FF2B5EF4-FFF2-40B4-BE49-F238E27FC236}">
                <a16:creationId xmlns:a16="http://schemas.microsoft.com/office/drawing/2014/main" id="{60CD4AF9-B436-4F75-AC5D-28261486EB0F}"/>
              </a:ext>
            </a:extLst>
          </p:cNvPr>
          <p:cNvSpPr>
            <a:spLocks xmlns:a="http://schemas.openxmlformats.org/drawingml/2006/main" noGrp="1"/>
          </p:cNvSpPr>
          <p:nvPr/>
        </p:nvSpPr>
        <p:spPr>
          <a:xfrm xmlns:a="http://schemas.openxmlformats.org/drawingml/2006/main">
            <a:off x="6400800" y="2605088"/>
            <a:ext cx="28575" cy="9525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66D38EBB-7553-4C87-8701-A7410523E2B0}"/>
              </a:ext>
            </a:extLst>
          </p:cNvPr>
          <p:cNvSpPr>
            <a:spLocks xmlns:a="http://schemas.openxmlformats.org/drawingml/2006/main" noGrp="1"/>
          </p:cNvSpPr>
          <p:nvPr/>
        </p:nvSpPr>
        <p:spPr>
          <a:xfrm xmlns:a="http://schemas.openxmlformats.org/drawingml/2006/main">
            <a:off x="6115050" y="2709863"/>
            <a:ext cx="4857750" cy="842963"/>
          </a:xfrm>
          <a:prstGeom xmlns:a="http://schemas.openxmlformats.org/drawingml/2006/main" prst="roundRect">
            <a:avLst>
              <a:gd name="adj" fmla="val 9040"/>
            </a:avLst>
          </a:prstGeom>
          <a:solidFill xmlns:a="http://schemas.openxmlformats.org/drawingml/2006/main">
            <a:srgbClr val="FFFFFF"/>
          </a:solidFill>
          <a:ln xmlns:a="http://schemas.openxmlformats.org/drawingml/2006/main" w="9525">
            <a:solidFill>
              <a:srgbClr val="E2E8F0"/>
            </a:solidFill>
            <a:prstDash val="solid"/>
          </a:ln>
        </p:spPr>
      </p:sp>
      <p:sp>
        <p:nvSpPr>
          <p:cNvPr id="39" name="">
            <a:extLst xmlns:a="http://schemas.openxmlformats.org/drawingml/2006/main">
              <a:ext uri="{FF2B5EF4-FFF2-40B4-BE49-F238E27FC236}">
                <a16:creationId xmlns:a16="http://schemas.microsoft.com/office/drawing/2014/main" id="{ADD168AE-DC57-4A34-93E0-55EE6A3D7490}"/>
              </a:ext>
            </a:extLst>
          </p:cNvPr>
          <p:cNvSpPr>
            <a:spLocks xmlns:a="http://schemas.openxmlformats.org/drawingml/2006/main" noGrp="1"/>
          </p:cNvSpPr>
          <p:nvPr/>
        </p:nvSpPr>
        <p:spPr>
          <a:xfrm xmlns:a="http://schemas.openxmlformats.org/drawingml/2006/main">
            <a:off x="6267450" y="2852738"/>
            <a:ext cx="285750" cy="285750"/>
          </a:xfrm>
          <a:prstGeom xmlns:a="http://schemas.openxmlformats.org/drawingml/2006/main" prst="ellipse">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10B730EE-FCC4-4B7B-8D60-6646DDA40C44}"/>
              </a:ext>
            </a:extLst>
          </p:cNvPr>
          <p:cNvSpPr>
            <a:spLocks xmlns:a="http://schemas.openxmlformats.org/drawingml/2006/main" noGrp="1"/>
          </p:cNvSpPr>
          <p:nvPr/>
        </p:nvSpPr>
        <p:spPr>
          <a:xfrm xmlns:a="http://schemas.openxmlformats.org/drawingml/2006/main">
            <a:off x="6267450" y="2890838"/>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825" b="1">
                <a:solidFill>
                  <a:srgbClr val="FFFFFF"/>
                </a:solidFill>
              </a:defRPr>
            </a:pPr>
            <a:r>
              <a:rPr sz="825" b="1">
                <a:solidFill>
                  <a:srgbClr val="FFFFFF"/>
                </a:solidFill>
              </a:rPr>
              <a:t>2</a:t>
            </a:r>
          </a:p>
        </p:txBody>
      </p:sp>
      <p:sp>
        <p:nvSpPr>
          <p:cNvPr id="41" name="">
            <a:extLst xmlns:a="http://schemas.openxmlformats.org/drawingml/2006/main">
              <a:ext uri="{FF2B5EF4-FFF2-40B4-BE49-F238E27FC236}">
                <a16:creationId xmlns:a16="http://schemas.microsoft.com/office/drawing/2014/main" id="{47AD5882-FAFF-478A-A7B0-11737FCD7A64}"/>
              </a:ext>
            </a:extLst>
          </p:cNvPr>
          <p:cNvSpPr>
            <a:spLocks xmlns:a="http://schemas.openxmlformats.org/drawingml/2006/main" noGrp="1"/>
          </p:cNvSpPr>
          <p:nvPr/>
        </p:nvSpPr>
        <p:spPr>
          <a:xfrm xmlns:a="http://schemas.openxmlformats.org/drawingml/2006/main">
            <a:off x="6667500" y="2824163"/>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MES 排产与执行</a:t>
            </a:r>
          </a:p>
        </p:txBody>
      </p:sp>
      <p:sp>
        <p:nvSpPr>
          <p:cNvPr id="42" name="">
            <a:extLst xmlns:a="http://schemas.openxmlformats.org/drawingml/2006/main">
              <a:ext uri="{FF2B5EF4-FFF2-40B4-BE49-F238E27FC236}">
                <a16:creationId xmlns:a16="http://schemas.microsoft.com/office/drawing/2014/main" id="{20E7BDD0-0634-494F-930D-3FE65F1B0C21}"/>
              </a:ext>
            </a:extLst>
          </p:cNvPr>
          <p:cNvSpPr>
            <a:spLocks xmlns:a="http://schemas.openxmlformats.org/drawingml/2006/main" noGrp="1"/>
          </p:cNvSpPr>
          <p:nvPr/>
        </p:nvSpPr>
        <p:spPr>
          <a:xfrm xmlns:a="http://schemas.openxmlformats.org/drawingml/2006/main">
            <a:off x="6667500" y="3071813"/>
            <a:ext cx="4152900" cy="42386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工装/工具/夹具资源、工艺、生产执行、工时、IoT、现场质量检验。</a:t>
            </a:r>
          </a:p>
        </p:txBody>
      </p:sp>
      <p:sp>
        <p:nvSpPr>
          <p:cNvPr id="43" name="">
            <a:extLst xmlns:a="http://schemas.openxmlformats.org/drawingml/2006/main">
              <a:ext uri="{FF2B5EF4-FFF2-40B4-BE49-F238E27FC236}">
                <a16:creationId xmlns:a16="http://schemas.microsoft.com/office/drawing/2014/main" id="{49E5F49C-BECD-411E-B419-BF6A3A74FB6A}"/>
              </a:ext>
            </a:extLst>
          </p:cNvPr>
          <p:cNvSpPr>
            <a:spLocks xmlns:a="http://schemas.openxmlformats.org/drawingml/2006/main" noGrp="1"/>
          </p:cNvSpPr>
          <p:nvPr/>
        </p:nvSpPr>
        <p:spPr>
          <a:xfrm xmlns:a="http://schemas.openxmlformats.org/drawingml/2006/main">
            <a:off x="6400800" y="3562350"/>
            <a:ext cx="28575" cy="952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E73E02B7-5B92-456D-9969-046AF10F2A47}"/>
              </a:ext>
            </a:extLst>
          </p:cNvPr>
          <p:cNvSpPr>
            <a:spLocks xmlns:a="http://schemas.openxmlformats.org/drawingml/2006/main" noGrp="1"/>
          </p:cNvSpPr>
          <p:nvPr/>
        </p:nvSpPr>
        <p:spPr>
          <a:xfrm xmlns:a="http://schemas.openxmlformats.org/drawingml/2006/main">
            <a:off x="6115050" y="3667125"/>
            <a:ext cx="4857750" cy="842963"/>
          </a:xfrm>
          <a:prstGeom xmlns:a="http://schemas.openxmlformats.org/drawingml/2006/main" prst="roundRect">
            <a:avLst>
              <a:gd name="adj" fmla="val 9040"/>
            </a:avLst>
          </a:prstGeom>
          <a:solidFill xmlns:a="http://schemas.openxmlformats.org/drawingml/2006/main">
            <a:srgbClr val="FFFFFF"/>
          </a:solidFill>
          <a:ln xmlns:a="http://schemas.openxmlformats.org/drawingml/2006/main" w="9525">
            <a:solidFill>
              <a:srgbClr val="E2E8F0"/>
            </a:solidFill>
            <a:prstDash val="solid"/>
          </a:ln>
        </p:spPr>
      </p:sp>
      <p:sp>
        <p:nvSpPr>
          <p:cNvPr id="45" name="">
            <a:extLst xmlns:a="http://schemas.openxmlformats.org/drawingml/2006/main">
              <a:ext uri="{FF2B5EF4-FFF2-40B4-BE49-F238E27FC236}">
                <a16:creationId xmlns:a16="http://schemas.microsoft.com/office/drawing/2014/main" id="{078A9BB1-5E0E-4351-93C9-B684718DF8AB}"/>
              </a:ext>
            </a:extLst>
          </p:cNvPr>
          <p:cNvSpPr>
            <a:spLocks xmlns:a="http://schemas.openxmlformats.org/drawingml/2006/main" noGrp="1"/>
          </p:cNvSpPr>
          <p:nvPr/>
        </p:nvSpPr>
        <p:spPr>
          <a:xfrm xmlns:a="http://schemas.openxmlformats.org/drawingml/2006/main">
            <a:off x="6267450" y="3810000"/>
            <a:ext cx="285750" cy="285750"/>
          </a:xfrm>
          <a:prstGeom xmlns:a="http://schemas.openxmlformats.org/drawingml/2006/main" prst="ellipse">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2655C2E2-6AAB-4008-852C-A8CD6218A0A8}"/>
              </a:ext>
            </a:extLst>
          </p:cNvPr>
          <p:cNvSpPr>
            <a:spLocks xmlns:a="http://schemas.openxmlformats.org/drawingml/2006/main" noGrp="1"/>
          </p:cNvSpPr>
          <p:nvPr/>
        </p:nvSpPr>
        <p:spPr>
          <a:xfrm xmlns:a="http://schemas.openxmlformats.org/drawingml/2006/main">
            <a:off x="6267450" y="384810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825" b="1">
                <a:solidFill>
                  <a:srgbClr val="FFFFFF"/>
                </a:solidFill>
              </a:defRPr>
            </a:pPr>
            <a:r>
              <a:rPr sz="825" b="1">
                <a:solidFill>
                  <a:srgbClr val="FFFFFF"/>
                </a:solidFill>
              </a:rPr>
              <a:t>3</a:t>
            </a:r>
          </a:p>
        </p:txBody>
      </p:sp>
      <p:sp>
        <p:nvSpPr>
          <p:cNvPr id="47" name="">
            <a:extLst xmlns:a="http://schemas.openxmlformats.org/drawingml/2006/main">
              <a:ext uri="{FF2B5EF4-FFF2-40B4-BE49-F238E27FC236}">
                <a16:creationId xmlns:a16="http://schemas.microsoft.com/office/drawing/2014/main" id="{240DCB40-5991-43DF-9331-BC9E95444574}"/>
              </a:ext>
            </a:extLst>
          </p:cNvPr>
          <p:cNvSpPr>
            <a:spLocks xmlns:a="http://schemas.openxmlformats.org/drawingml/2006/main" noGrp="1"/>
          </p:cNvSpPr>
          <p:nvPr/>
        </p:nvSpPr>
        <p:spPr>
          <a:xfrm xmlns:a="http://schemas.openxmlformats.org/drawingml/2006/main">
            <a:off x="6667500" y="3781425"/>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MES 完工反馈</a:t>
            </a:r>
          </a:p>
        </p:txBody>
      </p:sp>
      <p:sp>
        <p:nvSpPr>
          <p:cNvPr id="48" name="">
            <a:extLst xmlns:a="http://schemas.openxmlformats.org/drawingml/2006/main">
              <a:ext uri="{FF2B5EF4-FFF2-40B4-BE49-F238E27FC236}">
                <a16:creationId xmlns:a16="http://schemas.microsoft.com/office/drawing/2014/main" id="{520D767D-EE7B-48B7-888C-2927F3F8004B}"/>
              </a:ext>
            </a:extLst>
          </p:cNvPr>
          <p:cNvSpPr>
            <a:spLocks xmlns:a="http://schemas.openxmlformats.org/drawingml/2006/main" noGrp="1"/>
          </p:cNvSpPr>
          <p:nvPr/>
        </p:nvSpPr>
        <p:spPr>
          <a:xfrm xmlns:a="http://schemas.openxmlformats.org/drawingml/2006/main">
            <a:off x="6667500" y="4029075"/>
            <a:ext cx="4152900" cy="42386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完工报工、工时报工回传 ERP-PP，更新进度。</a:t>
            </a:r>
          </a:p>
        </p:txBody>
      </p:sp>
      <p:sp>
        <p:nvSpPr>
          <p:cNvPr id="49" name="">
            <a:extLst xmlns:a="http://schemas.openxmlformats.org/drawingml/2006/main">
              <a:ext uri="{FF2B5EF4-FFF2-40B4-BE49-F238E27FC236}">
                <a16:creationId xmlns:a16="http://schemas.microsoft.com/office/drawing/2014/main" id="{5B3FA807-F203-4027-B199-646961C2CED0}"/>
              </a:ext>
            </a:extLst>
          </p:cNvPr>
          <p:cNvSpPr>
            <a:spLocks xmlns:a="http://schemas.openxmlformats.org/drawingml/2006/main" noGrp="1"/>
          </p:cNvSpPr>
          <p:nvPr/>
        </p:nvSpPr>
        <p:spPr>
          <a:xfrm xmlns:a="http://schemas.openxmlformats.org/drawingml/2006/main">
            <a:off x="6400800" y="4519613"/>
            <a:ext cx="28575" cy="952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87DDFC69-E28B-441C-A145-E68B53F0E049}"/>
              </a:ext>
            </a:extLst>
          </p:cNvPr>
          <p:cNvSpPr>
            <a:spLocks xmlns:a="http://schemas.openxmlformats.org/drawingml/2006/main" noGrp="1"/>
          </p:cNvSpPr>
          <p:nvPr/>
        </p:nvSpPr>
        <p:spPr>
          <a:xfrm xmlns:a="http://schemas.openxmlformats.org/drawingml/2006/main">
            <a:off x="6115050" y="4624388"/>
            <a:ext cx="4857750" cy="842963"/>
          </a:xfrm>
          <a:prstGeom xmlns:a="http://schemas.openxmlformats.org/drawingml/2006/main" prst="roundRect">
            <a:avLst>
              <a:gd name="adj" fmla="val 9040"/>
            </a:avLst>
          </a:prstGeom>
          <a:solidFill xmlns:a="http://schemas.openxmlformats.org/drawingml/2006/main">
            <a:srgbClr val="FFFFFF"/>
          </a:solidFill>
          <a:ln xmlns:a="http://schemas.openxmlformats.org/drawingml/2006/main" w="9525">
            <a:solidFill>
              <a:srgbClr val="E2E8F0"/>
            </a:solidFill>
            <a:prstDash val="solid"/>
          </a:ln>
        </p:spPr>
      </p:sp>
      <p:sp>
        <p:nvSpPr>
          <p:cNvPr id="51" name="">
            <a:extLst xmlns:a="http://schemas.openxmlformats.org/drawingml/2006/main">
              <a:ext uri="{FF2B5EF4-FFF2-40B4-BE49-F238E27FC236}">
                <a16:creationId xmlns:a16="http://schemas.microsoft.com/office/drawing/2014/main" id="{05493BB5-4CAE-4C70-A55B-8C2E43ADAFF0}"/>
              </a:ext>
            </a:extLst>
          </p:cNvPr>
          <p:cNvSpPr>
            <a:spLocks xmlns:a="http://schemas.openxmlformats.org/drawingml/2006/main" noGrp="1"/>
          </p:cNvSpPr>
          <p:nvPr/>
        </p:nvSpPr>
        <p:spPr>
          <a:xfrm xmlns:a="http://schemas.openxmlformats.org/drawingml/2006/main">
            <a:off x="6267450" y="4767263"/>
            <a:ext cx="285750" cy="285750"/>
          </a:xfrm>
          <a:prstGeom xmlns:a="http://schemas.openxmlformats.org/drawingml/2006/main" prst="ellipse">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45C5DD96-5791-4DCD-AC04-4180CBA179BB}"/>
              </a:ext>
            </a:extLst>
          </p:cNvPr>
          <p:cNvSpPr>
            <a:spLocks xmlns:a="http://schemas.openxmlformats.org/drawingml/2006/main" noGrp="1"/>
          </p:cNvSpPr>
          <p:nvPr/>
        </p:nvSpPr>
        <p:spPr>
          <a:xfrm xmlns:a="http://schemas.openxmlformats.org/drawingml/2006/main">
            <a:off x="6267450" y="4805363"/>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825" b="1">
                <a:solidFill>
                  <a:srgbClr val="FFFFFF"/>
                </a:solidFill>
              </a:defRPr>
            </a:pPr>
            <a:r>
              <a:rPr sz="825" b="1">
                <a:solidFill>
                  <a:srgbClr val="FFFFFF"/>
                </a:solidFill>
              </a:rPr>
              <a:t>4</a:t>
            </a:r>
          </a:p>
        </p:txBody>
      </p:sp>
      <p:sp>
        <p:nvSpPr>
          <p:cNvPr id="53" name="">
            <a:extLst xmlns:a="http://schemas.openxmlformats.org/drawingml/2006/main">
              <a:ext uri="{FF2B5EF4-FFF2-40B4-BE49-F238E27FC236}">
                <a16:creationId xmlns:a16="http://schemas.microsoft.com/office/drawing/2014/main" id="{414312CC-0FB5-4EF9-A01D-C6EB291C75CE}"/>
              </a:ext>
            </a:extLst>
          </p:cNvPr>
          <p:cNvSpPr>
            <a:spLocks xmlns:a="http://schemas.openxmlformats.org/drawingml/2006/main" noGrp="1"/>
          </p:cNvSpPr>
          <p:nvPr/>
        </p:nvSpPr>
        <p:spPr>
          <a:xfrm xmlns:a="http://schemas.openxmlformats.org/drawingml/2006/main">
            <a:off x="6667500" y="4738688"/>
            <a:ext cx="4152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ERP-CO / FI</a:t>
            </a:r>
          </a:p>
        </p:txBody>
      </p:sp>
      <p:sp>
        <p:nvSpPr>
          <p:cNvPr id="54" name="">
            <a:extLst xmlns:a="http://schemas.openxmlformats.org/drawingml/2006/main">
              <a:ext uri="{FF2B5EF4-FFF2-40B4-BE49-F238E27FC236}">
                <a16:creationId xmlns:a16="http://schemas.microsoft.com/office/drawing/2014/main" id="{C3C7A7E4-E178-42FD-99BD-E254AB68A4B8}"/>
              </a:ext>
            </a:extLst>
          </p:cNvPr>
          <p:cNvSpPr>
            <a:spLocks xmlns:a="http://schemas.openxmlformats.org/drawingml/2006/main" noGrp="1"/>
          </p:cNvSpPr>
          <p:nvPr/>
        </p:nvSpPr>
        <p:spPr>
          <a:xfrm xmlns:a="http://schemas.openxmlformats.org/drawingml/2006/main">
            <a:off x="6667500" y="4986338"/>
            <a:ext cx="4152900" cy="42386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工时、物料、工装进入成本归集，生成凭证并完成财务结账。</a:t>
            </a:r>
          </a:p>
        </p:txBody>
      </p:sp>
      <p:sp>
        <p:nvSpPr>
          <p:cNvPr id="55" name="">
            <a:extLst xmlns:a="http://schemas.openxmlformats.org/drawingml/2006/main">
              <a:ext uri="{FF2B5EF4-FFF2-40B4-BE49-F238E27FC236}">
                <a16:creationId xmlns:a16="http://schemas.microsoft.com/office/drawing/2014/main" id="{BDF39E0B-C097-438F-8279-BA975F74C50C}"/>
              </a:ext>
            </a:extLst>
          </p:cNvPr>
          <p:cNvSpPr>
            <a:spLocks xmlns:a="http://schemas.openxmlformats.org/drawingml/2006/main" noGrp="1"/>
          </p:cNvSpPr>
          <p:nvPr/>
        </p:nvSpPr>
        <p:spPr>
          <a:xfrm xmlns:a="http://schemas.openxmlformats.org/drawingml/2006/main">
            <a:off x="590550" y="55816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1920"/>
          </a:bodyPr>
          <a:lstStyle xmlns:a="http://schemas.openxmlformats.org/drawingml/2006/main"/>
          <a:p xmlns:a="http://schemas.openxmlformats.org/drawingml/2006/main">
            <a:pPr algn="l">
              <a:defRPr sz="1350" b="1">
                <a:solidFill>
                  <a:srgbClr val="059669"/>
                </a:solidFill>
              </a:defRPr>
            </a:pPr>
            <a:r>
              <a:rPr sz="1350" b="1">
                <a:solidFill>
                  <a:srgbClr val="059669"/>
                </a:solidFill>
              </a:rPr>
              <a:t>采购域</a:t>
            </a:r>
          </a:p>
        </p:txBody>
      </p:sp>
      <p:sp>
        <p:nvSpPr>
          <p:cNvPr id="56" name="">
            <a:extLst xmlns:a="http://schemas.openxmlformats.org/drawingml/2006/main">
              <a:ext uri="{FF2B5EF4-FFF2-40B4-BE49-F238E27FC236}">
                <a16:creationId xmlns:a16="http://schemas.microsoft.com/office/drawing/2014/main" id="{F7A815AD-1033-4951-9B89-244D8F6CCB34}"/>
              </a:ext>
            </a:extLst>
          </p:cNvPr>
          <p:cNvSpPr>
            <a:spLocks xmlns:a="http://schemas.openxmlformats.org/drawingml/2006/main" noGrp="1"/>
          </p:cNvSpPr>
          <p:nvPr/>
        </p:nvSpPr>
        <p:spPr>
          <a:xfrm xmlns:a="http://schemas.openxmlformats.org/drawingml/2006/main">
            <a:off x="6153150" y="55816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1920"/>
          </a:bodyPr>
          <a:lstStyle xmlns:a="http://schemas.openxmlformats.org/drawingml/2006/main"/>
          <a:p xmlns:a="http://schemas.openxmlformats.org/drawingml/2006/main">
            <a:pPr algn="l">
              <a:defRPr sz="1350" b="1">
                <a:solidFill>
                  <a:srgbClr val="16A34A"/>
                </a:solidFill>
              </a:defRPr>
            </a:pPr>
            <a:r>
              <a:rPr sz="1350" b="1">
                <a:solidFill>
                  <a:srgbClr val="16A34A"/>
                </a:solidFill>
              </a:rPr>
              <a:t>制造域</a:t>
            </a:r>
          </a:p>
        </p:txBody>
      </p:sp>
      <p:sp>
        <p:nvSpPr>
          <p:cNvPr id="57" name="">
            <a:extLst xmlns:a="http://schemas.openxmlformats.org/drawingml/2006/main">
              <a:ext uri="{FF2B5EF4-FFF2-40B4-BE49-F238E27FC236}">
                <a16:creationId xmlns:a16="http://schemas.microsoft.com/office/drawing/2014/main" id="{3AD0C68E-0B49-4854-8610-F21558B53C1B}"/>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13 / 29</a:t>
            </a:r>
          </a:p>
        </p:txBody>
      </p:sp>
    </p:spTree>
    <p:extLst>
      <p:ext uri="{BB962C8B-B14F-4D97-AF65-F5344CB8AC3E}">
        <p14:creationId xmlns:p14="http://schemas.microsoft.com/office/powerpoint/2010/main" val="295721422"/>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281D24F-707F-494E-AFE1-847E66C63C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8EE6C8A-B770-484D-A060-BE300640ACB3}"/>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C2B60A5-29E3-48E2-89B0-31325EFD0366}"/>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B2AB49C-9F19-427A-BB37-31A3CA0E007A}"/>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02.6 质量域</a:t>
            </a:r>
          </a:p>
        </p:txBody>
      </p:sp>
      <p:sp>
        <p:nvSpPr>
          <p:cNvPr id="6" name="">
            <a:extLst xmlns:a="http://schemas.openxmlformats.org/drawingml/2006/main">
              <a:ext uri="{FF2B5EF4-FFF2-40B4-BE49-F238E27FC236}">
                <a16:creationId xmlns:a16="http://schemas.microsoft.com/office/drawing/2014/main" id="{395E5C57-7827-4CFC-AF1B-0C9E7497E20A}"/>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DA71D70F-8A06-42AA-9B3E-8DDC4BF9ED33}"/>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研发 → 采购 → 制造 → 交付</a:t>
            </a:r>
          </a:p>
        </p:txBody>
      </p:sp>
      <p:sp>
        <p:nvSpPr>
          <p:cNvPr id="8" name="">
            <a:extLst xmlns:a="http://schemas.openxmlformats.org/drawingml/2006/main">
              <a:ext uri="{FF2B5EF4-FFF2-40B4-BE49-F238E27FC236}">
                <a16:creationId xmlns:a16="http://schemas.microsoft.com/office/drawing/2014/main" id="{02562526-F01F-4EC7-AC28-27899B7C95DA}"/>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质量管理横向贯穿全域，质量文件与质量数据统一受控</a:t>
            </a:r>
          </a:p>
        </p:txBody>
      </p:sp>
      <p:sp>
        <p:nvSpPr>
          <p:cNvPr id="9" name="">
            <a:extLst xmlns:a="http://schemas.openxmlformats.org/drawingml/2006/main">
              <a:ext uri="{FF2B5EF4-FFF2-40B4-BE49-F238E27FC236}">
                <a16:creationId xmlns:a16="http://schemas.microsoft.com/office/drawing/2014/main" id="{50DF2EED-3840-4260-AD70-291B00506284}"/>
              </a:ext>
            </a:extLst>
          </p:cNvPr>
          <p:cNvSpPr>
            <a:spLocks xmlns:a="http://schemas.openxmlformats.org/drawingml/2006/main" noGrp="1"/>
          </p:cNvSpPr>
          <p:nvPr/>
        </p:nvSpPr>
        <p:spPr>
          <a:xfrm xmlns:a="http://schemas.openxmlformats.org/drawingml/2006/main">
            <a:off x="552450" y="1809750"/>
            <a:ext cx="2476500" cy="1543050"/>
          </a:xfrm>
          <a:prstGeom xmlns:a="http://schemas.openxmlformats.org/drawingml/2006/main" prst="roundRect">
            <a:avLst>
              <a:gd name="adj" fmla="val 4938"/>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1B376EF5-2A97-4534-98E2-9D55487F6481}"/>
              </a:ext>
            </a:extLst>
          </p:cNvPr>
          <p:cNvSpPr>
            <a:spLocks xmlns:a="http://schemas.openxmlformats.org/drawingml/2006/main" noGrp="1"/>
          </p:cNvSpPr>
          <p:nvPr/>
        </p:nvSpPr>
        <p:spPr>
          <a:xfrm xmlns:a="http://schemas.openxmlformats.org/drawingml/2006/main">
            <a:off x="552450" y="1809750"/>
            <a:ext cx="47625" cy="1543050"/>
          </a:xfrm>
          <a:prstGeom xmlns:a="http://schemas.openxmlformats.org/drawingml/2006/main" prst="rect">
            <a:avLst/>
          </a:prstGeom>
          <a:solidFill xmlns:a="http://schemas.openxmlformats.org/drawingml/2006/main">
            <a:srgbClr val="7C3AED"/>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2D8A8EE-ECDE-4FF8-971B-06E06F89C87F}"/>
              </a:ext>
            </a:extLst>
          </p:cNvPr>
          <p:cNvSpPr>
            <a:spLocks xmlns:a="http://schemas.openxmlformats.org/drawingml/2006/main" noGrp="1"/>
          </p:cNvSpPr>
          <p:nvPr/>
        </p:nvSpPr>
        <p:spPr>
          <a:xfrm xmlns:a="http://schemas.openxmlformats.org/drawingml/2006/main">
            <a:off x="723900" y="19431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研发阶段</a:t>
            </a:r>
          </a:p>
        </p:txBody>
      </p:sp>
      <p:sp>
        <p:nvSpPr>
          <p:cNvPr id="12" name="">
            <a:extLst xmlns:a="http://schemas.openxmlformats.org/drawingml/2006/main">
              <a:ext uri="{FF2B5EF4-FFF2-40B4-BE49-F238E27FC236}">
                <a16:creationId xmlns:a16="http://schemas.microsoft.com/office/drawing/2014/main" id="{94693774-8323-4E74-A17B-887EC73CD7F4}"/>
              </a:ext>
            </a:extLst>
          </p:cNvPr>
          <p:cNvSpPr>
            <a:spLocks xmlns:a="http://schemas.openxmlformats.org/drawingml/2006/main" noGrp="1"/>
          </p:cNvSpPr>
          <p:nvPr/>
        </p:nvSpPr>
        <p:spPr>
          <a:xfrm xmlns:a="http://schemas.openxmlformats.org/drawingml/2006/main">
            <a:off x="723900" y="2286000"/>
            <a:ext cx="21526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LCA 品质策划</a:t>
            </a:r>
          </a:p>
          <a:p xmlns:a="http://schemas.openxmlformats.org/drawingml/2006/main">
            <a:pPr algn="l">
              <a:defRPr sz="975" b="0">
                <a:solidFill>
                  <a:srgbClr val="475569"/>
                </a:solidFill>
              </a:defRPr>
            </a:pPr>
            <a:r>
              <a:rPr sz="975" b="0">
                <a:solidFill>
                  <a:srgbClr val="475569"/>
                </a:solidFill>
              </a:rPr>
              <a:t>文件审批（OA）</a:t>
            </a:r>
          </a:p>
          <a:p xmlns:a="http://schemas.openxmlformats.org/drawingml/2006/main">
            <a:pPr algn="l">
              <a:defRPr sz="975" b="0">
                <a:solidFill>
                  <a:srgbClr val="475569"/>
                </a:solidFill>
              </a:defRPr>
            </a:pPr>
            <a:r>
              <a:rPr sz="975" b="0">
                <a:solidFill>
                  <a:srgbClr val="475569"/>
                </a:solidFill>
              </a:rPr>
              <a:t>PDM 质量文件受控</a:t>
            </a:r>
          </a:p>
        </p:txBody>
      </p:sp>
      <p:sp>
        <p:nvSpPr>
          <p:cNvPr id="13" name="">
            <a:extLst xmlns:a="http://schemas.openxmlformats.org/drawingml/2006/main">
              <a:ext uri="{FF2B5EF4-FFF2-40B4-BE49-F238E27FC236}">
                <a16:creationId xmlns:a16="http://schemas.microsoft.com/office/drawing/2014/main" id="{7080A32A-F510-404F-86DC-B9FEEC475021}"/>
              </a:ext>
            </a:extLst>
          </p:cNvPr>
          <p:cNvSpPr>
            <a:spLocks xmlns:a="http://schemas.openxmlformats.org/drawingml/2006/main" noGrp="1"/>
          </p:cNvSpPr>
          <p:nvPr/>
        </p:nvSpPr>
        <p:spPr>
          <a:xfrm xmlns:a="http://schemas.openxmlformats.org/drawingml/2006/main">
            <a:off x="3295650" y="1809750"/>
            <a:ext cx="2476500" cy="1543050"/>
          </a:xfrm>
          <a:prstGeom xmlns:a="http://schemas.openxmlformats.org/drawingml/2006/main" prst="roundRect">
            <a:avLst>
              <a:gd name="adj" fmla="val 4938"/>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96872C46-A989-460F-9A14-7199C5B51A5B}"/>
              </a:ext>
            </a:extLst>
          </p:cNvPr>
          <p:cNvSpPr>
            <a:spLocks xmlns:a="http://schemas.openxmlformats.org/drawingml/2006/main" noGrp="1"/>
          </p:cNvSpPr>
          <p:nvPr/>
        </p:nvSpPr>
        <p:spPr>
          <a:xfrm xmlns:a="http://schemas.openxmlformats.org/drawingml/2006/main">
            <a:off x="3295650" y="1809750"/>
            <a:ext cx="47625" cy="154305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D98F466F-3D65-44A0-B6DC-7A5D12536EA3}"/>
              </a:ext>
            </a:extLst>
          </p:cNvPr>
          <p:cNvSpPr>
            <a:spLocks xmlns:a="http://schemas.openxmlformats.org/drawingml/2006/main" noGrp="1"/>
          </p:cNvSpPr>
          <p:nvPr/>
        </p:nvSpPr>
        <p:spPr>
          <a:xfrm xmlns:a="http://schemas.openxmlformats.org/drawingml/2006/main">
            <a:off x="3467100" y="19431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采购阶段</a:t>
            </a:r>
          </a:p>
        </p:txBody>
      </p:sp>
      <p:sp>
        <p:nvSpPr>
          <p:cNvPr id="16" name="">
            <a:extLst xmlns:a="http://schemas.openxmlformats.org/drawingml/2006/main">
              <a:ext uri="{FF2B5EF4-FFF2-40B4-BE49-F238E27FC236}">
                <a16:creationId xmlns:a16="http://schemas.microsoft.com/office/drawing/2014/main" id="{5285A35F-2E50-4BE9-A89F-06224497E645}"/>
              </a:ext>
            </a:extLst>
          </p:cNvPr>
          <p:cNvSpPr>
            <a:spLocks xmlns:a="http://schemas.openxmlformats.org/drawingml/2006/main" noGrp="1"/>
          </p:cNvSpPr>
          <p:nvPr/>
        </p:nvSpPr>
        <p:spPr>
          <a:xfrm xmlns:a="http://schemas.openxmlformats.org/drawingml/2006/main">
            <a:off x="3467100" y="2286000"/>
            <a:ext cx="21526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供应商质量管理</a:t>
            </a:r>
          </a:p>
          <a:p xmlns:a="http://schemas.openxmlformats.org/drawingml/2006/main">
            <a:pPr algn="l">
              <a:defRPr sz="975" b="0">
                <a:solidFill>
                  <a:srgbClr val="475569"/>
                </a:solidFill>
              </a:defRPr>
            </a:pPr>
            <a:r>
              <a:rPr sz="975" b="0">
                <a:solidFill>
                  <a:srgbClr val="475569"/>
                </a:solidFill>
              </a:rPr>
              <a:t>首件检验（FAI）</a:t>
            </a:r>
          </a:p>
          <a:p xmlns:a="http://schemas.openxmlformats.org/drawingml/2006/main">
            <a:pPr algn="l">
              <a:defRPr sz="975" b="0">
                <a:solidFill>
                  <a:srgbClr val="475569"/>
                </a:solidFill>
              </a:defRPr>
            </a:pPr>
            <a:r>
              <a:rPr sz="975" b="0">
                <a:solidFill>
                  <a:srgbClr val="475569"/>
                </a:solidFill>
              </a:rPr>
              <a:t>不合格品控制</a:t>
            </a:r>
          </a:p>
          <a:p xmlns:a="http://schemas.openxmlformats.org/drawingml/2006/main">
            <a:pPr algn="l">
              <a:defRPr sz="975" b="0">
                <a:solidFill>
                  <a:srgbClr val="475569"/>
                </a:solidFill>
              </a:defRPr>
            </a:pPr>
            <a:r>
              <a:rPr sz="975" b="0">
                <a:solidFill>
                  <a:srgbClr val="475569"/>
                </a:solidFill>
              </a:rPr>
              <a:t>交付文件管理</a:t>
            </a:r>
          </a:p>
        </p:txBody>
      </p:sp>
      <p:sp>
        <p:nvSpPr>
          <p:cNvPr id="17" name="">
            <a:extLst xmlns:a="http://schemas.openxmlformats.org/drawingml/2006/main">
              <a:ext uri="{FF2B5EF4-FFF2-40B4-BE49-F238E27FC236}">
                <a16:creationId xmlns:a16="http://schemas.microsoft.com/office/drawing/2014/main" id="{74A2C236-5A26-4006-8151-1D2375C4B0BC}"/>
              </a:ext>
            </a:extLst>
          </p:cNvPr>
          <p:cNvSpPr>
            <a:spLocks xmlns:a="http://schemas.openxmlformats.org/drawingml/2006/main" noGrp="1"/>
          </p:cNvSpPr>
          <p:nvPr/>
        </p:nvSpPr>
        <p:spPr>
          <a:xfrm xmlns:a="http://schemas.openxmlformats.org/drawingml/2006/main">
            <a:off x="6038850" y="1809750"/>
            <a:ext cx="2476500" cy="1543050"/>
          </a:xfrm>
          <a:prstGeom xmlns:a="http://schemas.openxmlformats.org/drawingml/2006/main" prst="roundRect">
            <a:avLst>
              <a:gd name="adj" fmla="val 4938"/>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922E9DCF-1B64-4227-B710-77DAC1162354}"/>
              </a:ext>
            </a:extLst>
          </p:cNvPr>
          <p:cNvSpPr>
            <a:spLocks xmlns:a="http://schemas.openxmlformats.org/drawingml/2006/main" noGrp="1"/>
          </p:cNvSpPr>
          <p:nvPr/>
        </p:nvSpPr>
        <p:spPr>
          <a:xfrm xmlns:a="http://schemas.openxmlformats.org/drawingml/2006/main">
            <a:off x="6038850" y="1809750"/>
            <a:ext cx="47625" cy="15430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CE86956B-C2B3-44BC-9CEC-DDF96D6B92C8}"/>
              </a:ext>
            </a:extLst>
          </p:cNvPr>
          <p:cNvSpPr>
            <a:spLocks xmlns:a="http://schemas.openxmlformats.org/drawingml/2006/main" noGrp="1"/>
          </p:cNvSpPr>
          <p:nvPr/>
        </p:nvSpPr>
        <p:spPr>
          <a:xfrm xmlns:a="http://schemas.openxmlformats.org/drawingml/2006/main">
            <a:off x="6210300" y="19431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制造阶段</a:t>
            </a:r>
          </a:p>
        </p:txBody>
      </p:sp>
      <p:sp>
        <p:nvSpPr>
          <p:cNvPr id="20" name="">
            <a:extLst xmlns:a="http://schemas.openxmlformats.org/drawingml/2006/main">
              <a:ext uri="{FF2B5EF4-FFF2-40B4-BE49-F238E27FC236}">
                <a16:creationId xmlns:a16="http://schemas.microsoft.com/office/drawing/2014/main" id="{7D91B33C-EF75-49CC-9688-9D436D409E4B}"/>
              </a:ext>
            </a:extLst>
          </p:cNvPr>
          <p:cNvSpPr>
            <a:spLocks xmlns:a="http://schemas.openxmlformats.org/drawingml/2006/main" noGrp="1"/>
          </p:cNvSpPr>
          <p:nvPr/>
        </p:nvSpPr>
        <p:spPr>
          <a:xfrm xmlns:a="http://schemas.openxmlformats.org/drawingml/2006/main">
            <a:off x="6210300" y="2286000"/>
            <a:ext cx="21526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现场质量检验</a:t>
            </a:r>
          </a:p>
          <a:p xmlns:a="http://schemas.openxmlformats.org/drawingml/2006/main">
            <a:pPr algn="l">
              <a:defRPr sz="975" b="0">
                <a:solidFill>
                  <a:srgbClr val="475569"/>
                </a:solidFill>
              </a:defRPr>
            </a:pPr>
            <a:r>
              <a:rPr sz="975" b="0">
                <a:solidFill>
                  <a:srgbClr val="475569"/>
                </a:solidFill>
              </a:rPr>
              <a:t>NDT（超声C扫/X射线）</a:t>
            </a:r>
          </a:p>
          <a:p xmlns:a="http://schemas.openxmlformats.org/drawingml/2006/main">
            <a:pPr algn="l">
              <a:defRPr sz="975" b="0">
                <a:solidFill>
                  <a:srgbClr val="475569"/>
                </a:solidFill>
              </a:defRPr>
            </a:pPr>
            <a:r>
              <a:rPr sz="975" b="0">
                <a:solidFill>
                  <a:srgbClr val="475569"/>
                </a:solidFill>
              </a:rPr>
              <a:t>产品检验、数据发放</a:t>
            </a:r>
          </a:p>
          <a:p xmlns:a="http://schemas.openxmlformats.org/drawingml/2006/main">
            <a:pPr algn="l">
              <a:defRPr sz="975" b="0">
                <a:solidFill>
                  <a:srgbClr val="475569"/>
                </a:solidFill>
              </a:defRPr>
            </a:pPr>
            <a:r>
              <a:rPr sz="975" b="0">
                <a:solidFill>
                  <a:srgbClr val="475569"/>
                </a:solidFill>
              </a:rPr>
              <a:t>工装制造质量</a:t>
            </a:r>
          </a:p>
        </p:txBody>
      </p:sp>
      <p:sp>
        <p:nvSpPr>
          <p:cNvPr id="21" name="">
            <a:extLst xmlns:a="http://schemas.openxmlformats.org/drawingml/2006/main">
              <a:ext uri="{FF2B5EF4-FFF2-40B4-BE49-F238E27FC236}">
                <a16:creationId xmlns:a16="http://schemas.microsoft.com/office/drawing/2014/main" id="{BFBA7489-28E2-47BA-849C-0F809A280D70}"/>
              </a:ext>
            </a:extLst>
          </p:cNvPr>
          <p:cNvSpPr>
            <a:spLocks xmlns:a="http://schemas.openxmlformats.org/drawingml/2006/main" noGrp="1"/>
          </p:cNvSpPr>
          <p:nvPr/>
        </p:nvSpPr>
        <p:spPr>
          <a:xfrm xmlns:a="http://schemas.openxmlformats.org/drawingml/2006/main">
            <a:off x="8782050" y="1809750"/>
            <a:ext cx="2476500" cy="1543050"/>
          </a:xfrm>
          <a:prstGeom xmlns:a="http://schemas.openxmlformats.org/drawingml/2006/main" prst="roundRect">
            <a:avLst>
              <a:gd name="adj" fmla="val 4938"/>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FE1769C4-1A07-445A-BB58-7A9550476CFE}"/>
              </a:ext>
            </a:extLst>
          </p:cNvPr>
          <p:cNvSpPr>
            <a:spLocks xmlns:a="http://schemas.openxmlformats.org/drawingml/2006/main" noGrp="1"/>
          </p:cNvSpPr>
          <p:nvPr/>
        </p:nvSpPr>
        <p:spPr>
          <a:xfrm xmlns:a="http://schemas.openxmlformats.org/drawingml/2006/main">
            <a:off x="8782050" y="1809750"/>
            <a:ext cx="47625" cy="15430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7F498046-3E1E-410F-9504-8BB80824A316}"/>
              </a:ext>
            </a:extLst>
          </p:cNvPr>
          <p:cNvSpPr>
            <a:spLocks xmlns:a="http://schemas.openxmlformats.org/drawingml/2006/main" noGrp="1"/>
          </p:cNvSpPr>
          <p:nvPr/>
        </p:nvSpPr>
        <p:spPr>
          <a:xfrm xmlns:a="http://schemas.openxmlformats.org/drawingml/2006/main">
            <a:off x="8953500" y="19431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交付阶段</a:t>
            </a:r>
          </a:p>
        </p:txBody>
      </p:sp>
      <p:sp>
        <p:nvSpPr>
          <p:cNvPr id="24" name="">
            <a:extLst xmlns:a="http://schemas.openxmlformats.org/drawingml/2006/main">
              <a:ext uri="{FF2B5EF4-FFF2-40B4-BE49-F238E27FC236}">
                <a16:creationId xmlns:a16="http://schemas.microsoft.com/office/drawing/2014/main" id="{E0314691-B9D1-4F71-8913-A683576A422D}"/>
              </a:ext>
            </a:extLst>
          </p:cNvPr>
          <p:cNvSpPr>
            <a:spLocks xmlns:a="http://schemas.openxmlformats.org/drawingml/2006/main" noGrp="1"/>
          </p:cNvSpPr>
          <p:nvPr/>
        </p:nvSpPr>
        <p:spPr>
          <a:xfrm xmlns:a="http://schemas.openxmlformats.org/drawingml/2006/main">
            <a:off x="8953500" y="2286000"/>
            <a:ext cx="21526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智能质量监控</a:t>
            </a:r>
          </a:p>
          <a:p xmlns:a="http://schemas.openxmlformats.org/drawingml/2006/main">
            <a:pPr algn="l">
              <a:defRPr sz="975" b="0">
                <a:solidFill>
                  <a:srgbClr val="475569"/>
                </a:solidFill>
              </a:defRPr>
            </a:pPr>
            <a:r>
              <a:rPr sz="975" b="0">
                <a:solidFill>
                  <a:srgbClr val="475569"/>
                </a:solidFill>
              </a:rPr>
              <a:t>质量审核、质量改进</a:t>
            </a:r>
          </a:p>
          <a:p xmlns:a="http://schemas.openxmlformats.org/drawingml/2006/main">
            <a:pPr algn="l">
              <a:defRPr sz="975" b="0">
                <a:solidFill>
                  <a:srgbClr val="475569"/>
                </a:solidFill>
              </a:defRPr>
            </a:pPr>
            <a:r>
              <a:rPr sz="975" b="0">
                <a:solidFill>
                  <a:srgbClr val="475569"/>
                </a:solidFill>
              </a:rPr>
              <a:t>适航符合性证明</a:t>
            </a:r>
          </a:p>
        </p:txBody>
      </p:sp>
      <p:sp>
        <p:nvSpPr>
          <p:cNvPr id="25" name="">
            <a:extLst xmlns:a="http://schemas.openxmlformats.org/drawingml/2006/main">
              <a:ext uri="{FF2B5EF4-FFF2-40B4-BE49-F238E27FC236}">
                <a16:creationId xmlns:a16="http://schemas.microsoft.com/office/drawing/2014/main" id="{A5B0D2F3-984A-4278-AF83-79E57EC4A9D0}"/>
              </a:ext>
            </a:extLst>
          </p:cNvPr>
          <p:cNvSpPr>
            <a:spLocks xmlns:a="http://schemas.openxmlformats.org/drawingml/2006/main" noGrp="1"/>
          </p:cNvSpPr>
          <p:nvPr/>
        </p:nvSpPr>
        <p:spPr>
          <a:xfrm xmlns:a="http://schemas.openxmlformats.org/drawingml/2006/main">
            <a:off x="914400" y="4000500"/>
            <a:ext cx="9620250" cy="990600"/>
          </a:xfrm>
          <a:prstGeom xmlns:a="http://schemas.openxmlformats.org/drawingml/2006/main" prst="roundRect">
            <a:avLst>
              <a:gd name="adj" fmla="val 7692"/>
            </a:avLst>
          </a:prstGeom>
          <a:solidFill xmlns:a="http://schemas.openxmlformats.org/drawingml/2006/main">
            <a:srgbClr val="0F2A5E"/>
          </a:solidFill>
          <a:ln xmlns:a="http://schemas.openxmlformats.org/drawingml/2006/main" w="9525">
            <a:solidFill>
              <a:srgbClr val="0F2A5E"/>
            </a:solidFill>
            <a:prstDash val="solid"/>
          </a:ln>
        </p:spPr>
      </p:sp>
      <p:sp>
        <p:nvSpPr>
          <p:cNvPr id="26" name="">
            <a:extLst xmlns:a="http://schemas.openxmlformats.org/drawingml/2006/main">
              <a:ext uri="{FF2B5EF4-FFF2-40B4-BE49-F238E27FC236}">
                <a16:creationId xmlns:a16="http://schemas.microsoft.com/office/drawing/2014/main" id="{8D4BCD2F-54C8-4FE9-997F-29C27901DE10}"/>
              </a:ext>
            </a:extLst>
          </p:cNvPr>
          <p:cNvSpPr>
            <a:spLocks xmlns:a="http://schemas.openxmlformats.org/drawingml/2006/main" noGrp="1"/>
          </p:cNvSpPr>
          <p:nvPr/>
        </p:nvSpPr>
        <p:spPr>
          <a:xfrm xmlns:a="http://schemas.openxmlformats.org/drawingml/2006/main">
            <a:off x="1257300" y="4191000"/>
            <a:ext cx="190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1920"/>
          </a:bodyPr>
          <a:lstStyle xmlns:a="http://schemas.openxmlformats.org/drawingml/2006/main"/>
          <a:p xmlns:a="http://schemas.openxmlformats.org/drawingml/2006/main">
            <a:pPr algn="l">
              <a:defRPr sz="1650" b="1">
                <a:solidFill>
                  <a:srgbClr val="7DD3FC"/>
                </a:solidFill>
              </a:defRPr>
            </a:pPr>
            <a:r>
              <a:rPr sz="1650" b="1">
                <a:solidFill>
                  <a:srgbClr val="7DD3FC"/>
                </a:solidFill>
              </a:rPr>
              <a:t>统一质量数据</a:t>
            </a:r>
          </a:p>
        </p:txBody>
      </p:sp>
      <p:sp>
        <p:nvSpPr>
          <p:cNvPr id="27" name="">
            <a:extLst xmlns:a="http://schemas.openxmlformats.org/drawingml/2006/main">
              <a:ext uri="{FF2B5EF4-FFF2-40B4-BE49-F238E27FC236}">
                <a16:creationId xmlns:a16="http://schemas.microsoft.com/office/drawing/2014/main" id="{9153CF65-3C2B-482C-AA80-3A0DE7CD9F3E}"/>
              </a:ext>
            </a:extLst>
          </p:cNvPr>
          <p:cNvSpPr>
            <a:spLocks xmlns:a="http://schemas.openxmlformats.org/drawingml/2006/main" noGrp="1"/>
          </p:cNvSpPr>
          <p:nvPr/>
        </p:nvSpPr>
        <p:spPr>
          <a:xfrm xmlns:a="http://schemas.openxmlformats.org/drawingml/2006/main">
            <a:off x="3371850" y="4229100"/>
            <a:ext cx="6572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DBEAFE"/>
                </a:solidFill>
              </a:defRPr>
            </a:pPr>
            <a:r>
              <a:rPr sz="1050" b="0">
                <a:solidFill>
                  <a:srgbClr val="DBEAFE"/>
                </a:solidFill>
              </a:rPr>
              <a:t>PDM 负责质量文件受控，ERP 承接业务与财务侧质量数据；质量链需要贯穿研发、采购、制造、交付全过程。</a:t>
            </a:r>
          </a:p>
        </p:txBody>
      </p:sp>
      <p:sp>
        <p:nvSpPr>
          <p:cNvPr id="28" name="">
            <a:extLst xmlns:a="http://schemas.openxmlformats.org/drawingml/2006/main">
              <a:ext uri="{FF2B5EF4-FFF2-40B4-BE49-F238E27FC236}">
                <a16:creationId xmlns:a16="http://schemas.microsoft.com/office/drawing/2014/main" id="{A1A57076-29F5-4C1B-BE8E-DF0FBCE9E501}"/>
              </a:ext>
            </a:extLst>
          </p:cNvPr>
          <p:cNvSpPr>
            <a:spLocks xmlns:a="http://schemas.openxmlformats.org/drawingml/2006/main" noGrp="1"/>
          </p:cNvSpPr>
          <p:nvPr/>
        </p:nvSpPr>
        <p:spPr>
          <a:xfrm xmlns:a="http://schemas.openxmlformats.org/drawingml/2006/main">
            <a:off x="1295400" y="5334000"/>
            <a:ext cx="8858250" cy="666750"/>
          </a:xfrm>
          <a:prstGeom xmlns:a="http://schemas.openxmlformats.org/drawingml/2006/main" prst="roundRect">
            <a:avLst>
              <a:gd name="adj" fmla="val 11429"/>
            </a:avLst>
          </a:prstGeom>
          <a:solidFill xmlns:a="http://schemas.openxmlformats.org/drawingml/2006/main">
            <a:srgbClr val="FEF2F2"/>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4D7F342C-6A7B-460F-85A1-BA591AEE57F6}"/>
              </a:ext>
            </a:extLst>
          </p:cNvPr>
          <p:cNvSpPr>
            <a:spLocks xmlns:a="http://schemas.openxmlformats.org/drawingml/2006/main" noGrp="1"/>
          </p:cNvSpPr>
          <p:nvPr/>
        </p:nvSpPr>
        <p:spPr>
          <a:xfrm xmlns:a="http://schemas.openxmlformats.org/drawingml/2006/main">
            <a:off x="1295400" y="5334000"/>
            <a:ext cx="57150" cy="666750"/>
          </a:xfrm>
          <a:prstGeom xmlns:a="http://schemas.openxmlformats.org/drawingml/2006/main" prst="rect">
            <a:avLst/>
          </a:prstGeom>
          <a:solidFill xmlns:a="http://schemas.openxmlformats.org/drawingml/2006/main">
            <a:srgbClr val="DC2626"/>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D4CA74E3-A55D-4AC9-B0B1-87D3FDF9647C}"/>
              </a:ext>
            </a:extLst>
          </p:cNvPr>
          <p:cNvSpPr>
            <a:spLocks xmlns:a="http://schemas.openxmlformats.org/drawingml/2006/main" noGrp="1"/>
          </p:cNvSpPr>
          <p:nvPr/>
        </p:nvSpPr>
        <p:spPr>
          <a:xfrm xmlns:a="http://schemas.openxmlformats.org/drawingml/2006/main">
            <a:off x="1466850" y="5448300"/>
            <a:ext cx="8515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125" b="1">
                <a:solidFill>
                  <a:srgbClr val="DC2626"/>
                </a:solidFill>
              </a:defRPr>
            </a:pPr>
            <a:r>
              <a:rPr sz="1125" b="1">
                <a:solidFill>
                  <a:srgbClr val="DC2626"/>
                </a:solidFill>
              </a:rPr>
              <a:t>预审关注</a:t>
            </a:r>
          </a:p>
        </p:txBody>
      </p:sp>
      <p:sp>
        <p:nvSpPr>
          <p:cNvPr id="31" name="">
            <a:extLst xmlns:a="http://schemas.openxmlformats.org/drawingml/2006/main">
              <a:ext uri="{FF2B5EF4-FFF2-40B4-BE49-F238E27FC236}">
                <a16:creationId xmlns:a16="http://schemas.microsoft.com/office/drawing/2014/main" id="{EC8B541E-DC3B-4E96-835D-E0923D2593CC}"/>
              </a:ext>
            </a:extLst>
          </p:cNvPr>
          <p:cNvSpPr>
            <a:spLocks xmlns:a="http://schemas.openxmlformats.org/drawingml/2006/main" noGrp="1"/>
          </p:cNvSpPr>
          <p:nvPr/>
        </p:nvSpPr>
        <p:spPr>
          <a:xfrm xmlns:a="http://schemas.openxmlformats.org/drawingml/2006/main">
            <a:off x="1466850" y="5715000"/>
            <a:ext cx="8515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00" b="0">
                <a:solidFill>
                  <a:srgbClr val="475569"/>
                </a:solidFill>
              </a:defRPr>
            </a:pPr>
            <a:r>
              <a:rPr sz="900" b="0">
                <a:solidFill>
                  <a:srgbClr val="475569"/>
                </a:solidFill>
              </a:rPr>
              <a:t>质量记录、NDT、偏离/超差、构型和适航追溯数据的存储归属需在 Q8 中补齐。</a:t>
            </a:r>
          </a:p>
        </p:txBody>
      </p:sp>
      <p:sp>
        <p:nvSpPr>
          <p:cNvPr id="32" name="">
            <a:extLst xmlns:a="http://schemas.openxmlformats.org/drawingml/2006/main">
              <a:ext uri="{FF2B5EF4-FFF2-40B4-BE49-F238E27FC236}">
                <a16:creationId xmlns:a16="http://schemas.microsoft.com/office/drawing/2014/main" id="{074E0D84-3CB3-4E5B-BAE5-6DF52D8E3BE4}"/>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14 / 29</a:t>
            </a:r>
          </a:p>
        </p:txBody>
      </p:sp>
    </p:spTree>
    <p:extLst>
      <p:ext uri="{BB962C8B-B14F-4D97-AF65-F5344CB8AC3E}">
        <p14:creationId xmlns:p14="http://schemas.microsoft.com/office/powerpoint/2010/main" val="1132506017"/>
      </p:ext>
    </p:extLst>
  </p:cSld>
</p:sld>
</file>

<file path=ppt/slides/slide15.xml><?xml version="1.0" encoding="utf-8"?>
<p:sld xmlns:p="http://schemas.openxmlformats.org/presentationml/2006/main">
  <p:cSld>
    <p:bg>
      <p:bgPr>
        <a:solidFill xmlns:a="http://schemas.openxmlformats.org/drawingml/2006/main">
          <a:srgbClr val="0F2A5E"/>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B467641-76BB-48A4-99D6-AE964E8FCC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BEB8E6A-0F03-4680-A61B-DADCFE819F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A39C130-EC34-4F04-81CC-0BA3DEBEB26F}"/>
              </a:ext>
            </a:extLst>
          </p:cNvPr>
          <p:cNvSpPr>
            <a:spLocks xmlns:a="http://schemas.openxmlformats.org/drawingml/2006/main" noGrp="1"/>
          </p:cNvSpPr>
          <p:nvPr/>
        </p:nvSpPr>
        <p:spPr>
          <a:xfrm xmlns:a="http://schemas.openxmlformats.org/drawingml/2006/main">
            <a:off x="8001000" y="-1714500"/>
            <a:ext cx="5524500" cy="5524500"/>
          </a:xfrm>
          <a:prstGeom xmlns:a="http://schemas.openxmlformats.org/drawingml/2006/main" prst="ellipse">
            <a:avLst/>
          </a:prstGeom>
          <a:solidFill xmlns:a="http://schemas.openxmlformats.org/drawingml/2006/main">
            <a:srgbClr val="FFFFFF">
              <a:alpha val="705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8DF8938-E773-42C4-BB24-F90EA67EF261}"/>
              </a:ext>
            </a:extLst>
          </p:cNvPr>
          <p:cNvSpPr>
            <a:spLocks xmlns:a="http://schemas.openxmlformats.org/drawingml/2006/main" noGrp="1"/>
          </p:cNvSpPr>
          <p:nvPr/>
        </p:nvSpPr>
        <p:spPr>
          <a:xfrm xmlns:a="http://schemas.openxmlformats.org/drawingml/2006/main">
            <a:off x="857250" y="1428750"/>
            <a:ext cx="76200" cy="3714750"/>
          </a:xfrm>
          <a:prstGeom xmlns:a="http://schemas.openxmlformats.org/drawingml/2006/main" prst="rect">
            <a:avLst/>
          </a:prstGeom>
          <a:solidFill xmlns:a="http://schemas.openxmlformats.org/drawingml/2006/main">
            <a:srgbClr val="7C3AED"/>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3D9AC5D4-ABB6-4999-B6F4-F260A07703A5}"/>
              </a:ext>
            </a:extLst>
          </p:cNvPr>
          <p:cNvSpPr>
            <a:spLocks xmlns:a="http://schemas.openxmlformats.org/drawingml/2006/main" noGrp="1"/>
          </p:cNvSpPr>
          <p:nvPr/>
        </p:nvSpPr>
        <p:spPr>
          <a:xfrm xmlns:a="http://schemas.openxmlformats.org/drawingml/2006/main">
            <a:off x="1181100" y="1428750"/>
            <a:ext cx="1524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800" b="1">
                <a:solidFill>
                  <a:srgbClr val="7DD3FC"/>
                </a:solidFill>
              </a:defRPr>
            </a:pPr>
            <a:r>
              <a:rPr sz="1800" b="1">
                <a:solidFill>
                  <a:srgbClr val="7DD3FC"/>
                </a:solidFill>
              </a:rPr>
              <a:t>03</a:t>
            </a:r>
          </a:p>
        </p:txBody>
      </p:sp>
      <p:sp>
        <p:nvSpPr>
          <p:cNvPr id="7" name="">
            <a:extLst xmlns:a="http://schemas.openxmlformats.org/drawingml/2006/main">
              <a:ext uri="{FF2B5EF4-FFF2-40B4-BE49-F238E27FC236}">
                <a16:creationId xmlns:a16="http://schemas.microsoft.com/office/drawing/2014/main" id="{E4248D86-9BFE-4F2D-989C-684A7BC309F9}"/>
              </a:ext>
            </a:extLst>
          </p:cNvPr>
          <p:cNvSpPr>
            <a:spLocks xmlns:a="http://schemas.openxmlformats.org/drawingml/2006/main" noGrp="1"/>
          </p:cNvSpPr>
          <p:nvPr/>
        </p:nvSpPr>
        <p:spPr>
          <a:xfrm xmlns:a="http://schemas.openxmlformats.org/drawingml/2006/main">
            <a:off x="1181100" y="1981200"/>
            <a:ext cx="65722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3150" b="1">
                <a:solidFill>
                  <a:srgbClr val="FFFFFF"/>
                </a:solidFill>
              </a:defRPr>
            </a:pPr>
            <a:r>
              <a:rPr sz="3150" b="1">
                <a:solidFill>
                  <a:srgbClr val="FFFFFF"/>
                </a:solidFill>
              </a:rPr>
              <a:t>MDM、黄金源与数据中台</a:t>
            </a:r>
          </a:p>
        </p:txBody>
      </p:sp>
      <p:sp>
        <p:nvSpPr>
          <p:cNvPr id="8" name="">
            <a:extLst xmlns:a="http://schemas.openxmlformats.org/drawingml/2006/main">
              <a:ext uri="{FF2B5EF4-FFF2-40B4-BE49-F238E27FC236}">
                <a16:creationId xmlns:a16="http://schemas.microsoft.com/office/drawing/2014/main" id="{66956224-F5AB-4130-8A1E-015B57905405}"/>
              </a:ext>
            </a:extLst>
          </p:cNvPr>
          <p:cNvSpPr>
            <a:spLocks xmlns:a="http://schemas.openxmlformats.org/drawingml/2006/main" noGrp="1"/>
          </p:cNvSpPr>
          <p:nvPr/>
        </p:nvSpPr>
        <p:spPr>
          <a:xfrm xmlns:a="http://schemas.openxmlformats.org/drawingml/2006/main">
            <a:off x="1200150" y="2857500"/>
            <a:ext cx="6858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350" b="0">
                <a:solidFill>
                  <a:srgbClr val="DBEAFE"/>
                </a:solidFill>
              </a:defRPr>
            </a:pPr>
            <a:r>
              <a:rPr sz="1350" b="0">
                <a:solidFill>
                  <a:srgbClr val="DBEAFE"/>
                </a:solidFill>
              </a:rPr>
              <a:t>把接口问题前移到主数据、字段和权威来源治理</a:t>
            </a:r>
          </a:p>
        </p:txBody>
      </p:sp>
      <p:sp>
        <p:nvSpPr>
          <p:cNvPr id="9" name="">
            <a:extLst xmlns:a="http://schemas.openxmlformats.org/drawingml/2006/main">
              <a:ext uri="{FF2B5EF4-FFF2-40B4-BE49-F238E27FC236}">
                <a16:creationId xmlns:a16="http://schemas.microsoft.com/office/drawing/2014/main" id="{904A2D5C-73BF-4C22-9273-256815C78007}"/>
              </a:ext>
            </a:extLst>
          </p:cNvPr>
          <p:cNvSpPr>
            <a:spLocks xmlns:a="http://schemas.openxmlformats.org/drawingml/2006/main" noGrp="1"/>
          </p:cNvSpPr>
          <p:nvPr/>
        </p:nvSpPr>
        <p:spPr>
          <a:xfrm xmlns:a="http://schemas.openxmlformats.org/drawingml/2006/main">
            <a:off x="1257300" y="3638550"/>
            <a:ext cx="95250" cy="95250"/>
          </a:xfrm>
          <a:prstGeom xmlns:a="http://schemas.openxmlformats.org/drawingml/2006/main" prst="ellipse">
            <a:avLst/>
          </a:prstGeom>
          <a:solidFill xmlns:a="http://schemas.openxmlformats.org/drawingml/2006/main">
            <a:srgbClr val="7DD3FC"/>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72F595F1-B6C6-4C26-870B-E5965D76DF3D}"/>
              </a:ext>
            </a:extLst>
          </p:cNvPr>
          <p:cNvSpPr>
            <a:spLocks xmlns:a="http://schemas.openxmlformats.org/drawingml/2006/main" noGrp="1"/>
          </p:cNvSpPr>
          <p:nvPr/>
        </p:nvSpPr>
        <p:spPr>
          <a:xfrm xmlns:a="http://schemas.openxmlformats.org/drawingml/2006/main">
            <a:off x="1504950" y="3533775"/>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EEF6FF"/>
                </a:solidFill>
              </a:defRPr>
            </a:pPr>
            <a:r>
              <a:rPr sz="1275" b="0">
                <a:solidFill>
                  <a:srgbClr val="EEF6FF"/>
                </a:solidFill>
              </a:rPr>
              <a:t>MDM 路径：组织先行、流程牵引</a:t>
            </a:r>
          </a:p>
        </p:txBody>
      </p:sp>
      <p:sp>
        <p:nvSpPr>
          <p:cNvPr id="11" name="">
            <a:extLst xmlns:a="http://schemas.openxmlformats.org/drawingml/2006/main">
              <a:ext uri="{FF2B5EF4-FFF2-40B4-BE49-F238E27FC236}">
                <a16:creationId xmlns:a16="http://schemas.microsoft.com/office/drawing/2014/main" id="{404AAE3B-402D-4CDE-A9F5-FA8E0DFFE087}"/>
              </a:ext>
            </a:extLst>
          </p:cNvPr>
          <p:cNvSpPr>
            <a:spLocks xmlns:a="http://schemas.openxmlformats.org/drawingml/2006/main" noGrp="1"/>
          </p:cNvSpPr>
          <p:nvPr/>
        </p:nvSpPr>
        <p:spPr>
          <a:xfrm xmlns:a="http://schemas.openxmlformats.org/drawingml/2006/main">
            <a:off x="1257300" y="4076700"/>
            <a:ext cx="95250" cy="95250"/>
          </a:xfrm>
          <a:prstGeom xmlns:a="http://schemas.openxmlformats.org/drawingml/2006/main" prst="ellipse">
            <a:avLst/>
          </a:prstGeom>
          <a:solidFill xmlns:a="http://schemas.openxmlformats.org/drawingml/2006/main">
            <a:srgbClr val="7DD3FC"/>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530F0A9-FA8D-4984-B9C8-59BD45472858}"/>
              </a:ext>
            </a:extLst>
          </p:cNvPr>
          <p:cNvSpPr>
            <a:spLocks xmlns:a="http://schemas.openxmlformats.org/drawingml/2006/main" noGrp="1"/>
          </p:cNvSpPr>
          <p:nvPr/>
        </p:nvSpPr>
        <p:spPr>
          <a:xfrm xmlns:a="http://schemas.openxmlformats.org/drawingml/2006/main">
            <a:off x="1504950" y="3971925"/>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EEF6FF"/>
                </a:solidFill>
              </a:defRPr>
            </a:pPr>
            <a:r>
              <a:rPr sz="1275" b="0">
                <a:solidFill>
                  <a:srgbClr val="EEF6FF"/>
                </a:solidFill>
              </a:rPr>
              <a:t>黄金源：字段唯一权威来源</a:t>
            </a:r>
          </a:p>
        </p:txBody>
      </p:sp>
      <p:sp>
        <p:nvSpPr>
          <p:cNvPr id="13" name="">
            <a:extLst xmlns:a="http://schemas.openxmlformats.org/drawingml/2006/main">
              <a:ext uri="{FF2B5EF4-FFF2-40B4-BE49-F238E27FC236}">
                <a16:creationId xmlns:a16="http://schemas.microsoft.com/office/drawing/2014/main" id="{AA21D0F2-1EF1-472C-89B2-6915B08340CD}"/>
              </a:ext>
            </a:extLst>
          </p:cNvPr>
          <p:cNvSpPr>
            <a:spLocks xmlns:a="http://schemas.openxmlformats.org/drawingml/2006/main" noGrp="1"/>
          </p:cNvSpPr>
          <p:nvPr/>
        </p:nvSpPr>
        <p:spPr>
          <a:xfrm xmlns:a="http://schemas.openxmlformats.org/drawingml/2006/main">
            <a:off x="1257300" y="4514850"/>
            <a:ext cx="95250" cy="95250"/>
          </a:xfrm>
          <a:prstGeom xmlns:a="http://schemas.openxmlformats.org/drawingml/2006/main" prst="ellipse">
            <a:avLst/>
          </a:prstGeom>
          <a:solidFill xmlns:a="http://schemas.openxmlformats.org/drawingml/2006/main">
            <a:srgbClr val="7DD3F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BF180FC0-C014-462E-9609-BD4FE7E8358C}"/>
              </a:ext>
            </a:extLst>
          </p:cNvPr>
          <p:cNvSpPr>
            <a:spLocks xmlns:a="http://schemas.openxmlformats.org/drawingml/2006/main" noGrp="1"/>
          </p:cNvSpPr>
          <p:nvPr/>
        </p:nvSpPr>
        <p:spPr>
          <a:xfrm xmlns:a="http://schemas.openxmlformats.org/drawingml/2006/main">
            <a:off x="1504950" y="4410075"/>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EEF6FF"/>
                </a:solidFill>
              </a:defRPr>
            </a:pPr>
            <a:r>
              <a:rPr sz="1275" b="0">
                <a:solidFill>
                  <a:srgbClr val="EEF6FF"/>
                </a:solidFill>
              </a:rPr>
              <a:t>Q7：数据中台/集成总线条件性决策</a:t>
            </a:r>
          </a:p>
        </p:txBody>
      </p:sp>
      <p:sp>
        <p:nvSpPr>
          <p:cNvPr id="15" name="">
            <a:extLst xmlns:a="http://schemas.openxmlformats.org/drawingml/2006/main">
              <a:ext uri="{FF2B5EF4-FFF2-40B4-BE49-F238E27FC236}">
                <a16:creationId xmlns:a16="http://schemas.microsoft.com/office/drawing/2014/main" id="{CF38338E-3091-4C11-958D-ECAEE9AC2E2A}"/>
              </a:ext>
            </a:extLst>
          </p:cNvPr>
          <p:cNvSpPr>
            <a:spLocks xmlns:a="http://schemas.openxmlformats.org/drawingml/2006/main" noGrp="1"/>
          </p:cNvSpPr>
          <p:nvPr/>
        </p:nvSpPr>
        <p:spPr>
          <a:xfrm xmlns:a="http://schemas.openxmlformats.org/drawingml/2006/main">
            <a:off x="10477500" y="6210300"/>
            <a:ext cx="857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BFDBFE"/>
                </a:solidFill>
              </a:defRPr>
            </a:pPr>
            <a:r>
              <a:rPr sz="900" b="0">
                <a:solidFill>
                  <a:srgbClr val="BFDBFE"/>
                </a:solidFill>
              </a:rPr>
              <a:t>15 / 29</a:t>
            </a:r>
          </a:p>
        </p:txBody>
      </p:sp>
    </p:spTree>
    <p:extLst>
      <p:ext uri="{BB962C8B-B14F-4D97-AF65-F5344CB8AC3E}">
        <p14:creationId xmlns:p14="http://schemas.microsoft.com/office/powerpoint/2010/main" val="886080461"/>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D01FBFB5-B092-4349-A691-F771104E6D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ACBAED5-E8B0-4C62-B005-AB90C2B3BE8C}"/>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C14FC48-B979-429B-9CAA-02E59492A88C}"/>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65407088-8DE5-4C7E-BB05-5C9CB4B5BF6E}"/>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03.1 MDM路径</a:t>
            </a:r>
          </a:p>
        </p:txBody>
      </p:sp>
      <p:sp>
        <p:nvSpPr>
          <p:cNvPr id="6" name="">
            <a:extLst xmlns:a="http://schemas.openxmlformats.org/drawingml/2006/main">
              <a:ext uri="{FF2B5EF4-FFF2-40B4-BE49-F238E27FC236}">
                <a16:creationId xmlns:a16="http://schemas.microsoft.com/office/drawing/2014/main" id="{4CED4CD6-570E-4016-878A-3E90ED302951}"/>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83AAFA40-0E2F-427F-BFD7-E36395EE018D}"/>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MDM主数据治理</a:t>
            </a:r>
          </a:p>
        </p:txBody>
      </p:sp>
      <p:sp>
        <p:nvSpPr>
          <p:cNvPr id="8" name="">
            <a:extLst xmlns:a="http://schemas.openxmlformats.org/drawingml/2006/main">
              <a:ext uri="{FF2B5EF4-FFF2-40B4-BE49-F238E27FC236}">
                <a16:creationId xmlns:a16="http://schemas.microsoft.com/office/drawing/2014/main" id="{8E4788D1-322E-4F9D-AF54-84279FCC3155}"/>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系统集成基石 · 组织身份先行 · 字段台账落地</a:t>
            </a:r>
          </a:p>
        </p:txBody>
      </p:sp>
      <p:sp>
        <p:nvSpPr>
          <p:cNvPr id="9" name="">
            <a:extLst xmlns:a="http://schemas.openxmlformats.org/drawingml/2006/main">
              <a:ext uri="{FF2B5EF4-FFF2-40B4-BE49-F238E27FC236}">
                <a16:creationId xmlns:a16="http://schemas.microsoft.com/office/drawing/2014/main" id="{A908B7BD-F32A-47AC-80B4-E611F4C0824C}"/>
              </a:ext>
            </a:extLst>
          </p:cNvPr>
          <p:cNvSpPr>
            <a:spLocks xmlns:a="http://schemas.openxmlformats.org/drawingml/2006/main" noGrp="1"/>
          </p:cNvSpPr>
          <p:nvPr/>
        </p:nvSpPr>
        <p:spPr>
          <a:xfrm xmlns:a="http://schemas.openxmlformats.org/drawingml/2006/main">
            <a:off x="552450" y="1828800"/>
            <a:ext cx="196596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A2F9CEE1-0C0C-448C-B0AB-59E03A94DBDF}"/>
              </a:ext>
            </a:extLst>
          </p:cNvPr>
          <p:cNvSpPr>
            <a:spLocks xmlns:a="http://schemas.openxmlformats.org/drawingml/2006/main" noGrp="1"/>
          </p:cNvSpPr>
          <p:nvPr/>
        </p:nvSpPr>
        <p:spPr>
          <a:xfrm xmlns:a="http://schemas.openxmlformats.org/drawingml/2006/main">
            <a:off x="685800" y="1962150"/>
            <a:ext cx="285750" cy="285750"/>
          </a:xfrm>
          <a:prstGeom xmlns:a="http://schemas.openxmlformats.org/drawingml/2006/main" prst="ellipse">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D78CB356-99F0-431E-9F22-802BE16390F8}"/>
              </a:ext>
            </a:extLst>
          </p:cNvPr>
          <p:cNvSpPr>
            <a:spLocks xmlns:a="http://schemas.openxmlformats.org/drawingml/2006/main" noGrp="1"/>
          </p:cNvSpPr>
          <p:nvPr/>
        </p:nvSpPr>
        <p:spPr>
          <a:xfrm xmlns:a="http://schemas.openxmlformats.org/drawingml/2006/main">
            <a:off x="685800" y="200025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900" b="1">
                <a:solidFill>
                  <a:srgbClr val="FFFFFF"/>
                </a:solidFill>
              </a:defRPr>
            </a:pPr>
            <a:r>
              <a:rPr sz="900" b="1">
                <a:solidFill>
                  <a:srgbClr val="FFFFFF"/>
                </a:solidFill>
              </a:rPr>
              <a:t>1</a:t>
            </a:r>
          </a:p>
        </p:txBody>
      </p:sp>
      <p:sp>
        <p:nvSpPr>
          <p:cNvPr id="12" name="">
            <a:extLst xmlns:a="http://schemas.openxmlformats.org/drawingml/2006/main">
              <a:ext uri="{FF2B5EF4-FFF2-40B4-BE49-F238E27FC236}">
                <a16:creationId xmlns:a16="http://schemas.microsoft.com/office/drawing/2014/main" id="{CC1587FF-266B-4A0E-8B31-B8D0AE319355}"/>
              </a:ext>
            </a:extLst>
          </p:cNvPr>
          <p:cNvSpPr>
            <a:spLocks xmlns:a="http://schemas.openxmlformats.org/drawingml/2006/main" noGrp="1"/>
          </p:cNvSpPr>
          <p:nvPr/>
        </p:nvSpPr>
        <p:spPr>
          <a:xfrm xmlns:a="http://schemas.openxmlformats.org/drawingml/2006/main">
            <a:off x="1047750" y="1952625"/>
            <a:ext cx="137541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组织先行</a:t>
            </a:r>
          </a:p>
        </p:txBody>
      </p:sp>
      <p:sp>
        <p:nvSpPr>
          <p:cNvPr id="13" name="">
            <a:extLst xmlns:a="http://schemas.openxmlformats.org/drawingml/2006/main">
              <a:ext uri="{FF2B5EF4-FFF2-40B4-BE49-F238E27FC236}">
                <a16:creationId xmlns:a16="http://schemas.microsoft.com/office/drawing/2014/main" id="{B57760B4-E40E-4A10-8E6B-7CB1AD642EC1}"/>
              </a:ext>
            </a:extLst>
          </p:cNvPr>
          <p:cNvSpPr>
            <a:spLocks xmlns:a="http://schemas.openxmlformats.org/drawingml/2006/main" noGrp="1"/>
          </p:cNvSpPr>
          <p:nvPr/>
        </p:nvSpPr>
        <p:spPr>
          <a:xfrm xmlns:a="http://schemas.openxmlformats.org/drawingml/2006/main">
            <a:off x="723900" y="2286000"/>
            <a:ext cx="168021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统一公司、部门、岗位、人员、工号、权限入口</a:t>
            </a:r>
          </a:p>
        </p:txBody>
      </p:sp>
      <p:sp>
        <p:nvSpPr>
          <p:cNvPr id="14" name="">
            <a:extLst xmlns:a="http://schemas.openxmlformats.org/drawingml/2006/main">
              <a:ext uri="{FF2B5EF4-FFF2-40B4-BE49-F238E27FC236}">
                <a16:creationId xmlns:a16="http://schemas.microsoft.com/office/drawing/2014/main" id="{FD773176-41E9-4E62-8FED-394646B6DA7A}"/>
              </a:ext>
            </a:extLst>
          </p:cNvPr>
          <p:cNvSpPr>
            <a:spLocks xmlns:a="http://schemas.openxmlformats.org/drawingml/2006/main" noGrp="1"/>
          </p:cNvSpPr>
          <p:nvPr/>
        </p:nvSpPr>
        <p:spPr>
          <a:xfrm xmlns:a="http://schemas.openxmlformats.org/drawingml/2006/main">
            <a:off x="2537460" y="2247900"/>
            <a:ext cx="95250" cy="28575"/>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D47F8AB0-F940-4CA6-A3AB-2447C54A9C71}"/>
              </a:ext>
            </a:extLst>
          </p:cNvPr>
          <p:cNvSpPr>
            <a:spLocks xmlns:a="http://schemas.openxmlformats.org/drawingml/2006/main" noGrp="1"/>
          </p:cNvSpPr>
          <p:nvPr/>
        </p:nvSpPr>
        <p:spPr>
          <a:xfrm xmlns:a="http://schemas.openxmlformats.org/drawingml/2006/main">
            <a:off x="2651760" y="1828800"/>
            <a:ext cx="196596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180499E5-C5FB-4951-82F1-C9DA1A8B5941}"/>
              </a:ext>
            </a:extLst>
          </p:cNvPr>
          <p:cNvSpPr>
            <a:spLocks xmlns:a="http://schemas.openxmlformats.org/drawingml/2006/main" noGrp="1"/>
          </p:cNvSpPr>
          <p:nvPr/>
        </p:nvSpPr>
        <p:spPr>
          <a:xfrm xmlns:a="http://schemas.openxmlformats.org/drawingml/2006/main">
            <a:off x="2785110" y="1962150"/>
            <a:ext cx="285750" cy="285750"/>
          </a:xfrm>
          <a:prstGeom xmlns:a="http://schemas.openxmlformats.org/drawingml/2006/main" prst="ellipse">
            <a:avLst/>
          </a:prstGeom>
          <a:solidFill xmlns:a="http://schemas.openxmlformats.org/drawingml/2006/main">
            <a:srgbClr val="0891B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290E945B-146A-4953-B130-62F7A80FA7F9}"/>
              </a:ext>
            </a:extLst>
          </p:cNvPr>
          <p:cNvSpPr>
            <a:spLocks xmlns:a="http://schemas.openxmlformats.org/drawingml/2006/main" noGrp="1"/>
          </p:cNvSpPr>
          <p:nvPr/>
        </p:nvSpPr>
        <p:spPr>
          <a:xfrm xmlns:a="http://schemas.openxmlformats.org/drawingml/2006/main">
            <a:off x="2785110" y="200025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900" b="1">
                <a:solidFill>
                  <a:srgbClr val="FFFFFF"/>
                </a:solidFill>
              </a:defRPr>
            </a:pPr>
            <a:r>
              <a:rPr sz="900" b="1">
                <a:solidFill>
                  <a:srgbClr val="FFFFFF"/>
                </a:solidFill>
              </a:rPr>
              <a:t>2</a:t>
            </a:r>
          </a:p>
        </p:txBody>
      </p:sp>
      <p:sp>
        <p:nvSpPr>
          <p:cNvPr id="18" name="">
            <a:extLst xmlns:a="http://schemas.openxmlformats.org/drawingml/2006/main">
              <a:ext uri="{FF2B5EF4-FFF2-40B4-BE49-F238E27FC236}">
                <a16:creationId xmlns:a16="http://schemas.microsoft.com/office/drawing/2014/main" id="{AFFCB4AB-E4D5-4F72-91CA-F96CA781E88C}"/>
              </a:ext>
            </a:extLst>
          </p:cNvPr>
          <p:cNvSpPr>
            <a:spLocks xmlns:a="http://schemas.openxmlformats.org/drawingml/2006/main" noGrp="1"/>
          </p:cNvSpPr>
          <p:nvPr/>
        </p:nvSpPr>
        <p:spPr>
          <a:xfrm xmlns:a="http://schemas.openxmlformats.org/drawingml/2006/main">
            <a:off x="3147060" y="1952625"/>
            <a:ext cx="137541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流程牵引</a:t>
            </a:r>
          </a:p>
        </p:txBody>
      </p:sp>
      <p:sp>
        <p:nvSpPr>
          <p:cNvPr id="19" name="">
            <a:extLst xmlns:a="http://schemas.openxmlformats.org/drawingml/2006/main">
              <a:ext uri="{FF2B5EF4-FFF2-40B4-BE49-F238E27FC236}">
                <a16:creationId xmlns:a16="http://schemas.microsoft.com/office/drawing/2014/main" id="{7CDE07F8-CE11-4B3C-817B-C82D3963C7E4}"/>
              </a:ext>
            </a:extLst>
          </p:cNvPr>
          <p:cNvSpPr>
            <a:spLocks xmlns:a="http://schemas.openxmlformats.org/drawingml/2006/main" noGrp="1"/>
          </p:cNvSpPr>
          <p:nvPr/>
        </p:nvSpPr>
        <p:spPr>
          <a:xfrm xmlns:a="http://schemas.openxmlformats.org/drawingml/2006/main">
            <a:off x="2823210" y="2286000"/>
            <a:ext cx="168021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先梳理跨系统流程，再落字段和接口</a:t>
            </a:r>
          </a:p>
        </p:txBody>
      </p:sp>
      <p:sp>
        <p:nvSpPr>
          <p:cNvPr id="20" name="">
            <a:extLst xmlns:a="http://schemas.openxmlformats.org/drawingml/2006/main">
              <a:ext uri="{FF2B5EF4-FFF2-40B4-BE49-F238E27FC236}">
                <a16:creationId xmlns:a16="http://schemas.microsoft.com/office/drawing/2014/main" id="{E4D3231E-DBA4-4286-B645-0968900F0DAB}"/>
              </a:ext>
            </a:extLst>
          </p:cNvPr>
          <p:cNvSpPr>
            <a:spLocks xmlns:a="http://schemas.openxmlformats.org/drawingml/2006/main" noGrp="1"/>
          </p:cNvSpPr>
          <p:nvPr/>
        </p:nvSpPr>
        <p:spPr>
          <a:xfrm xmlns:a="http://schemas.openxmlformats.org/drawingml/2006/main">
            <a:off x="4636770" y="2247900"/>
            <a:ext cx="95250" cy="28575"/>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A651AF2F-EB68-45B5-9186-8AB8D00532A7}"/>
              </a:ext>
            </a:extLst>
          </p:cNvPr>
          <p:cNvSpPr>
            <a:spLocks xmlns:a="http://schemas.openxmlformats.org/drawingml/2006/main" noGrp="1"/>
          </p:cNvSpPr>
          <p:nvPr/>
        </p:nvSpPr>
        <p:spPr>
          <a:xfrm xmlns:a="http://schemas.openxmlformats.org/drawingml/2006/main">
            <a:off x="4751070" y="1828800"/>
            <a:ext cx="196596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D69EA66A-79C7-45DA-92FC-5A6F958DBD4D}"/>
              </a:ext>
            </a:extLst>
          </p:cNvPr>
          <p:cNvSpPr>
            <a:spLocks xmlns:a="http://schemas.openxmlformats.org/drawingml/2006/main" noGrp="1"/>
          </p:cNvSpPr>
          <p:nvPr/>
        </p:nvSpPr>
        <p:spPr>
          <a:xfrm xmlns:a="http://schemas.openxmlformats.org/drawingml/2006/main">
            <a:off x="4884420" y="1962150"/>
            <a:ext cx="285750" cy="285750"/>
          </a:xfrm>
          <a:prstGeom xmlns:a="http://schemas.openxmlformats.org/drawingml/2006/main" prst="ellipse">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CBA4AFF1-E7ED-445B-A0A2-0F2F7677AF74}"/>
              </a:ext>
            </a:extLst>
          </p:cNvPr>
          <p:cNvSpPr>
            <a:spLocks xmlns:a="http://schemas.openxmlformats.org/drawingml/2006/main" noGrp="1"/>
          </p:cNvSpPr>
          <p:nvPr/>
        </p:nvSpPr>
        <p:spPr>
          <a:xfrm xmlns:a="http://schemas.openxmlformats.org/drawingml/2006/main">
            <a:off x="4884420" y="200025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900" b="1">
                <a:solidFill>
                  <a:srgbClr val="FFFFFF"/>
                </a:solidFill>
              </a:defRPr>
            </a:pPr>
            <a:r>
              <a:rPr sz="900" b="1">
                <a:solidFill>
                  <a:srgbClr val="FFFFFF"/>
                </a:solidFill>
              </a:rPr>
              <a:t>3</a:t>
            </a:r>
          </a:p>
        </p:txBody>
      </p:sp>
      <p:sp>
        <p:nvSpPr>
          <p:cNvPr id="24" name="">
            <a:extLst xmlns:a="http://schemas.openxmlformats.org/drawingml/2006/main">
              <a:ext uri="{FF2B5EF4-FFF2-40B4-BE49-F238E27FC236}">
                <a16:creationId xmlns:a16="http://schemas.microsoft.com/office/drawing/2014/main" id="{18D4A824-89B6-422F-B6BA-30A288400D4E}"/>
              </a:ext>
            </a:extLst>
          </p:cNvPr>
          <p:cNvSpPr>
            <a:spLocks xmlns:a="http://schemas.openxmlformats.org/drawingml/2006/main" noGrp="1"/>
          </p:cNvSpPr>
          <p:nvPr/>
        </p:nvSpPr>
        <p:spPr>
          <a:xfrm xmlns:a="http://schemas.openxmlformats.org/drawingml/2006/main">
            <a:off x="5246370" y="1952625"/>
            <a:ext cx="137541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术语统一</a:t>
            </a:r>
          </a:p>
        </p:txBody>
      </p:sp>
      <p:sp>
        <p:nvSpPr>
          <p:cNvPr id="25" name="">
            <a:extLst xmlns:a="http://schemas.openxmlformats.org/drawingml/2006/main">
              <a:ext uri="{FF2B5EF4-FFF2-40B4-BE49-F238E27FC236}">
                <a16:creationId xmlns:a16="http://schemas.microsoft.com/office/drawing/2014/main" id="{2CA27948-EA3B-4FF7-89EC-A92DDD597F36}"/>
              </a:ext>
            </a:extLst>
          </p:cNvPr>
          <p:cNvSpPr>
            <a:spLocks xmlns:a="http://schemas.openxmlformats.org/drawingml/2006/main" noGrp="1"/>
          </p:cNvSpPr>
          <p:nvPr/>
        </p:nvSpPr>
        <p:spPr>
          <a:xfrm xmlns:a="http://schemas.openxmlformats.org/drawingml/2006/main">
            <a:off x="4922520" y="2286000"/>
            <a:ext cx="168021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建立术语词典，消除部门口径差异</a:t>
            </a:r>
          </a:p>
        </p:txBody>
      </p:sp>
      <p:sp>
        <p:nvSpPr>
          <p:cNvPr id="26" name="">
            <a:extLst xmlns:a="http://schemas.openxmlformats.org/drawingml/2006/main">
              <a:ext uri="{FF2B5EF4-FFF2-40B4-BE49-F238E27FC236}">
                <a16:creationId xmlns:a16="http://schemas.microsoft.com/office/drawing/2014/main" id="{C7D1B913-CA3A-47C8-9B45-052884BAC2A6}"/>
              </a:ext>
            </a:extLst>
          </p:cNvPr>
          <p:cNvSpPr>
            <a:spLocks xmlns:a="http://schemas.openxmlformats.org/drawingml/2006/main" noGrp="1"/>
          </p:cNvSpPr>
          <p:nvPr/>
        </p:nvSpPr>
        <p:spPr>
          <a:xfrm xmlns:a="http://schemas.openxmlformats.org/drawingml/2006/main">
            <a:off x="6736080" y="2247900"/>
            <a:ext cx="95250" cy="28575"/>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273943FD-E8EB-4238-A267-05B2366621C8}"/>
              </a:ext>
            </a:extLst>
          </p:cNvPr>
          <p:cNvSpPr>
            <a:spLocks xmlns:a="http://schemas.openxmlformats.org/drawingml/2006/main" noGrp="1"/>
          </p:cNvSpPr>
          <p:nvPr/>
        </p:nvSpPr>
        <p:spPr>
          <a:xfrm xmlns:a="http://schemas.openxmlformats.org/drawingml/2006/main">
            <a:off x="6850380" y="1828800"/>
            <a:ext cx="196596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40455EA1-CD86-404C-9EE3-2BFC3CB6071E}"/>
              </a:ext>
            </a:extLst>
          </p:cNvPr>
          <p:cNvSpPr>
            <a:spLocks xmlns:a="http://schemas.openxmlformats.org/drawingml/2006/main" noGrp="1"/>
          </p:cNvSpPr>
          <p:nvPr/>
        </p:nvSpPr>
        <p:spPr>
          <a:xfrm xmlns:a="http://schemas.openxmlformats.org/drawingml/2006/main">
            <a:off x="6983730" y="1962150"/>
            <a:ext cx="285750" cy="285750"/>
          </a:xfrm>
          <a:prstGeom xmlns:a="http://schemas.openxmlformats.org/drawingml/2006/main" prst="ellipse">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9924CC95-F1A0-4EF6-97B4-B46D237902B3}"/>
              </a:ext>
            </a:extLst>
          </p:cNvPr>
          <p:cNvSpPr>
            <a:spLocks xmlns:a="http://schemas.openxmlformats.org/drawingml/2006/main" noGrp="1"/>
          </p:cNvSpPr>
          <p:nvPr/>
        </p:nvSpPr>
        <p:spPr>
          <a:xfrm xmlns:a="http://schemas.openxmlformats.org/drawingml/2006/main">
            <a:off x="6983730" y="200025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900" b="1">
                <a:solidFill>
                  <a:srgbClr val="FFFFFF"/>
                </a:solidFill>
              </a:defRPr>
            </a:pPr>
            <a:r>
              <a:rPr sz="900" b="1">
                <a:solidFill>
                  <a:srgbClr val="FFFFFF"/>
                </a:solidFill>
              </a:rPr>
              <a:t>4</a:t>
            </a:r>
          </a:p>
        </p:txBody>
      </p:sp>
      <p:sp>
        <p:nvSpPr>
          <p:cNvPr id="30" name="">
            <a:extLst xmlns:a="http://schemas.openxmlformats.org/drawingml/2006/main">
              <a:ext uri="{FF2B5EF4-FFF2-40B4-BE49-F238E27FC236}">
                <a16:creationId xmlns:a16="http://schemas.microsoft.com/office/drawing/2014/main" id="{7F56B8DE-6F26-481A-A931-3BF6766A1C82}"/>
              </a:ext>
            </a:extLst>
          </p:cNvPr>
          <p:cNvSpPr>
            <a:spLocks xmlns:a="http://schemas.openxmlformats.org/drawingml/2006/main" noGrp="1"/>
          </p:cNvSpPr>
          <p:nvPr/>
        </p:nvSpPr>
        <p:spPr>
          <a:xfrm xmlns:a="http://schemas.openxmlformats.org/drawingml/2006/main">
            <a:off x="7345680" y="1952625"/>
            <a:ext cx="137541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字段落账</a:t>
            </a:r>
          </a:p>
        </p:txBody>
      </p:sp>
      <p:sp>
        <p:nvSpPr>
          <p:cNvPr id="31" name="">
            <a:extLst xmlns:a="http://schemas.openxmlformats.org/drawingml/2006/main">
              <a:ext uri="{FF2B5EF4-FFF2-40B4-BE49-F238E27FC236}">
                <a16:creationId xmlns:a16="http://schemas.microsoft.com/office/drawing/2014/main" id="{A87A0830-9605-42BC-A6E2-4FE59DED47B5}"/>
              </a:ext>
            </a:extLst>
          </p:cNvPr>
          <p:cNvSpPr>
            <a:spLocks xmlns:a="http://schemas.openxmlformats.org/drawingml/2006/main" noGrp="1"/>
          </p:cNvSpPr>
          <p:nvPr/>
        </p:nvSpPr>
        <p:spPr>
          <a:xfrm xmlns:a="http://schemas.openxmlformats.org/drawingml/2006/main">
            <a:off x="7021830" y="2286000"/>
            <a:ext cx="168021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形成字段台账、责任人、黄金源与同步规则</a:t>
            </a:r>
          </a:p>
        </p:txBody>
      </p:sp>
      <p:sp>
        <p:nvSpPr>
          <p:cNvPr id="32" name="">
            <a:extLst xmlns:a="http://schemas.openxmlformats.org/drawingml/2006/main">
              <a:ext uri="{FF2B5EF4-FFF2-40B4-BE49-F238E27FC236}">
                <a16:creationId xmlns:a16="http://schemas.microsoft.com/office/drawing/2014/main" id="{22DB46F2-09C7-45C2-9A5F-8261C8E8AAE0}"/>
              </a:ext>
            </a:extLst>
          </p:cNvPr>
          <p:cNvSpPr>
            <a:spLocks xmlns:a="http://schemas.openxmlformats.org/drawingml/2006/main" noGrp="1"/>
          </p:cNvSpPr>
          <p:nvPr/>
        </p:nvSpPr>
        <p:spPr>
          <a:xfrm xmlns:a="http://schemas.openxmlformats.org/drawingml/2006/main">
            <a:off x="8835390" y="2247900"/>
            <a:ext cx="95250" cy="28575"/>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0600464A-AC74-4DA5-9F47-861FF6841092}"/>
              </a:ext>
            </a:extLst>
          </p:cNvPr>
          <p:cNvSpPr>
            <a:spLocks xmlns:a="http://schemas.openxmlformats.org/drawingml/2006/main" noGrp="1"/>
          </p:cNvSpPr>
          <p:nvPr/>
        </p:nvSpPr>
        <p:spPr>
          <a:xfrm xmlns:a="http://schemas.openxmlformats.org/drawingml/2006/main">
            <a:off x="8949690" y="1828800"/>
            <a:ext cx="196596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81981002-0E80-45FE-8CB0-5E2E71896998}"/>
              </a:ext>
            </a:extLst>
          </p:cNvPr>
          <p:cNvSpPr>
            <a:spLocks xmlns:a="http://schemas.openxmlformats.org/drawingml/2006/main" noGrp="1"/>
          </p:cNvSpPr>
          <p:nvPr/>
        </p:nvSpPr>
        <p:spPr>
          <a:xfrm xmlns:a="http://schemas.openxmlformats.org/drawingml/2006/main">
            <a:off x="9083040" y="1962150"/>
            <a:ext cx="285750" cy="285750"/>
          </a:xfrm>
          <a:prstGeom xmlns:a="http://schemas.openxmlformats.org/drawingml/2006/main" prst="ellipse">
            <a:avLst/>
          </a:prstGeom>
          <a:solidFill xmlns:a="http://schemas.openxmlformats.org/drawingml/2006/main">
            <a:srgbClr val="7C3AED"/>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4F0063A3-3F3A-48DC-8EA5-58F8F6D3A200}"/>
              </a:ext>
            </a:extLst>
          </p:cNvPr>
          <p:cNvSpPr>
            <a:spLocks xmlns:a="http://schemas.openxmlformats.org/drawingml/2006/main" noGrp="1"/>
          </p:cNvSpPr>
          <p:nvPr/>
        </p:nvSpPr>
        <p:spPr>
          <a:xfrm xmlns:a="http://schemas.openxmlformats.org/drawingml/2006/main">
            <a:off x="9083040" y="200025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900" b="1">
                <a:solidFill>
                  <a:srgbClr val="FFFFFF"/>
                </a:solidFill>
              </a:defRPr>
            </a:pPr>
            <a:r>
              <a:rPr sz="900" b="1">
                <a:solidFill>
                  <a:srgbClr val="FFFFFF"/>
                </a:solidFill>
              </a:rPr>
              <a:t>5</a:t>
            </a:r>
          </a:p>
        </p:txBody>
      </p:sp>
      <p:sp>
        <p:nvSpPr>
          <p:cNvPr id="36" name="">
            <a:extLst xmlns:a="http://schemas.openxmlformats.org/drawingml/2006/main">
              <a:ext uri="{FF2B5EF4-FFF2-40B4-BE49-F238E27FC236}">
                <a16:creationId xmlns:a16="http://schemas.microsoft.com/office/drawing/2014/main" id="{616E25F6-D0F7-4F1D-86B3-08BCD9A45154}"/>
              </a:ext>
            </a:extLst>
          </p:cNvPr>
          <p:cNvSpPr>
            <a:spLocks xmlns:a="http://schemas.openxmlformats.org/drawingml/2006/main" noGrp="1"/>
          </p:cNvSpPr>
          <p:nvPr/>
        </p:nvSpPr>
        <p:spPr>
          <a:xfrm xmlns:a="http://schemas.openxmlformats.org/drawingml/2006/main">
            <a:off x="9444990" y="1952625"/>
            <a:ext cx="137541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主数据沉淀</a:t>
            </a:r>
          </a:p>
        </p:txBody>
      </p:sp>
      <p:sp>
        <p:nvSpPr>
          <p:cNvPr id="37" name="">
            <a:extLst xmlns:a="http://schemas.openxmlformats.org/drawingml/2006/main">
              <a:ext uri="{FF2B5EF4-FFF2-40B4-BE49-F238E27FC236}">
                <a16:creationId xmlns:a16="http://schemas.microsoft.com/office/drawing/2014/main" id="{B7E75AE9-998A-4722-870E-406D65790416}"/>
              </a:ext>
            </a:extLst>
          </p:cNvPr>
          <p:cNvSpPr>
            <a:spLocks xmlns:a="http://schemas.openxmlformats.org/drawingml/2006/main" noGrp="1"/>
          </p:cNvSpPr>
          <p:nvPr/>
        </p:nvSpPr>
        <p:spPr>
          <a:xfrm xmlns:a="http://schemas.openxmlformats.org/drawingml/2006/main">
            <a:off x="9121140" y="2286000"/>
            <a:ext cx="168021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建设可持续维护的 MDM 底座</a:t>
            </a:r>
          </a:p>
        </p:txBody>
      </p:sp>
      <p:sp>
        <p:nvSpPr>
          <p:cNvPr id="38" name="">
            <a:extLst xmlns:a="http://schemas.openxmlformats.org/drawingml/2006/main">
              <a:ext uri="{FF2B5EF4-FFF2-40B4-BE49-F238E27FC236}">
                <a16:creationId xmlns:a16="http://schemas.microsoft.com/office/drawing/2014/main" id="{75389E66-1906-4BD9-9602-889B01C9FBD6}"/>
              </a:ext>
            </a:extLst>
          </p:cNvPr>
          <p:cNvSpPr>
            <a:spLocks xmlns:a="http://schemas.openxmlformats.org/drawingml/2006/main" noGrp="1"/>
          </p:cNvSpPr>
          <p:nvPr/>
        </p:nvSpPr>
        <p:spPr>
          <a:xfrm xmlns:a="http://schemas.openxmlformats.org/drawingml/2006/main">
            <a:off x="762000" y="3333750"/>
            <a:ext cx="47625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E2E8F0"/>
            </a:solidFill>
            <a:prstDash val="solid"/>
          </a:ln>
        </p:spPr>
      </p:sp>
      <p:sp>
        <p:nvSpPr>
          <p:cNvPr id="39" name="">
            <a:extLst xmlns:a="http://schemas.openxmlformats.org/drawingml/2006/main">
              <a:ext uri="{FF2B5EF4-FFF2-40B4-BE49-F238E27FC236}">
                <a16:creationId xmlns:a16="http://schemas.microsoft.com/office/drawing/2014/main" id="{AB3E7D79-844C-4E94-854D-90C04ECB7574}"/>
              </a:ext>
            </a:extLst>
          </p:cNvPr>
          <p:cNvSpPr>
            <a:spLocks xmlns:a="http://schemas.openxmlformats.org/drawingml/2006/main" noGrp="1"/>
          </p:cNvSpPr>
          <p:nvPr/>
        </p:nvSpPr>
        <p:spPr>
          <a:xfrm xmlns:a="http://schemas.openxmlformats.org/drawingml/2006/main">
            <a:off x="762000" y="3333750"/>
            <a:ext cx="47625" cy="146685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C803B1A6-8F73-4D35-A16B-6DEDFF02CCA4}"/>
              </a:ext>
            </a:extLst>
          </p:cNvPr>
          <p:cNvSpPr>
            <a:spLocks xmlns:a="http://schemas.openxmlformats.org/drawingml/2006/main" noGrp="1"/>
          </p:cNvSpPr>
          <p:nvPr/>
        </p:nvSpPr>
        <p:spPr>
          <a:xfrm xmlns:a="http://schemas.openxmlformats.org/drawingml/2006/main">
            <a:off x="933450" y="3467100"/>
            <a:ext cx="4438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第一层：组织与身份 MDM</a:t>
            </a:r>
          </a:p>
        </p:txBody>
      </p:sp>
      <p:sp>
        <p:nvSpPr>
          <p:cNvPr id="41" name="">
            <a:extLst xmlns:a="http://schemas.openxmlformats.org/drawingml/2006/main">
              <a:ext uri="{FF2B5EF4-FFF2-40B4-BE49-F238E27FC236}">
                <a16:creationId xmlns:a16="http://schemas.microsoft.com/office/drawing/2014/main" id="{7704A558-3C55-464E-89E3-29FF37116A0B}"/>
              </a:ext>
            </a:extLst>
          </p:cNvPr>
          <p:cNvSpPr>
            <a:spLocks xmlns:a="http://schemas.openxmlformats.org/drawingml/2006/main" noGrp="1"/>
          </p:cNvSpPr>
          <p:nvPr/>
        </p:nvSpPr>
        <p:spPr>
          <a:xfrm xmlns:a="http://schemas.openxmlformats.org/drawingml/2006/main">
            <a:off x="933450" y="3810000"/>
            <a:ext cx="44386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5月9日前优先确认第一层，因为它是审批、权限、派工、质量放行、ECO发布和适航授权的入口。建议 OA/MDM 管部门、人员、岗位、工号、角色、资质和认证结果；业务系统可以保留本地账号或缓存，但不得成为正式权威源。</a:t>
            </a:r>
          </a:p>
        </p:txBody>
      </p:sp>
      <p:sp>
        <p:nvSpPr>
          <p:cNvPr id="42" name="">
            <a:extLst xmlns:a="http://schemas.openxmlformats.org/drawingml/2006/main">
              <a:ext uri="{FF2B5EF4-FFF2-40B4-BE49-F238E27FC236}">
                <a16:creationId xmlns:a16="http://schemas.microsoft.com/office/drawing/2014/main" id="{6D1CF545-8CEB-495B-AC1E-EC528C121092}"/>
              </a:ext>
            </a:extLst>
          </p:cNvPr>
          <p:cNvSpPr>
            <a:spLocks xmlns:a="http://schemas.openxmlformats.org/drawingml/2006/main" noGrp="1"/>
          </p:cNvSpPr>
          <p:nvPr/>
        </p:nvSpPr>
        <p:spPr>
          <a:xfrm xmlns:a="http://schemas.openxmlformats.org/drawingml/2006/main">
            <a:off x="5905500" y="3333750"/>
            <a:ext cx="47625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E2E8F0"/>
            </a:solidFill>
            <a:prstDash val="solid"/>
          </a:ln>
        </p:spPr>
      </p:sp>
      <p:sp>
        <p:nvSpPr>
          <p:cNvPr id="43" name="">
            <a:extLst xmlns:a="http://schemas.openxmlformats.org/drawingml/2006/main">
              <a:ext uri="{FF2B5EF4-FFF2-40B4-BE49-F238E27FC236}">
                <a16:creationId xmlns:a16="http://schemas.microsoft.com/office/drawing/2014/main" id="{E1ADC1BB-BCFA-4377-B336-23A8C39A1870}"/>
              </a:ext>
            </a:extLst>
          </p:cNvPr>
          <p:cNvSpPr>
            <a:spLocks xmlns:a="http://schemas.openxmlformats.org/drawingml/2006/main" noGrp="1"/>
          </p:cNvSpPr>
          <p:nvPr/>
        </p:nvSpPr>
        <p:spPr>
          <a:xfrm xmlns:a="http://schemas.openxmlformats.org/drawingml/2006/main">
            <a:off x="5905500" y="3333750"/>
            <a:ext cx="47625" cy="14668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51607755-4BA7-447F-8277-C8F167B77459}"/>
              </a:ext>
            </a:extLst>
          </p:cNvPr>
          <p:cNvSpPr>
            <a:spLocks xmlns:a="http://schemas.openxmlformats.org/drawingml/2006/main" noGrp="1"/>
          </p:cNvSpPr>
          <p:nvPr/>
        </p:nvSpPr>
        <p:spPr>
          <a:xfrm xmlns:a="http://schemas.openxmlformats.org/drawingml/2006/main">
            <a:off x="6076950" y="3467100"/>
            <a:ext cx="4438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第二层：业务主数据 MDM</a:t>
            </a:r>
          </a:p>
        </p:txBody>
      </p:sp>
      <p:sp>
        <p:nvSpPr>
          <p:cNvPr id="45" name="">
            <a:extLst xmlns:a="http://schemas.openxmlformats.org/drawingml/2006/main">
              <a:ext uri="{FF2B5EF4-FFF2-40B4-BE49-F238E27FC236}">
                <a16:creationId xmlns:a16="http://schemas.microsoft.com/office/drawing/2014/main" id="{5673C44F-A976-4A79-91A7-B1C6116FF266}"/>
              </a:ext>
            </a:extLst>
          </p:cNvPr>
          <p:cNvSpPr>
            <a:spLocks xmlns:a="http://schemas.openxmlformats.org/drawingml/2006/main" noGrp="1"/>
          </p:cNvSpPr>
          <p:nvPr/>
        </p:nvSpPr>
        <p:spPr>
          <a:xfrm xmlns:a="http://schemas.openxmlformats.org/drawingml/2006/main">
            <a:off x="6076950" y="3810000"/>
            <a:ext cx="44386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业务主数据不在预审会上直接定死。物料、BOM、供应商、客户、工装、设备、质量规范、批次和术语词典，应由部门流程映射和字段台账逐步沉淀，再作为 MDM 平台和接口设计依据。</a:t>
            </a:r>
          </a:p>
        </p:txBody>
      </p:sp>
      <p:sp>
        <p:nvSpPr>
          <p:cNvPr id="46" name="">
            <a:extLst xmlns:a="http://schemas.openxmlformats.org/drawingml/2006/main">
              <a:ext uri="{FF2B5EF4-FFF2-40B4-BE49-F238E27FC236}">
                <a16:creationId xmlns:a16="http://schemas.microsoft.com/office/drawing/2014/main" id="{4675A2CB-F958-4C6F-84E7-69CE1979B468}"/>
              </a:ext>
            </a:extLst>
          </p:cNvPr>
          <p:cNvSpPr>
            <a:spLocks xmlns:a="http://schemas.openxmlformats.org/drawingml/2006/main" noGrp="1"/>
          </p:cNvSpPr>
          <p:nvPr/>
        </p:nvSpPr>
        <p:spPr>
          <a:xfrm xmlns:a="http://schemas.openxmlformats.org/drawingml/2006/main">
            <a:off x="762000" y="5124450"/>
            <a:ext cx="3302000" cy="233363"/>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47" name="">
            <a:extLst xmlns:a="http://schemas.openxmlformats.org/drawingml/2006/main">
              <a:ext uri="{FF2B5EF4-FFF2-40B4-BE49-F238E27FC236}">
                <a16:creationId xmlns:a16="http://schemas.microsoft.com/office/drawing/2014/main" id="{608B5B04-6832-4CFB-95D8-3959EADFC235}"/>
              </a:ext>
            </a:extLst>
          </p:cNvPr>
          <p:cNvSpPr>
            <a:spLocks xmlns:a="http://schemas.openxmlformats.org/drawingml/2006/main" noGrp="1"/>
          </p:cNvSpPr>
          <p:nvPr/>
        </p:nvSpPr>
        <p:spPr>
          <a:xfrm xmlns:a="http://schemas.openxmlformats.org/drawingml/2006/main">
            <a:off x="800100" y="5153025"/>
            <a:ext cx="3225800" cy="1762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8" b="1">
                <a:solidFill>
                  <a:srgbClr val="FFFFFF"/>
                </a:solidFill>
              </a:defRPr>
            </a:pPr>
            <a:r>
              <a:rPr sz="638" b="1">
                <a:solidFill>
                  <a:srgbClr val="FFFFFF"/>
                </a:solidFill>
              </a:rPr>
              <a:t>主数据对象</a:t>
            </a:r>
          </a:p>
        </p:txBody>
      </p:sp>
      <p:sp>
        <p:nvSpPr>
          <p:cNvPr id="48" name="">
            <a:extLst xmlns:a="http://schemas.openxmlformats.org/drawingml/2006/main">
              <a:ext uri="{FF2B5EF4-FFF2-40B4-BE49-F238E27FC236}">
                <a16:creationId xmlns:a16="http://schemas.microsoft.com/office/drawing/2014/main" id="{CBB24355-8017-4DEC-AD59-FF8A0C67B8C8}"/>
              </a:ext>
            </a:extLst>
          </p:cNvPr>
          <p:cNvSpPr>
            <a:spLocks xmlns:a="http://schemas.openxmlformats.org/drawingml/2006/main" noGrp="1"/>
          </p:cNvSpPr>
          <p:nvPr/>
        </p:nvSpPr>
        <p:spPr>
          <a:xfrm xmlns:a="http://schemas.openxmlformats.org/drawingml/2006/main">
            <a:off x="4064000" y="5124450"/>
            <a:ext cx="3302000" cy="233363"/>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49" name="">
            <a:extLst xmlns:a="http://schemas.openxmlformats.org/drawingml/2006/main">
              <a:ext uri="{FF2B5EF4-FFF2-40B4-BE49-F238E27FC236}">
                <a16:creationId xmlns:a16="http://schemas.microsoft.com/office/drawing/2014/main" id="{E6C2DA44-2E99-4BBF-9856-80A228DB1B12}"/>
              </a:ext>
            </a:extLst>
          </p:cNvPr>
          <p:cNvSpPr>
            <a:spLocks xmlns:a="http://schemas.openxmlformats.org/drawingml/2006/main" noGrp="1"/>
          </p:cNvSpPr>
          <p:nvPr/>
        </p:nvSpPr>
        <p:spPr>
          <a:xfrm xmlns:a="http://schemas.openxmlformats.org/drawingml/2006/main">
            <a:off x="4102100" y="5153025"/>
            <a:ext cx="3225800" cy="1762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8" b="1">
                <a:solidFill>
                  <a:srgbClr val="FFFFFF"/>
                </a:solidFill>
              </a:defRPr>
            </a:pPr>
            <a:r>
              <a:rPr sz="638" b="1">
                <a:solidFill>
                  <a:srgbClr val="FFFFFF"/>
                </a:solidFill>
              </a:rPr>
              <a:t>预审建议</a:t>
            </a:r>
          </a:p>
        </p:txBody>
      </p:sp>
      <p:sp>
        <p:nvSpPr>
          <p:cNvPr id="50" name="">
            <a:extLst xmlns:a="http://schemas.openxmlformats.org/drawingml/2006/main">
              <a:ext uri="{FF2B5EF4-FFF2-40B4-BE49-F238E27FC236}">
                <a16:creationId xmlns:a16="http://schemas.microsoft.com/office/drawing/2014/main" id="{BC2C58B6-1508-4F64-993F-DE78D5630FE5}"/>
              </a:ext>
            </a:extLst>
          </p:cNvPr>
          <p:cNvSpPr>
            <a:spLocks xmlns:a="http://schemas.openxmlformats.org/drawingml/2006/main" noGrp="1"/>
          </p:cNvSpPr>
          <p:nvPr/>
        </p:nvSpPr>
        <p:spPr>
          <a:xfrm xmlns:a="http://schemas.openxmlformats.org/drawingml/2006/main">
            <a:off x="7366000" y="5124450"/>
            <a:ext cx="3302000" cy="233363"/>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51" name="">
            <a:extLst xmlns:a="http://schemas.openxmlformats.org/drawingml/2006/main">
              <a:ext uri="{FF2B5EF4-FFF2-40B4-BE49-F238E27FC236}">
                <a16:creationId xmlns:a16="http://schemas.microsoft.com/office/drawing/2014/main" id="{0A498027-51BD-4812-A5AD-E293B245C5A3}"/>
              </a:ext>
            </a:extLst>
          </p:cNvPr>
          <p:cNvSpPr>
            <a:spLocks xmlns:a="http://schemas.openxmlformats.org/drawingml/2006/main" noGrp="1"/>
          </p:cNvSpPr>
          <p:nvPr/>
        </p:nvSpPr>
        <p:spPr>
          <a:xfrm xmlns:a="http://schemas.openxmlformats.org/drawingml/2006/main">
            <a:off x="7404100" y="5153025"/>
            <a:ext cx="3225800" cy="1762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8" b="1">
                <a:solidFill>
                  <a:srgbClr val="FFFFFF"/>
                </a:solidFill>
              </a:defRPr>
            </a:pPr>
            <a:r>
              <a:rPr sz="638" b="1">
                <a:solidFill>
                  <a:srgbClr val="FFFFFF"/>
                </a:solidFill>
              </a:rPr>
              <a:t>会前状态</a:t>
            </a:r>
          </a:p>
        </p:txBody>
      </p:sp>
      <p:sp>
        <p:nvSpPr>
          <p:cNvPr id="52" name="">
            <a:extLst xmlns:a="http://schemas.openxmlformats.org/drawingml/2006/main">
              <a:ext uri="{FF2B5EF4-FFF2-40B4-BE49-F238E27FC236}">
                <a16:creationId xmlns:a16="http://schemas.microsoft.com/office/drawing/2014/main" id="{C5AB034E-C59A-4F27-BF87-C7F9EDC29492}"/>
              </a:ext>
            </a:extLst>
          </p:cNvPr>
          <p:cNvSpPr>
            <a:spLocks xmlns:a="http://schemas.openxmlformats.org/drawingml/2006/main" noGrp="1"/>
          </p:cNvSpPr>
          <p:nvPr/>
        </p:nvSpPr>
        <p:spPr>
          <a:xfrm xmlns:a="http://schemas.openxmlformats.org/drawingml/2006/main">
            <a:off x="762000" y="5357813"/>
            <a:ext cx="3302000" cy="2333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3" name="">
            <a:extLst xmlns:a="http://schemas.openxmlformats.org/drawingml/2006/main">
              <a:ext uri="{FF2B5EF4-FFF2-40B4-BE49-F238E27FC236}">
                <a16:creationId xmlns:a16="http://schemas.microsoft.com/office/drawing/2014/main" id="{3F6C7659-7F5E-4B79-9C39-1EBEDD4C994C}"/>
              </a:ext>
            </a:extLst>
          </p:cNvPr>
          <p:cNvSpPr>
            <a:spLocks xmlns:a="http://schemas.openxmlformats.org/drawingml/2006/main" noGrp="1"/>
          </p:cNvSpPr>
          <p:nvPr/>
        </p:nvSpPr>
        <p:spPr>
          <a:xfrm xmlns:a="http://schemas.openxmlformats.org/drawingml/2006/main">
            <a:off x="800100" y="5386388"/>
            <a:ext cx="3225800" cy="1762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8" b="0">
                <a:solidFill>
                  <a:srgbClr val="475569"/>
                </a:solidFill>
              </a:defRPr>
            </a:pPr>
            <a:r>
              <a:rPr sz="638" b="0">
                <a:solidFill>
                  <a:srgbClr val="475569"/>
                </a:solidFill>
              </a:rPr>
              <a:t>部门/人员/岗位</a:t>
            </a:r>
          </a:p>
        </p:txBody>
      </p:sp>
      <p:sp>
        <p:nvSpPr>
          <p:cNvPr id="54" name="">
            <a:extLst xmlns:a="http://schemas.openxmlformats.org/drawingml/2006/main">
              <a:ext uri="{FF2B5EF4-FFF2-40B4-BE49-F238E27FC236}">
                <a16:creationId xmlns:a16="http://schemas.microsoft.com/office/drawing/2014/main" id="{0E5BC680-01EF-40C9-9CA5-587D116CE357}"/>
              </a:ext>
            </a:extLst>
          </p:cNvPr>
          <p:cNvSpPr>
            <a:spLocks xmlns:a="http://schemas.openxmlformats.org/drawingml/2006/main" noGrp="1"/>
          </p:cNvSpPr>
          <p:nvPr/>
        </p:nvSpPr>
        <p:spPr>
          <a:xfrm xmlns:a="http://schemas.openxmlformats.org/drawingml/2006/main">
            <a:off x="4064000" y="5357813"/>
            <a:ext cx="3302000" cy="2333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5" name="">
            <a:extLst xmlns:a="http://schemas.openxmlformats.org/drawingml/2006/main">
              <a:ext uri="{FF2B5EF4-FFF2-40B4-BE49-F238E27FC236}">
                <a16:creationId xmlns:a16="http://schemas.microsoft.com/office/drawing/2014/main" id="{C57B668C-E7A7-4897-A6C4-79AEAB6F6E32}"/>
              </a:ext>
            </a:extLst>
          </p:cNvPr>
          <p:cNvSpPr>
            <a:spLocks xmlns:a="http://schemas.openxmlformats.org/drawingml/2006/main" noGrp="1"/>
          </p:cNvSpPr>
          <p:nvPr/>
        </p:nvSpPr>
        <p:spPr>
          <a:xfrm xmlns:a="http://schemas.openxmlformats.org/drawingml/2006/main">
            <a:off x="4102100" y="5386388"/>
            <a:ext cx="3225800" cy="1762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8" b="0">
                <a:solidFill>
                  <a:srgbClr val="475569"/>
                </a:solidFill>
              </a:defRPr>
            </a:pPr>
            <a:r>
              <a:rPr sz="638" b="0">
                <a:solidFill>
                  <a:srgbClr val="475569"/>
                </a:solidFill>
              </a:rPr>
              <a:t>OA/MDM 作为权威源，其他系统消费或映射</a:t>
            </a:r>
          </a:p>
        </p:txBody>
      </p:sp>
      <p:sp>
        <p:nvSpPr>
          <p:cNvPr id="56" name="">
            <a:extLst xmlns:a="http://schemas.openxmlformats.org/drawingml/2006/main">
              <a:ext uri="{FF2B5EF4-FFF2-40B4-BE49-F238E27FC236}">
                <a16:creationId xmlns:a16="http://schemas.microsoft.com/office/drawing/2014/main" id="{7CC4F2AC-9EC0-4B76-A9C3-3D7D861B5053}"/>
              </a:ext>
            </a:extLst>
          </p:cNvPr>
          <p:cNvSpPr>
            <a:spLocks xmlns:a="http://schemas.openxmlformats.org/drawingml/2006/main" noGrp="1"/>
          </p:cNvSpPr>
          <p:nvPr/>
        </p:nvSpPr>
        <p:spPr>
          <a:xfrm xmlns:a="http://schemas.openxmlformats.org/drawingml/2006/main">
            <a:off x="7366000" y="5357813"/>
            <a:ext cx="3302000" cy="2333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7" name="">
            <a:extLst xmlns:a="http://schemas.openxmlformats.org/drawingml/2006/main">
              <a:ext uri="{FF2B5EF4-FFF2-40B4-BE49-F238E27FC236}">
                <a16:creationId xmlns:a16="http://schemas.microsoft.com/office/drawing/2014/main" id="{25623DD9-1B46-4B3F-A662-BD357FB96418}"/>
              </a:ext>
            </a:extLst>
          </p:cNvPr>
          <p:cNvSpPr>
            <a:spLocks xmlns:a="http://schemas.openxmlformats.org/drawingml/2006/main" noGrp="1"/>
          </p:cNvSpPr>
          <p:nvPr/>
        </p:nvSpPr>
        <p:spPr>
          <a:xfrm xmlns:a="http://schemas.openxmlformats.org/drawingml/2006/main">
            <a:off x="7404100" y="5386388"/>
            <a:ext cx="3225800" cy="1762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8" b="0">
                <a:solidFill>
                  <a:srgbClr val="475569"/>
                </a:solidFill>
              </a:defRPr>
            </a:pPr>
            <a:r>
              <a:rPr sz="638" b="0">
                <a:solidFill>
                  <a:srgbClr val="475569"/>
                </a:solidFill>
              </a:rPr>
              <a:t>需确认同步范围、频率和字段</a:t>
            </a:r>
          </a:p>
        </p:txBody>
      </p:sp>
      <p:sp>
        <p:nvSpPr>
          <p:cNvPr id="58" name="">
            <a:extLst xmlns:a="http://schemas.openxmlformats.org/drawingml/2006/main">
              <a:ext uri="{FF2B5EF4-FFF2-40B4-BE49-F238E27FC236}">
                <a16:creationId xmlns:a16="http://schemas.microsoft.com/office/drawing/2014/main" id="{071DD15B-015F-43AF-A506-83BD2D4EF260}"/>
              </a:ext>
            </a:extLst>
          </p:cNvPr>
          <p:cNvSpPr>
            <a:spLocks xmlns:a="http://schemas.openxmlformats.org/drawingml/2006/main" noGrp="1"/>
          </p:cNvSpPr>
          <p:nvPr/>
        </p:nvSpPr>
        <p:spPr>
          <a:xfrm xmlns:a="http://schemas.openxmlformats.org/drawingml/2006/main">
            <a:off x="762000" y="5591175"/>
            <a:ext cx="3302000" cy="233363"/>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9" name="">
            <a:extLst xmlns:a="http://schemas.openxmlformats.org/drawingml/2006/main">
              <a:ext uri="{FF2B5EF4-FFF2-40B4-BE49-F238E27FC236}">
                <a16:creationId xmlns:a16="http://schemas.microsoft.com/office/drawing/2014/main" id="{0B24A233-75BC-45D3-89A7-F1643771B2C8}"/>
              </a:ext>
            </a:extLst>
          </p:cNvPr>
          <p:cNvSpPr>
            <a:spLocks xmlns:a="http://schemas.openxmlformats.org/drawingml/2006/main" noGrp="1"/>
          </p:cNvSpPr>
          <p:nvPr/>
        </p:nvSpPr>
        <p:spPr>
          <a:xfrm xmlns:a="http://schemas.openxmlformats.org/drawingml/2006/main">
            <a:off x="800100" y="5619750"/>
            <a:ext cx="3225800" cy="1762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8" b="0">
                <a:solidFill>
                  <a:srgbClr val="475569"/>
                </a:solidFill>
              </a:defRPr>
            </a:pPr>
            <a:r>
              <a:rPr sz="638" b="0">
                <a:solidFill>
                  <a:srgbClr val="475569"/>
                </a:solidFill>
              </a:rPr>
              <a:t>角色/资质/授权</a:t>
            </a:r>
          </a:p>
        </p:txBody>
      </p:sp>
      <p:sp>
        <p:nvSpPr>
          <p:cNvPr id="60" name="">
            <a:extLst xmlns:a="http://schemas.openxmlformats.org/drawingml/2006/main">
              <a:ext uri="{FF2B5EF4-FFF2-40B4-BE49-F238E27FC236}">
                <a16:creationId xmlns:a16="http://schemas.microsoft.com/office/drawing/2014/main" id="{FD128206-808F-4DE7-A7E9-61B96A87304B}"/>
              </a:ext>
            </a:extLst>
          </p:cNvPr>
          <p:cNvSpPr>
            <a:spLocks xmlns:a="http://schemas.openxmlformats.org/drawingml/2006/main" noGrp="1"/>
          </p:cNvSpPr>
          <p:nvPr/>
        </p:nvSpPr>
        <p:spPr>
          <a:xfrm xmlns:a="http://schemas.openxmlformats.org/drawingml/2006/main">
            <a:off x="4064000" y="5591175"/>
            <a:ext cx="3302000" cy="233363"/>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1" name="">
            <a:extLst xmlns:a="http://schemas.openxmlformats.org/drawingml/2006/main">
              <a:ext uri="{FF2B5EF4-FFF2-40B4-BE49-F238E27FC236}">
                <a16:creationId xmlns:a16="http://schemas.microsoft.com/office/drawing/2014/main" id="{148F6291-A993-4CBD-8AE1-DA53160A9202}"/>
              </a:ext>
            </a:extLst>
          </p:cNvPr>
          <p:cNvSpPr>
            <a:spLocks xmlns:a="http://schemas.openxmlformats.org/drawingml/2006/main" noGrp="1"/>
          </p:cNvSpPr>
          <p:nvPr/>
        </p:nvSpPr>
        <p:spPr>
          <a:xfrm xmlns:a="http://schemas.openxmlformats.org/drawingml/2006/main">
            <a:off x="4102100" y="5619750"/>
            <a:ext cx="3225800" cy="1762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8" b="0">
                <a:solidFill>
                  <a:srgbClr val="475569"/>
                </a:solidFill>
              </a:defRPr>
            </a:pPr>
            <a:r>
              <a:rPr sz="638" b="0">
                <a:solidFill>
                  <a:srgbClr val="475569"/>
                </a:solidFill>
              </a:rPr>
              <a:t>OA流程 + 质量确认，MES派工和质量放行必须校验</a:t>
            </a:r>
          </a:p>
        </p:txBody>
      </p:sp>
      <p:sp>
        <p:nvSpPr>
          <p:cNvPr id="62" name="">
            <a:extLst xmlns:a="http://schemas.openxmlformats.org/drawingml/2006/main">
              <a:ext uri="{FF2B5EF4-FFF2-40B4-BE49-F238E27FC236}">
                <a16:creationId xmlns:a16="http://schemas.microsoft.com/office/drawing/2014/main" id="{4EAEF93D-68FB-42B5-A7FE-BE841EC722B7}"/>
              </a:ext>
            </a:extLst>
          </p:cNvPr>
          <p:cNvSpPr>
            <a:spLocks xmlns:a="http://schemas.openxmlformats.org/drawingml/2006/main" noGrp="1"/>
          </p:cNvSpPr>
          <p:nvPr/>
        </p:nvSpPr>
        <p:spPr>
          <a:xfrm xmlns:a="http://schemas.openxmlformats.org/drawingml/2006/main">
            <a:off x="7366000" y="5591175"/>
            <a:ext cx="3302000" cy="233363"/>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3" name="">
            <a:extLst xmlns:a="http://schemas.openxmlformats.org/drawingml/2006/main">
              <a:ext uri="{FF2B5EF4-FFF2-40B4-BE49-F238E27FC236}">
                <a16:creationId xmlns:a16="http://schemas.microsoft.com/office/drawing/2014/main" id="{5A4F5F56-8C2B-416E-B631-C813F442B5A5}"/>
              </a:ext>
            </a:extLst>
          </p:cNvPr>
          <p:cNvSpPr>
            <a:spLocks xmlns:a="http://schemas.openxmlformats.org/drawingml/2006/main" noGrp="1"/>
          </p:cNvSpPr>
          <p:nvPr/>
        </p:nvSpPr>
        <p:spPr>
          <a:xfrm xmlns:a="http://schemas.openxmlformats.org/drawingml/2006/main">
            <a:off x="7404100" y="5619750"/>
            <a:ext cx="3225800" cy="1762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8" b="0">
                <a:solidFill>
                  <a:srgbClr val="475569"/>
                </a:solidFill>
              </a:defRPr>
            </a:pPr>
            <a:r>
              <a:rPr sz="638" b="0">
                <a:solidFill>
                  <a:srgbClr val="475569"/>
                </a:solidFill>
              </a:rPr>
              <a:t>需确认特种工艺、NDT、适航授权归属</a:t>
            </a:r>
          </a:p>
        </p:txBody>
      </p:sp>
      <p:sp>
        <p:nvSpPr>
          <p:cNvPr id="64" name="">
            <a:extLst xmlns:a="http://schemas.openxmlformats.org/drawingml/2006/main">
              <a:ext uri="{FF2B5EF4-FFF2-40B4-BE49-F238E27FC236}">
                <a16:creationId xmlns:a16="http://schemas.microsoft.com/office/drawing/2014/main" id="{C6530974-EA60-42DC-B422-B3B6E21920E7}"/>
              </a:ext>
            </a:extLst>
          </p:cNvPr>
          <p:cNvSpPr>
            <a:spLocks xmlns:a="http://schemas.openxmlformats.org/drawingml/2006/main" noGrp="1"/>
          </p:cNvSpPr>
          <p:nvPr/>
        </p:nvSpPr>
        <p:spPr>
          <a:xfrm xmlns:a="http://schemas.openxmlformats.org/drawingml/2006/main">
            <a:off x="762000" y="5824538"/>
            <a:ext cx="3302000" cy="2333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5" name="">
            <a:extLst xmlns:a="http://schemas.openxmlformats.org/drawingml/2006/main">
              <a:ext uri="{FF2B5EF4-FFF2-40B4-BE49-F238E27FC236}">
                <a16:creationId xmlns:a16="http://schemas.microsoft.com/office/drawing/2014/main" id="{EC9045D9-8891-4B69-BD24-8FE21057ADBB}"/>
              </a:ext>
            </a:extLst>
          </p:cNvPr>
          <p:cNvSpPr>
            <a:spLocks xmlns:a="http://schemas.openxmlformats.org/drawingml/2006/main" noGrp="1"/>
          </p:cNvSpPr>
          <p:nvPr/>
        </p:nvSpPr>
        <p:spPr>
          <a:xfrm xmlns:a="http://schemas.openxmlformats.org/drawingml/2006/main">
            <a:off x="800100" y="5853113"/>
            <a:ext cx="3225800" cy="1762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8" b="0">
                <a:solidFill>
                  <a:srgbClr val="475569"/>
                </a:solidFill>
              </a:defRPr>
            </a:pPr>
            <a:r>
              <a:rPr sz="638" b="0">
                <a:solidFill>
                  <a:srgbClr val="475569"/>
                </a:solidFill>
              </a:rPr>
              <a:t>设计件物料</a:t>
            </a:r>
          </a:p>
        </p:txBody>
      </p:sp>
      <p:sp>
        <p:nvSpPr>
          <p:cNvPr id="66" name="">
            <a:extLst xmlns:a="http://schemas.openxmlformats.org/drawingml/2006/main">
              <a:ext uri="{FF2B5EF4-FFF2-40B4-BE49-F238E27FC236}">
                <a16:creationId xmlns:a16="http://schemas.microsoft.com/office/drawing/2014/main" id="{A2D12F08-72C5-42F9-B6CC-FEB04E02555B}"/>
              </a:ext>
            </a:extLst>
          </p:cNvPr>
          <p:cNvSpPr>
            <a:spLocks xmlns:a="http://schemas.openxmlformats.org/drawingml/2006/main" noGrp="1"/>
          </p:cNvSpPr>
          <p:nvPr/>
        </p:nvSpPr>
        <p:spPr>
          <a:xfrm xmlns:a="http://schemas.openxmlformats.org/drawingml/2006/main">
            <a:off x="4064000" y="5824538"/>
            <a:ext cx="3302000" cy="2333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7" name="">
            <a:extLst xmlns:a="http://schemas.openxmlformats.org/drawingml/2006/main">
              <a:ext uri="{FF2B5EF4-FFF2-40B4-BE49-F238E27FC236}">
                <a16:creationId xmlns:a16="http://schemas.microsoft.com/office/drawing/2014/main" id="{8FE39372-6577-4A26-8A63-722C8B11D6B4}"/>
              </a:ext>
            </a:extLst>
          </p:cNvPr>
          <p:cNvSpPr>
            <a:spLocks xmlns:a="http://schemas.openxmlformats.org/drawingml/2006/main" noGrp="1"/>
          </p:cNvSpPr>
          <p:nvPr/>
        </p:nvSpPr>
        <p:spPr>
          <a:xfrm xmlns:a="http://schemas.openxmlformats.org/drawingml/2006/main">
            <a:off x="4102100" y="5853113"/>
            <a:ext cx="3225800" cy="1762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8" b="0">
                <a:solidFill>
                  <a:srgbClr val="475569"/>
                </a:solidFill>
              </a:defRPr>
            </a:pPr>
            <a:r>
              <a:rPr sz="638" b="0">
                <a:solidFill>
                  <a:srgbClr val="475569"/>
                </a:solidFill>
              </a:rPr>
              <a:t>翎瑞鸿翔PLM（一期）为黄金源；CAPP暂不在一期，MBOM工序展开待人工或临时方案</a:t>
            </a:r>
          </a:p>
        </p:txBody>
      </p:sp>
      <p:sp>
        <p:nvSpPr>
          <p:cNvPr id="68" name="">
            <a:extLst xmlns:a="http://schemas.openxmlformats.org/drawingml/2006/main">
              <a:ext uri="{FF2B5EF4-FFF2-40B4-BE49-F238E27FC236}">
                <a16:creationId xmlns:a16="http://schemas.microsoft.com/office/drawing/2014/main" id="{7ED6A1A4-E4C9-4F6D-A847-DD48DC0F6800}"/>
              </a:ext>
            </a:extLst>
          </p:cNvPr>
          <p:cNvSpPr>
            <a:spLocks xmlns:a="http://schemas.openxmlformats.org/drawingml/2006/main" noGrp="1"/>
          </p:cNvSpPr>
          <p:nvPr/>
        </p:nvSpPr>
        <p:spPr>
          <a:xfrm xmlns:a="http://schemas.openxmlformats.org/drawingml/2006/main">
            <a:off x="7366000" y="5824538"/>
            <a:ext cx="3302000" cy="233363"/>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9" name="">
            <a:extLst xmlns:a="http://schemas.openxmlformats.org/drawingml/2006/main">
              <a:ext uri="{FF2B5EF4-FFF2-40B4-BE49-F238E27FC236}">
                <a16:creationId xmlns:a16="http://schemas.microsoft.com/office/drawing/2014/main" id="{F3C787CA-C64B-4664-83A5-E40552586F5E}"/>
              </a:ext>
            </a:extLst>
          </p:cNvPr>
          <p:cNvSpPr>
            <a:spLocks xmlns:a="http://schemas.openxmlformats.org/drawingml/2006/main" noGrp="1"/>
          </p:cNvSpPr>
          <p:nvPr/>
        </p:nvSpPr>
        <p:spPr>
          <a:xfrm xmlns:a="http://schemas.openxmlformats.org/drawingml/2006/main">
            <a:off x="7404100" y="5853113"/>
            <a:ext cx="3225800" cy="17621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38" b="0">
                <a:solidFill>
                  <a:srgbClr val="475569"/>
                </a:solidFill>
              </a:defRPr>
            </a:pPr>
            <a:r>
              <a:rPr sz="638" b="0">
                <a:solidFill>
                  <a:srgbClr val="475569"/>
                </a:solidFill>
              </a:rPr>
              <a:t>PLM已定（A5/A6完成），一期MBOM/ECO/工程项目管理</a:t>
            </a:r>
          </a:p>
        </p:txBody>
      </p:sp>
      <p:sp>
        <p:nvSpPr>
          <p:cNvPr id="70" name="">
            <a:extLst xmlns:a="http://schemas.openxmlformats.org/drawingml/2006/main">
              <a:ext uri="{FF2B5EF4-FFF2-40B4-BE49-F238E27FC236}">
                <a16:creationId xmlns:a16="http://schemas.microsoft.com/office/drawing/2014/main" id="{A6A1A1FF-F3BA-40C2-B6C9-7CD0A1A46D65}"/>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16 / 29</a:t>
            </a:r>
          </a:p>
        </p:txBody>
      </p:sp>
    </p:spTree>
    <p:extLst>
      <p:ext uri="{BB962C8B-B14F-4D97-AF65-F5344CB8AC3E}">
        <p14:creationId xmlns:p14="http://schemas.microsoft.com/office/powerpoint/2010/main" val="66808832"/>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16A1FD4-BD7D-4A01-BC1D-5697EC80BA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8053832-F01E-4990-9651-9177CC0FA82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1805A52-9EDA-45EB-95CC-7F279E724160}"/>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7ACAA01-621A-495B-8F55-0A39D69F502E}"/>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03.2 编码与字段</a:t>
            </a:r>
          </a:p>
        </p:txBody>
      </p:sp>
      <p:sp>
        <p:nvSpPr>
          <p:cNvPr id="6" name="">
            <a:extLst xmlns:a="http://schemas.openxmlformats.org/drawingml/2006/main">
              <a:ext uri="{FF2B5EF4-FFF2-40B4-BE49-F238E27FC236}">
                <a16:creationId xmlns:a16="http://schemas.microsoft.com/office/drawing/2014/main" id="{CE788BA8-2005-4AB2-A938-FF5928C0E962}"/>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32E8CEBA-E01A-41FD-A5EA-0E9DE663CA25}"/>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物料编码、字段台账和术语治理</a:t>
            </a:r>
          </a:p>
        </p:txBody>
      </p:sp>
      <p:sp>
        <p:nvSpPr>
          <p:cNvPr id="8" name="">
            <a:extLst xmlns:a="http://schemas.openxmlformats.org/drawingml/2006/main">
              <a:ext uri="{FF2B5EF4-FFF2-40B4-BE49-F238E27FC236}">
                <a16:creationId xmlns:a16="http://schemas.microsoft.com/office/drawing/2014/main" id="{A95D3CA0-8B08-4808-84BD-5E5B2231B31F}"/>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13位含连字符方案需各系统技术确认，REV 作为独立字段管理</a:t>
            </a:r>
          </a:p>
        </p:txBody>
      </p:sp>
      <p:sp>
        <p:nvSpPr>
          <p:cNvPr id="9" name="">
            <a:extLst xmlns:a="http://schemas.openxmlformats.org/drawingml/2006/main">
              <a:ext uri="{FF2B5EF4-FFF2-40B4-BE49-F238E27FC236}">
                <a16:creationId xmlns:a16="http://schemas.microsoft.com/office/drawing/2014/main" id="{8744390F-3193-4EE6-92B4-E8D8463663A7}"/>
              </a:ext>
            </a:extLst>
          </p:cNvPr>
          <p:cNvSpPr>
            <a:spLocks xmlns:a="http://schemas.openxmlformats.org/drawingml/2006/main" noGrp="1"/>
          </p:cNvSpPr>
          <p:nvPr/>
        </p:nvSpPr>
        <p:spPr>
          <a:xfrm xmlns:a="http://schemas.openxmlformats.org/drawingml/2006/main">
            <a:off x="742950" y="1790700"/>
            <a:ext cx="9925050" cy="857250"/>
          </a:xfrm>
          <a:prstGeom xmlns:a="http://schemas.openxmlformats.org/drawingml/2006/main" prst="roundRect">
            <a:avLst>
              <a:gd name="adj" fmla="val 8889"/>
            </a:avLst>
          </a:prstGeom>
          <a:solidFill xmlns:a="http://schemas.openxmlformats.org/drawingml/2006/main">
            <a:srgbClr val="0F2A5E"/>
          </a:solidFill>
          <a:ln xmlns:a="http://schemas.openxmlformats.org/drawingml/2006/main" w="9525">
            <a:solidFill>
              <a:srgbClr val="0F2A5E"/>
            </a:solidFill>
            <a:prstDash val="solid"/>
          </a:ln>
        </p:spPr>
      </p:sp>
      <p:sp>
        <p:nvSpPr>
          <p:cNvPr id="10" name="">
            <a:extLst xmlns:a="http://schemas.openxmlformats.org/drawingml/2006/main">
              <a:ext uri="{FF2B5EF4-FFF2-40B4-BE49-F238E27FC236}">
                <a16:creationId xmlns:a16="http://schemas.microsoft.com/office/drawing/2014/main" id="{D71D1711-FFC9-4882-A15A-105911FC8ED0}"/>
              </a:ext>
            </a:extLst>
          </p:cNvPr>
          <p:cNvSpPr>
            <a:spLocks xmlns:a="http://schemas.openxmlformats.org/drawingml/2006/main" noGrp="1"/>
          </p:cNvSpPr>
          <p:nvPr/>
        </p:nvSpPr>
        <p:spPr>
          <a:xfrm xmlns:a="http://schemas.openxmlformats.org/drawingml/2006/main">
            <a:off x="1238250" y="2019300"/>
            <a:ext cx="10287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71235"/>
          </a:bodyPr>
          <a:lstStyle xmlns:a="http://schemas.openxmlformats.org/drawingml/2006/main"/>
          <a:p xmlns:a="http://schemas.openxmlformats.org/drawingml/2006/main">
            <a:pPr algn="ctr">
              <a:defRPr sz="1725" b="1">
                <a:solidFill>
                  <a:srgbClr val="7DD3FC"/>
                </a:solidFill>
              </a:defRPr>
            </a:pPr>
            <a:r>
              <a:rPr sz="1725" b="1">
                <a:solidFill>
                  <a:srgbClr val="7DD3FC"/>
                </a:solidFill>
              </a:rPr>
              <a:t>MAT</a:t>
            </a:r>
          </a:p>
        </p:txBody>
      </p:sp>
      <p:sp>
        <p:nvSpPr>
          <p:cNvPr id="11" name="">
            <a:extLst xmlns:a="http://schemas.openxmlformats.org/drawingml/2006/main">
              <a:ext uri="{FF2B5EF4-FFF2-40B4-BE49-F238E27FC236}">
                <a16:creationId xmlns:a16="http://schemas.microsoft.com/office/drawing/2014/main" id="{64F718C1-923C-487D-AD00-048A11E363EE}"/>
              </a:ext>
            </a:extLst>
          </p:cNvPr>
          <p:cNvSpPr>
            <a:spLocks xmlns:a="http://schemas.openxmlformats.org/drawingml/2006/main" noGrp="1"/>
          </p:cNvSpPr>
          <p:nvPr/>
        </p:nvSpPr>
        <p:spPr>
          <a:xfrm xmlns:a="http://schemas.openxmlformats.org/drawingml/2006/main">
            <a:off x="1238250" y="2324100"/>
            <a:ext cx="1028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98304"/>
          </a:bodyPr>
          <a:lstStyle xmlns:a="http://schemas.openxmlformats.org/drawingml/2006/main"/>
          <a:p xmlns:a="http://schemas.openxmlformats.org/drawingml/2006/main">
            <a:pPr algn="ctr">
              <a:defRPr sz="750" b="0">
                <a:solidFill>
                  <a:srgbClr val="BFDBFE"/>
                </a:solidFill>
              </a:defRPr>
            </a:pPr>
            <a:r>
              <a:rPr sz="750" b="0">
                <a:solidFill>
                  <a:srgbClr val="BFDBFE"/>
                </a:solidFill>
              </a:rPr>
              <a:t>物料类型</a:t>
            </a:r>
          </a:p>
        </p:txBody>
      </p:sp>
      <p:sp>
        <p:nvSpPr>
          <p:cNvPr id="12" name="">
            <a:extLst xmlns:a="http://schemas.openxmlformats.org/drawingml/2006/main">
              <a:ext uri="{FF2B5EF4-FFF2-40B4-BE49-F238E27FC236}">
                <a16:creationId xmlns:a16="http://schemas.microsoft.com/office/drawing/2014/main" id="{7A3A0B49-9756-4A85-9479-5D89F8AB3373}"/>
              </a:ext>
            </a:extLst>
          </p:cNvPr>
          <p:cNvSpPr>
            <a:spLocks xmlns:a="http://schemas.openxmlformats.org/drawingml/2006/main" noGrp="1"/>
          </p:cNvSpPr>
          <p:nvPr/>
        </p:nvSpPr>
        <p:spPr>
          <a:xfrm xmlns:a="http://schemas.openxmlformats.org/drawingml/2006/main">
            <a:off x="2495550" y="2019300"/>
            <a:ext cx="2476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1920"/>
          </a:bodyPr>
          <a:lstStyle xmlns:a="http://schemas.openxmlformats.org/drawingml/2006/main"/>
          <a:p xmlns:a="http://schemas.openxmlformats.org/drawingml/2006/main">
            <a:pPr algn="ctr">
              <a:defRPr sz="1500" b="1">
                <a:solidFill>
                  <a:srgbClr val="7DD3FC"/>
                </a:solidFill>
              </a:defRPr>
            </a:pPr>
            <a:r>
              <a:rPr sz="1500" b="1">
                <a:solidFill>
                  <a:srgbClr val="7DD3FC"/>
                </a:solidFill>
              </a:rPr>
              <a:t>-</a:t>
            </a:r>
          </a:p>
        </p:txBody>
      </p:sp>
      <p:sp>
        <p:nvSpPr>
          <p:cNvPr id="13" name="">
            <a:extLst xmlns:a="http://schemas.openxmlformats.org/drawingml/2006/main">
              <a:ext uri="{FF2B5EF4-FFF2-40B4-BE49-F238E27FC236}">
                <a16:creationId xmlns:a16="http://schemas.microsoft.com/office/drawing/2014/main" id="{687BAF3C-9EAB-4513-8E30-4D2B375055BA}"/>
              </a:ext>
            </a:extLst>
          </p:cNvPr>
          <p:cNvSpPr>
            <a:spLocks xmlns:a="http://schemas.openxmlformats.org/drawingml/2006/main" noGrp="1"/>
          </p:cNvSpPr>
          <p:nvPr/>
        </p:nvSpPr>
        <p:spPr>
          <a:xfrm xmlns:a="http://schemas.openxmlformats.org/drawingml/2006/main">
            <a:off x="2819400" y="2019300"/>
            <a:ext cx="10287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71235"/>
          </a:bodyPr>
          <a:lstStyle xmlns:a="http://schemas.openxmlformats.org/drawingml/2006/main"/>
          <a:p xmlns:a="http://schemas.openxmlformats.org/drawingml/2006/main">
            <a:pPr algn="ctr">
              <a:defRPr sz="1725" b="1">
                <a:solidFill>
                  <a:srgbClr val="7DD3FC"/>
                </a:solidFill>
              </a:defRPr>
            </a:pPr>
            <a:r>
              <a:rPr sz="1725" b="1">
                <a:solidFill>
                  <a:srgbClr val="7DD3FC"/>
                </a:solidFill>
              </a:rPr>
              <a:t>A01</a:t>
            </a:r>
          </a:p>
        </p:txBody>
      </p:sp>
      <p:sp>
        <p:nvSpPr>
          <p:cNvPr id="14" name="">
            <a:extLst xmlns:a="http://schemas.openxmlformats.org/drawingml/2006/main">
              <a:ext uri="{FF2B5EF4-FFF2-40B4-BE49-F238E27FC236}">
                <a16:creationId xmlns:a16="http://schemas.microsoft.com/office/drawing/2014/main" id="{9F4C6929-86A9-4FC2-8A29-332ABB3C7C6C}"/>
              </a:ext>
            </a:extLst>
          </p:cNvPr>
          <p:cNvSpPr>
            <a:spLocks xmlns:a="http://schemas.openxmlformats.org/drawingml/2006/main" noGrp="1"/>
          </p:cNvSpPr>
          <p:nvPr/>
        </p:nvSpPr>
        <p:spPr>
          <a:xfrm xmlns:a="http://schemas.openxmlformats.org/drawingml/2006/main">
            <a:off x="2819400" y="2324100"/>
            <a:ext cx="1028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98304"/>
          </a:bodyPr>
          <a:lstStyle xmlns:a="http://schemas.openxmlformats.org/drawingml/2006/main"/>
          <a:p xmlns:a="http://schemas.openxmlformats.org/drawingml/2006/main">
            <a:pPr algn="ctr">
              <a:defRPr sz="750" b="0">
                <a:solidFill>
                  <a:srgbClr val="BFDBFE"/>
                </a:solidFill>
              </a:defRPr>
            </a:pPr>
            <a:r>
              <a:rPr sz="750" b="0">
                <a:solidFill>
                  <a:srgbClr val="BFDBFE"/>
                </a:solidFill>
              </a:rPr>
              <a:t>分类码</a:t>
            </a:r>
          </a:p>
        </p:txBody>
      </p:sp>
      <p:sp>
        <p:nvSpPr>
          <p:cNvPr id="15" name="">
            <a:extLst xmlns:a="http://schemas.openxmlformats.org/drawingml/2006/main">
              <a:ext uri="{FF2B5EF4-FFF2-40B4-BE49-F238E27FC236}">
                <a16:creationId xmlns:a16="http://schemas.microsoft.com/office/drawing/2014/main" id="{91F9FA8A-ABCA-447B-829E-BFAB8AA0BC66}"/>
              </a:ext>
            </a:extLst>
          </p:cNvPr>
          <p:cNvSpPr>
            <a:spLocks xmlns:a="http://schemas.openxmlformats.org/drawingml/2006/main" noGrp="1"/>
          </p:cNvSpPr>
          <p:nvPr/>
        </p:nvSpPr>
        <p:spPr>
          <a:xfrm xmlns:a="http://schemas.openxmlformats.org/drawingml/2006/main">
            <a:off x="4076700" y="2019300"/>
            <a:ext cx="2476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1920"/>
          </a:bodyPr>
          <a:lstStyle xmlns:a="http://schemas.openxmlformats.org/drawingml/2006/main"/>
          <a:p xmlns:a="http://schemas.openxmlformats.org/drawingml/2006/main">
            <a:pPr algn="ctr">
              <a:defRPr sz="1500" b="1">
                <a:solidFill>
                  <a:srgbClr val="7DD3FC"/>
                </a:solidFill>
              </a:defRPr>
            </a:pPr>
            <a:r>
              <a:rPr sz="1500" b="1">
                <a:solidFill>
                  <a:srgbClr val="7DD3FC"/>
                </a:solidFill>
              </a:rPr>
              <a:t>-</a:t>
            </a:r>
          </a:p>
        </p:txBody>
      </p:sp>
      <p:sp>
        <p:nvSpPr>
          <p:cNvPr id="16" name="">
            <a:extLst xmlns:a="http://schemas.openxmlformats.org/drawingml/2006/main">
              <a:ext uri="{FF2B5EF4-FFF2-40B4-BE49-F238E27FC236}">
                <a16:creationId xmlns:a16="http://schemas.microsoft.com/office/drawing/2014/main" id="{68C3C643-906C-47A8-8B3C-58247E2E2E29}"/>
              </a:ext>
            </a:extLst>
          </p:cNvPr>
          <p:cNvSpPr>
            <a:spLocks xmlns:a="http://schemas.openxmlformats.org/drawingml/2006/main" noGrp="1"/>
          </p:cNvSpPr>
          <p:nvPr/>
        </p:nvSpPr>
        <p:spPr>
          <a:xfrm xmlns:a="http://schemas.openxmlformats.org/drawingml/2006/main">
            <a:off x="4400550" y="2019300"/>
            <a:ext cx="10287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71235"/>
          </a:bodyPr>
          <a:lstStyle xmlns:a="http://schemas.openxmlformats.org/drawingml/2006/main"/>
          <a:p xmlns:a="http://schemas.openxmlformats.org/drawingml/2006/main">
            <a:pPr algn="ctr">
              <a:defRPr sz="1725" b="1">
                <a:solidFill>
                  <a:srgbClr val="7DD3FC"/>
                </a:solidFill>
              </a:defRPr>
            </a:pPr>
            <a:r>
              <a:rPr sz="1725" b="1">
                <a:solidFill>
                  <a:srgbClr val="7DD3FC"/>
                </a:solidFill>
              </a:rPr>
              <a:t>00001</a:t>
            </a:r>
          </a:p>
        </p:txBody>
      </p:sp>
      <p:sp>
        <p:nvSpPr>
          <p:cNvPr id="17" name="">
            <a:extLst xmlns:a="http://schemas.openxmlformats.org/drawingml/2006/main">
              <a:ext uri="{FF2B5EF4-FFF2-40B4-BE49-F238E27FC236}">
                <a16:creationId xmlns:a16="http://schemas.microsoft.com/office/drawing/2014/main" id="{6CA86765-51A5-402D-83E1-21F13F88AFCD}"/>
              </a:ext>
            </a:extLst>
          </p:cNvPr>
          <p:cNvSpPr>
            <a:spLocks xmlns:a="http://schemas.openxmlformats.org/drawingml/2006/main" noGrp="1"/>
          </p:cNvSpPr>
          <p:nvPr/>
        </p:nvSpPr>
        <p:spPr>
          <a:xfrm xmlns:a="http://schemas.openxmlformats.org/drawingml/2006/main">
            <a:off x="4400550" y="2324100"/>
            <a:ext cx="1028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98304"/>
          </a:bodyPr>
          <a:lstStyle xmlns:a="http://schemas.openxmlformats.org/drawingml/2006/main"/>
          <a:p xmlns:a="http://schemas.openxmlformats.org/drawingml/2006/main">
            <a:pPr algn="ctr">
              <a:defRPr sz="750" b="0">
                <a:solidFill>
                  <a:srgbClr val="BFDBFE"/>
                </a:solidFill>
              </a:defRPr>
            </a:pPr>
            <a:r>
              <a:rPr sz="750" b="0">
                <a:solidFill>
                  <a:srgbClr val="BFDBFE"/>
                </a:solidFill>
              </a:rPr>
              <a:t>流水号</a:t>
            </a:r>
          </a:p>
        </p:txBody>
      </p:sp>
      <p:sp>
        <p:nvSpPr>
          <p:cNvPr id="18" name="">
            <a:extLst xmlns:a="http://schemas.openxmlformats.org/drawingml/2006/main">
              <a:ext uri="{FF2B5EF4-FFF2-40B4-BE49-F238E27FC236}">
                <a16:creationId xmlns:a16="http://schemas.microsoft.com/office/drawing/2014/main" id="{AF78DE49-034C-400C-A627-847FB4E28E02}"/>
              </a:ext>
            </a:extLst>
          </p:cNvPr>
          <p:cNvSpPr>
            <a:spLocks xmlns:a="http://schemas.openxmlformats.org/drawingml/2006/main" noGrp="1"/>
          </p:cNvSpPr>
          <p:nvPr/>
        </p:nvSpPr>
        <p:spPr>
          <a:xfrm xmlns:a="http://schemas.openxmlformats.org/drawingml/2006/main">
            <a:off x="5657850" y="2019300"/>
            <a:ext cx="2476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42647"/>
          </a:bodyPr>
          <a:lstStyle xmlns:a="http://schemas.openxmlformats.org/drawingml/2006/main"/>
          <a:p xmlns:a="http://schemas.openxmlformats.org/drawingml/2006/main">
            <a:pPr algn="ctr">
              <a:defRPr sz="1500" b="1">
                <a:solidFill>
                  <a:srgbClr val="7DD3FC"/>
                </a:solidFill>
              </a:defRPr>
            </a:pPr>
            <a:r>
              <a:rPr sz="1500" b="1">
                <a:solidFill>
                  <a:srgbClr val="7DD3FC"/>
                </a:solidFill>
              </a:rPr>
              <a:t>REV</a:t>
            </a:r>
          </a:p>
        </p:txBody>
      </p:sp>
      <p:sp>
        <p:nvSpPr>
          <p:cNvPr id="19" name="">
            <a:extLst xmlns:a="http://schemas.openxmlformats.org/drawingml/2006/main">
              <a:ext uri="{FF2B5EF4-FFF2-40B4-BE49-F238E27FC236}">
                <a16:creationId xmlns:a16="http://schemas.microsoft.com/office/drawing/2014/main" id="{EC0F2C9E-45BF-46F0-9DC6-CB44E5EA68C5}"/>
              </a:ext>
            </a:extLst>
          </p:cNvPr>
          <p:cNvSpPr>
            <a:spLocks xmlns:a="http://schemas.openxmlformats.org/drawingml/2006/main" noGrp="1"/>
          </p:cNvSpPr>
          <p:nvPr/>
        </p:nvSpPr>
        <p:spPr>
          <a:xfrm xmlns:a="http://schemas.openxmlformats.org/drawingml/2006/main">
            <a:off x="5657850" y="2324100"/>
            <a:ext cx="1028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98304"/>
          </a:bodyPr>
          <a:lstStyle xmlns:a="http://schemas.openxmlformats.org/drawingml/2006/main"/>
          <a:p xmlns:a="http://schemas.openxmlformats.org/drawingml/2006/main">
            <a:pPr algn="ctr">
              <a:defRPr sz="750" b="0">
                <a:solidFill>
                  <a:srgbClr val="BFDBFE"/>
                </a:solidFill>
              </a:defRPr>
            </a:pPr>
            <a:r>
              <a:rPr sz="750" b="0">
                <a:solidFill>
                  <a:srgbClr val="BFDBFE"/>
                </a:solidFill>
              </a:rPr>
              <a:t>独立字段</a:t>
            </a:r>
          </a:p>
        </p:txBody>
      </p:sp>
      <p:sp>
        <p:nvSpPr>
          <p:cNvPr id="20" name="">
            <a:extLst xmlns:a="http://schemas.openxmlformats.org/drawingml/2006/main">
              <a:ext uri="{FF2B5EF4-FFF2-40B4-BE49-F238E27FC236}">
                <a16:creationId xmlns:a16="http://schemas.microsoft.com/office/drawing/2014/main" id="{D2C972E1-B1A1-4FD6-8804-EC9AE4447989}"/>
              </a:ext>
            </a:extLst>
          </p:cNvPr>
          <p:cNvSpPr>
            <a:spLocks xmlns:a="http://schemas.openxmlformats.org/drawingml/2006/main" noGrp="1"/>
          </p:cNvSpPr>
          <p:nvPr/>
        </p:nvSpPr>
        <p:spPr>
          <a:xfrm xmlns:a="http://schemas.openxmlformats.org/drawingml/2006/main">
            <a:off x="742950" y="2952750"/>
            <a:ext cx="31051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E2E8F0"/>
            </a:solidFill>
            <a:prstDash val="solid"/>
          </a:ln>
        </p:spPr>
      </p:sp>
      <p:sp>
        <p:nvSpPr>
          <p:cNvPr id="21" name="">
            <a:extLst xmlns:a="http://schemas.openxmlformats.org/drawingml/2006/main">
              <a:ext uri="{FF2B5EF4-FFF2-40B4-BE49-F238E27FC236}">
                <a16:creationId xmlns:a16="http://schemas.microsoft.com/office/drawing/2014/main" id="{3D8D4FE4-0B7C-4549-9CD3-A13E4FD6B8D5}"/>
              </a:ext>
            </a:extLst>
          </p:cNvPr>
          <p:cNvSpPr>
            <a:spLocks xmlns:a="http://schemas.openxmlformats.org/drawingml/2006/main" noGrp="1"/>
          </p:cNvSpPr>
          <p:nvPr/>
        </p:nvSpPr>
        <p:spPr>
          <a:xfrm xmlns:a="http://schemas.openxmlformats.org/drawingml/2006/main">
            <a:off x="742950" y="2952750"/>
            <a:ext cx="47625" cy="142875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59B60231-CDA6-4C4D-BE3E-323C79BA46E6}"/>
              </a:ext>
            </a:extLst>
          </p:cNvPr>
          <p:cNvSpPr>
            <a:spLocks xmlns:a="http://schemas.openxmlformats.org/drawingml/2006/main" noGrp="1"/>
          </p:cNvSpPr>
          <p:nvPr/>
        </p:nvSpPr>
        <p:spPr>
          <a:xfrm xmlns:a="http://schemas.openxmlformats.org/drawingml/2006/main">
            <a:off x="914400" y="3086100"/>
            <a:ext cx="2781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物料编码设计五原则</a:t>
            </a:r>
          </a:p>
        </p:txBody>
      </p:sp>
      <p:sp>
        <p:nvSpPr>
          <p:cNvPr id="23" name="">
            <a:extLst xmlns:a="http://schemas.openxmlformats.org/drawingml/2006/main">
              <a:ext uri="{FF2B5EF4-FFF2-40B4-BE49-F238E27FC236}">
                <a16:creationId xmlns:a16="http://schemas.microsoft.com/office/drawing/2014/main" id="{585335C1-8536-40FA-AF6B-578D1AA757B4}"/>
              </a:ext>
            </a:extLst>
          </p:cNvPr>
          <p:cNvSpPr>
            <a:spLocks xmlns:a="http://schemas.openxmlformats.org/drawingml/2006/main" noGrp="1"/>
          </p:cNvSpPr>
          <p:nvPr/>
        </p:nvSpPr>
        <p:spPr>
          <a:xfrm xmlns:a="http://schemas.openxmlformats.org/drawingml/2006/main">
            <a:off x="914400" y="3429000"/>
            <a:ext cx="27813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唯一性：每一个物料全公司范围内有且仅有一个编码，跨系统共用。</a:t>
            </a:r>
          </a:p>
        </p:txBody>
      </p:sp>
      <p:sp>
        <p:nvSpPr>
          <p:cNvPr id="24" name="">
            <a:extLst xmlns:a="http://schemas.openxmlformats.org/drawingml/2006/main">
              <a:ext uri="{FF2B5EF4-FFF2-40B4-BE49-F238E27FC236}">
                <a16:creationId xmlns:a16="http://schemas.microsoft.com/office/drawing/2014/main" id="{6E9392A5-5006-4867-8176-1182434E19BD}"/>
              </a:ext>
            </a:extLst>
          </p:cNvPr>
          <p:cNvSpPr>
            <a:spLocks xmlns:a="http://schemas.openxmlformats.org/drawingml/2006/main" noGrp="1"/>
          </p:cNvSpPr>
          <p:nvPr/>
        </p:nvSpPr>
        <p:spPr>
          <a:xfrm xmlns:a="http://schemas.openxmlformats.org/drawingml/2006/main">
            <a:off x="4095750" y="2952750"/>
            <a:ext cx="1095375" cy="238125"/>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25" name="">
            <a:extLst xmlns:a="http://schemas.openxmlformats.org/drawingml/2006/main">
              <a:ext uri="{FF2B5EF4-FFF2-40B4-BE49-F238E27FC236}">
                <a16:creationId xmlns:a16="http://schemas.microsoft.com/office/drawing/2014/main" id="{DB2651C4-7933-4368-B092-D59F9B81CF9E}"/>
              </a:ext>
            </a:extLst>
          </p:cNvPr>
          <p:cNvSpPr>
            <a:spLocks xmlns:a="http://schemas.openxmlformats.org/drawingml/2006/main" noGrp="1"/>
          </p:cNvSpPr>
          <p:nvPr/>
        </p:nvSpPr>
        <p:spPr>
          <a:xfrm xmlns:a="http://schemas.openxmlformats.org/drawingml/2006/main">
            <a:off x="4133850" y="2981325"/>
            <a:ext cx="1019175"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1">
                <a:solidFill>
                  <a:srgbClr val="FFFFFF"/>
                </a:solidFill>
              </a:defRPr>
            </a:pPr>
            <a:r>
              <a:rPr sz="615" b="1">
                <a:solidFill>
                  <a:srgbClr val="FFFFFF"/>
                </a:solidFill>
              </a:rPr>
              <a:t>规则</a:t>
            </a:r>
          </a:p>
        </p:txBody>
      </p:sp>
      <p:sp>
        <p:nvSpPr>
          <p:cNvPr id="26" name="">
            <a:extLst xmlns:a="http://schemas.openxmlformats.org/drawingml/2006/main">
              <a:ext uri="{FF2B5EF4-FFF2-40B4-BE49-F238E27FC236}">
                <a16:creationId xmlns:a16="http://schemas.microsoft.com/office/drawing/2014/main" id="{FE481A4B-FC57-4F75-91A3-75442235F717}"/>
              </a:ext>
            </a:extLst>
          </p:cNvPr>
          <p:cNvSpPr>
            <a:spLocks xmlns:a="http://schemas.openxmlformats.org/drawingml/2006/main" noGrp="1"/>
          </p:cNvSpPr>
          <p:nvPr/>
        </p:nvSpPr>
        <p:spPr>
          <a:xfrm xmlns:a="http://schemas.openxmlformats.org/drawingml/2006/main">
            <a:off x="5191125" y="2952750"/>
            <a:ext cx="1916906" cy="238125"/>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27" name="">
            <a:extLst xmlns:a="http://schemas.openxmlformats.org/drawingml/2006/main">
              <a:ext uri="{FF2B5EF4-FFF2-40B4-BE49-F238E27FC236}">
                <a16:creationId xmlns:a16="http://schemas.microsoft.com/office/drawing/2014/main" id="{49041B9D-9373-4AB9-8731-D775EFC30F32}"/>
              </a:ext>
            </a:extLst>
          </p:cNvPr>
          <p:cNvSpPr>
            <a:spLocks xmlns:a="http://schemas.openxmlformats.org/drawingml/2006/main" noGrp="1"/>
          </p:cNvSpPr>
          <p:nvPr/>
        </p:nvSpPr>
        <p:spPr>
          <a:xfrm xmlns:a="http://schemas.openxmlformats.org/drawingml/2006/main">
            <a:off x="5229225" y="2981325"/>
            <a:ext cx="1840706"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1">
                <a:solidFill>
                  <a:srgbClr val="FFFFFF"/>
                </a:solidFill>
              </a:defRPr>
            </a:pPr>
            <a:r>
              <a:rPr sz="615" b="1">
                <a:solidFill>
                  <a:srgbClr val="FFFFFF"/>
                </a:solidFill>
              </a:rPr>
              <a:t>说明</a:t>
            </a:r>
          </a:p>
        </p:txBody>
      </p:sp>
      <p:sp>
        <p:nvSpPr>
          <p:cNvPr id="28" name="">
            <a:extLst xmlns:a="http://schemas.openxmlformats.org/drawingml/2006/main">
              <a:ext uri="{FF2B5EF4-FFF2-40B4-BE49-F238E27FC236}">
                <a16:creationId xmlns:a16="http://schemas.microsoft.com/office/drawing/2014/main" id="{F8755594-59AC-41E3-846F-C42B74A66ABA}"/>
              </a:ext>
            </a:extLst>
          </p:cNvPr>
          <p:cNvSpPr>
            <a:spLocks xmlns:a="http://schemas.openxmlformats.org/drawingml/2006/main" noGrp="1"/>
          </p:cNvSpPr>
          <p:nvPr/>
        </p:nvSpPr>
        <p:spPr>
          <a:xfrm xmlns:a="http://schemas.openxmlformats.org/drawingml/2006/main">
            <a:off x="4095750" y="3190875"/>
            <a:ext cx="1095375" cy="23812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9" name="">
            <a:extLst xmlns:a="http://schemas.openxmlformats.org/drawingml/2006/main">
              <a:ext uri="{FF2B5EF4-FFF2-40B4-BE49-F238E27FC236}">
                <a16:creationId xmlns:a16="http://schemas.microsoft.com/office/drawing/2014/main" id="{510B1EE4-4E25-4DFA-AB34-7211607D4B86}"/>
              </a:ext>
            </a:extLst>
          </p:cNvPr>
          <p:cNvSpPr>
            <a:spLocks xmlns:a="http://schemas.openxmlformats.org/drawingml/2006/main" noGrp="1"/>
          </p:cNvSpPr>
          <p:nvPr/>
        </p:nvSpPr>
        <p:spPr>
          <a:xfrm xmlns:a="http://schemas.openxmlformats.org/drawingml/2006/main">
            <a:off x="4133850" y="3219450"/>
            <a:ext cx="1019175"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件号与物料编码分离</a:t>
            </a:r>
          </a:p>
        </p:txBody>
      </p:sp>
      <p:sp>
        <p:nvSpPr>
          <p:cNvPr id="30" name="">
            <a:extLst xmlns:a="http://schemas.openxmlformats.org/drawingml/2006/main">
              <a:ext uri="{FF2B5EF4-FFF2-40B4-BE49-F238E27FC236}">
                <a16:creationId xmlns:a16="http://schemas.microsoft.com/office/drawing/2014/main" id="{5A765149-E4D1-467B-B3E4-EE929148F640}"/>
              </a:ext>
            </a:extLst>
          </p:cNvPr>
          <p:cNvSpPr>
            <a:spLocks xmlns:a="http://schemas.openxmlformats.org/drawingml/2006/main" noGrp="1"/>
          </p:cNvSpPr>
          <p:nvPr/>
        </p:nvSpPr>
        <p:spPr>
          <a:xfrm xmlns:a="http://schemas.openxmlformats.org/drawingml/2006/main">
            <a:off x="5191125" y="3190875"/>
            <a:ext cx="1916906" cy="23812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1" name="">
            <a:extLst xmlns:a="http://schemas.openxmlformats.org/drawingml/2006/main">
              <a:ext uri="{FF2B5EF4-FFF2-40B4-BE49-F238E27FC236}">
                <a16:creationId xmlns:a16="http://schemas.microsoft.com/office/drawing/2014/main" id="{F718D64E-C70B-4ABB-9140-4BE41C43C1C0}"/>
              </a:ext>
            </a:extLst>
          </p:cNvPr>
          <p:cNvSpPr>
            <a:spLocks xmlns:a="http://schemas.openxmlformats.org/drawingml/2006/main" noGrp="1"/>
          </p:cNvSpPr>
          <p:nvPr/>
        </p:nvSpPr>
        <p:spPr>
          <a:xfrm xmlns:a="http://schemas.openxmlformats.org/drawingml/2006/main">
            <a:off x="5229225" y="3219450"/>
            <a:ext cx="1840706"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64937"/>
          </a:bodyPr>
          <a:lstStyle xmlns:a="http://schemas.openxmlformats.org/drawingml/2006/main"/>
          <a:p xmlns:a="http://schemas.openxmlformats.org/drawingml/2006/main">
            <a:pPr algn="l">
              <a:defRPr sz="615" b="0">
                <a:solidFill>
                  <a:srgbClr val="475569"/>
                </a:solidFill>
              </a:defRPr>
            </a:pPr>
            <a:r>
              <a:rPr sz="615" b="0">
                <a:solidFill>
                  <a:srgbClr val="475569"/>
                </a:solidFill>
              </a:rPr>
              <a:t>对外交付件号（主机厂格式）与内部物料编码分离，通过映射表关联。禁止直接用主机厂件号作为内部编码。</a:t>
            </a:r>
          </a:p>
        </p:txBody>
      </p:sp>
      <p:sp>
        <p:nvSpPr>
          <p:cNvPr id="32" name="">
            <a:extLst xmlns:a="http://schemas.openxmlformats.org/drawingml/2006/main">
              <a:ext uri="{FF2B5EF4-FFF2-40B4-BE49-F238E27FC236}">
                <a16:creationId xmlns:a16="http://schemas.microsoft.com/office/drawing/2014/main" id="{5FCCA443-F4AF-4291-84FA-44CD55F7ED1E}"/>
              </a:ext>
            </a:extLst>
          </p:cNvPr>
          <p:cNvSpPr>
            <a:spLocks xmlns:a="http://schemas.openxmlformats.org/drawingml/2006/main" noGrp="1"/>
          </p:cNvSpPr>
          <p:nvPr/>
        </p:nvSpPr>
        <p:spPr>
          <a:xfrm xmlns:a="http://schemas.openxmlformats.org/drawingml/2006/main">
            <a:off x="4095750" y="3429000"/>
            <a:ext cx="1095375" cy="23812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3" name="">
            <a:extLst xmlns:a="http://schemas.openxmlformats.org/drawingml/2006/main">
              <a:ext uri="{FF2B5EF4-FFF2-40B4-BE49-F238E27FC236}">
                <a16:creationId xmlns:a16="http://schemas.microsoft.com/office/drawing/2014/main" id="{09BD8FAE-7882-4132-B545-3DE272155D89}"/>
              </a:ext>
            </a:extLst>
          </p:cNvPr>
          <p:cNvSpPr>
            <a:spLocks xmlns:a="http://schemas.openxmlformats.org/drawingml/2006/main" noGrp="1"/>
          </p:cNvSpPr>
          <p:nvPr/>
        </p:nvSpPr>
        <p:spPr>
          <a:xfrm xmlns:a="http://schemas.openxmlformats.org/drawingml/2006/main">
            <a:off x="4133850" y="3457575"/>
            <a:ext cx="1019175"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预浸料有效期不进编码</a:t>
            </a:r>
          </a:p>
        </p:txBody>
      </p:sp>
      <p:sp>
        <p:nvSpPr>
          <p:cNvPr id="34" name="">
            <a:extLst xmlns:a="http://schemas.openxmlformats.org/drawingml/2006/main">
              <a:ext uri="{FF2B5EF4-FFF2-40B4-BE49-F238E27FC236}">
                <a16:creationId xmlns:a16="http://schemas.microsoft.com/office/drawing/2014/main" id="{2DCC96A2-F3A5-49D6-8EBD-1B74646DBAFD}"/>
              </a:ext>
            </a:extLst>
          </p:cNvPr>
          <p:cNvSpPr>
            <a:spLocks xmlns:a="http://schemas.openxmlformats.org/drawingml/2006/main" noGrp="1"/>
          </p:cNvSpPr>
          <p:nvPr/>
        </p:nvSpPr>
        <p:spPr>
          <a:xfrm xmlns:a="http://schemas.openxmlformats.org/drawingml/2006/main">
            <a:off x="5191125" y="3429000"/>
            <a:ext cx="1916906" cy="23812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5" name="">
            <a:extLst xmlns:a="http://schemas.openxmlformats.org/drawingml/2006/main">
              <a:ext uri="{FF2B5EF4-FFF2-40B4-BE49-F238E27FC236}">
                <a16:creationId xmlns:a16="http://schemas.microsoft.com/office/drawing/2014/main" id="{93C2ED62-44CB-4547-95D2-9499989CF939}"/>
              </a:ext>
            </a:extLst>
          </p:cNvPr>
          <p:cNvSpPr>
            <a:spLocks xmlns:a="http://schemas.openxmlformats.org/drawingml/2006/main" noGrp="1"/>
          </p:cNvSpPr>
          <p:nvPr/>
        </p:nvSpPr>
        <p:spPr>
          <a:xfrm xmlns:a="http://schemas.openxmlformats.org/drawingml/2006/main">
            <a:off x="5229225" y="3457575"/>
            <a:ext cx="1840706"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71311"/>
          </a:bodyPr>
          <a:lstStyle xmlns:a="http://schemas.openxmlformats.org/drawingml/2006/main"/>
          <a:p xmlns:a="http://schemas.openxmlformats.org/drawingml/2006/main">
            <a:pPr algn="l">
              <a:defRPr sz="615" b="0">
                <a:solidFill>
                  <a:srgbClr val="475569"/>
                </a:solidFill>
              </a:defRPr>
            </a:pPr>
            <a:r>
              <a:rPr sz="615" b="0">
                <a:solidFill>
                  <a:srgbClr val="475569"/>
                </a:solidFill>
              </a:rPr>
              <a:t>批次号、生产日期、有效期作为批次属性管理，不体现在物料编码中。</a:t>
            </a:r>
          </a:p>
        </p:txBody>
      </p:sp>
      <p:sp>
        <p:nvSpPr>
          <p:cNvPr id="36" name="">
            <a:extLst xmlns:a="http://schemas.openxmlformats.org/drawingml/2006/main">
              <a:ext uri="{FF2B5EF4-FFF2-40B4-BE49-F238E27FC236}">
                <a16:creationId xmlns:a16="http://schemas.microsoft.com/office/drawing/2014/main" id="{3F961BCA-C559-48B2-9325-AE4E9C828DA6}"/>
              </a:ext>
            </a:extLst>
          </p:cNvPr>
          <p:cNvSpPr>
            <a:spLocks xmlns:a="http://schemas.openxmlformats.org/drawingml/2006/main" noGrp="1"/>
          </p:cNvSpPr>
          <p:nvPr/>
        </p:nvSpPr>
        <p:spPr>
          <a:xfrm xmlns:a="http://schemas.openxmlformats.org/drawingml/2006/main">
            <a:off x="4095750" y="3667125"/>
            <a:ext cx="1095375" cy="23812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7" name="">
            <a:extLst xmlns:a="http://schemas.openxmlformats.org/drawingml/2006/main">
              <a:ext uri="{FF2B5EF4-FFF2-40B4-BE49-F238E27FC236}">
                <a16:creationId xmlns:a16="http://schemas.microsoft.com/office/drawing/2014/main" id="{5E1D6DB6-F359-481B-AAE1-11A6DF717CE5}"/>
              </a:ext>
            </a:extLst>
          </p:cNvPr>
          <p:cNvSpPr>
            <a:spLocks xmlns:a="http://schemas.openxmlformats.org/drawingml/2006/main" noGrp="1"/>
          </p:cNvSpPr>
          <p:nvPr/>
        </p:nvSpPr>
        <p:spPr>
          <a:xfrm xmlns:a="http://schemas.openxmlformats.org/drawingml/2006/main">
            <a:off x="4133850" y="3695700"/>
            <a:ext cx="1019175"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工艺规范号单独字段</a:t>
            </a:r>
          </a:p>
        </p:txBody>
      </p:sp>
      <p:sp>
        <p:nvSpPr>
          <p:cNvPr id="38" name="">
            <a:extLst xmlns:a="http://schemas.openxmlformats.org/drawingml/2006/main">
              <a:ext uri="{FF2B5EF4-FFF2-40B4-BE49-F238E27FC236}">
                <a16:creationId xmlns:a16="http://schemas.microsoft.com/office/drawing/2014/main" id="{19909CF5-C5DB-4D4D-8D93-0536741EADC5}"/>
              </a:ext>
            </a:extLst>
          </p:cNvPr>
          <p:cNvSpPr>
            <a:spLocks xmlns:a="http://schemas.openxmlformats.org/drawingml/2006/main" noGrp="1"/>
          </p:cNvSpPr>
          <p:nvPr/>
        </p:nvSpPr>
        <p:spPr>
          <a:xfrm xmlns:a="http://schemas.openxmlformats.org/drawingml/2006/main">
            <a:off x="5191125" y="3667125"/>
            <a:ext cx="1916906" cy="23812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9" name="">
            <a:extLst xmlns:a="http://schemas.openxmlformats.org/drawingml/2006/main">
              <a:ext uri="{FF2B5EF4-FFF2-40B4-BE49-F238E27FC236}">
                <a16:creationId xmlns:a16="http://schemas.microsoft.com/office/drawing/2014/main" id="{B2EA8A61-41FE-4750-A0F8-FE0504F07BEE}"/>
              </a:ext>
            </a:extLst>
          </p:cNvPr>
          <p:cNvSpPr>
            <a:spLocks xmlns:a="http://schemas.openxmlformats.org/drawingml/2006/main" noGrp="1"/>
          </p:cNvSpPr>
          <p:nvPr/>
        </p:nvSpPr>
        <p:spPr>
          <a:xfrm xmlns:a="http://schemas.openxmlformats.org/drawingml/2006/main">
            <a:off x="5229225" y="3695700"/>
            <a:ext cx="1840706"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89360"/>
          </a:bodyPr>
          <a:lstStyle xmlns:a="http://schemas.openxmlformats.org/drawingml/2006/main"/>
          <a:p xmlns:a="http://schemas.openxmlformats.org/drawingml/2006/main">
            <a:pPr algn="l">
              <a:defRPr sz="615" b="0">
                <a:solidFill>
                  <a:srgbClr val="475569"/>
                </a:solidFill>
              </a:defRPr>
            </a:pPr>
            <a:r>
              <a:rPr sz="615" b="0">
                <a:solidFill>
                  <a:srgbClr val="475569"/>
                </a:solidFill>
              </a:rPr>
              <a:t>固化工艺规范、NDT规范作为物料属性字段，不进编码。</a:t>
            </a:r>
          </a:p>
        </p:txBody>
      </p:sp>
      <p:sp>
        <p:nvSpPr>
          <p:cNvPr id="40" name="">
            <a:extLst xmlns:a="http://schemas.openxmlformats.org/drawingml/2006/main">
              <a:ext uri="{FF2B5EF4-FFF2-40B4-BE49-F238E27FC236}">
                <a16:creationId xmlns:a16="http://schemas.microsoft.com/office/drawing/2014/main" id="{A091904C-ABF6-429D-8C6E-A93FE029C7E6}"/>
              </a:ext>
            </a:extLst>
          </p:cNvPr>
          <p:cNvSpPr>
            <a:spLocks xmlns:a="http://schemas.openxmlformats.org/drawingml/2006/main" noGrp="1"/>
          </p:cNvSpPr>
          <p:nvPr/>
        </p:nvSpPr>
        <p:spPr>
          <a:xfrm xmlns:a="http://schemas.openxmlformats.org/drawingml/2006/main">
            <a:off x="4095750" y="3905250"/>
            <a:ext cx="1095375" cy="23812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1" name="">
            <a:extLst xmlns:a="http://schemas.openxmlformats.org/drawingml/2006/main">
              <a:ext uri="{FF2B5EF4-FFF2-40B4-BE49-F238E27FC236}">
                <a16:creationId xmlns:a16="http://schemas.microsoft.com/office/drawing/2014/main" id="{975B8900-1705-425A-89B9-AD025676DC63}"/>
              </a:ext>
            </a:extLst>
          </p:cNvPr>
          <p:cNvSpPr>
            <a:spLocks xmlns:a="http://schemas.openxmlformats.org/drawingml/2006/main" noGrp="1"/>
          </p:cNvSpPr>
          <p:nvPr/>
        </p:nvSpPr>
        <p:spPr>
          <a:xfrm xmlns:a="http://schemas.openxmlformats.org/drawingml/2006/main">
            <a:off x="4133850" y="3933825"/>
            <a:ext cx="1019175"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构型状态码独立</a:t>
            </a:r>
          </a:p>
        </p:txBody>
      </p:sp>
      <p:sp>
        <p:nvSpPr>
          <p:cNvPr id="42" name="">
            <a:extLst xmlns:a="http://schemas.openxmlformats.org/drawingml/2006/main">
              <a:ext uri="{FF2B5EF4-FFF2-40B4-BE49-F238E27FC236}">
                <a16:creationId xmlns:a16="http://schemas.microsoft.com/office/drawing/2014/main" id="{7FC63E75-38FC-4D12-A71A-CB386D5B1939}"/>
              </a:ext>
            </a:extLst>
          </p:cNvPr>
          <p:cNvSpPr>
            <a:spLocks xmlns:a="http://schemas.openxmlformats.org/drawingml/2006/main" noGrp="1"/>
          </p:cNvSpPr>
          <p:nvPr/>
        </p:nvSpPr>
        <p:spPr>
          <a:xfrm xmlns:a="http://schemas.openxmlformats.org/drawingml/2006/main">
            <a:off x="5191125" y="3905250"/>
            <a:ext cx="1916906" cy="23812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3" name="">
            <a:extLst xmlns:a="http://schemas.openxmlformats.org/drawingml/2006/main">
              <a:ext uri="{FF2B5EF4-FFF2-40B4-BE49-F238E27FC236}">
                <a16:creationId xmlns:a16="http://schemas.microsoft.com/office/drawing/2014/main" id="{F2358301-2359-438A-A098-1F4637835A3A}"/>
              </a:ext>
            </a:extLst>
          </p:cNvPr>
          <p:cNvSpPr>
            <a:spLocks xmlns:a="http://schemas.openxmlformats.org/drawingml/2006/main" noGrp="1"/>
          </p:cNvSpPr>
          <p:nvPr/>
        </p:nvSpPr>
        <p:spPr>
          <a:xfrm xmlns:a="http://schemas.openxmlformats.org/drawingml/2006/main">
            <a:off x="5229225" y="3933825"/>
            <a:ext cx="1840706"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85579"/>
          </a:bodyPr>
          <a:lstStyle xmlns:a="http://schemas.openxmlformats.org/drawingml/2006/main"/>
          <a:p xmlns:a="http://schemas.openxmlformats.org/drawingml/2006/main">
            <a:pPr algn="l">
              <a:defRPr sz="615" b="0">
                <a:solidFill>
                  <a:srgbClr val="475569"/>
                </a:solidFill>
              </a:defRPr>
            </a:pPr>
            <a:r>
              <a:rPr sz="615" b="0">
                <a:solidFill>
                  <a:srgbClr val="475569"/>
                </a:solidFill>
              </a:rPr>
              <a:t>适航构型状态（TC/STC适用性）作为独立属性，不进编码。</a:t>
            </a:r>
          </a:p>
        </p:txBody>
      </p:sp>
      <p:sp>
        <p:nvSpPr>
          <p:cNvPr id="44" name="">
            <a:extLst xmlns:a="http://schemas.openxmlformats.org/drawingml/2006/main">
              <a:ext uri="{FF2B5EF4-FFF2-40B4-BE49-F238E27FC236}">
                <a16:creationId xmlns:a16="http://schemas.microsoft.com/office/drawing/2014/main" id="{F4C5B26D-11FF-455D-B320-F39FC21C0129}"/>
              </a:ext>
            </a:extLst>
          </p:cNvPr>
          <p:cNvSpPr>
            <a:spLocks xmlns:a="http://schemas.openxmlformats.org/drawingml/2006/main" noGrp="1"/>
          </p:cNvSpPr>
          <p:nvPr/>
        </p:nvSpPr>
        <p:spPr>
          <a:xfrm xmlns:a="http://schemas.openxmlformats.org/drawingml/2006/main">
            <a:off x="4095750" y="4143375"/>
            <a:ext cx="1095375" cy="23812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5" name="">
            <a:extLst xmlns:a="http://schemas.openxmlformats.org/drawingml/2006/main">
              <a:ext uri="{FF2B5EF4-FFF2-40B4-BE49-F238E27FC236}">
                <a16:creationId xmlns:a16="http://schemas.microsoft.com/office/drawing/2014/main" id="{1FE3FFB0-F1D5-4533-9532-B8F57DC120BB}"/>
              </a:ext>
            </a:extLst>
          </p:cNvPr>
          <p:cNvSpPr>
            <a:spLocks xmlns:a="http://schemas.openxmlformats.org/drawingml/2006/main" noGrp="1"/>
          </p:cNvSpPr>
          <p:nvPr/>
        </p:nvSpPr>
        <p:spPr>
          <a:xfrm xmlns:a="http://schemas.openxmlformats.org/drawingml/2006/main">
            <a:off x="4133850" y="4171950"/>
            <a:ext cx="1019175"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版次 REV 独立字段</a:t>
            </a:r>
          </a:p>
        </p:txBody>
      </p:sp>
      <p:sp>
        <p:nvSpPr>
          <p:cNvPr id="46" name="">
            <a:extLst xmlns:a="http://schemas.openxmlformats.org/drawingml/2006/main">
              <a:ext uri="{FF2B5EF4-FFF2-40B4-BE49-F238E27FC236}">
                <a16:creationId xmlns:a16="http://schemas.microsoft.com/office/drawing/2014/main" id="{F6EF4E55-62AA-46EE-840B-CEC33346FA1A}"/>
              </a:ext>
            </a:extLst>
          </p:cNvPr>
          <p:cNvSpPr>
            <a:spLocks xmlns:a="http://schemas.openxmlformats.org/drawingml/2006/main" noGrp="1"/>
          </p:cNvSpPr>
          <p:nvPr/>
        </p:nvSpPr>
        <p:spPr>
          <a:xfrm xmlns:a="http://schemas.openxmlformats.org/drawingml/2006/main">
            <a:off x="5191125" y="4143375"/>
            <a:ext cx="1916906" cy="23812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7" name="">
            <a:extLst xmlns:a="http://schemas.openxmlformats.org/drawingml/2006/main">
              <a:ext uri="{FF2B5EF4-FFF2-40B4-BE49-F238E27FC236}">
                <a16:creationId xmlns:a16="http://schemas.microsoft.com/office/drawing/2014/main" id="{138F7B9E-EF6D-499B-8191-F8A8BC486AC3}"/>
              </a:ext>
            </a:extLst>
          </p:cNvPr>
          <p:cNvSpPr>
            <a:spLocks xmlns:a="http://schemas.openxmlformats.org/drawingml/2006/main" noGrp="1"/>
          </p:cNvSpPr>
          <p:nvPr/>
        </p:nvSpPr>
        <p:spPr>
          <a:xfrm xmlns:a="http://schemas.openxmlformats.org/drawingml/2006/main">
            <a:off x="5229225" y="4171950"/>
            <a:ext cx="1840706"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92165"/>
          </a:bodyPr>
          <a:lstStyle xmlns:a="http://schemas.openxmlformats.org/drawingml/2006/main"/>
          <a:p xmlns:a="http://schemas.openxmlformats.org/drawingml/2006/main">
            <a:pPr algn="l">
              <a:defRPr sz="615" b="0">
                <a:solidFill>
                  <a:srgbClr val="475569"/>
                </a:solidFill>
              </a:defRPr>
            </a:pPr>
            <a:r>
              <a:rPr sz="615" b="0">
                <a:solidFill>
                  <a:srgbClr val="475569"/>
                </a:solidFill>
              </a:rPr>
              <a:t>版次不进主编码，作为独立字段管理，支持版本追溯。</a:t>
            </a:r>
          </a:p>
        </p:txBody>
      </p:sp>
      <p:sp>
        <p:nvSpPr>
          <p:cNvPr id="48" name="">
            <a:extLst xmlns:a="http://schemas.openxmlformats.org/drawingml/2006/main">
              <a:ext uri="{FF2B5EF4-FFF2-40B4-BE49-F238E27FC236}">
                <a16:creationId xmlns:a16="http://schemas.microsoft.com/office/drawing/2014/main" id="{3F7AC843-7061-48B4-A160-55F12369DC08}"/>
              </a:ext>
            </a:extLst>
          </p:cNvPr>
          <p:cNvSpPr>
            <a:spLocks xmlns:a="http://schemas.openxmlformats.org/drawingml/2006/main" noGrp="1"/>
          </p:cNvSpPr>
          <p:nvPr/>
        </p:nvSpPr>
        <p:spPr>
          <a:xfrm xmlns:a="http://schemas.openxmlformats.org/drawingml/2006/main">
            <a:off x="742950" y="4686300"/>
            <a:ext cx="1190625" cy="2476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49" name="">
            <a:extLst xmlns:a="http://schemas.openxmlformats.org/drawingml/2006/main">
              <a:ext uri="{FF2B5EF4-FFF2-40B4-BE49-F238E27FC236}">
                <a16:creationId xmlns:a16="http://schemas.microsoft.com/office/drawing/2014/main" id="{FAF32526-6ACF-41D3-B607-8F5A7608B46B}"/>
              </a:ext>
            </a:extLst>
          </p:cNvPr>
          <p:cNvSpPr>
            <a:spLocks xmlns:a="http://schemas.openxmlformats.org/drawingml/2006/main" noGrp="1"/>
          </p:cNvSpPr>
          <p:nvPr/>
        </p:nvSpPr>
        <p:spPr>
          <a:xfrm xmlns:a="http://schemas.openxmlformats.org/drawingml/2006/main">
            <a:off x="781050" y="471487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1">
                <a:solidFill>
                  <a:srgbClr val="FFFFFF"/>
                </a:solidFill>
              </a:defRPr>
            </a:pPr>
            <a:r>
              <a:rPr sz="615" b="1">
                <a:solidFill>
                  <a:srgbClr val="FFFFFF"/>
                </a:solidFill>
              </a:rPr>
              <a:t>大类码</a:t>
            </a:r>
          </a:p>
        </p:txBody>
      </p:sp>
      <p:sp>
        <p:nvSpPr>
          <p:cNvPr id="50" name="">
            <a:extLst xmlns:a="http://schemas.openxmlformats.org/drawingml/2006/main">
              <a:ext uri="{FF2B5EF4-FFF2-40B4-BE49-F238E27FC236}">
                <a16:creationId xmlns:a16="http://schemas.microsoft.com/office/drawing/2014/main" id="{C7F45ACB-5153-4046-87EE-5E85F74DD412}"/>
              </a:ext>
            </a:extLst>
          </p:cNvPr>
          <p:cNvSpPr>
            <a:spLocks xmlns:a="http://schemas.openxmlformats.org/drawingml/2006/main" noGrp="1"/>
          </p:cNvSpPr>
          <p:nvPr/>
        </p:nvSpPr>
        <p:spPr>
          <a:xfrm xmlns:a="http://schemas.openxmlformats.org/drawingml/2006/main">
            <a:off x="1933575" y="4686300"/>
            <a:ext cx="1190625" cy="2476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51" name="">
            <a:extLst xmlns:a="http://schemas.openxmlformats.org/drawingml/2006/main">
              <a:ext uri="{FF2B5EF4-FFF2-40B4-BE49-F238E27FC236}">
                <a16:creationId xmlns:a16="http://schemas.microsoft.com/office/drawing/2014/main" id="{2EE6FC67-3ED6-433F-B2A6-B6CCCA6E1A7E}"/>
              </a:ext>
            </a:extLst>
          </p:cNvPr>
          <p:cNvSpPr>
            <a:spLocks xmlns:a="http://schemas.openxmlformats.org/drawingml/2006/main" noGrp="1"/>
          </p:cNvSpPr>
          <p:nvPr/>
        </p:nvSpPr>
        <p:spPr>
          <a:xfrm xmlns:a="http://schemas.openxmlformats.org/drawingml/2006/main">
            <a:off x="1971675" y="471487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1">
                <a:solidFill>
                  <a:srgbClr val="FFFFFF"/>
                </a:solidFill>
              </a:defRPr>
            </a:pPr>
            <a:r>
              <a:rPr sz="615" b="1">
                <a:solidFill>
                  <a:srgbClr val="FFFFFF"/>
                </a:solidFill>
              </a:rPr>
              <a:t>名称</a:t>
            </a:r>
          </a:p>
        </p:txBody>
      </p:sp>
      <p:sp>
        <p:nvSpPr>
          <p:cNvPr id="52" name="">
            <a:extLst xmlns:a="http://schemas.openxmlformats.org/drawingml/2006/main">
              <a:ext uri="{FF2B5EF4-FFF2-40B4-BE49-F238E27FC236}">
                <a16:creationId xmlns:a16="http://schemas.microsoft.com/office/drawing/2014/main" id="{6422E424-D4F6-4B5E-ABB2-EB60608DF372}"/>
              </a:ext>
            </a:extLst>
          </p:cNvPr>
          <p:cNvSpPr>
            <a:spLocks xmlns:a="http://schemas.openxmlformats.org/drawingml/2006/main" noGrp="1"/>
          </p:cNvSpPr>
          <p:nvPr/>
        </p:nvSpPr>
        <p:spPr>
          <a:xfrm xmlns:a="http://schemas.openxmlformats.org/drawingml/2006/main">
            <a:off x="3124200" y="4686300"/>
            <a:ext cx="1190625" cy="2476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53" name="">
            <a:extLst xmlns:a="http://schemas.openxmlformats.org/drawingml/2006/main">
              <a:ext uri="{FF2B5EF4-FFF2-40B4-BE49-F238E27FC236}">
                <a16:creationId xmlns:a16="http://schemas.microsoft.com/office/drawing/2014/main" id="{7C806665-3E8F-4E2A-9D90-7B92AF2A9C8E}"/>
              </a:ext>
            </a:extLst>
          </p:cNvPr>
          <p:cNvSpPr>
            <a:spLocks xmlns:a="http://schemas.openxmlformats.org/drawingml/2006/main" noGrp="1"/>
          </p:cNvSpPr>
          <p:nvPr/>
        </p:nvSpPr>
        <p:spPr>
          <a:xfrm xmlns:a="http://schemas.openxmlformats.org/drawingml/2006/main">
            <a:off x="3162300" y="471487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1">
                <a:solidFill>
                  <a:srgbClr val="FFFFFF"/>
                </a:solidFill>
              </a:defRPr>
            </a:pPr>
            <a:r>
              <a:rPr sz="615" b="1">
                <a:solidFill>
                  <a:srgbClr val="FFFFFF"/>
                </a:solidFill>
              </a:rPr>
              <a:t>说明</a:t>
            </a:r>
          </a:p>
        </p:txBody>
      </p:sp>
      <p:sp>
        <p:nvSpPr>
          <p:cNvPr id="54" name="">
            <a:extLst xmlns:a="http://schemas.openxmlformats.org/drawingml/2006/main">
              <a:ext uri="{FF2B5EF4-FFF2-40B4-BE49-F238E27FC236}">
                <a16:creationId xmlns:a16="http://schemas.microsoft.com/office/drawing/2014/main" id="{CC6B31FE-FF7F-414F-BC65-D1148D009654}"/>
              </a:ext>
            </a:extLst>
          </p:cNvPr>
          <p:cNvSpPr>
            <a:spLocks xmlns:a="http://schemas.openxmlformats.org/drawingml/2006/main" noGrp="1"/>
          </p:cNvSpPr>
          <p:nvPr/>
        </p:nvSpPr>
        <p:spPr>
          <a:xfrm xmlns:a="http://schemas.openxmlformats.org/drawingml/2006/main">
            <a:off x="4314825" y="4686300"/>
            <a:ext cx="1190625" cy="2476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55" name="">
            <a:extLst xmlns:a="http://schemas.openxmlformats.org/drawingml/2006/main">
              <a:ext uri="{FF2B5EF4-FFF2-40B4-BE49-F238E27FC236}">
                <a16:creationId xmlns:a16="http://schemas.microsoft.com/office/drawing/2014/main" id="{77B2EC09-6AD7-4A8C-8079-3A722B8A0903}"/>
              </a:ext>
            </a:extLst>
          </p:cNvPr>
          <p:cNvSpPr>
            <a:spLocks xmlns:a="http://schemas.openxmlformats.org/drawingml/2006/main" noGrp="1"/>
          </p:cNvSpPr>
          <p:nvPr/>
        </p:nvSpPr>
        <p:spPr>
          <a:xfrm xmlns:a="http://schemas.openxmlformats.org/drawingml/2006/main">
            <a:off x="4352925" y="471487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1">
                <a:solidFill>
                  <a:srgbClr val="FFFFFF"/>
                </a:solidFill>
              </a:defRPr>
            </a:pPr>
            <a:r>
              <a:rPr sz="615" b="1">
                <a:solidFill>
                  <a:srgbClr val="FFFFFF"/>
                </a:solidFill>
              </a:rPr>
              <a:t>黄金源</a:t>
            </a:r>
          </a:p>
        </p:txBody>
      </p:sp>
      <p:sp>
        <p:nvSpPr>
          <p:cNvPr id="56" name="">
            <a:extLst xmlns:a="http://schemas.openxmlformats.org/drawingml/2006/main">
              <a:ext uri="{FF2B5EF4-FFF2-40B4-BE49-F238E27FC236}">
                <a16:creationId xmlns:a16="http://schemas.microsoft.com/office/drawing/2014/main" id="{83C3B7A7-62BD-492C-81A1-2C6EB83B5734}"/>
              </a:ext>
            </a:extLst>
          </p:cNvPr>
          <p:cNvSpPr>
            <a:spLocks xmlns:a="http://schemas.openxmlformats.org/drawingml/2006/main" noGrp="1"/>
          </p:cNvSpPr>
          <p:nvPr/>
        </p:nvSpPr>
        <p:spPr>
          <a:xfrm xmlns:a="http://schemas.openxmlformats.org/drawingml/2006/main">
            <a:off x="742950" y="4933950"/>
            <a:ext cx="1190625" cy="2476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7" name="">
            <a:extLst xmlns:a="http://schemas.openxmlformats.org/drawingml/2006/main">
              <a:ext uri="{FF2B5EF4-FFF2-40B4-BE49-F238E27FC236}">
                <a16:creationId xmlns:a16="http://schemas.microsoft.com/office/drawing/2014/main" id="{D6A0848E-2223-4F07-8966-2282C6515E8C}"/>
              </a:ext>
            </a:extLst>
          </p:cNvPr>
          <p:cNvSpPr>
            <a:spLocks xmlns:a="http://schemas.openxmlformats.org/drawingml/2006/main" noGrp="1"/>
          </p:cNvSpPr>
          <p:nvPr/>
        </p:nvSpPr>
        <p:spPr>
          <a:xfrm xmlns:a="http://schemas.openxmlformats.org/drawingml/2006/main">
            <a:off x="781050" y="496252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CF</a:t>
            </a:r>
          </a:p>
        </p:txBody>
      </p:sp>
      <p:sp>
        <p:nvSpPr>
          <p:cNvPr id="58" name="">
            <a:extLst xmlns:a="http://schemas.openxmlformats.org/drawingml/2006/main">
              <a:ext uri="{FF2B5EF4-FFF2-40B4-BE49-F238E27FC236}">
                <a16:creationId xmlns:a16="http://schemas.microsoft.com/office/drawing/2014/main" id="{0766370F-DCD2-4611-8D7D-63C6D6493D2F}"/>
              </a:ext>
            </a:extLst>
          </p:cNvPr>
          <p:cNvSpPr>
            <a:spLocks xmlns:a="http://schemas.openxmlformats.org/drawingml/2006/main" noGrp="1"/>
          </p:cNvSpPr>
          <p:nvPr/>
        </p:nvSpPr>
        <p:spPr>
          <a:xfrm xmlns:a="http://schemas.openxmlformats.org/drawingml/2006/main">
            <a:off x="1933575" y="4933950"/>
            <a:ext cx="1190625" cy="2476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9" name="">
            <a:extLst xmlns:a="http://schemas.openxmlformats.org/drawingml/2006/main">
              <a:ext uri="{FF2B5EF4-FFF2-40B4-BE49-F238E27FC236}">
                <a16:creationId xmlns:a16="http://schemas.microsoft.com/office/drawing/2014/main" id="{4270F189-0773-4E12-98EF-0A3FDF5A8A0B}"/>
              </a:ext>
            </a:extLst>
          </p:cNvPr>
          <p:cNvSpPr>
            <a:spLocks xmlns:a="http://schemas.openxmlformats.org/drawingml/2006/main" noGrp="1"/>
          </p:cNvSpPr>
          <p:nvPr/>
        </p:nvSpPr>
        <p:spPr>
          <a:xfrm xmlns:a="http://schemas.openxmlformats.org/drawingml/2006/main">
            <a:off x="1971675" y="496252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碳纤维复合材料件</a:t>
            </a:r>
          </a:p>
        </p:txBody>
      </p:sp>
      <p:sp>
        <p:nvSpPr>
          <p:cNvPr id="60" name="">
            <a:extLst xmlns:a="http://schemas.openxmlformats.org/drawingml/2006/main">
              <a:ext uri="{FF2B5EF4-FFF2-40B4-BE49-F238E27FC236}">
                <a16:creationId xmlns:a16="http://schemas.microsoft.com/office/drawing/2014/main" id="{237280DB-FB7F-4993-B0D4-2412720930A3}"/>
              </a:ext>
            </a:extLst>
          </p:cNvPr>
          <p:cNvSpPr>
            <a:spLocks xmlns:a="http://schemas.openxmlformats.org/drawingml/2006/main" noGrp="1"/>
          </p:cNvSpPr>
          <p:nvPr/>
        </p:nvSpPr>
        <p:spPr>
          <a:xfrm xmlns:a="http://schemas.openxmlformats.org/drawingml/2006/main">
            <a:off x="3124200" y="4933950"/>
            <a:ext cx="1190625" cy="2476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1" name="">
            <a:extLst xmlns:a="http://schemas.openxmlformats.org/drawingml/2006/main">
              <a:ext uri="{FF2B5EF4-FFF2-40B4-BE49-F238E27FC236}">
                <a16:creationId xmlns:a16="http://schemas.microsoft.com/office/drawing/2014/main" id="{5D968198-5CF7-4E5F-9A3F-51FC39C3E015}"/>
              </a:ext>
            </a:extLst>
          </p:cNvPr>
          <p:cNvSpPr>
            <a:spLocks xmlns:a="http://schemas.openxmlformats.org/drawingml/2006/main" noGrp="1"/>
          </p:cNvSpPr>
          <p:nvPr/>
        </p:nvSpPr>
        <p:spPr>
          <a:xfrm xmlns:a="http://schemas.openxmlformats.org/drawingml/2006/main">
            <a:off x="3162300" y="496252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85030"/>
          </a:bodyPr>
          <a:lstStyle xmlns:a="http://schemas.openxmlformats.org/drawingml/2006/main"/>
          <a:p xmlns:a="http://schemas.openxmlformats.org/drawingml/2006/main">
            <a:pPr algn="l">
              <a:defRPr sz="615" b="0">
                <a:solidFill>
                  <a:srgbClr val="475569"/>
                </a:solidFill>
              </a:defRPr>
            </a:pPr>
            <a:r>
              <a:rPr sz="615" b="0">
                <a:solidFill>
                  <a:srgbClr val="475569"/>
                </a:solidFill>
              </a:rPr>
              <a:t>CFRP壁板、梁、肋、框等主结构件</a:t>
            </a:r>
          </a:p>
        </p:txBody>
      </p:sp>
      <p:sp>
        <p:nvSpPr>
          <p:cNvPr id="62" name="">
            <a:extLst xmlns:a="http://schemas.openxmlformats.org/drawingml/2006/main">
              <a:ext uri="{FF2B5EF4-FFF2-40B4-BE49-F238E27FC236}">
                <a16:creationId xmlns:a16="http://schemas.microsoft.com/office/drawing/2014/main" id="{39F218FB-CD90-43B5-BFE2-589B2BC00AB0}"/>
              </a:ext>
            </a:extLst>
          </p:cNvPr>
          <p:cNvSpPr>
            <a:spLocks xmlns:a="http://schemas.openxmlformats.org/drawingml/2006/main" noGrp="1"/>
          </p:cNvSpPr>
          <p:nvPr/>
        </p:nvSpPr>
        <p:spPr>
          <a:xfrm xmlns:a="http://schemas.openxmlformats.org/drawingml/2006/main">
            <a:off x="4314825" y="4933950"/>
            <a:ext cx="1190625" cy="2476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3" name="">
            <a:extLst xmlns:a="http://schemas.openxmlformats.org/drawingml/2006/main">
              <a:ext uri="{FF2B5EF4-FFF2-40B4-BE49-F238E27FC236}">
                <a16:creationId xmlns:a16="http://schemas.microsoft.com/office/drawing/2014/main" id="{F31BACCA-B46F-4466-9A2F-2E97CDDDC6D5}"/>
              </a:ext>
            </a:extLst>
          </p:cNvPr>
          <p:cNvSpPr>
            <a:spLocks xmlns:a="http://schemas.openxmlformats.org/drawingml/2006/main" noGrp="1"/>
          </p:cNvSpPr>
          <p:nvPr/>
        </p:nvSpPr>
        <p:spPr>
          <a:xfrm xmlns:a="http://schemas.openxmlformats.org/drawingml/2006/main">
            <a:off x="4352925" y="496252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PLM</a:t>
            </a:r>
          </a:p>
        </p:txBody>
      </p:sp>
      <p:sp>
        <p:nvSpPr>
          <p:cNvPr id="64" name="">
            <a:extLst xmlns:a="http://schemas.openxmlformats.org/drawingml/2006/main">
              <a:ext uri="{FF2B5EF4-FFF2-40B4-BE49-F238E27FC236}">
                <a16:creationId xmlns:a16="http://schemas.microsoft.com/office/drawing/2014/main" id="{3F2A0BBE-4325-44B0-B36E-017435583DED}"/>
              </a:ext>
            </a:extLst>
          </p:cNvPr>
          <p:cNvSpPr>
            <a:spLocks xmlns:a="http://schemas.openxmlformats.org/drawingml/2006/main" noGrp="1"/>
          </p:cNvSpPr>
          <p:nvPr/>
        </p:nvSpPr>
        <p:spPr>
          <a:xfrm xmlns:a="http://schemas.openxmlformats.org/drawingml/2006/main">
            <a:off x="742950" y="5181600"/>
            <a:ext cx="1190625" cy="2476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5" name="">
            <a:extLst xmlns:a="http://schemas.openxmlformats.org/drawingml/2006/main">
              <a:ext uri="{FF2B5EF4-FFF2-40B4-BE49-F238E27FC236}">
                <a16:creationId xmlns:a16="http://schemas.microsoft.com/office/drawing/2014/main" id="{1714CB2D-19AF-40F7-BAA6-87ACCCA2115E}"/>
              </a:ext>
            </a:extLst>
          </p:cNvPr>
          <p:cNvSpPr>
            <a:spLocks xmlns:a="http://schemas.openxmlformats.org/drawingml/2006/main" noGrp="1"/>
          </p:cNvSpPr>
          <p:nvPr/>
        </p:nvSpPr>
        <p:spPr>
          <a:xfrm xmlns:a="http://schemas.openxmlformats.org/drawingml/2006/main">
            <a:off x="781050" y="521017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GF</a:t>
            </a:r>
          </a:p>
        </p:txBody>
      </p:sp>
      <p:sp>
        <p:nvSpPr>
          <p:cNvPr id="66" name="">
            <a:extLst xmlns:a="http://schemas.openxmlformats.org/drawingml/2006/main">
              <a:ext uri="{FF2B5EF4-FFF2-40B4-BE49-F238E27FC236}">
                <a16:creationId xmlns:a16="http://schemas.microsoft.com/office/drawing/2014/main" id="{AAEAD6BE-8887-43BE-A197-F5BF4DEA3B77}"/>
              </a:ext>
            </a:extLst>
          </p:cNvPr>
          <p:cNvSpPr>
            <a:spLocks xmlns:a="http://schemas.openxmlformats.org/drawingml/2006/main" noGrp="1"/>
          </p:cNvSpPr>
          <p:nvPr/>
        </p:nvSpPr>
        <p:spPr>
          <a:xfrm xmlns:a="http://schemas.openxmlformats.org/drawingml/2006/main">
            <a:off x="1933575" y="5181600"/>
            <a:ext cx="1190625" cy="2476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7" name="">
            <a:extLst xmlns:a="http://schemas.openxmlformats.org/drawingml/2006/main">
              <a:ext uri="{FF2B5EF4-FFF2-40B4-BE49-F238E27FC236}">
                <a16:creationId xmlns:a16="http://schemas.microsoft.com/office/drawing/2014/main" id="{7845F20B-34BA-47BC-9861-EBD569762EBE}"/>
              </a:ext>
            </a:extLst>
          </p:cNvPr>
          <p:cNvSpPr>
            <a:spLocks xmlns:a="http://schemas.openxmlformats.org/drawingml/2006/main" noGrp="1"/>
          </p:cNvSpPr>
          <p:nvPr/>
        </p:nvSpPr>
        <p:spPr>
          <a:xfrm xmlns:a="http://schemas.openxmlformats.org/drawingml/2006/main">
            <a:off x="1971675" y="521017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玻璃纤维复合材料件</a:t>
            </a:r>
          </a:p>
        </p:txBody>
      </p:sp>
      <p:sp>
        <p:nvSpPr>
          <p:cNvPr id="68" name="">
            <a:extLst xmlns:a="http://schemas.openxmlformats.org/drawingml/2006/main">
              <a:ext uri="{FF2B5EF4-FFF2-40B4-BE49-F238E27FC236}">
                <a16:creationId xmlns:a16="http://schemas.microsoft.com/office/drawing/2014/main" id="{DCD2E199-89CB-4E4B-B44E-BAC435DB7B30}"/>
              </a:ext>
            </a:extLst>
          </p:cNvPr>
          <p:cNvSpPr>
            <a:spLocks xmlns:a="http://schemas.openxmlformats.org/drawingml/2006/main" noGrp="1"/>
          </p:cNvSpPr>
          <p:nvPr/>
        </p:nvSpPr>
        <p:spPr>
          <a:xfrm xmlns:a="http://schemas.openxmlformats.org/drawingml/2006/main">
            <a:off x="3124200" y="5181600"/>
            <a:ext cx="1190625" cy="2476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9" name="">
            <a:extLst xmlns:a="http://schemas.openxmlformats.org/drawingml/2006/main">
              <a:ext uri="{FF2B5EF4-FFF2-40B4-BE49-F238E27FC236}">
                <a16:creationId xmlns:a16="http://schemas.microsoft.com/office/drawing/2014/main" id="{ABC9C29A-8469-4CE5-8361-43B53B092F7C}"/>
              </a:ext>
            </a:extLst>
          </p:cNvPr>
          <p:cNvSpPr>
            <a:spLocks xmlns:a="http://schemas.openxmlformats.org/drawingml/2006/main" noGrp="1"/>
          </p:cNvSpPr>
          <p:nvPr/>
        </p:nvSpPr>
        <p:spPr>
          <a:xfrm xmlns:a="http://schemas.openxmlformats.org/drawingml/2006/main">
            <a:off x="3162300" y="521017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GFRP整流罩、非承力结构件</a:t>
            </a:r>
          </a:p>
        </p:txBody>
      </p:sp>
      <p:sp>
        <p:nvSpPr>
          <p:cNvPr id="70" name="">
            <a:extLst xmlns:a="http://schemas.openxmlformats.org/drawingml/2006/main">
              <a:ext uri="{FF2B5EF4-FFF2-40B4-BE49-F238E27FC236}">
                <a16:creationId xmlns:a16="http://schemas.microsoft.com/office/drawing/2014/main" id="{E385D5FF-3F0D-4792-829B-920EE031F311}"/>
              </a:ext>
            </a:extLst>
          </p:cNvPr>
          <p:cNvSpPr>
            <a:spLocks xmlns:a="http://schemas.openxmlformats.org/drawingml/2006/main" noGrp="1"/>
          </p:cNvSpPr>
          <p:nvPr/>
        </p:nvSpPr>
        <p:spPr>
          <a:xfrm xmlns:a="http://schemas.openxmlformats.org/drawingml/2006/main">
            <a:off x="4314825" y="5181600"/>
            <a:ext cx="1190625" cy="2476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71" name="">
            <a:extLst xmlns:a="http://schemas.openxmlformats.org/drawingml/2006/main">
              <a:ext uri="{FF2B5EF4-FFF2-40B4-BE49-F238E27FC236}">
                <a16:creationId xmlns:a16="http://schemas.microsoft.com/office/drawing/2014/main" id="{2CC76A28-065A-40EB-993D-531FC9BF2AC0}"/>
              </a:ext>
            </a:extLst>
          </p:cNvPr>
          <p:cNvSpPr>
            <a:spLocks xmlns:a="http://schemas.openxmlformats.org/drawingml/2006/main" noGrp="1"/>
          </p:cNvSpPr>
          <p:nvPr/>
        </p:nvSpPr>
        <p:spPr>
          <a:xfrm xmlns:a="http://schemas.openxmlformats.org/drawingml/2006/main">
            <a:off x="4352925" y="521017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PLM</a:t>
            </a:r>
          </a:p>
        </p:txBody>
      </p:sp>
      <p:sp>
        <p:nvSpPr>
          <p:cNvPr id="72" name="">
            <a:extLst xmlns:a="http://schemas.openxmlformats.org/drawingml/2006/main">
              <a:ext uri="{FF2B5EF4-FFF2-40B4-BE49-F238E27FC236}">
                <a16:creationId xmlns:a16="http://schemas.microsoft.com/office/drawing/2014/main" id="{66A6E39B-449E-495C-AFA3-511CF025C1C4}"/>
              </a:ext>
            </a:extLst>
          </p:cNvPr>
          <p:cNvSpPr>
            <a:spLocks xmlns:a="http://schemas.openxmlformats.org/drawingml/2006/main" noGrp="1"/>
          </p:cNvSpPr>
          <p:nvPr/>
        </p:nvSpPr>
        <p:spPr>
          <a:xfrm xmlns:a="http://schemas.openxmlformats.org/drawingml/2006/main">
            <a:off x="742950" y="5429250"/>
            <a:ext cx="1190625" cy="2476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3" name="">
            <a:extLst xmlns:a="http://schemas.openxmlformats.org/drawingml/2006/main">
              <a:ext uri="{FF2B5EF4-FFF2-40B4-BE49-F238E27FC236}">
                <a16:creationId xmlns:a16="http://schemas.microsoft.com/office/drawing/2014/main" id="{8486DAEF-38CF-4403-88AC-DC97CAB79E01}"/>
              </a:ext>
            </a:extLst>
          </p:cNvPr>
          <p:cNvSpPr>
            <a:spLocks xmlns:a="http://schemas.openxmlformats.org/drawingml/2006/main" noGrp="1"/>
          </p:cNvSpPr>
          <p:nvPr/>
        </p:nvSpPr>
        <p:spPr>
          <a:xfrm xmlns:a="http://schemas.openxmlformats.org/drawingml/2006/main">
            <a:off x="781050" y="545782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HY</a:t>
            </a:r>
          </a:p>
        </p:txBody>
      </p:sp>
      <p:sp>
        <p:nvSpPr>
          <p:cNvPr id="74" name="">
            <a:extLst xmlns:a="http://schemas.openxmlformats.org/drawingml/2006/main">
              <a:ext uri="{FF2B5EF4-FFF2-40B4-BE49-F238E27FC236}">
                <a16:creationId xmlns:a16="http://schemas.microsoft.com/office/drawing/2014/main" id="{2A13A92A-34C9-4D69-9EC9-EB95C08DA4C4}"/>
              </a:ext>
            </a:extLst>
          </p:cNvPr>
          <p:cNvSpPr>
            <a:spLocks xmlns:a="http://schemas.openxmlformats.org/drawingml/2006/main" noGrp="1"/>
          </p:cNvSpPr>
          <p:nvPr/>
        </p:nvSpPr>
        <p:spPr>
          <a:xfrm xmlns:a="http://schemas.openxmlformats.org/drawingml/2006/main">
            <a:off x="1933575" y="5429250"/>
            <a:ext cx="1190625" cy="2476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5" name="">
            <a:extLst xmlns:a="http://schemas.openxmlformats.org/drawingml/2006/main">
              <a:ext uri="{FF2B5EF4-FFF2-40B4-BE49-F238E27FC236}">
                <a16:creationId xmlns:a16="http://schemas.microsoft.com/office/drawing/2014/main" id="{E7E40C15-B5AC-4566-AD43-270D3EB4FB01}"/>
              </a:ext>
            </a:extLst>
          </p:cNvPr>
          <p:cNvSpPr>
            <a:spLocks xmlns:a="http://schemas.openxmlformats.org/drawingml/2006/main" noGrp="1"/>
          </p:cNvSpPr>
          <p:nvPr/>
        </p:nvSpPr>
        <p:spPr>
          <a:xfrm xmlns:a="http://schemas.openxmlformats.org/drawingml/2006/main">
            <a:off x="1971675" y="545782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混杂复合材料件</a:t>
            </a:r>
          </a:p>
        </p:txBody>
      </p:sp>
      <p:sp>
        <p:nvSpPr>
          <p:cNvPr id="76" name="">
            <a:extLst xmlns:a="http://schemas.openxmlformats.org/drawingml/2006/main">
              <a:ext uri="{FF2B5EF4-FFF2-40B4-BE49-F238E27FC236}">
                <a16:creationId xmlns:a16="http://schemas.microsoft.com/office/drawing/2014/main" id="{7AFE7919-4633-4922-B292-B408BF08DE8C}"/>
              </a:ext>
            </a:extLst>
          </p:cNvPr>
          <p:cNvSpPr>
            <a:spLocks xmlns:a="http://schemas.openxmlformats.org/drawingml/2006/main" noGrp="1"/>
          </p:cNvSpPr>
          <p:nvPr/>
        </p:nvSpPr>
        <p:spPr>
          <a:xfrm xmlns:a="http://schemas.openxmlformats.org/drawingml/2006/main">
            <a:off x="3124200" y="5429250"/>
            <a:ext cx="1190625" cy="2476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7" name="">
            <a:extLst xmlns:a="http://schemas.openxmlformats.org/drawingml/2006/main">
              <a:ext uri="{FF2B5EF4-FFF2-40B4-BE49-F238E27FC236}">
                <a16:creationId xmlns:a16="http://schemas.microsoft.com/office/drawing/2014/main" id="{D6BE07EA-A059-4067-8E85-CC71C93DF966}"/>
              </a:ext>
            </a:extLst>
          </p:cNvPr>
          <p:cNvSpPr>
            <a:spLocks xmlns:a="http://schemas.openxmlformats.org/drawingml/2006/main" noGrp="1"/>
          </p:cNvSpPr>
          <p:nvPr/>
        </p:nvSpPr>
        <p:spPr>
          <a:xfrm xmlns:a="http://schemas.openxmlformats.org/drawingml/2006/main">
            <a:off x="3162300" y="545782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碳/玻混杂、碳/芳纶混杂件</a:t>
            </a:r>
          </a:p>
        </p:txBody>
      </p:sp>
      <p:sp>
        <p:nvSpPr>
          <p:cNvPr id="78" name="">
            <a:extLst xmlns:a="http://schemas.openxmlformats.org/drawingml/2006/main">
              <a:ext uri="{FF2B5EF4-FFF2-40B4-BE49-F238E27FC236}">
                <a16:creationId xmlns:a16="http://schemas.microsoft.com/office/drawing/2014/main" id="{9CA936EA-ED26-45A8-A6D6-A18E74108DCF}"/>
              </a:ext>
            </a:extLst>
          </p:cNvPr>
          <p:cNvSpPr>
            <a:spLocks xmlns:a="http://schemas.openxmlformats.org/drawingml/2006/main" noGrp="1"/>
          </p:cNvSpPr>
          <p:nvPr/>
        </p:nvSpPr>
        <p:spPr>
          <a:xfrm xmlns:a="http://schemas.openxmlformats.org/drawingml/2006/main">
            <a:off x="4314825" y="5429250"/>
            <a:ext cx="1190625" cy="2476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9" name="">
            <a:extLst xmlns:a="http://schemas.openxmlformats.org/drawingml/2006/main">
              <a:ext uri="{FF2B5EF4-FFF2-40B4-BE49-F238E27FC236}">
                <a16:creationId xmlns:a16="http://schemas.microsoft.com/office/drawing/2014/main" id="{3B338450-3F7A-415B-B9F7-AA51E63015C4}"/>
              </a:ext>
            </a:extLst>
          </p:cNvPr>
          <p:cNvSpPr>
            <a:spLocks xmlns:a="http://schemas.openxmlformats.org/drawingml/2006/main" noGrp="1"/>
          </p:cNvSpPr>
          <p:nvPr/>
        </p:nvSpPr>
        <p:spPr>
          <a:xfrm xmlns:a="http://schemas.openxmlformats.org/drawingml/2006/main">
            <a:off x="4352925" y="545782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PLM</a:t>
            </a:r>
          </a:p>
        </p:txBody>
      </p:sp>
      <p:sp>
        <p:nvSpPr>
          <p:cNvPr id="80" name="">
            <a:extLst xmlns:a="http://schemas.openxmlformats.org/drawingml/2006/main">
              <a:ext uri="{FF2B5EF4-FFF2-40B4-BE49-F238E27FC236}">
                <a16:creationId xmlns:a16="http://schemas.microsoft.com/office/drawing/2014/main" id="{6CB8403F-D28B-4450-B175-E86E6BDB0AA1}"/>
              </a:ext>
            </a:extLst>
          </p:cNvPr>
          <p:cNvSpPr>
            <a:spLocks xmlns:a="http://schemas.openxmlformats.org/drawingml/2006/main" noGrp="1"/>
          </p:cNvSpPr>
          <p:nvPr/>
        </p:nvSpPr>
        <p:spPr>
          <a:xfrm xmlns:a="http://schemas.openxmlformats.org/drawingml/2006/main">
            <a:off x="742950" y="5676900"/>
            <a:ext cx="1190625" cy="2476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81" name="">
            <a:extLst xmlns:a="http://schemas.openxmlformats.org/drawingml/2006/main">
              <a:ext uri="{FF2B5EF4-FFF2-40B4-BE49-F238E27FC236}">
                <a16:creationId xmlns:a16="http://schemas.microsoft.com/office/drawing/2014/main" id="{749104EC-0B37-41E2-BC82-1060CD7CFC62}"/>
              </a:ext>
            </a:extLst>
          </p:cNvPr>
          <p:cNvSpPr>
            <a:spLocks xmlns:a="http://schemas.openxmlformats.org/drawingml/2006/main" noGrp="1"/>
          </p:cNvSpPr>
          <p:nvPr/>
        </p:nvSpPr>
        <p:spPr>
          <a:xfrm xmlns:a="http://schemas.openxmlformats.org/drawingml/2006/main">
            <a:off x="781050" y="570547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ME</a:t>
            </a:r>
          </a:p>
        </p:txBody>
      </p:sp>
      <p:sp>
        <p:nvSpPr>
          <p:cNvPr id="82" name="">
            <a:extLst xmlns:a="http://schemas.openxmlformats.org/drawingml/2006/main">
              <a:ext uri="{FF2B5EF4-FFF2-40B4-BE49-F238E27FC236}">
                <a16:creationId xmlns:a16="http://schemas.microsoft.com/office/drawing/2014/main" id="{6C735016-2A98-432D-BC38-A08432FCA11B}"/>
              </a:ext>
            </a:extLst>
          </p:cNvPr>
          <p:cNvSpPr>
            <a:spLocks xmlns:a="http://schemas.openxmlformats.org/drawingml/2006/main" noGrp="1"/>
          </p:cNvSpPr>
          <p:nvPr/>
        </p:nvSpPr>
        <p:spPr>
          <a:xfrm xmlns:a="http://schemas.openxmlformats.org/drawingml/2006/main">
            <a:off x="1933575" y="5676900"/>
            <a:ext cx="1190625" cy="2476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83" name="">
            <a:extLst xmlns:a="http://schemas.openxmlformats.org/drawingml/2006/main">
              <a:ext uri="{FF2B5EF4-FFF2-40B4-BE49-F238E27FC236}">
                <a16:creationId xmlns:a16="http://schemas.microsoft.com/office/drawing/2014/main" id="{8EFB3E8C-37E0-4668-A578-F5B74E137DD1}"/>
              </a:ext>
            </a:extLst>
          </p:cNvPr>
          <p:cNvSpPr>
            <a:spLocks xmlns:a="http://schemas.openxmlformats.org/drawingml/2006/main" noGrp="1"/>
          </p:cNvSpPr>
          <p:nvPr/>
        </p:nvSpPr>
        <p:spPr>
          <a:xfrm xmlns:a="http://schemas.openxmlformats.org/drawingml/2006/main">
            <a:off x="1971675" y="570547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金属件/机加件</a:t>
            </a:r>
          </a:p>
        </p:txBody>
      </p:sp>
      <p:sp>
        <p:nvSpPr>
          <p:cNvPr id="84" name="">
            <a:extLst xmlns:a="http://schemas.openxmlformats.org/drawingml/2006/main">
              <a:ext uri="{FF2B5EF4-FFF2-40B4-BE49-F238E27FC236}">
                <a16:creationId xmlns:a16="http://schemas.microsoft.com/office/drawing/2014/main" id="{9A2EE444-3F67-4A84-908F-99052E6B9C5A}"/>
              </a:ext>
            </a:extLst>
          </p:cNvPr>
          <p:cNvSpPr>
            <a:spLocks xmlns:a="http://schemas.openxmlformats.org/drawingml/2006/main" noGrp="1"/>
          </p:cNvSpPr>
          <p:nvPr/>
        </p:nvSpPr>
        <p:spPr>
          <a:xfrm xmlns:a="http://schemas.openxmlformats.org/drawingml/2006/main">
            <a:off x="3124200" y="5676900"/>
            <a:ext cx="1190625" cy="2476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85" name="">
            <a:extLst xmlns:a="http://schemas.openxmlformats.org/drawingml/2006/main">
              <a:ext uri="{FF2B5EF4-FFF2-40B4-BE49-F238E27FC236}">
                <a16:creationId xmlns:a16="http://schemas.microsoft.com/office/drawing/2014/main" id="{4A2BBA42-C852-4DEC-AA14-FB67C4347ABA}"/>
              </a:ext>
            </a:extLst>
          </p:cNvPr>
          <p:cNvSpPr>
            <a:spLocks xmlns:a="http://schemas.openxmlformats.org/drawingml/2006/main" noGrp="1"/>
          </p:cNvSpPr>
          <p:nvPr/>
        </p:nvSpPr>
        <p:spPr>
          <a:xfrm xmlns:a="http://schemas.openxmlformats.org/drawingml/2006/main">
            <a:off x="3162300" y="570547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98506"/>
          </a:bodyPr>
          <a:lstStyle xmlns:a="http://schemas.openxmlformats.org/drawingml/2006/main"/>
          <a:p xmlns:a="http://schemas.openxmlformats.org/drawingml/2006/main">
            <a:pPr algn="l">
              <a:defRPr sz="615" b="0">
                <a:solidFill>
                  <a:srgbClr val="475569"/>
                </a:solidFill>
              </a:defRPr>
            </a:pPr>
            <a:r>
              <a:rPr sz="615" b="0">
                <a:solidFill>
                  <a:srgbClr val="475569"/>
                </a:solidFill>
              </a:rPr>
              <a:t>铝合金、钛合金接头、连接件</a:t>
            </a:r>
          </a:p>
        </p:txBody>
      </p:sp>
      <p:sp>
        <p:nvSpPr>
          <p:cNvPr id="86" name="">
            <a:extLst xmlns:a="http://schemas.openxmlformats.org/drawingml/2006/main">
              <a:ext uri="{FF2B5EF4-FFF2-40B4-BE49-F238E27FC236}">
                <a16:creationId xmlns:a16="http://schemas.microsoft.com/office/drawing/2014/main" id="{3914554F-EBB2-4DBE-8E6E-BF70DDD36FFE}"/>
              </a:ext>
            </a:extLst>
          </p:cNvPr>
          <p:cNvSpPr>
            <a:spLocks xmlns:a="http://schemas.openxmlformats.org/drawingml/2006/main" noGrp="1"/>
          </p:cNvSpPr>
          <p:nvPr/>
        </p:nvSpPr>
        <p:spPr>
          <a:xfrm xmlns:a="http://schemas.openxmlformats.org/drawingml/2006/main">
            <a:off x="4314825" y="5676900"/>
            <a:ext cx="1190625" cy="2476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87" name="">
            <a:extLst xmlns:a="http://schemas.openxmlformats.org/drawingml/2006/main">
              <a:ext uri="{FF2B5EF4-FFF2-40B4-BE49-F238E27FC236}">
                <a16:creationId xmlns:a16="http://schemas.microsoft.com/office/drawing/2014/main" id="{DD019CF1-FB63-4896-9D55-DE508A3AC32C}"/>
              </a:ext>
            </a:extLst>
          </p:cNvPr>
          <p:cNvSpPr>
            <a:spLocks xmlns:a="http://schemas.openxmlformats.org/drawingml/2006/main" noGrp="1"/>
          </p:cNvSpPr>
          <p:nvPr/>
        </p:nvSpPr>
        <p:spPr>
          <a:xfrm xmlns:a="http://schemas.openxmlformats.org/drawingml/2006/main">
            <a:off x="4352925" y="5705475"/>
            <a:ext cx="11144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PLM</a:t>
            </a:r>
          </a:p>
        </p:txBody>
      </p:sp>
      <p:sp>
        <p:nvSpPr>
          <p:cNvPr id="88" name="">
            <a:extLst xmlns:a="http://schemas.openxmlformats.org/drawingml/2006/main">
              <a:ext uri="{FF2B5EF4-FFF2-40B4-BE49-F238E27FC236}">
                <a16:creationId xmlns:a16="http://schemas.microsoft.com/office/drawing/2014/main" id="{E29F2007-9689-40C4-A98D-1AAD0E8CCD71}"/>
              </a:ext>
            </a:extLst>
          </p:cNvPr>
          <p:cNvSpPr>
            <a:spLocks xmlns:a="http://schemas.openxmlformats.org/drawingml/2006/main" noGrp="1"/>
          </p:cNvSpPr>
          <p:nvPr/>
        </p:nvSpPr>
        <p:spPr>
          <a:xfrm xmlns:a="http://schemas.openxmlformats.org/drawingml/2006/main">
            <a:off x="5810250" y="4686300"/>
            <a:ext cx="1619250" cy="2476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89" name="">
            <a:extLst xmlns:a="http://schemas.openxmlformats.org/drawingml/2006/main">
              <a:ext uri="{FF2B5EF4-FFF2-40B4-BE49-F238E27FC236}">
                <a16:creationId xmlns:a16="http://schemas.microsoft.com/office/drawing/2014/main" id="{EEF409B6-53D8-4679-9928-2A2BA54D8B16}"/>
              </a:ext>
            </a:extLst>
          </p:cNvPr>
          <p:cNvSpPr>
            <a:spLocks xmlns:a="http://schemas.openxmlformats.org/drawingml/2006/main" noGrp="1"/>
          </p:cNvSpPr>
          <p:nvPr/>
        </p:nvSpPr>
        <p:spPr>
          <a:xfrm xmlns:a="http://schemas.openxmlformats.org/drawingml/2006/main">
            <a:off x="5848350" y="471487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1">
                <a:solidFill>
                  <a:srgbClr val="FFFFFF"/>
                </a:solidFill>
              </a:defRPr>
            </a:pPr>
            <a:r>
              <a:rPr sz="615" b="1">
                <a:solidFill>
                  <a:srgbClr val="FFFFFF"/>
                </a:solidFill>
              </a:rPr>
              <a:t>CF大类小类码</a:t>
            </a:r>
          </a:p>
        </p:txBody>
      </p:sp>
      <p:sp>
        <p:nvSpPr>
          <p:cNvPr id="90" name="">
            <a:extLst xmlns:a="http://schemas.openxmlformats.org/drawingml/2006/main">
              <a:ext uri="{FF2B5EF4-FFF2-40B4-BE49-F238E27FC236}">
                <a16:creationId xmlns:a16="http://schemas.microsoft.com/office/drawing/2014/main" id="{6AED8E41-CACE-49F5-9403-63343213F333}"/>
              </a:ext>
            </a:extLst>
          </p:cNvPr>
          <p:cNvSpPr>
            <a:spLocks xmlns:a="http://schemas.openxmlformats.org/drawingml/2006/main" noGrp="1"/>
          </p:cNvSpPr>
          <p:nvPr/>
        </p:nvSpPr>
        <p:spPr>
          <a:xfrm xmlns:a="http://schemas.openxmlformats.org/drawingml/2006/main">
            <a:off x="7429500" y="4686300"/>
            <a:ext cx="1619250" cy="2476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91" name="">
            <a:extLst xmlns:a="http://schemas.openxmlformats.org/drawingml/2006/main">
              <a:ext uri="{FF2B5EF4-FFF2-40B4-BE49-F238E27FC236}">
                <a16:creationId xmlns:a16="http://schemas.microsoft.com/office/drawing/2014/main" id="{85232CDB-6BFC-4385-8699-0F3706595608}"/>
              </a:ext>
            </a:extLst>
          </p:cNvPr>
          <p:cNvSpPr>
            <a:spLocks xmlns:a="http://schemas.openxmlformats.org/drawingml/2006/main" noGrp="1"/>
          </p:cNvSpPr>
          <p:nvPr/>
        </p:nvSpPr>
        <p:spPr>
          <a:xfrm xmlns:a="http://schemas.openxmlformats.org/drawingml/2006/main">
            <a:off x="7467600" y="471487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1">
                <a:solidFill>
                  <a:srgbClr val="FFFFFF"/>
                </a:solidFill>
              </a:defRPr>
            </a:pPr>
            <a:r>
              <a:rPr sz="615" b="1">
                <a:solidFill>
                  <a:srgbClr val="FFFFFF"/>
                </a:solidFill>
              </a:rPr>
              <a:t>名称</a:t>
            </a:r>
          </a:p>
        </p:txBody>
      </p:sp>
      <p:sp>
        <p:nvSpPr>
          <p:cNvPr id="92" name="">
            <a:extLst xmlns:a="http://schemas.openxmlformats.org/drawingml/2006/main">
              <a:ext uri="{FF2B5EF4-FFF2-40B4-BE49-F238E27FC236}">
                <a16:creationId xmlns:a16="http://schemas.microsoft.com/office/drawing/2014/main" id="{F6F408FD-BB04-4F8B-A233-F0B97733E7F5}"/>
              </a:ext>
            </a:extLst>
          </p:cNvPr>
          <p:cNvSpPr>
            <a:spLocks xmlns:a="http://schemas.openxmlformats.org/drawingml/2006/main" noGrp="1"/>
          </p:cNvSpPr>
          <p:nvPr/>
        </p:nvSpPr>
        <p:spPr>
          <a:xfrm xmlns:a="http://schemas.openxmlformats.org/drawingml/2006/main">
            <a:off x="9048750" y="4686300"/>
            <a:ext cx="1619250" cy="2476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93" name="">
            <a:extLst xmlns:a="http://schemas.openxmlformats.org/drawingml/2006/main">
              <a:ext uri="{FF2B5EF4-FFF2-40B4-BE49-F238E27FC236}">
                <a16:creationId xmlns:a16="http://schemas.microsoft.com/office/drawing/2014/main" id="{136307D1-D8CD-423A-9D92-51516808C70C}"/>
              </a:ext>
            </a:extLst>
          </p:cNvPr>
          <p:cNvSpPr>
            <a:spLocks xmlns:a="http://schemas.openxmlformats.org/drawingml/2006/main" noGrp="1"/>
          </p:cNvSpPr>
          <p:nvPr/>
        </p:nvSpPr>
        <p:spPr>
          <a:xfrm xmlns:a="http://schemas.openxmlformats.org/drawingml/2006/main">
            <a:off x="9086850" y="471487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1">
                <a:solidFill>
                  <a:srgbClr val="FFFFFF"/>
                </a:solidFill>
              </a:defRPr>
            </a:pPr>
            <a:r>
              <a:rPr sz="615" b="1">
                <a:solidFill>
                  <a:srgbClr val="FFFFFF"/>
                </a:solidFill>
              </a:rPr>
              <a:t>典型件</a:t>
            </a:r>
          </a:p>
        </p:txBody>
      </p:sp>
      <p:sp>
        <p:nvSpPr>
          <p:cNvPr id="94" name="">
            <a:extLst xmlns:a="http://schemas.openxmlformats.org/drawingml/2006/main">
              <a:ext uri="{FF2B5EF4-FFF2-40B4-BE49-F238E27FC236}">
                <a16:creationId xmlns:a16="http://schemas.microsoft.com/office/drawing/2014/main" id="{FC8744B5-910D-40F0-A8FC-AC313D950C75}"/>
              </a:ext>
            </a:extLst>
          </p:cNvPr>
          <p:cNvSpPr>
            <a:spLocks xmlns:a="http://schemas.openxmlformats.org/drawingml/2006/main" noGrp="1"/>
          </p:cNvSpPr>
          <p:nvPr/>
        </p:nvSpPr>
        <p:spPr>
          <a:xfrm xmlns:a="http://schemas.openxmlformats.org/drawingml/2006/main">
            <a:off x="5810250" y="4933950"/>
            <a:ext cx="1619250" cy="2476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95" name="">
            <a:extLst xmlns:a="http://schemas.openxmlformats.org/drawingml/2006/main">
              <a:ext uri="{FF2B5EF4-FFF2-40B4-BE49-F238E27FC236}">
                <a16:creationId xmlns:a16="http://schemas.microsoft.com/office/drawing/2014/main" id="{9B6872BE-A639-4860-BDD6-F341F45AD27F}"/>
              </a:ext>
            </a:extLst>
          </p:cNvPr>
          <p:cNvSpPr>
            <a:spLocks xmlns:a="http://schemas.openxmlformats.org/drawingml/2006/main" noGrp="1"/>
          </p:cNvSpPr>
          <p:nvPr/>
        </p:nvSpPr>
        <p:spPr>
          <a:xfrm xmlns:a="http://schemas.openxmlformats.org/drawingml/2006/main">
            <a:off x="5848350" y="496252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CF-PNL</a:t>
            </a:r>
          </a:p>
        </p:txBody>
      </p:sp>
      <p:sp>
        <p:nvSpPr>
          <p:cNvPr id="96" name="">
            <a:extLst xmlns:a="http://schemas.openxmlformats.org/drawingml/2006/main">
              <a:ext uri="{FF2B5EF4-FFF2-40B4-BE49-F238E27FC236}">
                <a16:creationId xmlns:a16="http://schemas.microsoft.com/office/drawing/2014/main" id="{830AC5A8-6B75-48BA-A27E-4F1CEA4C762C}"/>
              </a:ext>
            </a:extLst>
          </p:cNvPr>
          <p:cNvSpPr>
            <a:spLocks xmlns:a="http://schemas.openxmlformats.org/drawingml/2006/main" noGrp="1"/>
          </p:cNvSpPr>
          <p:nvPr/>
        </p:nvSpPr>
        <p:spPr>
          <a:xfrm xmlns:a="http://schemas.openxmlformats.org/drawingml/2006/main">
            <a:off x="7429500" y="4933950"/>
            <a:ext cx="1619250" cy="2476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97" name="">
            <a:extLst xmlns:a="http://schemas.openxmlformats.org/drawingml/2006/main">
              <a:ext uri="{FF2B5EF4-FFF2-40B4-BE49-F238E27FC236}">
                <a16:creationId xmlns:a16="http://schemas.microsoft.com/office/drawing/2014/main" id="{710165EB-8BE6-4967-BBD6-887B7DB6FAB7}"/>
              </a:ext>
            </a:extLst>
          </p:cNvPr>
          <p:cNvSpPr>
            <a:spLocks xmlns:a="http://schemas.openxmlformats.org/drawingml/2006/main" noGrp="1"/>
          </p:cNvSpPr>
          <p:nvPr/>
        </p:nvSpPr>
        <p:spPr>
          <a:xfrm xmlns:a="http://schemas.openxmlformats.org/drawingml/2006/main">
            <a:off x="7467600" y="496252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壁板类</a:t>
            </a:r>
          </a:p>
        </p:txBody>
      </p:sp>
      <p:sp>
        <p:nvSpPr>
          <p:cNvPr id="98" name="">
            <a:extLst xmlns:a="http://schemas.openxmlformats.org/drawingml/2006/main">
              <a:ext uri="{FF2B5EF4-FFF2-40B4-BE49-F238E27FC236}">
                <a16:creationId xmlns:a16="http://schemas.microsoft.com/office/drawing/2014/main" id="{3FA94755-9935-4CAB-ACF5-9E2F89D14D5D}"/>
              </a:ext>
            </a:extLst>
          </p:cNvPr>
          <p:cNvSpPr>
            <a:spLocks xmlns:a="http://schemas.openxmlformats.org/drawingml/2006/main" noGrp="1"/>
          </p:cNvSpPr>
          <p:nvPr/>
        </p:nvSpPr>
        <p:spPr>
          <a:xfrm xmlns:a="http://schemas.openxmlformats.org/drawingml/2006/main">
            <a:off x="9048750" y="4933950"/>
            <a:ext cx="1619250" cy="2476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99" name="">
            <a:extLst xmlns:a="http://schemas.openxmlformats.org/drawingml/2006/main">
              <a:ext uri="{FF2B5EF4-FFF2-40B4-BE49-F238E27FC236}">
                <a16:creationId xmlns:a16="http://schemas.microsoft.com/office/drawing/2014/main" id="{7D58C038-1423-4B9D-B139-18C01DA0D464}"/>
              </a:ext>
            </a:extLst>
          </p:cNvPr>
          <p:cNvSpPr>
            <a:spLocks xmlns:a="http://schemas.openxmlformats.org/drawingml/2006/main" noGrp="1"/>
          </p:cNvSpPr>
          <p:nvPr/>
        </p:nvSpPr>
        <p:spPr>
          <a:xfrm xmlns:a="http://schemas.openxmlformats.org/drawingml/2006/main">
            <a:off x="9086850" y="496252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后机身壁板、翼壁板、夹层壁板</a:t>
            </a:r>
          </a:p>
        </p:txBody>
      </p:sp>
      <p:sp>
        <p:nvSpPr>
          <p:cNvPr id="100" name="">
            <a:extLst xmlns:a="http://schemas.openxmlformats.org/drawingml/2006/main">
              <a:ext uri="{FF2B5EF4-FFF2-40B4-BE49-F238E27FC236}">
                <a16:creationId xmlns:a16="http://schemas.microsoft.com/office/drawing/2014/main" id="{C144406B-BBF1-4105-B82E-63671CF236ED}"/>
              </a:ext>
            </a:extLst>
          </p:cNvPr>
          <p:cNvSpPr>
            <a:spLocks xmlns:a="http://schemas.openxmlformats.org/drawingml/2006/main" noGrp="1"/>
          </p:cNvSpPr>
          <p:nvPr/>
        </p:nvSpPr>
        <p:spPr>
          <a:xfrm xmlns:a="http://schemas.openxmlformats.org/drawingml/2006/main">
            <a:off x="5810250" y="5181600"/>
            <a:ext cx="1619250" cy="2476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01" name="">
            <a:extLst xmlns:a="http://schemas.openxmlformats.org/drawingml/2006/main">
              <a:ext uri="{FF2B5EF4-FFF2-40B4-BE49-F238E27FC236}">
                <a16:creationId xmlns:a16="http://schemas.microsoft.com/office/drawing/2014/main" id="{EFC8D01A-C364-4B77-8E74-550AAA43A366}"/>
              </a:ext>
            </a:extLst>
          </p:cNvPr>
          <p:cNvSpPr>
            <a:spLocks xmlns:a="http://schemas.openxmlformats.org/drawingml/2006/main" noGrp="1"/>
          </p:cNvSpPr>
          <p:nvPr/>
        </p:nvSpPr>
        <p:spPr>
          <a:xfrm xmlns:a="http://schemas.openxmlformats.org/drawingml/2006/main">
            <a:off x="5848350" y="521017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CF-SPA</a:t>
            </a:r>
          </a:p>
        </p:txBody>
      </p:sp>
      <p:sp>
        <p:nvSpPr>
          <p:cNvPr id="102" name="">
            <a:extLst xmlns:a="http://schemas.openxmlformats.org/drawingml/2006/main">
              <a:ext uri="{FF2B5EF4-FFF2-40B4-BE49-F238E27FC236}">
                <a16:creationId xmlns:a16="http://schemas.microsoft.com/office/drawing/2014/main" id="{2C9A8329-01A7-4D1C-924E-8F1053F4F326}"/>
              </a:ext>
            </a:extLst>
          </p:cNvPr>
          <p:cNvSpPr>
            <a:spLocks xmlns:a="http://schemas.openxmlformats.org/drawingml/2006/main" noGrp="1"/>
          </p:cNvSpPr>
          <p:nvPr/>
        </p:nvSpPr>
        <p:spPr>
          <a:xfrm xmlns:a="http://schemas.openxmlformats.org/drawingml/2006/main">
            <a:off x="7429500" y="5181600"/>
            <a:ext cx="1619250" cy="2476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03" name="">
            <a:extLst xmlns:a="http://schemas.openxmlformats.org/drawingml/2006/main">
              <a:ext uri="{FF2B5EF4-FFF2-40B4-BE49-F238E27FC236}">
                <a16:creationId xmlns:a16="http://schemas.microsoft.com/office/drawing/2014/main" id="{79343853-A170-4121-AFF5-954597CDCB25}"/>
              </a:ext>
            </a:extLst>
          </p:cNvPr>
          <p:cNvSpPr>
            <a:spLocks xmlns:a="http://schemas.openxmlformats.org/drawingml/2006/main" noGrp="1"/>
          </p:cNvSpPr>
          <p:nvPr/>
        </p:nvSpPr>
        <p:spPr>
          <a:xfrm xmlns:a="http://schemas.openxmlformats.org/drawingml/2006/main">
            <a:off x="7467600" y="521017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梁类</a:t>
            </a:r>
          </a:p>
        </p:txBody>
      </p:sp>
      <p:sp>
        <p:nvSpPr>
          <p:cNvPr id="104" name="">
            <a:extLst xmlns:a="http://schemas.openxmlformats.org/drawingml/2006/main">
              <a:ext uri="{FF2B5EF4-FFF2-40B4-BE49-F238E27FC236}">
                <a16:creationId xmlns:a16="http://schemas.microsoft.com/office/drawing/2014/main" id="{CF068090-794A-456E-A3C8-2DF1D39CA54C}"/>
              </a:ext>
            </a:extLst>
          </p:cNvPr>
          <p:cNvSpPr>
            <a:spLocks xmlns:a="http://schemas.openxmlformats.org/drawingml/2006/main" noGrp="1"/>
          </p:cNvSpPr>
          <p:nvPr/>
        </p:nvSpPr>
        <p:spPr>
          <a:xfrm xmlns:a="http://schemas.openxmlformats.org/drawingml/2006/main">
            <a:off x="9048750" y="5181600"/>
            <a:ext cx="1619250" cy="2476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05" name="">
            <a:extLst xmlns:a="http://schemas.openxmlformats.org/drawingml/2006/main">
              <a:ext uri="{FF2B5EF4-FFF2-40B4-BE49-F238E27FC236}">
                <a16:creationId xmlns:a16="http://schemas.microsoft.com/office/drawing/2014/main" id="{A6D3D60F-7757-4FA4-ACA3-3992AFF35D9D}"/>
              </a:ext>
            </a:extLst>
          </p:cNvPr>
          <p:cNvSpPr>
            <a:spLocks xmlns:a="http://schemas.openxmlformats.org/drawingml/2006/main" noGrp="1"/>
          </p:cNvSpPr>
          <p:nvPr/>
        </p:nvSpPr>
        <p:spPr>
          <a:xfrm xmlns:a="http://schemas.openxmlformats.org/drawingml/2006/main">
            <a:off x="9086850" y="521017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主梁、副梁、加强梁</a:t>
            </a:r>
          </a:p>
        </p:txBody>
      </p:sp>
      <p:sp>
        <p:nvSpPr>
          <p:cNvPr id="106" name="">
            <a:extLst xmlns:a="http://schemas.openxmlformats.org/drawingml/2006/main">
              <a:ext uri="{FF2B5EF4-FFF2-40B4-BE49-F238E27FC236}">
                <a16:creationId xmlns:a16="http://schemas.microsoft.com/office/drawing/2014/main" id="{D84B14E5-E116-4E5F-8C90-269BE4509D3C}"/>
              </a:ext>
            </a:extLst>
          </p:cNvPr>
          <p:cNvSpPr>
            <a:spLocks xmlns:a="http://schemas.openxmlformats.org/drawingml/2006/main" noGrp="1"/>
          </p:cNvSpPr>
          <p:nvPr/>
        </p:nvSpPr>
        <p:spPr>
          <a:xfrm xmlns:a="http://schemas.openxmlformats.org/drawingml/2006/main">
            <a:off x="5810250" y="5429250"/>
            <a:ext cx="1619250" cy="2476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07" name="">
            <a:extLst xmlns:a="http://schemas.openxmlformats.org/drawingml/2006/main">
              <a:ext uri="{FF2B5EF4-FFF2-40B4-BE49-F238E27FC236}">
                <a16:creationId xmlns:a16="http://schemas.microsoft.com/office/drawing/2014/main" id="{24A12EB6-8369-4DEB-9413-3FBD0FBCDB44}"/>
              </a:ext>
            </a:extLst>
          </p:cNvPr>
          <p:cNvSpPr>
            <a:spLocks xmlns:a="http://schemas.openxmlformats.org/drawingml/2006/main" noGrp="1"/>
          </p:cNvSpPr>
          <p:nvPr/>
        </p:nvSpPr>
        <p:spPr>
          <a:xfrm xmlns:a="http://schemas.openxmlformats.org/drawingml/2006/main">
            <a:off x="5848350" y="545782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CF-RIB</a:t>
            </a:r>
          </a:p>
        </p:txBody>
      </p:sp>
      <p:sp>
        <p:nvSpPr>
          <p:cNvPr id="108" name="">
            <a:extLst xmlns:a="http://schemas.openxmlformats.org/drawingml/2006/main">
              <a:ext uri="{FF2B5EF4-FFF2-40B4-BE49-F238E27FC236}">
                <a16:creationId xmlns:a16="http://schemas.microsoft.com/office/drawing/2014/main" id="{85DE572A-B0B3-4014-9144-3CFB51DA7656}"/>
              </a:ext>
            </a:extLst>
          </p:cNvPr>
          <p:cNvSpPr>
            <a:spLocks xmlns:a="http://schemas.openxmlformats.org/drawingml/2006/main" noGrp="1"/>
          </p:cNvSpPr>
          <p:nvPr/>
        </p:nvSpPr>
        <p:spPr>
          <a:xfrm xmlns:a="http://schemas.openxmlformats.org/drawingml/2006/main">
            <a:off x="7429500" y="5429250"/>
            <a:ext cx="1619250" cy="2476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09" name="">
            <a:extLst xmlns:a="http://schemas.openxmlformats.org/drawingml/2006/main">
              <a:ext uri="{FF2B5EF4-FFF2-40B4-BE49-F238E27FC236}">
                <a16:creationId xmlns:a16="http://schemas.microsoft.com/office/drawing/2014/main" id="{C94F28EF-5112-4ED8-90A0-771A9EADD234}"/>
              </a:ext>
            </a:extLst>
          </p:cNvPr>
          <p:cNvSpPr>
            <a:spLocks xmlns:a="http://schemas.openxmlformats.org/drawingml/2006/main" noGrp="1"/>
          </p:cNvSpPr>
          <p:nvPr/>
        </p:nvSpPr>
        <p:spPr>
          <a:xfrm xmlns:a="http://schemas.openxmlformats.org/drawingml/2006/main">
            <a:off x="7467600" y="545782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肋类</a:t>
            </a:r>
          </a:p>
        </p:txBody>
      </p:sp>
      <p:sp>
        <p:nvSpPr>
          <p:cNvPr id="110" name="">
            <a:extLst xmlns:a="http://schemas.openxmlformats.org/drawingml/2006/main">
              <a:ext uri="{FF2B5EF4-FFF2-40B4-BE49-F238E27FC236}">
                <a16:creationId xmlns:a16="http://schemas.microsoft.com/office/drawing/2014/main" id="{12040401-DFBC-42BB-A01E-883AEB920CA4}"/>
              </a:ext>
            </a:extLst>
          </p:cNvPr>
          <p:cNvSpPr>
            <a:spLocks xmlns:a="http://schemas.openxmlformats.org/drawingml/2006/main" noGrp="1"/>
          </p:cNvSpPr>
          <p:nvPr/>
        </p:nvSpPr>
        <p:spPr>
          <a:xfrm xmlns:a="http://schemas.openxmlformats.org/drawingml/2006/main">
            <a:off x="9048750" y="5429250"/>
            <a:ext cx="1619250" cy="2476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11" name="">
            <a:extLst xmlns:a="http://schemas.openxmlformats.org/drawingml/2006/main">
              <a:ext uri="{FF2B5EF4-FFF2-40B4-BE49-F238E27FC236}">
                <a16:creationId xmlns:a16="http://schemas.microsoft.com/office/drawing/2014/main" id="{FDA5F96C-3530-4E5F-98B0-9951482A6EED}"/>
              </a:ext>
            </a:extLst>
          </p:cNvPr>
          <p:cNvSpPr>
            <a:spLocks xmlns:a="http://schemas.openxmlformats.org/drawingml/2006/main" noGrp="1"/>
          </p:cNvSpPr>
          <p:nvPr/>
        </p:nvSpPr>
        <p:spPr>
          <a:xfrm xmlns:a="http://schemas.openxmlformats.org/drawingml/2006/main">
            <a:off x="9086850" y="545782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翼肋、框肋</a:t>
            </a:r>
          </a:p>
        </p:txBody>
      </p:sp>
      <p:sp>
        <p:nvSpPr>
          <p:cNvPr id="112" name="">
            <a:extLst xmlns:a="http://schemas.openxmlformats.org/drawingml/2006/main">
              <a:ext uri="{FF2B5EF4-FFF2-40B4-BE49-F238E27FC236}">
                <a16:creationId xmlns:a16="http://schemas.microsoft.com/office/drawing/2014/main" id="{56320C93-D03A-43D4-BDD3-FCAABE16BB70}"/>
              </a:ext>
            </a:extLst>
          </p:cNvPr>
          <p:cNvSpPr>
            <a:spLocks xmlns:a="http://schemas.openxmlformats.org/drawingml/2006/main" noGrp="1"/>
          </p:cNvSpPr>
          <p:nvPr/>
        </p:nvSpPr>
        <p:spPr>
          <a:xfrm xmlns:a="http://schemas.openxmlformats.org/drawingml/2006/main">
            <a:off x="5810250" y="5676900"/>
            <a:ext cx="1619250" cy="2476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13" name="">
            <a:extLst xmlns:a="http://schemas.openxmlformats.org/drawingml/2006/main">
              <a:ext uri="{FF2B5EF4-FFF2-40B4-BE49-F238E27FC236}">
                <a16:creationId xmlns:a16="http://schemas.microsoft.com/office/drawing/2014/main" id="{61A57F24-6A32-4BEC-8476-B6985181DCC6}"/>
              </a:ext>
            </a:extLst>
          </p:cNvPr>
          <p:cNvSpPr>
            <a:spLocks xmlns:a="http://schemas.openxmlformats.org/drawingml/2006/main" noGrp="1"/>
          </p:cNvSpPr>
          <p:nvPr/>
        </p:nvSpPr>
        <p:spPr>
          <a:xfrm xmlns:a="http://schemas.openxmlformats.org/drawingml/2006/main">
            <a:off x="5848350" y="570547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CF-FRM</a:t>
            </a:r>
          </a:p>
        </p:txBody>
      </p:sp>
      <p:sp>
        <p:nvSpPr>
          <p:cNvPr id="114" name="">
            <a:extLst xmlns:a="http://schemas.openxmlformats.org/drawingml/2006/main">
              <a:ext uri="{FF2B5EF4-FFF2-40B4-BE49-F238E27FC236}">
                <a16:creationId xmlns:a16="http://schemas.microsoft.com/office/drawing/2014/main" id="{08618684-1BDC-4E7C-8BCE-EC3F54596104}"/>
              </a:ext>
            </a:extLst>
          </p:cNvPr>
          <p:cNvSpPr>
            <a:spLocks xmlns:a="http://schemas.openxmlformats.org/drawingml/2006/main" noGrp="1"/>
          </p:cNvSpPr>
          <p:nvPr/>
        </p:nvSpPr>
        <p:spPr>
          <a:xfrm xmlns:a="http://schemas.openxmlformats.org/drawingml/2006/main">
            <a:off x="7429500" y="5676900"/>
            <a:ext cx="1619250" cy="2476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15" name="">
            <a:extLst xmlns:a="http://schemas.openxmlformats.org/drawingml/2006/main">
              <a:ext uri="{FF2B5EF4-FFF2-40B4-BE49-F238E27FC236}">
                <a16:creationId xmlns:a16="http://schemas.microsoft.com/office/drawing/2014/main" id="{F5E4612B-59F5-4F69-8108-CCE92E5E556D}"/>
              </a:ext>
            </a:extLst>
          </p:cNvPr>
          <p:cNvSpPr>
            <a:spLocks xmlns:a="http://schemas.openxmlformats.org/drawingml/2006/main" noGrp="1"/>
          </p:cNvSpPr>
          <p:nvPr/>
        </p:nvSpPr>
        <p:spPr>
          <a:xfrm xmlns:a="http://schemas.openxmlformats.org/drawingml/2006/main">
            <a:off x="7467600" y="570547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框类</a:t>
            </a:r>
          </a:p>
        </p:txBody>
      </p:sp>
      <p:sp>
        <p:nvSpPr>
          <p:cNvPr id="116" name="">
            <a:extLst xmlns:a="http://schemas.openxmlformats.org/drawingml/2006/main">
              <a:ext uri="{FF2B5EF4-FFF2-40B4-BE49-F238E27FC236}">
                <a16:creationId xmlns:a16="http://schemas.microsoft.com/office/drawing/2014/main" id="{766C959B-D680-4D5E-B3D5-6EB2CA4237ED}"/>
              </a:ext>
            </a:extLst>
          </p:cNvPr>
          <p:cNvSpPr>
            <a:spLocks xmlns:a="http://schemas.openxmlformats.org/drawingml/2006/main" noGrp="1"/>
          </p:cNvSpPr>
          <p:nvPr/>
        </p:nvSpPr>
        <p:spPr>
          <a:xfrm xmlns:a="http://schemas.openxmlformats.org/drawingml/2006/main">
            <a:off x="9048750" y="5676900"/>
            <a:ext cx="1619250" cy="2476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17" name="">
            <a:extLst xmlns:a="http://schemas.openxmlformats.org/drawingml/2006/main">
              <a:ext uri="{FF2B5EF4-FFF2-40B4-BE49-F238E27FC236}">
                <a16:creationId xmlns:a16="http://schemas.microsoft.com/office/drawing/2014/main" id="{08EB165C-0FB3-41BF-BCE9-4ECF920A6D06}"/>
              </a:ext>
            </a:extLst>
          </p:cNvPr>
          <p:cNvSpPr>
            <a:spLocks xmlns:a="http://schemas.openxmlformats.org/drawingml/2006/main" noGrp="1"/>
          </p:cNvSpPr>
          <p:nvPr/>
        </p:nvSpPr>
        <p:spPr>
          <a:xfrm xmlns:a="http://schemas.openxmlformats.org/drawingml/2006/main">
            <a:off x="9086850" y="570547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15" b="0">
                <a:solidFill>
                  <a:srgbClr val="475569"/>
                </a:solidFill>
              </a:defRPr>
            </a:pPr>
            <a:r>
              <a:rPr sz="615" b="0">
                <a:solidFill>
                  <a:srgbClr val="475569"/>
                </a:solidFill>
              </a:rPr>
              <a:t>机身框、隔框</a:t>
            </a:r>
          </a:p>
        </p:txBody>
      </p:sp>
      <p:sp>
        <p:nvSpPr>
          <p:cNvPr id="118" name="">
            <a:extLst xmlns:a="http://schemas.openxmlformats.org/drawingml/2006/main">
              <a:ext uri="{FF2B5EF4-FFF2-40B4-BE49-F238E27FC236}">
                <a16:creationId xmlns:a16="http://schemas.microsoft.com/office/drawing/2014/main" id="{A4496783-C3A4-4CB4-8E61-B8E9BF3C4760}"/>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17 / 29</a:t>
            </a:r>
          </a:p>
        </p:txBody>
      </p:sp>
    </p:spTree>
    <p:extLst>
      <p:ext uri="{BB962C8B-B14F-4D97-AF65-F5344CB8AC3E}">
        <p14:creationId xmlns:p14="http://schemas.microsoft.com/office/powerpoint/2010/main" val="544214751"/>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BB5F3D2-E7F2-4ADE-AFB4-296E2CA5A7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B21D365-FF80-4417-A107-55A9ADCE123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ED60228-6ACD-471E-8672-34B327A17D20}"/>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F3E85B8-92B8-4B72-B998-12B00F0F315A}"/>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03.3 黄金源矩阵</a:t>
            </a:r>
          </a:p>
        </p:txBody>
      </p:sp>
      <p:sp>
        <p:nvSpPr>
          <p:cNvPr id="6" name="">
            <a:extLst xmlns:a="http://schemas.openxmlformats.org/drawingml/2006/main">
              <a:ext uri="{FF2B5EF4-FFF2-40B4-BE49-F238E27FC236}">
                <a16:creationId xmlns:a16="http://schemas.microsoft.com/office/drawing/2014/main" id="{0FE1D006-6AC8-42DF-A47C-9B672B145856}"/>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8356A090-82EC-4A66-BD44-AA64D5D4DED6}"/>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黄金源预审矩阵</a:t>
            </a:r>
          </a:p>
        </p:txBody>
      </p:sp>
      <p:sp>
        <p:nvSpPr>
          <p:cNvPr id="8" name="">
            <a:extLst xmlns:a="http://schemas.openxmlformats.org/drawingml/2006/main">
              <a:ext uri="{FF2B5EF4-FFF2-40B4-BE49-F238E27FC236}">
                <a16:creationId xmlns:a16="http://schemas.microsoft.com/office/drawing/2014/main" id="{2793B41F-15CD-42C1-8FDE-5DE230F9862C}"/>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字段唯一权威来源 · MDM先决条件 · 待确认边界</a:t>
            </a:r>
          </a:p>
        </p:txBody>
      </p:sp>
      <p:sp>
        <p:nvSpPr>
          <p:cNvPr id="9" name="">
            <a:extLst xmlns:a="http://schemas.openxmlformats.org/drawingml/2006/main">
              <a:ext uri="{FF2B5EF4-FFF2-40B4-BE49-F238E27FC236}">
                <a16:creationId xmlns:a16="http://schemas.microsoft.com/office/drawing/2014/main" id="{4D40CC78-1377-4FD6-9791-9FFA396CE47D}"/>
              </a:ext>
            </a:extLst>
          </p:cNvPr>
          <p:cNvSpPr>
            <a:spLocks xmlns:a="http://schemas.openxmlformats.org/drawingml/2006/main" noGrp="1"/>
          </p:cNvSpPr>
          <p:nvPr/>
        </p:nvSpPr>
        <p:spPr>
          <a:xfrm xmlns:a="http://schemas.openxmlformats.org/drawingml/2006/main">
            <a:off x="552450" y="1752600"/>
            <a:ext cx="1638032" cy="367665"/>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0" name="">
            <a:extLst xmlns:a="http://schemas.openxmlformats.org/drawingml/2006/main">
              <a:ext uri="{FF2B5EF4-FFF2-40B4-BE49-F238E27FC236}">
                <a16:creationId xmlns:a16="http://schemas.microsoft.com/office/drawing/2014/main" id="{C4202339-A641-42E0-84F5-8C748374D88A}"/>
              </a:ext>
            </a:extLst>
          </p:cNvPr>
          <p:cNvSpPr>
            <a:spLocks xmlns:a="http://schemas.openxmlformats.org/drawingml/2006/main" noGrp="1"/>
          </p:cNvSpPr>
          <p:nvPr/>
        </p:nvSpPr>
        <p:spPr>
          <a:xfrm xmlns:a="http://schemas.openxmlformats.org/drawingml/2006/main">
            <a:off x="590550" y="1781175"/>
            <a:ext cx="1561832"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1">
                <a:solidFill>
                  <a:srgbClr val="FFFFFF"/>
                </a:solidFill>
              </a:defRPr>
            </a:pPr>
            <a:r>
              <a:rPr sz="623" b="1">
                <a:solidFill>
                  <a:srgbClr val="FFFFFF"/>
                </a:solidFill>
              </a:rPr>
              <a:t>数据域</a:t>
            </a:r>
          </a:p>
        </p:txBody>
      </p:sp>
      <p:sp>
        <p:nvSpPr>
          <p:cNvPr id="11" name="">
            <a:extLst xmlns:a="http://schemas.openxmlformats.org/drawingml/2006/main">
              <a:ext uri="{FF2B5EF4-FFF2-40B4-BE49-F238E27FC236}">
                <a16:creationId xmlns:a16="http://schemas.microsoft.com/office/drawing/2014/main" id="{D68E1C54-2DE8-4DF5-865E-6BB2ED57C4ED}"/>
              </a:ext>
            </a:extLst>
          </p:cNvPr>
          <p:cNvSpPr>
            <a:spLocks xmlns:a="http://schemas.openxmlformats.org/drawingml/2006/main" noGrp="1"/>
          </p:cNvSpPr>
          <p:nvPr/>
        </p:nvSpPr>
        <p:spPr>
          <a:xfrm xmlns:a="http://schemas.openxmlformats.org/drawingml/2006/main">
            <a:off x="2190482" y="1752600"/>
            <a:ext cx="2084768" cy="367665"/>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2" name="">
            <a:extLst xmlns:a="http://schemas.openxmlformats.org/drawingml/2006/main">
              <a:ext uri="{FF2B5EF4-FFF2-40B4-BE49-F238E27FC236}">
                <a16:creationId xmlns:a16="http://schemas.microsoft.com/office/drawing/2014/main" id="{0F3D7B53-BA24-4C82-8457-957875C7CC37}"/>
              </a:ext>
            </a:extLst>
          </p:cNvPr>
          <p:cNvSpPr>
            <a:spLocks xmlns:a="http://schemas.openxmlformats.org/drawingml/2006/main" noGrp="1"/>
          </p:cNvSpPr>
          <p:nvPr/>
        </p:nvSpPr>
        <p:spPr>
          <a:xfrm xmlns:a="http://schemas.openxmlformats.org/drawingml/2006/main">
            <a:off x="2228582" y="1781175"/>
            <a:ext cx="2008568"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1">
                <a:solidFill>
                  <a:srgbClr val="FFFFFF"/>
                </a:solidFill>
              </a:defRPr>
            </a:pPr>
            <a:r>
              <a:rPr sz="623" b="1">
                <a:solidFill>
                  <a:srgbClr val="FFFFFF"/>
                </a:solidFill>
              </a:rPr>
              <a:t>数据项</a:t>
            </a:r>
          </a:p>
        </p:txBody>
      </p:sp>
      <p:sp>
        <p:nvSpPr>
          <p:cNvPr id="13" name="">
            <a:extLst xmlns:a="http://schemas.openxmlformats.org/drawingml/2006/main">
              <a:ext uri="{FF2B5EF4-FFF2-40B4-BE49-F238E27FC236}">
                <a16:creationId xmlns:a16="http://schemas.microsoft.com/office/drawing/2014/main" id="{96659CCB-E8B1-4504-98C5-4E07B0E9EADB}"/>
              </a:ext>
            </a:extLst>
          </p:cNvPr>
          <p:cNvSpPr>
            <a:spLocks xmlns:a="http://schemas.openxmlformats.org/drawingml/2006/main" noGrp="1"/>
          </p:cNvSpPr>
          <p:nvPr/>
        </p:nvSpPr>
        <p:spPr>
          <a:xfrm xmlns:a="http://schemas.openxmlformats.org/drawingml/2006/main">
            <a:off x="4275249" y="1752600"/>
            <a:ext cx="1786944" cy="367665"/>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4" name="">
            <a:extLst xmlns:a="http://schemas.openxmlformats.org/drawingml/2006/main">
              <a:ext uri="{FF2B5EF4-FFF2-40B4-BE49-F238E27FC236}">
                <a16:creationId xmlns:a16="http://schemas.microsoft.com/office/drawing/2014/main" id="{5AB4A56B-B4E3-4B84-8522-7FC687D5B063}"/>
              </a:ext>
            </a:extLst>
          </p:cNvPr>
          <p:cNvSpPr>
            <a:spLocks xmlns:a="http://schemas.openxmlformats.org/drawingml/2006/main" noGrp="1"/>
          </p:cNvSpPr>
          <p:nvPr/>
        </p:nvSpPr>
        <p:spPr>
          <a:xfrm xmlns:a="http://schemas.openxmlformats.org/drawingml/2006/main">
            <a:off x="4313349" y="1781175"/>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1">
                <a:solidFill>
                  <a:srgbClr val="FFFFFF"/>
                </a:solidFill>
              </a:defRPr>
            </a:pPr>
            <a:r>
              <a:rPr sz="623" b="1">
                <a:solidFill>
                  <a:srgbClr val="FFFFFF"/>
                </a:solidFill>
              </a:rPr>
              <a:t>预审建议</a:t>
            </a:r>
          </a:p>
        </p:txBody>
      </p:sp>
      <p:sp>
        <p:nvSpPr>
          <p:cNvPr id="15" name="">
            <a:extLst xmlns:a="http://schemas.openxmlformats.org/drawingml/2006/main">
              <a:ext uri="{FF2B5EF4-FFF2-40B4-BE49-F238E27FC236}">
                <a16:creationId xmlns:a16="http://schemas.microsoft.com/office/drawing/2014/main" id="{8E891693-4C42-4F9F-B8B9-E4920FDD1A08}"/>
              </a:ext>
            </a:extLst>
          </p:cNvPr>
          <p:cNvSpPr>
            <a:spLocks xmlns:a="http://schemas.openxmlformats.org/drawingml/2006/main" noGrp="1"/>
          </p:cNvSpPr>
          <p:nvPr/>
        </p:nvSpPr>
        <p:spPr>
          <a:xfrm xmlns:a="http://schemas.openxmlformats.org/drawingml/2006/main">
            <a:off x="6062193" y="1752600"/>
            <a:ext cx="1786944" cy="367665"/>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6" name="">
            <a:extLst xmlns:a="http://schemas.openxmlformats.org/drawingml/2006/main">
              <a:ext uri="{FF2B5EF4-FFF2-40B4-BE49-F238E27FC236}">
                <a16:creationId xmlns:a16="http://schemas.microsoft.com/office/drawing/2014/main" id="{631C5C15-4B22-4397-A079-2E2592F4FCA5}"/>
              </a:ext>
            </a:extLst>
          </p:cNvPr>
          <p:cNvSpPr>
            <a:spLocks xmlns:a="http://schemas.openxmlformats.org/drawingml/2006/main" noGrp="1"/>
          </p:cNvSpPr>
          <p:nvPr/>
        </p:nvSpPr>
        <p:spPr>
          <a:xfrm xmlns:a="http://schemas.openxmlformats.org/drawingml/2006/main">
            <a:off x="6100293" y="1781175"/>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1">
                <a:solidFill>
                  <a:srgbClr val="FFFFFF"/>
                </a:solidFill>
              </a:defRPr>
            </a:pPr>
            <a:r>
              <a:rPr sz="623" b="1">
                <a:solidFill>
                  <a:srgbClr val="FFFFFF"/>
                </a:solidFill>
              </a:rPr>
              <a:t>其他系统角色 / 待确认项</a:t>
            </a:r>
          </a:p>
        </p:txBody>
      </p:sp>
      <p:sp>
        <p:nvSpPr>
          <p:cNvPr id="17" name="">
            <a:extLst xmlns:a="http://schemas.openxmlformats.org/drawingml/2006/main">
              <a:ext uri="{FF2B5EF4-FFF2-40B4-BE49-F238E27FC236}">
                <a16:creationId xmlns:a16="http://schemas.microsoft.com/office/drawing/2014/main" id="{164479E9-2E46-4693-92C2-2699B3D6E31F}"/>
              </a:ext>
            </a:extLst>
          </p:cNvPr>
          <p:cNvSpPr>
            <a:spLocks xmlns:a="http://schemas.openxmlformats.org/drawingml/2006/main" noGrp="1"/>
          </p:cNvSpPr>
          <p:nvPr/>
        </p:nvSpPr>
        <p:spPr>
          <a:xfrm xmlns:a="http://schemas.openxmlformats.org/drawingml/2006/main">
            <a:off x="552450" y="2120265"/>
            <a:ext cx="1638032"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8" name="">
            <a:extLst xmlns:a="http://schemas.openxmlformats.org/drawingml/2006/main">
              <a:ext uri="{FF2B5EF4-FFF2-40B4-BE49-F238E27FC236}">
                <a16:creationId xmlns:a16="http://schemas.microsoft.com/office/drawing/2014/main" id="{FE97ADEE-61F4-40FC-9834-864BECA81191}"/>
              </a:ext>
            </a:extLst>
          </p:cNvPr>
          <p:cNvSpPr>
            <a:spLocks xmlns:a="http://schemas.openxmlformats.org/drawingml/2006/main" noGrp="1"/>
          </p:cNvSpPr>
          <p:nvPr/>
        </p:nvSpPr>
        <p:spPr>
          <a:xfrm xmlns:a="http://schemas.openxmlformats.org/drawingml/2006/main">
            <a:off x="590550" y="2148840"/>
            <a:ext cx="1561832"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组织与人员</a:t>
            </a:r>
          </a:p>
        </p:txBody>
      </p:sp>
      <p:sp>
        <p:nvSpPr>
          <p:cNvPr id="19" name="">
            <a:extLst xmlns:a="http://schemas.openxmlformats.org/drawingml/2006/main">
              <a:ext uri="{FF2B5EF4-FFF2-40B4-BE49-F238E27FC236}">
                <a16:creationId xmlns:a16="http://schemas.microsoft.com/office/drawing/2014/main" id="{AC756764-2797-40C2-93A6-FEBEE0AA8F8E}"/>
              </a:ext>
            </a:extLst>
          </p:cNvPr>
          <p:cNvSpPr>
            <a:spLocks xmlns:a="http://schemas.openxmlformats.org/drawingml/2006/main" noGrp="1"/>
          </p:cNvSpPr>
          <p:nvPr/>
        </p:nvSpPr>
        <p:spPr>
          <a:xfrm xmlns:a="http://schemas.openxmlformats.org/drawingml/2006/main">
            <a:off x="2190482" y="2120265"/>
            <a:ext cx="2084768"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0" name="">
            <a:extLst xmlns:a="http://schemas.openxmlformats.org/drawingml/2006/main">
              <a:ext uri="{FF2B5EF4-FFF2-40B4-BE49-F238E27FC236}">
                <a16:creationId xmlns:a16="http://schemas.microsoft.com/office/drawing/2014/main" id="{4876CD36-914A-40E1-939D-6701422BCF21}"/>
              </a:ext>
            </a:extLst>
          </p:cNvPr>
          <p:cNvSpPr>
            <a:spLocks xmlns:a="http://schemas.openxmlformats.org/drawingml/2006/main" noGrp="1"/>
          </p:cNvSpPr>
          <p:nvPr/>
        </p:nvSpPr>
        <p:spPr>
          <a:xfrm xmlns:a="http://schemas.openxmlformats.org/drawingml/2006/main">
            <a:off x="2228582" y="2148840"/>
            <a:ext cx="2008568"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部门、人员、岗位、工号、在职状态</a:t>
            </a:r>
          </a:p>
        </p:txBody>
      </p:sp>
      <p:sp>
        <p:nvSpPr>
          <p:cNvPr id="21" name="">
            <a:extLst xmlns:a="http://schemas.openxmlformats.org/drawingml/2006/main">
              <a:ext uri="{FF2B5EF4-FFF2-40B4-BE49-F238E27FC236}">
                <a16:creationId xmlns:a16="http://schemas.microsoft.com/office/drawing/2014/main" id="{E8CDF7F6-AEE3-4D64-8D53-82014D7664EB}"/>
              </a:ext>
            </a:extLst>
          </p:cNvPr>
          <p:cNvSpPr>
            <a:spLocks xmlns:a="http://schemas.openxmlformats.org/drawingml/2006/main" noGrp="1"/>
          </p:cNvSpPr>
          <p:nvPr/>
        </p:nvSpPr>
        <p:spPr>
          <a:xfrm xmlns:a="http://schemas.openxmlformats.org/drawingml/2006/main">
            <a:off x="4275249" y="2120265"/>
            <a:ext cx="1786944"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2" name="">
            <a:extLst xmlns:a="http://schemas.openxmlformats.org/drawingml/2006/main">
              <a:ext uri="{FF2B5EF4-FFF2-40B4-BE49-F238E27FC236}">
                <a16:creationId xmlns:a16="http://schemas.microsoft.com/office/drawing/2014/main" id="{D787DB25-AA15-4DE3-B017-0FE4620FB900}"/>
              </a:ext>
            </a:extLst>
          </p:cNvPr>
          <p:cNvSpPr>
            <a:spLocks xmlns:a="http://schemas.openxmlformats.org/drawingml/2006/main" noGrp="1"/>
          </p:cNvSpPr>
          <p:nvPr/>
        </p:nvSpPr>
        <p:spPr>
          <a:xfrm xmlns:a="http://schemas.openxmlformats.org/drawingml/2006/main">
            <a:off x="4313349" y="2148840"/>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OA/MDM 作为第一层权威源</a:t>
            </a:r>
          </a:p>
        </p:txBody>
      </p:sp>
      <p:sp>
        <p:nvSpPr>
          <p:cNvPr id="23" name="">
            <a:extLst xmlns:a="http://schemas.openxmlformats.org/drawingml/2006/main">
              <a:ext uri="{FF2B5EF4-FFF2-40B4-BE49-F238E27FC236}">
                <a16:creationId xmlns:a16="http://schemas.microsoft.com/office/drawing/2014/main" id="{6F2B796A-F7AA-4A91-8B78-363FC409B3C1}"/>
              </a:ext>
            </a:extLst>
          </p:cNvPr>
          <p:cNvSpPr>
            <a:spLocks xmlns:a="http://schemas.openxmlformats.org/drawingml/2006/main" noGrp="1"/>
          </p:cNvSpPr>
          <p:nvPr/>
        </p:nvSpPr>
        <p:spPr>
          <a:xfrm xmlns:a="http://schemas.openxmlformats.org/drawingml/2006/main">
            <a:off x="6062193" y="2120265"/>
            <a:ext cx="1786944"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4" name="">
            <a:extLst xmlns:a="http://schemas.openxmlformats.org/drawingml/2006/main">
              <a:ext uri="{FF2B5EF4-FFF2-40B4-BE49-F238E27FC236}">
                <a16:creationId xmlns:a16="http://schemas.microsoft.com/office/drawing/2014/main" id="{EE509CA5-2D51-4DE2-8718-7D591EF09560}"/>
              </a:ext>
            </a:extLst>
          </p:cNvPr>
          <p:cNvSpPr>
            <a:spLocks xmlns:a="http://schemas.openxmlformats.org/drawingml/2006/main" noGrp="1"/>
          </p:cNvSpPr>
          <p:nvPr/>
        </p:nvSpPr>
        <p:spPr>
          <a:xfrm xmlns:a="http://schemas.openxmlformats.org/drawingml/2006/main">
            <a:off x="6100293" y="2148840"/>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ERP、MES、PLM、WMS 消费或映射；需确认同步字段和频率</a:t>
            </a:r>
          </a:p>
        </p:txBody>
      </p:sp>
      <p:sp>
        <p:nvSpPr>
          <p:cNvPr id="25" name="">
            <a:extLst xmlns:a="http://schemas.openxmlformats.org/drawingml/2006/main">
              <a:ext uri="{FF2B5EF4-FFF2-40B4-BE49-F238E27FC236}">
                <a16:creationId xmlns:a16="http://schemas.microsoft.com/office/drawing/2014/main" id="{CBC33F39-5F31-4685-BB15-122E5C944CFC}"/>
              </a:ext>
            </a:extLst>
          </p:cNvPr>
          <p:cNvSpPr>
            <a:spLocks xmlns:a="http://schemas.openxmlformats.org/drawingml/2006/main" noGrp="1"/>
          </p:cNvSpPr>
          <p:nvPr/>
        </p:nvSpPr>
        <p:spPr>
          <a:xfrm xmlns:a="http://schemas.openxmlformats.org/drawingml/2006/main">
            <a:off x="552450" y="2487930"/>
            <a:ext cx="1638032"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26" name="">
            <a:extLst xmlns:a="http://schemas.openxmlformats.org/drawingml/2006/main">
              <a:ext uri="{FF2B5EF4-FFF2-40B4-BE49-F238E27FC236}">
                <a16:creationId xmlns:a16="http://schemas.microsoft.com/office/drawing/2014/main" id="{347386F6-2561-40CB-A33E-73658D4BCF91}"/>
              </a:ext>
            </a:extLst>
          </p:cNvPr>
          <p:cNvSpPr>
            <a:spLocks xmlns:a="http://schemas.openxmlformats.org/drawingml/2006/main" noGrp="1"/>
          </p:cNvSpPr>
          <p:nvPr/>
        </p:nvSpPr>
        <p:spPr>
          <a:xfrm xmlns:a="http://schemas.openxmlformats.org/drawingml/2006/main">
            <a:off x="590550" y="2516505"/>
            <a:ext cx="1561832"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角色与资质</a:t>
            </a:r>
          </a:p>
        </p:txBody>
      </p:sp>
      <p:sp>
        <p:nvSpPr>
          <p:cNvPr id="27" name="">
            <a:extLst xmlns:a="http://schemas.openxmlformats.org/drawingml/2006/main">
              <a:ext uri="{FF2B5EF4-FFF2-40B4-BE49-F238E27FC236}">
                <a16:creationId xmlns:a16="http://schemas.microsoft.com/office/drawing/2014/main" id="{142E0D33-F172-4CDB-83FE-ABDE8BEA6A76}"/>
              </a:ext>
            </a:extLst>
          </p:cNvPr>
          <p:cNvSpPr>
            <a:spLocks xmlns:a="http://schemas.openxmlformats.org/drawingml/2006/main" noGrp="1"/>
          </p:cNvSpPr>
          <p:nvPr/>
        </p:nvSpPr>
        <p:spPr>
          <a:xfrm xmlns:a="http://schemas.openxmlformats.org/drawingml/2006/main">
            <a:off x="2190482" y="2487930"/>
            <a:ext cx="2084768"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28" name="">
            <a:extLst xmlns:a="http://schemas.openxmlformats.org/drawingml/2006/main">
              <a:ext uri="{FF2B5EF4-FFF2-40B4-BE49-F238E27FC236}">
                <a16:creationId xmlns:a16="http://schemas.microsoft.com/office/drawing/2014/main" id="{3A38C0D6-70D2-4936-872E-D7E51C910521}"/>
              </a:ext>
            </a:extLst>
          </p:cNvPr>
          <p:cNvSpPr>
            <a:spLocks xmlns:a="http://schemas.openxmlformats.org/drawingml/2006/main" noGrp="1"/>
          </p:cNvSpPr>
          <p:nvPr/>
        </p:nvSpPr>
        <p:spPr>
          <a:xfrm xmlns:a="http://schemas.openxmlformats.org/drawingml/2006/main">
            <a:off x="2228582" y="2516505"/>
            <a:ext cx="2008568"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审批角色、系统角色、特种工艺资质、检验授权</a:t>
            </a:r>
          </a:p>
        </p:txBody>
      </p:sp>
      <p:sp>
        <p:nvSpPr>
          <p:cNvPr id="29" name="">
            <a:extLst xmlns:a="http://schemas.openxmlformats.org/drawingml/2006/main">
              <a:ext uri="{FF2B5EF4-FFF2-40B4-BE49-F238E27FC236}">
                <a16:creationId xmlns:a16="http://schemas.microsoft.com/office/drawing/2014/main" id="{DAAF1FB5-B32A-4796-8FC2-94402499A0C4}"/>
              </a:ext>
            </a:extLst>
          </p:cNvPr>
          <p:cNvSpPr>
            <a:spLocks xmlns:a="http://schemas.openxmlformats.org/drawingml/2006/main" noGrp="1"/>
          </p:cNvSpPr>
          <p:nvPr/>
        </p:nvSpPr>
        <p:spPr>
          <a:xfrm xmlns:a="http://schemas.openxmlformats.org/drawingml/2006/main">
            <a:off x="4275249" y="2487930"/>
            <a:ext cx="1786944"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0" name="">
            <a:extLst xmlns:a="http://schemas.openxmlformats.org/drawingml/2006/main">
              <a:ext uri="{FF2B5EF4-FFF2-40B4-BE49-F238E27FC236}">
                <a16:creationId xmlns:a16="http://schemas.microsoft.com/office/drawing/2014/main" id="{67CD7FF0-0670-4349-BF80-F223066C6F82}"/>
              </a:ext>
            </a:extLst>
          </p:cNvPr>
          <p:cNvSpPr>
            <a:spLocks xmlns:a="http://schemas.openxmlformats.org/drawingml/2006/main" noGrp="1"/>
          </p:cNvSpPr>
          <p:nvPr/>
        </p:nvSpPr>
        <p:spPr>
          <a:xfrm xmlns:a="http://schemas.openxmlformats.org/drawingml/2006/main">
            <a:off x="4313349" y="2516505"/>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OA流程 + 质量确认，MDM沉淀</a:t>
            </a:r>
          </a:p>
        </p:txBody>
      </p:sp>
      <p:sp>
        <p:nvSpPr>
          <p:cNvPr id="31" name="">
            <a:extLst xmlns:a="http://schemas.openxmlformats.org/drawingml/2006/main">
              <a:ext uri="{FF2B5EF4-FFF2-40B4-BE49-F238E27FC236}">
                <a16:creationId xmlns:a16="http://schemas.microsoft.com/office/drawing/2014/main" id="{2CD75647-AA47-4489-9589-70B19324385D}"/>
              </a:ext>
            </a:extLst>
          </p:cNvPr>
          <p:cNvSpPr>
            <a:spLocks xmlns:a="http://schemas.openxmlformats.org/drawingml/2006/main" noGrp="1"/>
          </p:cNvSpPr>
          <p:nvPr/>
        </p:nvSpPr>
        <p:spPr>
          <a:xfrm xmlns:a="http://schemas.openxmlformats.org/drawingml/2006/main">
            <a:off x="6062193" y="2487930"/>
            <a:ext cx="1786944"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2" name="">
            <a:extLst xmlns:a="http://schemas.openxmlformats.org/drawingml/2006/main">
              <a:ext uri="{FF2B5EF4-FFF2-40B4-BE49-F238E27FC236}">
                <a16:creationId xmlns:a16="http://schemas.microsoft.com/office/drawing/2014/main" id="{A8462094-B66C-4BB8-B331-2DBCA562EEFC}"/>
              </a:ext>
            </a:extLst>
          </p:cNvPr>
          <p:cNvSpPr>
            <a:spLocks xmlns:a="http://schemas.openxmlformats.org/drawingml/2006/main" noGrp="1"/>
          </p:cNvSpPr>
          <p:nvPr/>
        </p:nvSpPr>
        <p:spPr>
          <a:xfrm xmlns:a="http://schemas.openxmlformats.org/drawingml/2006/main">
            <a:off x="6100293" y="2516505"/>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MES派工、质量放行、ECO发布不得绕过资质校验</a:t>
            </a:r>
          </a:p>
        </p:txBody>
      </p:sp>
      <p:sp>
        <p:nvSpPr>
          <p:cNvPr id="33" name="">
            <a:extLst xmlns:a="http://schemas.openxmlformats.org/drawingml/2006/main">
              <a:ext uri="{FF2B5EF4-FFF2-40B4-BE49-F238E27FC236}">
                <a16:creationId xmlns:a16="http://schemas.microsoft.com/office/drawing/2014/main" id="{D18B62AA-510A-4151-899D-BBF4DC3D826B}"/>
              </a:ext>
            </a:extLst>
          </p:cNvPr>
          <p:cNvSpPr>
            <a:spLocks xmlns:a="http://schemas.openxmlformats.org/drawingml/2006/main" noGrp="1"/>
          </p:cNvSpPr>
          <p:nvPr/>
        </p:nvSpPr>
        <p:spPr>
          <a:xfrm xmlns:a="http://schemas.openxmlformats.org/drawingml/2006/main">
            <a:off x="552450" y="2855595"/>
            <a:ext cx="1638032"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4" name="">
            <a:extLst xmlns:a="http://schemas.openxmlformats.org/drawingml/2006/main">
              <a:ext uri="{FF2B5EF4-FFF2-40B4-BE49-F238E27FC236}">
                <a16:creationId xmlns:a16="http://schemas.microsoft.com/office/drawing/2014/main" id="{7C94B52A-AB1E-4CEC-9B51-7DF4FD5A2E13}"/>
              </a:ext>
            </a:extLst>
          </p:cNvPr>
          <p:cNvSpPr>
            <a:spLocks xmlns:a="http://schemas.openxmlformats.org/drawingml/2006/main" noGrp="1"/>
          </p:cNvSpPr>
          <p:nvPr/>
        </p:nvSpPr>
        <p:spPr>
          <a:xfrm xmlns:a="http://schemas.openxmlformats.org/drawingml/2006/main">
            <a:off x="590550" y="2884170"/>
            <a:ext cx="1561832"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设计件物料</a:t>
            </a:r>
          </a:p>
        </p:txBody>
      </p:sp>
      <p:sp>
        <p:nvSpPr>
          <p:cNvPr id="35" name="">
            <a:extLst xmlns:a="http://schemas.openxmlformats.org/drawingml/2006/main">
              <a:ext uri="{FF2B5EF4-FFF2-40B4-BE49-F238E27FC236}">
                <a16:creationId xmlns:a16="http://schemas.microsoft.com/office/drawing/2014/main" id="{711A9D86-8CE6-4575-ABA2-BC0025538D75}"/>
              </a:ext>
            </a:extLst>
          </p:cNvPr>
          <p:cNvSpPr>
            <a:spLocks xmlns:a="http://schemas.openxmlformats.org/drawingml/2006/main" noGrp="1"/>
          </p:cNvSpPr>
          <p:nvPr/>
        </p:nvSpPr>
        <p:spPr>
          <a:xfrm xmlns:a="http://schemas.openxmlformats.org/drawingml/2006/main">
            <a:off x="2190482" y="2855595"/>
            <a:ext cx="2084768"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6" name="">
            <a:extLst xmlns:a="http://schemas.openxmlformats.org/drawingml/2006/main">
              <a:ext uri="{FF2B5EF4-FFF2-40B4-BE49-F238E27FC236}">
                <a16:creationId xmlns:a16="http://schemas.microsoft.com/office/drawing/2014/main" id="{3658D2EB-282B-43FB-BCA4-2FCB69E8475C}"/>
              </a:ext>
            </a:extLst>
          </p:cNvPr>
          <p:cNvSpPr>
            <a:spLocks xmlns:a="http://schemas.openxmlformats.org/drawingml/2006/main" noGrp="1"/>
          </p:cNvSpPr>
          <p:nvPr/>
        </p:nvSpPr>
        <p:spPr>
          <a:xfrm xmlns:a="http://schemas.openxmlformats.org/drawingml/2006/main">
            <a:off x="2228582" y="2884170"/>
            <a:ext cx="2008568"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物料编码、名称、规格、件号、REV</a:t>
            </a:r>
          </a:p>
        </p:txBody>
      </p:sp>
      <p:sp>
        <p:nvSpPr>
          <p:cNvPr id="37" name="">
            <a:extLst xmlns:a="http://schemas.openxmlformats.org/drawingml/2006/main">
              <a:ext uri="{FF2B5EF4-FFF2-40B4-BE49-F238E27FC236}">
                <a16:creationId xmlns:a16="http://schemas.microsoft.com/office/drawing/2014/main" id="{D375CC90-1134-4AA5-B25D-D0688737D248}"/>
              </a:ext>
            </a:extLst>
          </p:cNvPr>
          <p:cNvSpPr>
            <a:spLocks xmlns:a="http://schemas.openxmlformats.org/drawingml/2006/main" noGrp="1"/>
          </p:cNvSpPr>
          <p:nvPr/>
        </p:nvSpPr>
        <p:spPr>
          <a:xfrm xmlns:a="http://schemas.openxmlformats.org/drawingml/2006/main">
            <a:off x="4275249" y="2855595"/>
            <a:ext cx="1786944"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8" name="">
            <a:extLst xmlns:a="http://schemas.openxmlformats.org/drawingml/2006/main">
              <a:ext uri="{FF2B5EF4-FFF2-40B4-BE49-F238E27FC236}">
                <a16:creationId xmlns:a16="http://schemas.microsoft.com/office/drawing/2014/main" id="{8BCE2528-6B5F-4CF3-991F-CD9A43B081D2}"/>
              </a:ext>
            </a:extLst>
          </p:cNvPr>
          <p:cNvSpPr>
            <a:spLocks xmlns:a="http://schemas.openxmlformats.org/drawingml/2006/main" noGrp="1"/>
          </p:cNvSpPr>
          <p:nvPr/>
        </p:nvSpPr>
        <p:spPr>
          <a:xfrm xmlns:a="http://schemas.openxmlformats.org/drawingml/2006/main">
            <a:off x="4313349" y="2884170"/>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倾向 PLM；PLM未上线前 ERP+PDM 协同代管</a:t>
            </a:r>
          </a:p>
        </p:txBody>
      </p:sp>
      <p:sp>
        <p:nvSpPr>
          <p:cNvPr id="39" name="">
            <a:extLst xmlns:a="http://schemas.openxmlformats.org/drawingml/2006/main">
              <a:ext uri="{FF2B5EF4-FFF2-40B4-BE49-F238E27FC236}">
                <a16:creationId xmlns:a16="http://schemas.microsoft.com/office/drawing/2014/main" id="{810201F8-25DE-4482-AF11-C3F51FC291C0}"/>
              </a:ext>
            </a:extLst>
          </p:cNvPr>
          <p:cNvSpPr>
            <a:spLocks xmlns:a="http://schemas.openxmlformats.org/drawingml/2006/main" noGrp="1"/>
          </p:cNvSpPr>
          <p:nvPr/>
        </p:nvSpPr>
        <p:spPr>
          <a:xfrm xmlns:a="http://schemas.openxmlformats.org/drawingml/2006/main">
            <a:off x="6062193" y="2855595"/>
            <a:ext cx="1786944"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0" name="">
            <a:extLst xmlns:a="http://schemas.openxmlformats.org/drawingml/2006/main">
              <a:ext uri="{FF2B5EF4-FFF2-40B4-BE49-F238E27FC236}">
                <a16:creationId xmlns:a16="http://schemas.microsoft.com/office/drawing/2014/main" id="{C77A7A67-058B-452A-8C76-BACB214CAC99}"/>
              </a:ext>
            </a:extLst>
          </p:cNvPr>
          <p:cNvSpPr>
            <a:spLocks xmlns:a="http://schemas.openxmlformats.org/drawingml/2006/main" noGrp="1"/>
          </p:cNvSpPr>
          <p:nvPr/>
        </p:nvSpPr>
        <p:spPr>
          <a:xfrm xmlns:a="http://schemas.openxmlformats.org/drawingml/2006/main">
            <a:off x="6100293" y="2884170"/>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待 PLM 候选方确认字段、接口和版本能力</a:t>
            </a:r>
          </a:p>
        </p:txBody>
      </p:sp>
      <p:sp>
        <p:nvSpPr>
          <p:cNvPr id="41" name="">
            <a:extLst xmlns:a="http://schemas.openxmlformats.org/drawingml/2006/main">
              <a:ext uri="{FF2B5EF4-FFF2-40B4-BE49-F238E27FC236}">
                <a16:creationId xmlns:a16="http://schemas.microsoft.com/office/drawing/2014/main" id="{6FF23FFC-F92F-4BB2-AC79-2BAF225CD3AD}"/>
              </a:ext>
            </a:extLst>
          </p:cNvPr>
          <p:cNvSpPr>
            <a:spLocks xmlns:a="http://schemas.openxmlformats.org/drawingml/2006/main" noGrp="1"/>
          </p:cNvSpPr>
          <p:nvPr/>
        </p:nvSpPr>
        <p:spPr>
          <a:xfrm xmlns:a="http://schemas.openxmlformats.org/drawingml/2006/main">
            <a:off x="552450" y="3223260"/>
            <a:ext cx="1638032"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2" name="">
            <a:extLst xmlns:a="http://schemas.openxmlformats.org/drawingml/2006/main">
              <a:ext uri="{FF2B5EF4-FFF2-40B4-BE49-F238E27FC236}">
                <a16:creationId xmlns:a16="http://schemas.microsoft.com/office/drawing/2014/main" id="{06B3C30F-F96A-4EB9-BC15-FD140478A165}"/>
              </a:ext>
            </a:extLst>
          </p:cNvPr>
          <p:cNvSpPr>
            <a:spLocks xmlns:a="http://schemas.openxmlformats.org/drawingml/2006/main" noGrp="1"/>
          </p:cNvSpPr>
          <p:nvPr/>
        </p:nvSpPr>
        <p:spPr>
          <a:xfrm xmlns:a="http://schemas.openxmlformats.org/drawingml/2006/main">
            <a:off x="590550" y="3251835"/>
            <a:ext cx="1561832"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原材料/采购件</a:t>
            </a:r>
          </a:p>
        </p:txBody>
      </p:sp>
      <p:sp>
        <p:nvSpPr>
          <p:cNvPr id="43" name="">
            <a:extLst xmlns:a="http://schemas.openxmlformats.org/drawingml/2006/main">
              <a:ext uri="{FF2B5EF4-FFF2-40B4-BE49-F238E27FC236}">
                <a16:creationId xmlns:a16="http://schemas.microsoft.com/office/drawing/2014/main" id="{069E10EC-DB22-49F2-B3D9-8FDAC06B9B67}"/>
              </a:ext>
            </a:extLst>
          </p:cNvPr>
          <p:cNvSpPr>
            <a:spLocks xmlns:a="http://schemas.openxmlformats.org/drawingml/2006/main" noGrp="1"/>
          </p:cNvSpPr>
          <p:nvPr/>
        </p:nvSpPr>
        <p:spPr>
          <a:xfrm xmlns:a="http://schemas.openxmlformats.org/drawingml/2006/main">
            <a:off x="2190482" y="3223260"/>
            <a:ext cx="2084768"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4" name="">
            <a:extLst xmlns:a="http://schemas.openxmlformats.org/drawingml/2006/main">
              <a:ext uri="{FF2B5EF4-FFF2-40B4-BE49-F238E27FC236}">
                <a16:creationId xmlns:a16="http://schemas.microsoft.com/office/drawing/2014/main" id="{EBCF1BB1-7E31-4285-A462-5E783ED95B86}"/>
              </a:ext>
            </a:extLst>
          </p:cNvPr>
          <p:cNvSpPr>
            <a:spLocks xmlns:a="http://schemas.openxmlformats.org/drawingml/2006/main" noGrp="1"/>
          </p:cNvSpPr>
          <p:nvPr/>
        </p:nvSpPr>
        <p:spPr>
          <a:xfrm xmlns:a="http://schemas.openxmlformats.org/drawingml/2006/main">
            <a:off x="2228582" y="3251835"/>
            <a:ext cx="2008568"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物料编码、规格、供应商、ASL</a:t>
            </a:r>
          </a:p>
        </p:txBody>
      </p:sp>
      <p:sp>
        <p:nvSpPr>
          <p:cNvPr id="45" name="">
            <a:extLst xmlns:a="http://schemas.openxmlformats.org/drawingml/2006/main">
              <a:ext uri="{FF2B5EF4-FFF2-40B4-BE49-F238E27FC236}">
                <a16:creationId xmlns:a16="http://schemas.microsoft.com/office/drawing/2014/main" id="{C5AEE97D-32F3-4AEE-A517-37088AA02639}"/>
              </a:ext>
            </a:extLst>
          </p:cNvPr>
          <p:cNvSpPr>
            <a:spLocks xmlns:a="http://schemas.openxmlformats.org/drawingml/2006/main" noGrp="1"/>
          </p:cNvSpPr>
          <p:nvPr/>
        </p:nvSpPr>
        <p:spPr>
          <a:xfrm xmlns:a="http://schemas.openxmlformats.org/drawingml/2006/main">
            <a:off x="4275249" y="3223260"/>
            <a:ext cx="1786944"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6" name="">
            <a:extLst xmlns:a="http://schemas.openxmlformats.org/drawingml/2006/main">
              <a:ext uri="{FF2B5EF4-FFF2-40B4-BE49-F238E27FC236}">
                <a16:creationId xmlns:a16="http://schemas.microsoft.com/office/drawing/2014/main" id="{C9947F8D-854F-41B3-8C02-95075581E500}"/>
              </a:ext>
            </a:extLst>
          </p:cNvPr>
          <p:cNvSpPr>
            <a:spLocks xmlns:a="http://schemas.openxmlformats.org/drawingml/2006/main" noGrp="1"/>
          </p:cNvSpPr>
          <p:nvPr/>
        </p:nvSpPr>
        <p:spPr>
          <a:xfrm xmlns:a="http://schemas.openxmlformats.org/drawingml/2006/main">
            <a:off x="4313349" y="3251835"/>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倾向 ERP-MM 创建和维护</a:t>
            </a:r>
          </a:p>
        </p:txBody>
      </p:sp>
      <p:sp>
        <p:nvSpPr>
          <p:cNvPr id="47" name="">
            <a:extLst xmlns:a="http://schemas.openxmlformats.org/drawingml/2006/main">
              <a:ext uri="{FF2B5EF4-FFF2-40B4-BE49-F238E27FC236}">
                <a16:creationId xmlns:a16="http://schemas.microsoft.com/office/drawing/2014/main" id="{59F6BDB1-A773-4963-B15E-E6337B297868}"/>
              </a:ext>
            </a:extLst>
          </p:cNvPr>
          <p:cNvSpPr>
            <a:spLocks xmlns:a="http://schemas.openxmlformats.org/drawingml/2006/main" noGrp="1"/>
          </p:cNvSpPr>
          <p:nvPr/>
        </p:nvSpPr>
        <p:spPr>
          <a:xfrm xmlns:a="http://schemas.openxmlformats.org/drawingml/2006/main">
            <a:off x="6062193" y="3223260"/>
            <a:ext cx="1786944"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8" name="">
            <a:extLst xmlns:a="http://schemas.openxmlformats.org/drawingml/2006/main">
              <a:ext uri="{FF2B5EF4-FFF2-40B4-BE49-F238E27FC236}">
                <a16:creationId xmlns:a16="http://schemas.microsoft.com/office/drawing/2014/main" id="{2AF22D29-5ACC-4378-8A92-D0DFCDC024E7}"/>
              </a:ext>
            </a:extLst>
          </p:cNvPr>
          <p:cNvSpPr>
            <a:spLocks xmlns:a="http://schemas.openxmlformats.org/drawingml/2006/main" noGrp="1"/>
          </p:cNvSpPr>
          <p:nvPr/>
        </p:nvSpPr>
        <p:spPr>
          <a:xfrm xmlns:a="http://schemas.openxmlformats.org/drawingml/2006/main">
            <a:off x="6100293" y="3251835"/>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SCIM 只做供应商协同和资料收集，边界待确认</a:t>
            </a:r>
          </a:p>
        </p:txBody>
      </p:sp>
      <p:sp>
        <p:nvSpPr>
          <p:cNvPr id="49" name="">
            <a:extLst xmlns:a="http://schemas.openxmlformats.org/drawingml/2006/main">
              <a:ext uri="{FF2B5EF4-FFF2-40B4-BE49-F238E27FC236}">
                <a16:creationId xmlns:a16="http://schemas.microsoft.com/office/drawing/2014/main" id="{2F8297B6-3B93-4331-A8CE-8FED56083CED}"/>
              </a:ext>
            </a:extLst>
          </p:cNvPr>
          <p:cNvSpPr>
            <a:spLocks xmlns:a="http://schemas.openxmlformats.org/drawingml/2006/main" noGrp="1"/>
          </p:cNvSpPr>
          <p:nvPr/>
        </p:nvSpPr>
        <p:spPr>
          <a:xfrm xmlns:a="http://schemas.openxmlformats.org/drawingml/2006/main">
            <a:off x="552450" y="3590925"/>
            <a:ext cx="1638032"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0" name="">
            <a:extLst xmlns:a="http://schemas.openxmlformats.org/drawingml/2006/main">
              <a:ext uri="{FF2B5EF4-FFF2-40B4-BE49-F238E27FC236}">
                <a16:creationId xmlns:a16="http://schemas.microsoft.com/office/drawing/2014/main" id="{E455127F-B62E-4C81-88C1-40DE3A75A51B}"/>
              </a:ext>
            </a:extLst>
          </p:cNvPr>
          <p:cNvSpPr>
            <a:spLocks xmlns:a="http://schemas.openxmlformats.org/drawingml/2006/main" noGrp="1"/>
          </p:cNvSpPr>
          <p:nvPr/>
        </p:nvSpPr>
        <p:spPr>
          <a:xfrm xmlns:a="http://schemas.openxmlformats.org/drawingml/2006/main">
            <a:off x="590550" y="3619500"/>
            <a:ext cx="1561832"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EBOM结构</a:t>
            </a:r>
          </a:p>
        </p:txBody>
      </p:sp>
      <p:sp>
        <p:nvSpPr>
          <p:cNvPr id="51" name="">
            <a:extLst xmlns:a="http://schemas.openxmlformats.org/drawingml/2006/main">
              <a:ext uri="{FF2B5EF4-FFF2-40B4-BE49-F238E27FC236}">
                <a16:creationId xmlns:a16="http://schemas.microsoft.com/office/drawing/2014/main" id="{199CB569-3C89-495E-9AC3-5CA24C9DDD2A}"/>
              </a:ext>
            </a:extLst>
          </p:cNvPr>
          <p:cNvSpPr>
            <a:spLocks xmlns:a="http://schemas.openxmlformats.org/drawingml/2006/main" noGrp="1"/>
          </p:cNvSpPr>
          <p:nvPr/>
        </p:nvSpPr>
        <p:spPr>
          <a:xfrm xmlns:a="http://schemas.openxmlformats.org/drawingml/2006/main">
            <a:off x="2190482" y="3590925"/>
            <a:ext cx="2084768"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2" name="">
            <a:extLst xmlns:a="http://schemas.openxmlformats.org/drawingml/2006/main">
              <a:ext uri="{FF2B5EF4-FFF2-40B4-BE49-F238E27FC236}">
                <a16:creationId xmlns:a16="http://schemas.microsoft.com/office/drawing/2014/main" id="{D8426D88-71C0-4F88-9180-6B6B6D4619A6}"/>
              </a:ext>
            </a:extLst>
          </p:cNvPr>
          <p:cNvSpPr>
            <a:spLocks xmlns:a="http://schemas.openxmlformats.org/drawingml/2006/main" noGrp="1"/>
          </p:cNvSpPr>
          <p:nvPr/>
        </p:nvSpPr>
        <p:spPr>
          <a:xfrm xmlns:a="http://schemas.openxmlformats.org/drawingml/2006/main">
            <a:off x="2228582" y="3619500"/>
            <a:ext cx="2008568"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铺层顺序、材料规范、固化规范、虚拟件</a:t>
            </a:r>
          </a:p>
        </p:txBody>
      </p:sp>
      <p:sp>
        <p:nvSpPr>
          <p:cNvPr id="53" name="">
            <a:extLst xmlns:a="http://schemas.openxmlformats.org/drawingml/2006/main">
              <a:ext uri="{FF2B5EF4-FFF2-40B4-BE49-F238E27FC236}">
                <a16:creationId xmlns:a16="http://schemas.microsoft.com/office/drawing/2014/main" id="{B55BADEF-DEBC-45FA-AACA-BFB3AC120FE6}"/>
              </a:ext>
            </a:extLst>
          </p:cNvPr>
          <p:cNvSpPr>
            <a:spLocks xmlns:a="http://schemas.openxmlformats.org/drawingml/2006/main" noGrp="1"/>
          </p:cNvSpPr>
          <p:nvPr/>
        </p:nvSpPr>
        <p:spPr>
          <a:xfrm xmlns:a="http://schemas.openxmlformats.org/drawingml/2006/main">
            <a:off x="4275249" y="3590925"/>
            <a:ext cx="1786944"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4" name="">
            <a:extLst xmlns:a="http://schemas.openxmlformats.org/drawingml/2006/main">
              <a:ext uri="{FF2B5EF4-FFF2-40B4-BE49-F238E27FC236}">
                <a16:creationId xmlns:a16="http://schemas.microsoft.com/office/drawing/2014/main" id="{DCF8EB91-5497-47CB-AF45-BD3A650D9BB8}"/>
              </a:ext>
            </a:extLst>
          </p:cNvPr>
          <p:cNvSpPr>
            <a:spLocks xmlns:a="http://schemas.openxmlformats.org/drawingml/2006/main" noGrp="1"/>
          </p:cNvSpPr>
          <p:nvPr/>
        </p:nvSpPr>
        <p:spPr>
          <a:xfrm xmlns:a="http://schemas.openxmlformats.org/drawingml/2006/main">
            <a:off x="4313349" y="3619500"/>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倾向 PLM/PDM</a:t>
            </a:r>
          </a:p>
        </p:txBody>
      </p:sp>
      <p:sp>
        <p:nvSpPr>
          <p:cNvPr id="55" name="">
            <a:extLst xmlns:a="http://schemas.openxmlformats.org/drawingml/2006/main">
              <a:ext uri="{FF2B5EF4-FFF2-40B4-BE49-F238E27FC236}">
                <a16:creationId xmlns:a16="http://schemas.microsoft.com/office/drawing/2014/main" id="{F4D63991-0CAF-4BD1-A76A-16FCE3885319}"/>
              </a:ext>
            </a:extLst>
          </p:cNvPr>
          <p:cNvSpPr>
            <a:spLocks xmlns:a="http://schemas.openxmlformats.org/drawingml/2006/main" noGrp="1"/>
          </p:cNvSpPr>
          <p:nvPr/>
        </p:nvSpPr>
        <p:spPr>
          <a:xfrm xmlns:a="http://schemas.openxmlformats.org/drawingml/2006/main">
            <a:off x="6062193" y="3590925"/>
            <a:ext cx="1786944"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6" name="">
            <a:extLst xmlns:a="http://schemas.openxmlformats.org/drawingml/2006/main">
              <a:ext uri="{FF2B5EF4-FFF2-40B4-BE49-F238E27FC236}">
                <a16:creationId xmlns:a16="http://schemas.microsoft.com/office/drawing/2014/main" id="{307F82D0-15FF-4C9B-8017-5920C7881D61}"/>
              </a:ext>
            </a:extLst>
          </p:cNvPr>
          <p:cNvSpPr>
            <a:spLocks xmlns:a="http://schemas.openxmlformats.org/drawingml/2006/main" noGrp="1"/>
          </p:cNvSpPr>
          <p:nvPr/>
        </p:nvSpPr>
        <p:spPr>
          <a:xfrm xmlns:a="http://schemas.openxmlformats.org/drawingml/2006/main">
            <a:off x="6100293" y="3619500"/>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需 PLM 提供字段样例和发布机制</a:t>
            </a:r>
          </a:p>
        </p:txBody>
      </p:sp>
      <p:sp>
        <p:nvSpPr>
          <p:cNvPr id="57" name="">
            <a:extLst xmlns:a="http://schemas.openxmlformats.org/drawingml/2006/main">
              <a:ext uri="{FF2B5EF4-FFF2-40B4-BE49-F238E27FC236}">
                <a16:creationId xmlns:a16="http://schemas.microsoft.com/office/drawing/2014/main" id="{BDEF102B-3A14-45A5-9F34-B40D1A52FEDD}"/>
              </a:ext>
            </a:extLst>
          </p:cNvPr>
          <p:cNvSpPr>
            <a:spLocks xmlns:a="http://schemas.openxmlformats.org/drawingml/2006/main" noGrp="1"/>
          </p:cNvSpPr>
          <p:nvPr/>
        </p:nvSpPr>
        <p:spPr>
          <a:xfrm xmlns:a="http://schemas.openxmlformats.org/drawingml/2006/main">
            <a:off x="552450" y="3958590"/>
            <a:ext cx="1638032"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8" name="">
            <a:extLst xmlns:a="http://schemas.openxmlformats.org/drawingml/2006/main">
              <a:ext uri="{FF2B5EF4-FFF2-40B4-BE49-F238E27FC236}">
                <a16:creationId xmlns:a16="http://schemas.microsoft.com/office/drawing/2014/main" id="{7F621713-F706-438C-AE6D-3803C4105F1B}"/>
              </a:ext>
            </a:extLst>
          </p:cNvPr>
          <p:cNvSpPr>
            <a:spLocks xmlns:a="http://schemas.openxmlformats.org/drawingml/2006/main" noGrp="1"/>
          </p:cNvSpPr>
          <p:nvPr/>
        </p:nvSpPr>
        <p:spPr>
          <a:xfrm xmlns:a="http://schemas.openxmlformats.org/drawingml/2006/main">
            <a:off x="590550" y="3987165"/>
            <a:ext cx="1561832"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MBOM结构</a:t>
            </a:r>
          </a:p>
        </p:txBody>
      </p:sp>
      <p:sp>
        <p:nvSpPr>
          <p:cNvPr id="59" name="">
            <a:extLst xmlns:a="http://schemas.openxmlformats.org/drawingml/2006/main">
              <a:ext uri="{FF2B5EF4-FFF2-40B4-BE49-F238E27FC236}">
                <a16:creationId xmlns:a16="http://schemas.microsoft.com/office/drawing/2014/main" id="{C490F50E-5C85-428C-8D33-609DB38C8CE4}"/>
              </a:ext>
            </a:extLst>
          </p:cNvPr>
          <p:cNvSpPr>
            <a:spLocks xmlns:a="http://schemas.openxmlformats.org/drawingml/2006/main" noGrp="1"/>
          </p:cNvSpPr>
          <p:nvPr/>
        </p:nvSpPr>
        <p:spPr>
          <a:xfrm xmlns:a="http://schemas.openxmlformats.org/drawingml/2006/main">
            <a:off x="2190482" y="3958590"/>
            <a:ext cx="2084768"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0" name="">
            <a:extLst xmlns:a="http://schemas.openxmlformats.org/drawingml/2006/main">
              <a:ext uri="{FF2B5EF4-FFF2-40B4-BE49-F238E27FC236}">
                <a16:creationId xmlns:a16="http://schemas.microsoft.com/office/drawing/2014/main" id="{B06D138E-545C-4BCE-AA75-C93D7F349B68}"/>
              </a:ext>
            </a:extLst>
          </p:cNvPr>
          <p:cNvSpPr>
            <a:spLocks xmlns:a="http://schemas.openxmlformats.org/drawingml/2006/main" noGrp="1"/>
          </p:cNvSpPr>
          <p:nvPr/>
        </p:nvSpPr>
        <p:spPr>
          <a:xfrm xmlns:a="http://schemas.openxmlformats.org/drawingml/2006/main">
            <a:off x="2228582" y="3987165"/>
            <a:ext cx="2008568"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工序分工、工装、定额、损耗率</a:t>
            </a:r>
          </a:p>
        </p:txBody>
      </p:sp>
      <p:sp>
        <p:nvSpPr>
          <p:cNvPr id="61" name="">
            <a:extLst xmlns:a="http://schemas.openxmlformats.org/drawingml/2006/main">
              <a:ext uri="{FF2B5EF4-FFF2-40B4-BE49-F238E27FC236}">
                <a16:creationId xmlns:a16="http://schemas.microsoft.com/office/drawing/2014/main" id="{08393DB3-9800-4BD7-A2B4-398DEAD94F4F}"/>
              </a:ext>
            </a:extLst>
          </p:cNvPr>
          <p:cNvSpPr>
            <a:spLocks xmlns:a="http://schemas.openxmlformats.org/drawingml/2006/main" noGrp="1"/>
          </p:cNvSpPr>
          <p:nvPr/>
        </p:nvSpPr>
        <p:spPr>
          <a:xfrm xmlns:a="http://schemas.openxmlformats.org/drawingml/2006/main">
            <a:off x="4275249" y="3958590"/>
            <a:ext cx="1786944"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2" name="">
            <a:extLst xmlns:a="http://schemas.openxmlformats.org/drawingml/2006/main">
              <a:ext uri="{FF2B5EF4-FFF2-40B4-BE49-F238E27FC236}">
                <a16:creationId xmlns:a16="http://schemas.microsoft.com/office/drawing/2014/main" id="{3DA72C93-95D3-487F-A61F-C2ACC61484D4}"/>
              </a:ext>
            </a:extLst>
          </p:cNvPr>
          <p:cNvSpPr>
            <a:spLocks xmlns:a="http://schemas.openxmlformats.org/drawingml/2006/main" noGrp="1"/>
          </p:cNvSpPr>
          <p:nvPr/>
        </p:nvSpPr>
        <p:spPr>
          <a:xfrm xmlns:a="http://schemas.openxmlformats.org/drawingml/2006/main">
            <a:off x="4313349" y="3987165"/>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倾向 CAPP 主导，ERP/MES消费</a:t>
            </a:r>
          </a:p>
        </p:txBody>
      </p:sp>
      <p:sp>
        <p:nvSpPr>
          <p:cNvPr id="63" name="">
            <a:extLst xmlns:a="http://schemas.openxmlformats.org/drawingml/2006/main">
              <a:ext uri="{FF2B5EF4-FFF2-40B4-BE49-F238E27FC236}">
                <a16:creationId xmlns:a16="http://schemas.microsoft.com/office/drawing/2014/main" id="{115FF44B-2A7E-4870-9587-BCA008E25D8A}"/>
              </a:ext>
            </a:extLst>
          </p:cNvPr>
          <p:cNvSpPr>
            <a:spLocks xmlns:a="http://schemas.openxmlformats.org/drawingml/2006/main" noGrp="1"/>
          </p:cNvSpPr>
          <p:nvPr/>
        </p:nvSpPr>
        <p:spPr>
          <a:xfrm xmlns:a="http://schemas.openxmlformats.org/drawingml/2006/main">
            <a:off x="6062193" y="3958590"/>
            <a:ext cx="1786944"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4" name="">
            <a:extLst xmlns:a="http://schemas.openxmlformats.org/drawingml/2006/main">
              <a:ext uri="{FF2B5EF4-FFF2-40B4-BE49-F238E27FC236}">
                <a16:creationId xmlns:a16="http://schemas.microsoft.com/office/drawing/2014/main" id="{60941C6C-AB31-41BD-AE81-0854BD643026}"/>
              </a:ext>
            </a:extLst>
          </p:cNvPr>
          <p:cNvSpPr>
            <a:spLocks xmlns:a="http://schemas.openxmlformats.org/drawingml/2006/main" noGrp="1"/>
          </p:cNvSpPr>
          <p:nvPr/>
        </p:nvSpPr>
        <p:spPr>
          <a:xfrm xmlns:a="http://schemas.openxmlformats.org/drawingml/2006/main">
            <a:off x="6100293" y="3987165"/>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EBOM→MBOM转换责任和生效规则待确认</a:t>
            </a:r>
          </a:p>
        </p:txBody>
      </p:sp>
      <p:sp>
        <p:nvSpPr>
          <p:cNvPr id="65" name="">
            <a:extLst xmlns:a="http://schemas.openxmlformats.org/drawingml/2006/main">
              <a:ext uri="{FF2B5EF4-FFF2-40B4-BE49-F238E27FC236}">
                <a16:creationId xmlns:a16="http://schemas.microsoft.com/office/drawing/2014/main" id="{76A2E2BF-F56B-4C35-BBD7-17DAF5EFEC81}"/>
              </a:ext>
            </a:extLst>
          </p:cNvPr>
          <p:cNvSpPr>
            <a:spLocks xmlns:a="http://schemas.openxmlformats.org/drawingml/2006/main" noGrp="1"/>
          </p:cNvSpPr>
          <p:nvPr/>
        </p:nvSpPr>
        <p:spPr>
          <a:xfrm xmlns:a="http://schemas.openxmlformats.org/drawingml/2006/main">
            <a:off x="552450" y="4326255"/>
            <a:ext cx="1638032"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6" name="">
            <a:extLst xmlns:a="http://schemas.openxmlformats.org/drawingml/2006/main">
              <a:ext uri="{FF2B5EF4-FFF2-40B4-BE49-F238E27FC236}">
                <a16:creationId xmlns:a16="http://schemas.microsoft.com/office/drawing/2014/main" id="{FC63660B-7765-4C01-9A22-6727BCC693CC}"/>
              </a:ext>
            </a:extLst>
          </p:cNvPr>
          <p:cNvSpPr>
            <a:spLocks xmlns:a="http://schemas.openxmlformats.org/drawingml/2006/main" noGrp="1"/>
          </p:cNvSpPr>
          <p:nvPr/>
        </p:nvSpPr>
        <p:spPr>
          <a:xfrm xmlns:a="http://schemas.openxmlformats.org/drawingml/2006/main">
            <a:off x="590550" y="4354830"/>
            <a:ext cx="1561832"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库存与批次</a:t>
            </a:r>
          </a:p>
        </p:txBody>
      </p:sp>
      <p:sp>
        <p:nvSpPr>
          <p:cNvPr id="67" name="">
            <a:extLst xmlns:a="http://schemas.openxmlformats.org/drawingml/2006/main">
              <a:ext uri="{FF2B5EF4-FFF2-40B4-BE49-F238E27FC236}">
                <a16:creationId xmlns:a16="http://schemas.microsoft.com/office/drawing/2014/main" id="{6320C8B8-B59D-46F7-9D65-C1836580C392}"/>
              </a:ext>
            </a:extLst>
          </p:cNvPr>
          <p:cNvSpPr>
            <a:spLocks xmlns:a="http://schemas.openxmlformats.org/drawingml/2006/main" noGrp="1"/>
          </p:cNvSpPr>
          <p:nvPr/>
        </p:nvSpPr>
        <p:spPr>
          <a:xfrm xmlns:a="http://schemas.openxmlformats.org/drawingml/2006/main">
            <a:off x="2190482" y="4326255"/>
            <a:ext cx="2084768"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8" name="">
            <a:extLst xmlns:a="http://schemas.openxmlformats.org/drawingml/2006/main">
              <a:ext uri="{FF2B5EF4-FFF2-40B4-BE49-F238E27FC236}">
                <a16:creationId xmlns:a16="http://schemas.microsoft.com/office/drawing/2014/main" id="{C23B461A-E362-465F-8DE9-48F211AB02C0}"/>
              </a:ext>
            </a:extLst>
          </p:cNvPr>
          <p:cNvSpPr>
            <a:spLocks xmlns:a="http://schemas.openxmlformats.org/drawingml/2006/main" noGrp="1"/>
          </p:cNvSpPr>
          <p:nvPr/>
        </p:nvSpPr>
        <p:spPr>
          <a:xfrm xmlns:a="http://schemas.openxmlformats.org/drawingml/2006/main">
            <a:off x="2228582" y="4354830"/>
            <a:ext cx="2008568"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实物库存、账务库存、预浸料批次、有效期</a:t>
            </a:r>
          </a:p>
        </p:txBody>
      </p:sp>
      <p:sp>
        <p:nvSpPr>
          <p:cNvPr id="69" name="">
            <a:extLst xmlns:a="http://schemas.openxmlformats.org/drawingml/2006/main">
              <a:ext uri="{FF2B5EF4-FFF2-40B4-BE49-F238E27FC236}">
                <a16:creationId xmlns:a16="http://schemas.microsoft.com/office/drawing/2014/main" id="{A6E3311A-883E-4AB5-8C04-792F02B88C35}"/>
              </a:ext>
            </a:extLst>
          </p:cNvPr>
          <p:cNvSpPr>
            <a:spLocks xmlns:a="http://schemas.openxmlformats.org/drawingml/2006/main" noGrp="1"/>
          </p:cNvSpPr>
          <p:nvPr/>
        </p:nvSpPr>
        <p:spPr>
          <a:xfrm xmlns:a="http://schemas.openxmlformats.org/drawingml/2006/main">
            <a:off x="4275249" y="4326255"/>
            <a:ext cx="1786944"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0" name="">
            <a:extLst xmlns:a="http://schemas.openxmlformats.org/drawingml/2006/main">
              <a:ext uri="{FF2B5EF4-FFF2-40B4-BE49-F238E27FC236}">
                <a16:creationId xmlns:a16="http://schemas.microsoft.com/office/drawing/2014/main" id="{E839C9E0-A408-46A1-9913-D79534FA990D}"/>
              </a:ext>
            </a:extLst>
          </p:cNvPr>
          <p:cNvSpPr>
            <a:spLocks xmlns:a="http://schemas.openxmlformats.org/drawingml/2006/main" noGrp="1"/>
          </p:cNvSpPr>
          <p:nvPr/>
        </p:nvSpPr>
        <p:spPr>
          <a:xfrm xmlns:a="http://schemas.openxmlformats.org/drawingml/2006/main">
            <a:off x="4313349" y="4354830"/>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WMS为实物库存黄金源，ERP为账务库存黄金源</a:t>
            </a:r>
          </a:p>
        </p:txBody>
      </p:sp>
      <p:sp>
        <p:nvSpPr>
          <p:cNvPr id="71" name="">
            <a:extLst xmlns:a="http://schemas.openxmlformats.org/drawingml/2006/main">
              <a:ext uri="{FF2B5EF4-FFF2-40B4-BE49-F238E27FC236}">
                <a16:creationId xmlns:a16="http://schemas.microsoft.com/office/drawing/2014/main" id="{C7DD50A6-13D6-45DC-B652-B23628D8F591}"/>
              </a:ext>
            </a:extLst>
          </p:cNvPr>
          <p:cNvSpPr>
            <a:spLocks xmlns:a="http://schemas.openxmlformats.org/drawingml/2006/main" noGrp="1"/>
          </p:cNvSpPr>
          <p:nvPr/>
        </p:nvSpPr>
        <p:spPr>
          <a:xfrm xmlns:a="http://schemas.openxmlformats.org/drawingml/2006/main">
            <a:off x="6062193" y="4326255"/>
            <a:ext cx="1786944"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2" name="">
            <a:extLst xmlns:a="http://schemas.openxmlformats.org/drawingml/2006/main">
              <a:ext uri="{FF2B5EF4-FFF2-40B4-BE49-F238E27FC236}">
                <a16:creationId xmlns:a16="http://schemas.microsoft.com/office/drawing/2014/main" id="{52596DFF-D219-4583-86F0-0877FE0C6DB7}"/>
              </a:ext>
            </a:extLst>
          </p:cNvPr>
          <p:cNvSpPr>
            <a:spLocks xmlns:a="http://schemas.openxmlformats.org/drawingml/2006/main" noGrp="1"/>
          </p:cNvSpPr>
          <p:nvPr/>
        </p:nvSpPr>
        <p:spPr>
          <a:xfrm xmlns:a="http://schemas.openxmlformats.org/drawingml/2006/main">
            <a:off x="6100293" y="4354830"/>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盘点差异、报废和账务调整需走审批流程</a:t>
            </a:r>
          </a:p>
        </p:txBody>
      </p:sp>
      <p:sp>
        <p:nvSpPr>
          <p:cNvPr id="73" name="">
            <a:extLst xmlns:a="http://schemas.openxmlformats.org/drawingml/2006/main">
              <a:ext uri="{FF2B5EF4-FFF2-40B4-BE49-F238E27FC236}">
                <a16:creationId xmlns:a16="http://schemas.microsoft.com/office/drawing/2014/main" id="{E2EA9512-E8DE-4E12-AFC8-3119AF5FB990}"/>
              </a:ext>
            </a:extLst>
          </p:cNvPr>
          <p:cNvSpPr>
            <a:spLocks xmlns:a="http://schemas.openxmlformats.org/drawingml/2006/main" noGrp="1"/>
          </p:cNvSpPr>
          <p:nvPr/>
        </p:nvSpPr>
        <p:spPr>
          <a:xfrm xmlns:a="http://schemas.openxmlformats.org/drawingml/2006/main">
            <a:off x="552450" y="4693920"/>
            <a:ext cx="1638032"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74" name="">
            <a:extLst xmlns:a="http://schemas.openxmlformats.org/drawingml/2006/main">
              <a:ext uri="{FF2B5EF4-FFF2-40B4-BE49-F238E27FC236}">
                <a16:creationId xmlns:a16="http://schemas.microsoft.com/office/drawing/2014/main" id="{366AECD9-DEE5-4FB0-A256-50D1A1ACA8FC}"/>
              </a:ext>
            </a:extLst>
          </p:cNvPr>
          <p:cNvSpPr>
            <a:spLocks xmlns:a="http://schemas.openxmlformats.org/drawingml/2006/main" noGrp="1"/>
          </p:cNvSpPr>
          <p:nvPr/>
        </p:nvSpPr>
        <p:spPr>
          <a:xfrm xmlns:a="http://schemas.openxmlformats.org/drawingml/2006/main">
            <a:off x="590550" y="4722495"/>
            <a:ext cx="1561832"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质量记录</a:t>
            </a:r>
          </a:p>
        </p:txBody>
      </p:sp>
      <p:sp>
        <p:nvSpPr>
          <p:cNvPr id="75" name="">
            <a:extLst xmlns:a="http://schemas.openxmlformats.org/drawingml/2006/main">
              <a:ext uri="{FF2B5EF4-FFF2-40B4-BE49-F238E27FC236}">
                <a16:creationId xmlns:a16="http://schemas.microsoft.com/office/drawing/2014/main" id="{5A9E5075-CB2C-4F47-B0AE-7A6F335582FC}"/>
              </a:ext>
            </a:extLst>
          </p:cNvPr>
          <p:cNvSpPr>
            <a:spLocks xmlns:a="http://schemas.openxmlformats.org/drawingml/2006/main" noGrp="1"/>
          </p:cNvSpPr>
          <p:nvPr/>
        </p:nvSpPr>
        <p:spPr>
          <a:xfrm xmlns:a="http://schemas.openxmlformats.org/drawingml/2006/main">
            <a:off x="2190482" y="4693920"/>
            <a:ext cx="2084768"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76" name="">
            <a:extLst xmlns:a="http://schemas.openxmlformats.org/drawingml/2006/main">
              <a:ext uri="{FF2B5EF4-FFF2-40B4-BE49-F238E27FC236}">
                <a16:creationId xmlns:a16="http://schemas.microsoft.com/office/drawing/2014/main" id="{A803382C-7BD2-4378-BE56-998C96D7647D}"/>
              </a:ext>
            </a:extLst>
          </p:cNvPr>
          <p:cNvSpPr>
            <a:spLocks xmlns:a="http://schemas.openxmlformats.org/drawingml/2006/main" noGrp="1"/>
          </p:cNvSpPr>
          <p:nvPr/>
        </p:nvSpPr>
        <p:spPr>
          <a:xfrm xmlns:a="http://schemas.openxmlformats.org/drawingml/2006/main">
            <a:off x="2228582" y="4722495"/>
            <a:ext cx="2008568"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NDT报告、检验结果、偏离/超差、放行记录</a:t>
            </a:r>
          </a:p>
        </p:txBody>
      </p:sp>
      <p:sp>
        <p:nvSpPr>
          <p:cNvPr id="77" name="">
            <a:extLst xmlns:a="http://schemas.openxmlformats.org/drawingml/2006/main">
              <a:ext uri="{FF2B5EF4-FFF2-40B4-BE49-F238E27FC236}">
                <a16:creationId xmlns:a16="http://schemas.microsoft.com/office/drawing/2014/main" id="{326E3337-06DB-4F46-ABAD-8EC24D713AB7}"/>
              </a:ext>
            </a:extLst>
          </p:cNvPr>
          <p:cNvSpPr>
            <a:spLocks xmlns:a="http://schemas.openxmlformats.org/drawingml/2006/main" noGrp="1"/>
          </p:cNvSpPr>
          <p:nvPr/>
        </p:nvSpPr>
        <p:spPr>
          <a:xfrm xmlns:a="http://schemas.openxmlformats.org/drawingml/2006/main">
            <a:off x="4275249" y="4693920"/>
            <a:ext cx="1786944"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78" name="">
            <a:extLst xmlns:a="http://schemas.openxmlformats.org/drawingml/2006/main">
              <a:ext uri="{FF2B5EF4-FFF2-40B4-BE49-F238E27FC236}">
                <a16:creationId xmlns:a16="http://schemas.microsoft.com/office/drawing/2014/main" id="{60C55665-42F3-4A0B-AD54-C6D14DDD782E}"/>
              </a:ext>
            </a:extLst>
          </p:cNvPr>
          <p:cNvSpPr>
            <a:spLocks xmlns:a="http://schemas.openxmlformats.org/drawingml/2006/main" noGrp="1"/>
          </p:cNvSpPr>
          <p:nvPr/>
        </p:nvSpPr>
        <p:spPr>
          <a:xfrm xmlns:a="http://schemas.openxmlformats.org/drawingml/2006/main">
            <a:off x="4313349" y="4722495"/>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质量系统/MES产生，PDM/PLM受控归档</a:t>
            </a:r>
          </a:p>
        </p:txBody>
      </p:sp>
      <p:sp>
        <p:nvSpPr>
          <p:cNvPr id="79" name="">
            <a:extLst xmlns:a="http://schemas.openxmlformats.org/drawingml/2006/main">
              <a:ext uri="{FF2B5EF4-FFF2-40B4-BE49-F238E27FC236}">
                <a16:creationId xmlns:a16="http://schemas.microsoft.com/office/drawing/2014/main" id="{D5E81CC1-8D07-4413-BB67-9D852FD00CAD}"/>
              </a:ext>
            </a:extLst>
          </p:cNvPr>
          <p:cNvSpPr>
            <a:spLocks xmlns:a="http://schemas.openxmlformats.org/drawingml/2006/main" noGrp="1"/>
          </p:cNvSpPr>
          <p:nvPr/>
        </p:nvSpPr>
        <p:spPr>
          <a:xfrm xmlns:a="http://schemas.openxmlformats.org/drawingml/2006/main">
            <a:off x="6062193" y="4693920"/>
            <a:ext cx="1786944" cy="367665"/>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80" name="">
            <a:extLst xmlns:a="http://schemas.openxmlformats.org/drawingml/2006/main">
              <a:ext uri="{FF2B5EF4-FFF2-40B4-BE49-F238E27FC236}">
                <a16:creationId xmlns:a16="http://schemas.microsoft.com/office/drawing/2014/main" id="{D278EEA1-0CE8-4CB9-AF73-9B0F240EB495}"/>
              </a:ext>
            </a:extLst>
          </p:cNvPr>
          <p:cNvSpPr>
            <a:spLocks xmlns:a="http://schemas.openxmlformats.org/drawingml/2006/main" noGrp="1"/>
          </p:cNvSpPr>
          <p:nvPr/>
        </p:nvSpPr>
        <p:spPr>
          <a:xfrm xmlns:a="http://schemas.openxmlformats.org/drawingml/2006/main">
            <a:off x="6100293" y="4722495"/>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需确认质量文件受控和适航追溯查询入口</a:t>
            </a:r>
          </a:p>
        </p:txBody>
      </p:sp>
      <p:sp>
        <p:nvSpPr>
          <p:cNvPr id="81" name="">
            <a:extLst xmlns:a="http://schemas.openxmlformats.org/drawingml/2006/main">
              <a:ext uri="{FF2B5EF4-FFF2-40B4-BE49-F238E27FC236}">
                <a16:creationId xmlns:a16="http://schemas.microsoft.com/office/drawing/2014/main" id="{FFE7D682-F51C-471B-85DD-DC1C8533224B}"/>
              </a:ext>
            </a:extLst>
          </p:cNvPr>
          <p:cNvSpPr>
            <a:spLocks xmlns:a="http://schemas.openxmlformats.org/drawingml/2006/main" noGrp="1"/>
          </p:cNvSpPr>
          <p:nvPr/>
        </p:nvSpPr>
        <p:spPr>
          <a:xfrm xmlns:a="http://schemas.openxmlformats.org/drawingml/2006/main">
            <a:off x="552450" y="5061585"/>
            <a:ext cx="1638032"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82" name="">
            <a:extLst xmlns:a="http://schemas.openxmlformats.org/drawingml/2006/main">
              <a:ext uri="{FF2B5EF4-FFF2-40B4-BE49-F238E27FC236}">
                <a16:creationId xmlns:a16="http://schemas.microsoft.com/office/drawing/2014/main" id="{85EB2B08-A1CA-4423-82B1-B53E42D0ACD6}"/>
              </a:ext>
            </a:extLst>
          </p:cNvPr>
          <p:cNvSpPr>
            <a:spLocks xmlns:a="http://schemas.openxmlformats.org/drawingml/2006/main" noGrp="1"/>
          </p:cNvSpPr>
          <p:nvPr/>
        </p:nvSpPr>
        <p:spPr>
          <a:xfrm xmlns:a="http://schemas.openxmlformats.org/drawingml/2006/main">
            <a:off x="590550" y="5090160"/>
            <a:ext cx="1561832"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财务凭证</a:t>
            </a:r>
          </a:p>
        </p:txBody>
      </p:sp>
      <p:sp>
        <p:nvSpPr>
          <p:cNvPr id="83" name="">
            <a:extLst xmlns:a="http://schemas.openxmlformats.org/drawingml/2006/main">
              <a:ext uri="{FF2B5EF4-FFF2-40B4-BE49-F238E27FC236}">
                <a16:creationId xmlns:a16="http://schemas.microsoft.com/office/drawing/2014/main" id="{CB2DF3DE-494F-4B10-BA7C-DEF2F575FB6B}"/>
              </a:ext>
            </a:extLst>
          </p:cNvPr>
          <p:cNvSpPr>
            <a:spLocks xmlns:a="http://schemas.openxmlformats.org/drawingml/2006/main" noGrp="1"/>
          </p:cNvSpPr>
          <p:nvPr/>
        </p:nvSpPr>
        <p:spPr>
          <a:xfrm xmlns:a="http://schemas.openxmlformats.org/drawingml/2006/main">
            <a:off x="2190482" y="5061585"/>
            <a:ext cx="2084768"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84" name="">
            <a:extLst xmlns:a="http://schemas.openxmlformats.org/drawingml/2006/main">
              <a:ext uri="{FF2B5EF4-FFF2-40B4-BE49-F238E27FC236}">
                <a16:creationId xmlns:a16="http://schemas.microsoft.com/office/drawing/2014/main" id="{0186B483-C495-4D9D-AC2A-38D8C514D457}"/>
              </a:ext>
            </a:extLst>
          </p:cNvPr>
          <p:cNvSpPr>
            <a:spLocks xmlns:a="http://schemas.openxmlformats.org/drawingml/2006/main" noGrp="1"/>
          </p:cNvSpPr>
          <p:nvPr/>
        </p:nvSpPr>
        <p:spPr>
          <a:xfrm xmlns:a="http://schemas.openxmlformats.org/drawingml/2006/main">
            <a:off x="2228582" y="5090160"/>
            <a:ext cx="2008568"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成本归集、财务核算、费用凭证</a:t>
            </a:r>
          </a:p>
        </p:txBody>
      </p:sp>
      <p:sp>
        <p:nvSpPr>
          <p:cNvPr id="85" name="">
            <a:extLst xmlns:a="http://schemas.openxmlformats.org/drawingml/2006/main">
              <a:ext uri="{FF2B5EF4-FFF2-40B4-BE49-F238E27FC236}">
                <a16:creationId xmlns:a16="http://schemas.microsoft.com/office/drawing/2014/main" id="{1575A6DC-8612-4B25-BFF8-F7AEC65630D3}"/>
              </a:ext>
            </a:extLst>
          </p:cNvPr>
          <p:cNvSpPr>
            <a:spLocks xmlns:a="http://schemas.openxmlformats.org/drawingml/2006/main" noGrp="1"/>
          </p:cNvSpPr>
          <p:nvPr/>
        </p:nvSpPr>
        <p:spPr>
          <a:xfrm xmlns:a="http://schemas.openxmlformats.org/drawingml/2006/main">
            <a:off x="4275249" y="5061585"/>
            <a:ext cx="1786944"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86" name="">
            <a:extLst xmlns:a="http://schemas.openxmlformats.org/drawingml/2006/main">
              <a:ext uri="{FF2B5EF4-FFF2-40B4-BE49-F238E27FC236}">
                <a16:creationId xmlns:a16="http://schemas.microsoft.com/office/drawing/2014/main" id="{28C94B23-16B6-4D44-8FB0-D834DDD8076B}"/>
              </a:ext>
            </a:extLst>
          </p:cNvPr>
          <p:cNvSpPr>
            <a:spLocks xmlns:a="http://schemas.openxmlformats.org/drawingml/2006/main" noGrp="1"/>
          </p:cNvSpPr>
          <p:nvPr/>
        </p:nvSpPr>
        <p:spPr>
          <a:xfrm xmlns:a="http://schemas.openxmlformats.org/drawingml/2006/main">
            <a:off x="4313349" y="5090160"/>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ERP-FI/CO</a:t>
            </a:r>
          </a:p>
        </p:txBody>
      </p:sp>
      <p:sp>
        <p:nvSpPr>
          <p:cNvPr id="87" name="">
            <a:extLst xmlns:a="http://schemas.openxmlformats.org/drawingml/2006/main">
              <a:ext uri="{FF2B5EF4-FFF2-40B4-BE49-F238E27FC236}">
                <a16:creationId xmlns:a16="http://schemas.microsoft.com/office/drawing/2014/main" id="{2F413733-539D-44F8-810D-462734DC416C}"/>
              </a:ext>
            </a:extLst>
          </p:cNvPr>
          <p:cNvSpPr>
            <a:spLocks xmlns:a="http://schemas.openxmlformats.org/drawingml/2006/main" noGrp="1"/>
          </p:cNvSpPr>
          <p:nvPr/>
        </p:nvSpPr>
        <p:spPr>
          <a:xfrm xmlns:a="http://schemas.openxmlformats.org/drawingml/2006/main">
            <a:off x="6062193" y="5061585"/>
            <a:ext cx="1786944" cy="367665"/>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88" name="">
            <a:extLst xmlns:a="http://schemas.openxmlformats.org/drawingml/2006/main">
              <a:ext uri="{FF2B5EF4-FFF2-40B4-BE49-F238E27FC236}">
                <a16:creationId xmlns:a16="http://schemas.microsoft.com/office/drawing/2014/main" id="{5AD0D111-90B9-44D4-B17D-2DE640A1AEE6}"/>
              </a:ext>
            </a:extLst>
          </p:cNvPr>
          <p:cNvSpPr>
            <a:spLocks xmlns:a="http://schemas.openxmlformats.org/drawingml/2006/main" noGrp="1"/>
          </p:cNvSpPr>
          <p:nvPr/>
        </p:nvSpPr>
        <p:spPr>
          <a:xfrm xmlns:a="http://schemas.openxmlformats.org/drawingml/2006/main">
            <a:off x="6100293" y="5090160"/>
            <a:ext cx="1710744" cy="3105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23" b="0">
                <a:solidFill>
                  <a:srgbClr val="475569"/>
                </a:solidFill>
              </a:defRPr>
            </a:pPr>
            <a:r>
              <a:rPr sz="623" b="0">
                <a:solidFill>
                  <a:srgbClr val="475569"/>
                </a:solidFill>
              </a:rPr>
              <a:t>OA只传审批结果和证据，ERP执行业务动作</a:t>
            </a:r>
          </a:p>
        </p:txBody>
      </p:sp>
      <p:sp>
        <p:nvSpPr>
          <p:cNvPr id="89" name="">
            <a:extLst xmlns:a="http://schemas.openxmlformats.org/drawingml/2006/main">
              <a:ext uri="{FF2B5EF4-FFF2-40B4-BE49-F238E27FC236}">
                <a16:creationId xmlns:a16="http://schemas.microsoft.com/office/drawing/2014/main" id="{9AAB2332-1885-44A9-AD47-668ED62D4E22}"/>
              </a:ext>
            </a:extLst>
          </p:cNvPr>
          <p:cNvSpPr>
            <a:spLocks xmlns:a="http://schemas.openxmlformats.org/drawingml/2006/main" noGrp="1"/>
          </p:cNvSpPr>
          <p:nvPr/>
        </p:nvSpPr>
        <p:spPr>
          <a:xfrm xmlns:a="http://schemas.openxmlformats.org/drawingml/2006/main">
            <a:off x="723900" y="5638800"/>
            <a:ext cx="9906000" cy="742950"/>
          </a:xfrm>
          <a:prstGeom xmlns:a="http://schemas.openxmlformats.org/drawingml/2006/main" prst="roundRect">
            <a:avLst>
              <a:gd name="adj" fmla="val 10256"/>
            </a:avLst>
          </a:prstGeom>
          <a:solidFill xmlns:a="http://schemas.openxmlformats.org/drawingml/2006/main">
            <a:srgbClr val="EFF6FF"/>
          </a:solidFill>
          <a:ln xmlns:a="http://schemas.openxmlformats.org/drawingml/2006/main" w="9525">
            <a:solidFill>
              <a:srgbClr val="E2E8F0"/>
            </a:solidFill>
            <a:prstDash val="solid"/>
          </a:ln>
        </p:spPr>
      </p:sp>
      <p:sp>
        <p:nvSpPr>
          <p:cNvPr id="90" name="">
            <a:extLst xmlns:a="http://schemas.openxmlformats.org/drawingml/2006/main">
              <a:ext uri="{FF2B5EF4-FFF2-40B4-BE49-F238E27FC236}">
                <a16:creationId xmlns:a16="http://schemas.microsoft.com/office/drawing/2014/main" id="{8C24F461-0CB6-474F-8D47-BC2CBD495661}"/>
              </a:ext>
            </a:extLst>
          </p:cNvPr>
          <p:cNvSpPr>
            <a:spLocks xmlns:a="http://schemas.openxmlformats.org/drawingml/2006/main" noGrp="1"/>
          </p:cNvSpPr>
          <p:nvPr/>
        </p:nvSpPr>
        <p:spPr>
          <a:xfrm xmlns:a="http://schemas.openxmlformats.org/drawingml/2006/main">
            <a:off x="723900" y="5638800"/>
            <a:ext cx="57150" cy="74295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91" name="">
            <a:extLst xmlns:a="http://schemas.openxmlformats.org/drawingml/2006/main">
              <a:ext uri="{FF2B5EF4-FFF2-40B4-BE49-F238E27FC236}">
                <a16:creationId xmlns:a16="http://schemas.microsoft.com/office/drawing/2014/main" id="{9CE4C86D-F342-4E7B-A599-A77F312C8E64}"/>
              </a:ext>
            </a:extLst>
          </p:cNvPr>
          <p:cNvSpPr>
            <a:spLocks xmlns:a="http://schemas.openxmlformats.org/drawingml/2006/main" noGrp="1"/>
          </p:cNvSpPr>
          <p:nvPr/>
        </p:nvSpPr>
        <p:spPr>
          <a:xfrm xmlns:a="http://schemas.openxmlformats.org/drawingml/2006/main">
            <a:off x="895350" y="5753100"/>
            <a:ext cx="956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125" b="1">
                <a:solidFill>
                  <a:srgbClr val="1A56DB"/>
                </a:solidFill>
              </a:defRPr>
            </a:pPr>
            <a:r>
              <a:rPr sz="1125" b="1">
                <a:solidFill>
                  <a:srgbClr val="1A56DB"/>
                </a:solidFill>
              </a:rPr>
              <a:t>预审口径</a:t>
            </a:r>
          </a:p>
        </p:txBody>
      </p:sp>
      <p:sp>
        <p:nvSpPr>
          <p:cNvPr id="92" name="">
            <a:extLst xmlns:a="http://schemas.openxmlformats.org/drawingml/2006/main">
              <a:ext uri="{FF2B5EF4-FFF2-40B4-BE49-F238E27FC236}">
                <a16:creationId xmlns:a16="http://schemas.microsoft.com/office/drawing/2014/main" id="{0FA17228-96F7-4E8A-A43D-0BB0C9B5E79C}"/>
              </a:ext>
            </a:extLst>
          </p:cNvPr>
          <p:cNvSpPr>
            <a:spLocks xmlns:a="http://schemas.openxmlformats.org/drawingml/2006/main" noGrp="1"/>
          </p:cNvSpPr>
          <p:nvPr/>
        </p:nvSpPr>
        <p:spPr>
          <a:xfrm xmlns:a="http://schemas.openxmlformats.org/drawingml/2006/main">
            <a:off x="895350" y="6019800"/>
            <a:ext cx="95631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00" b="0">
                <a:solidFill>
                  <a:srgbClr val="475569"/>
                </a:solidFill>
              </a:defRPr>
            </a:pPr>
            <a:r>
              <a:rPr sz="900" b="0">
                <a:solidFill>
                  <a:srgbClr val="475569"/>
                </a:solidFill>
              </a:rPr>
              <a:t>字段唯一权威来源必须与组织职责、流程确认人、主数据责任人同步确认；PLM已定事项进入一期边界，接口字段和未补资料项继续标注待确认。</a:t>
            </a:r>
          </a:p>
        </p:txBody>
      </p:sp>
      <p:sp>
        <p:nvSpPr>
          <p:cNvPr id="93" name="">
            <a:extLst xmlns:a="http://schemas.openxmlformats.org/drawingml/2006/main">
              <a:ext uri="{FF2B5EF4-FFF2-40B4-BE49-F238E27FC236}">
                <a16:creationId xmlns:a16="http://schemas.microsoft.com/office/drawing/2014/main" id="{E8D58139-AD9A-448B-AF47-F0FE0A73383D}"/>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18 / 29</a:t>
            </a:r>
          </a:p>
        </p:txBody>
      </p:sp>
    </p:spTree>
    <p:extLst>
      <p:ext uri="{BB962C8B-B14F-4D97-AF65-F5344CB8AC3E}">
        <p14:creationId xmlns:p14="http://schemas.microsoft.com/office/powerpoint/2010/main" val="1693990798"/>
      </p:ext>
    </p:extLst>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0A0DAC09-DF76-4F33-AAC4-8344998FBF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6400B3A-6539-48AA-9CA4-499A65CA485C}"/>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3862BE3-9B9D-490E-84B3-5EF9D58BC8C7}"/>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E40A00F-6BB7-4483-B4AA-0A69E007193D}"/>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03.4 数据中台</a:t>
            </a:r>
          </a:p>
        </p:txBody>
      </p:sp>
      <p:sp>
        <p:nvSpPr>
          <p:cNvPr id="6" name="">
            <a:extLst xmlns:a="http://schemas.openxmlformats.org/drawingml/2006/main">
              <a:ext uri="{FF2B5EF4-FFF2-40B4-BE49-F238E27FC236}">
                <a16:creationId xmlns:a16="http://schemas.microsoft.com/office/drawing/2014/main" id="{A768C02A-ACE3-4145-B528-99069EF6B653}"/>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6940C4AD-6C7B-486B-BD82-19B9AB281A7C}"/>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数据中台架构</a:t>
            </a:r>
          </a:p>
        </p:txBody>
      </p:sp>
      <p:sp>
        <p:nvSpPr>
          <p:cNvPr id="8" name="">
            <a:extLst xmlns:a="http://schemas.openxmlformats.org/drawingml/2006/main">
              <a:ext uri="{FF2B5EF4-FFF2-40B4-BE49-F238E27FC236}">
                <a16:creationId xmlns:a16="http://schemas.microsoft.com/office/drawing/2014/main" id="{21C43878-8945-4D9D-91C3-B141C8475F2A}"/>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点对点 vs 集成总线 · Q7 核心决策</a:t>
            </a:r>
          </a:p>
        </p:txBody>
      </p:sp>
      <p:sp>
        <p:nvSpPr>
          <p:cNvPr id="9" name="">
            <a:extLst xmlns:a="http://schemas.openxmlformats.org/drawingml/2006/main">
              <a:ext uri="{FF2B5EF4-FFF2-40B4-BE49-F238E27FC236}">
                <a16:creationId xmlns:a16="http://schemas.microsoft.com/office/drawing/2014/main" id="{8BE18A3C-B4B6-49F6-A041-48E68E016484}"/>
              </a:ext>
            </a:extLst>
          </p:cNvPr>
          <p:cNvSpPr>
            <a:spLocks xmlns:a="http://schemas.openxmlformats.org/drawingml/2006/main" noGrp="1"/>
          </p:cNvSpPr>
          <p:nvPr/>
        </p:nvSpPr>
        <p:spPr>
          <a:xfrm xmlns:a="http://schemas.openxmlformats.org/drawingml/2006/main">
            <a:off x="552450" y="1809750"/>
            <a:ext cx="966716" cy="2857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0" name="">
            <a:extLst xmlns:a="http://schemas.openxmlformats.org/drawingml/2006/main">
              <a:ext uri="{FF2B5EF4-FFF2-40B4-BE49-F238E27FC236}">
                <a16:creationId xmlns:a16="http://schemas.microsoft.com/office/drawing/2014/main" id="{076248D7-A2E0-4548-8D5D-F147D0328FC1}"/>
              </a:ext>
            </a:extLst>
          </p:cNvPr>
          <p:cNvSpPr>
            <a:spLocks xmlns:a="http://schemas.openxmlformats.org/drawingml/2006/main" noGrp="1"/>
          </p:cNvSpPr>
          <p:nvPr/>
        </p:nvSpPr>
        <p:spPr>
          <a:xfrm xmlns:a="http://schemas.openxmlformats.org/drawingml/2006/main">
            <a:off x="590550" y="1838325"/>
            <a:ext cx="89051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1">
                <a:solidFill>
                  <a:srgbClr val="FFFFFF"/>
                </a:solidFill>
              </a:defRPr>
            </a:pPr>
            <a:r>
              <a:rPr sz="675" b="1">
                <a:solidFill>
                  <a:srgbClr val="FFFFFF"/>
                </a:solidFill>
              </a:rPr>
              <a:t>维度</a:t>
            </a:r>
          </a:p>
        </p:txBody>
      </p:sp>
      <p:sp>
        <p:nvSpPr>
          <p:cNvPr id="11" name="">
            <a:extLst xmlns:a="http://schemas.openxmlformats.org/drawingml/2006/main">
              <a:ext uri="{FF2B5EF4-FFF2-40B4-BE49-F238E27FC236}">
                <a16:creationId xmlns:a16="http://schemas.microsoft.com/office/drawing/2014/main" id="{A876A74E-244F-40E0-B1D6-114DD97A8F17}"/>
              </a:ext>
            </a:extLst>
          </p:cNvPr>
          <p:cNvSpPr>
            <a:spLocks xmlns:a="http://schemas.openxmlformats.org/drawingml/2006/main" noGrp="1"/>
          </p:cNvSpPr>
          <p:nvPr/>
        </p:nvSpPr>
        <p:spPr>
          <a:xfrm xmlns:a="http://schemas.openxmlformats.org/drawingml/2006/main">
            <a:off x="1519166" y="1809750"/>
            <a:ext cx="2126776" cy="2857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2" name="">
            <a:extLst xmlns:a="http://schemas.openxmlformats.org/drawingml/2006/main">
              <a:ext uri="{FF2B5EF4-FFF2-40B4-BE49-F238E27FC236}">
                <a16:creationId xmlns:a16="http://schemas.microsoft.com/office/drawing/2014/main" id="{CA0A0D09-3E29-4FC9-B53F-E90F718D3CCD}"/>
              </a:ext>
            </a:extLst>
          </p:cNvPr>
          <p:cNvSpPr>
            <a:spLocks xmlns:a="http://schemas.openxmlformats.org/drawingml/2006/main" noGrp="1"/>
          </p:cNvSpPr>
          <p:nvPr/>
        </p:nvSpPr>
        <p:spPr>
          <a:xfrm xmlns:a="http://schemas.openxmlformats.org/drawingml/2006/main">
            <a:off x="1557266" y="1838325"/>
            <a:ext cx="205057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1">
                <a:solidFill>
                  <a:srgbClr val="FFFFFF"/>
                </a:solidFill>
              </a:defRPr>
            </a:pPr>
            <a:r>
              <a:rPr sz="675" b="1">
                <a:solidFill>
                  <a:srgbClr val="FFFFFF"/>
                </a:solidFill>
              </a:rPr>
              <a:t>方案A：点对点集成</a:t>
            </a:r>
          </a:p>
        </p:txBody>
      </p:sp>
      <p:sp>
        <p:nvSpPr>
          <p:cNvPr id="13" name="">
            <a:extLst xmlns:a="http://schemas.openxmlformats.org/drawingml/2006/main">
              <a:ext uri="{FF2B5EF4-FFF2-40B4-BE49-F238E27FC236}">
                <a16:creationId xmlns:a16="http://schemas.microsoft.com/office/drawing/2014/main" id="{23F03E2D-17A1-4C5A-AF4E-F60C442E8572}"/>
              </a:ext>
            </a:extLst>
          </p:cNvPr>
          <p:cNvSpPr>
            <a:spLocks xmlns:a="http://schemas.openxmlformats.org/drawingml/2006/main" noGrp="1"/>
          </p:cNvSpPr>
          <p:nvPr/>
        </p:nvSpPr>
        <p:spPr>
          <a:xfrm xmlns:a="http://schemas.openxmlformats.org/drawingml/2006/main">
            <a:off x="3645943" y="1809750"/>
            <a:ext cx="1933433" cy="2857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4" name="">
            <a:extLst xmlns:a="http://schemas.openxmlformats.org/drawingml/2006/main">
              <a:ext uri="{FF2B5EF4-FFF2-40B4-BE49-F238E27FC236}">
                <a16:creationId xmlns:a16="http://schemas.microsoft.com/office/drawing/2014/main" id="{9C1C8391-0206-486A-AFDA-06517071F479}"/>
              </a:ext>
            </a:extLst>
          </p:cNvPr>
          <p:cNvSpPr>
            <a:spLocks xmlns:a="http://schemas.openxmlformats.org/drawingml/2006/main" noGrp="1"/>
          </p:cNvSpPr>
          <p:nvPr/>
        </p:nvSpPr>
        <p:spPr>
          <a:xfrm xmlns:a="http://schemas.openxmlformats.org/drawingml/2006/main">
            <a:off x="3684043" y="1838325"/>
            <a:ext cx="1857233"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1">
                <a:solidFill>
                  <a:srgbClr val="FFFFFF"/>
                </a:solidFill>
              </a:defRPr>
            </a:pPr>
            <a:r>
              <a:rPr sz="675" b="1">
                <a:solidFill>
                  <a:srgbClr val="FFFFFF"/>
                </a:solidFill>
              </a:rPr>
              <a:t>方案B：数据中台/集成总线</a:t>
            </a:r>
          </a:p>
        </p:txBody>
      </p:sp>
      <p:sp>
        <p:nvSpPr>
          <p:cNvPr id="15" name="">
            <a:extLst xmlns:a="http://schemas.openxmlformats.org/drawingml/2006/main">
              <a:ext uri="{FF2B5EF4-FFF2-40B4-BE49-F238E27FC236}">
                <a16:creationId xmlns:a16="http://schemas.microsoft.com/office/drawing/2014/main" id="{FC6D34CA-1DE5-47F9-8097-684341ACB3D6}"/>
              </a:ext>
            </a:extLst>
          </p:cNvPr>
          <p:cNvSpPr>
            <a:spLocks xmlns:a="http://schemas.openxmlformats.org/drawingml/2006/main" noGrp="1"/>
          </p:cNvSpPr>
          <p:nvPr/>
        </p:nvSpPr>
        <p:spPr>
          <a:xfrm xmlns:a="http://schemas.openxmlformats.org/drawingml/2006/main">
            <a:off x="552450" y="2095500"/>
            <a:ext cx="966716" cy="2857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6" name="">
            <a:extLst xmlns:a="http://schemas.openxmlformats.org/drawingml/2006/main">
              <a:ext uri="{FF2B5EF4-FFF2-40B4-BE49-F238E27FC236}">
                <a16:creationId xmlns:a16="http://schemas.microsoft.com/office/drawing/2014/main" id="{57AC5E73-344C-49DE-9A32-F2F5BA48D28A}"/>
              </a:ext>
            </a:extLst>
          </p:cNvPr>
          <p:cNvSpPr>
            <a:spLocks xmlns:a="http://schemas.openxmlformats.org/drawingml/2006/main" noGrp="1"/>
          </p:cNvSpPr>
          <p:nvPr/>
        </p:nvSpPr>
        <p:spPr>
          <a:xfrm xmlns:a="http://schemas.openxmlformats.org/drawingml/2006/main">
            <a:off x="590550" y="2124075"/>
            <a:ext cx="89051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架构</a:t>
            </a:r>
          </a:p>
        </p:txBody>
      </p:sp>
      <p:sp>
        <p:nvSpPr>
          <p:cNvPr id="17" name="">
            <a:extLst xmlns:a="http://schemas.openxmlformats.org/drawingml/2006/main">
              <a:ext uri="{FF2B5EF4-FFF2-40B4-BE49-F238E27FC236}">
                <a16:creationId xmlns:a16="http://schemas.microsoft.com/office/drawing/2014/main" id="{42D9EE38-632C-48D0-99F0-5A5766F95725}"/>
              </a:ext>
            </a:extLst>
          </p:cNvPr>
          <p:cNvSpPr>
            <a:spLocks xmlns:a="http://schemas.openxmlformats.org/drawingml/2006/main" noGrp="1"/>
          </p:cNvSpPr>
          <p:nvPr/>
        </p:nvSpPr>
        <p:spPr>
          <a:xfrm xmlns:a="http://schemas.openxmlformats.org/drawingml/2006/main">
            <a:off x="1519166" y="2095500"/>
            <a:ext cx="2126776" cy="2857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8" name="">
            <a:extLst xmlns:a="http://schemas.openxmlformats.org/drawingml/2006/main">
              <a:ext uri="{FF2B5EF4-FFF2-40B4-BE49-F238E27FC236}">
                <a16:creationId xmlns:a16="http://schemas.microsoft.com/office/drawing/2014/main" id="{E2D1DC4F-197D-40E5-8BBF-EF72900A9105}"/>
              </a:ext>
            </a:extLst>
          </p:cNvPr>
          <p:cNvSpPr>
            <a:spLocks xmlns:a="http://schemas.openxmlformats.org/drawingml/2006/main" noGrp="1"/>
          </p:cNvSpPr>
          <p:nvPr/>
        </p:nvSpPr>
        <p:spPr>
          <a:xfrm xmlns:a="http://schemas.openxmlformats.org/drawingml/2006/main">
            <a:off x="1557266" y="2124075"/>
            <a:ext cx="205057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系统间两两直连</a:t>
            </a:r>
          </a:p>
        </p:txBody>
      </p:sp>
      <p:sp>
        <p:nvSpPr>
          <p:cNvPr id="19" name="">
            <a:extLst xmlns:a="http://schemas.openxmlformats.org/drawingml/2006/main">
              <a:ext uri="{FF2B5EF4-FFF2-40B4-BE49-F238E27FC236}">
                <a16:creationId xmlns:a16="http://schemas.microsoft.com/office/drawing/2014/main" id="{72B39F79-9A7D-442E-8D11-2F449E5A8970}"/>
              </a:ext>
            </a:extLst>
          </p:cNvPr>
          <p:cNvSpPr>
            <a:spLocks xmlns:a="http://schemas.openxmlformats.org/drawingml/2006/main" noGrp="1"/>
          </p:cNvSpPr>
          <p:nvPr/>
        </p:nvSpPr>
        <p:spPr>
          <a:xfrm xmlns:a="http://schemas.openxmlformats.org/drawingml/2006/main">
            <a:off x="3645943" y="2095500"/>
            <a:ext cx="1933433" cy="2857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0" name="">
            <a:extLst xmlns:a="http://schemas.openxmlformats.org/drawingml/2006/main">
              <a:ext uri="{FF2B5EF4-FFF2-40B4-BE49-F238E27FC236}">
                <a16:creationId xmlns:a16="http://schemas.microsoft.com/office/drawing/2014/main" id="{5BB31C11-5827-4538-B38C-6D135B101777}"/>
              </a:ext>
            </a:extLst>
          </p:cNvPr>
          <p:cNvSpPr>
            <a:spLocks xmlns:a="http://schemas.openxmlformats.org/drawingml/2006/main" noGrp="1"/>
          </p:cNvSpPr>
          <p:nvPr/>
        </p:nvSpPr>
        <p:spPr>
          <a:xfrm xmlns:a="http://schemas.openxmlformats.org/drawingml/2006/main">
            <a:off x="3684043" y="2124075"/>
            <a:ext cx="1857233"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统一中间层，所有系统接中台</a:t>
            </a:r>
          </a:p>
        </p:txBody>
      </p:sp>
      <p:sp>
        <p:nvSpPr>
          <p:cNvPr id="21" name="">
            <a:extLst xmlns:a="http://schemas.openxmlformats.org/drawingml/2006/main">
              <a:ext uri="{FF2B5EF4-FFF2-40B4-BE49-F238E27FC236}">
                <a16:creationId xmlns:a16="http://schemas.microsoft.com/office/drawing/2014/main" id="{EFDB4B01-6878-4561-A4C5-EC9A3121C341}"/>
              </a:ext>
            </a:extLst>
          </p:cNvPr>
          <p:cNvSpPr>
            <a:spLocks xmlns:a="http://schemas.openxmlformats.org/drawingml/2006/main" noGrp="1"/>
          </p:cNvSpPr>
          <p:nvPr/>
        </p:nvSpPr>
        <p:spPr>
          <a:xfrm xmlns:a="http://schemas.openxmlformats.org/drawingml/2006/main">
            <a:off x="552450" y="2381250"/>
            <a:ext cx="966716" cy="2857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22" name="">
            <a:extLst xmlns:a="http://schemas.openxmlformats.org/drawingml/2006/main">
              <a:ext uri="{FF2B5EF4-FFF2-40B4-BE49-F238E27FC236}">
                <a16:creationId xmlns:a16="http://schemas.microsoft.com/office/drawing/2014/main" id="{FEC6837E-4363-407C-939A-A4A81C0EDFD9}"/>
              </a:ext>
            </a:extLst>
          </p:cNvPr>
          <p:cNvSpPr>
            <a:spLocks xmlns:a="http://schemas.openxmlformats.org/drawingml/2006/main" noGrp="1"/>
          </p:cNvSpPr>
          <p:nvPr/>
        </p:nvSpPr>
        <p:spPr>
          <a:xfrm xmlns:a="http://schemas.openxmlformats.org/drawingml/2006/main">
            <a:off x="590550" y="2409825"/>
            <a:ext cx="89051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接口数量</a:t>
            </a:r>
          </a:p>
        </p:txBody>
      </p:sp>
      <p:sp>
        <p:nvSpPr>
          <p:cNvPr id="23" name="">
            <a:extLst xmlns:a="http://schemas.openxmlformats.org/drawingml/2006/main">
              <a:ext uri="{FF2B5EF4-FFF2-40B4-BE49-F238E27FC236}">
                <a16:creationId xmlns:a16="http://schemas.microsoft.com/office/drawing/2014/main" id="{B1A87572-0242-4746-A473-AD37C7211377}"/>
              </a:ext>
            </a:extLst>
          </p:cNvPr>
          <p:cNvSpPr>
            <a:spLocks xmlns:a="http://schemas.openxmlformats.org/drawingml/2006/main" noGrp="1"/>
          </p:cNvSpPr>
          <p:nvPr/>
        </p:nvSpPr>
        <p:spPr>
          <a:xfrm xmlns:a="http://schemas.openxmlformats.org/drawingml/2006/main">
            <a:off x="1519166" y="2381250"/>
            <a:ext cx="2126776" cy="2857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24" name="">
            <a:extLst xmlns:a="http://schemas.openxmlformats.org/drawingml/2006/main">
              <a:ext uri="{FF2B5EF4-FFF2-40B4-BE49-F238E27FC236}">
                <a16:creationId xmlns:a16="http://schemas.microsoft.com/office/drawing/2014/main" id="{D79B0337-603A-4364-85A6-8C4D89FD8DEA}"/>
              </a:ext>
            </a:extLst>
          </p:cNvPr>
          <p:cNvSpPr>
            <a:spLocks xmlns:a="http://schemas.openxmlformats.org/drawingml/2006/main" noGrp="1"/>
          </p:cNvSpPr>
          <p:nvPr/>
        </p:nvSpPr>
        <p:spPr>
          <a:xfrm xmlns:a="http://schemas.openxmlformats.org/drawingml/2006/main">
            <a:off x="1557266" y="2409825"/>
            <a:ext cx="205057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N×(N-1)/2，8系统=28条</a:t>
            </a:r>
          </a:p>
        </p:txBody>
      </p:sp>
      <p:sp>
        <p:nvSpPr>
          <p:cNvPr id="25" name="">
            <a:extLst xmlns:a="http://schemas.openxmlformats.org/drawingml/2006/main">
              <a:ext uri="{FF2B5EF4-FFF2-40B4-BE49-F238E27FC236}">
                <a16:creationId xmlns:a16="http://schemas.microsoft.com/office/drawing/2014/main" id="{A02B045D-B207-4C1A-8E64-506A4DAE01CA}"/>
              </a:ext>
            </a:extLst>
          </p:cNvPr>
          <p:cNvSpPr>
            <a:spLocks xmlns:a="http://schemas.openxmlformats.org/drawingml/2006/main" noGrp="1"/>
          </p:cNvSpPr>
          <p:nvPr/>
        </p:nvSpPr>
        <p:spPr>
          <a:xfrm xmlns:a="http://schemas.openxmlformats.org/drawingml/2006/main">
            <a:off x="3645943" y="2381250"/>
            <a:ext cx="1933433" cy="2857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26" name="">
            <a:extLst xmlns:a="http://schemas.openxmlformats.org/drawingml/2006/main">
              <a:ext uri="{FF2B5EF4-FFF2-40B4-BE49-F238E27FC236}">
                <a16:creationId xmlns:a16="http://schemas.microsoft.com/office/drawing/2014/main" id="{7663CDEE-2B7D-4F3D-9F9F-7B0566CC4B10}"/>
              </a:ext>
            </a:extLst>
          </p:cNvPr>
          <p:cNvSpPr>
            <a:spLocks xmlns:a="http://schemas.openxmlformats.org/drawingml/2006/main" noGrp="1"/>
          </p:cNvSpPr>
          <p:nvPr/>
        </p:nvSpPr>
        <p:spPr>
          <a:xfrm xmlns:a="http://schemas.openxmlformats.org/drawingml/2006/main">
            <a:off x="3684043" y="2409825"/>
            <a:ext cx="1857233"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N条，8系统=8条</a:t>
            </a:r>
          </a:p>
        </p:txBody>
      </p:sp>
      <p:sp>
        <p:nvSpPr>
          <p:cNvPr id="27" name="">
            <a:extLst xmlns:a="http://schemas.openxmlformats.org/drawingml/2006/main">
              <a:ext uri="{FF2B5EF4-FFF2-40B4-BE49-F238E27FC236}">
                <a16:creationId xmlns:a16="http://schemas.microsoft.com/office/drawing/2014/main" id="{B5ABDC87-2393-4BDB-8C9A-0697D7F5DCB2}"/>
              </a:ext>
            </a:extLst>
          </p:cNvPr>
          <p:cNvSpPr>
            <a:spLocks xmlns:a="http://schemas.openxmlformats.org/drawingml/2006/main" noGrp="1"/>
          </p:cNvSpPr>
          <p:nvPr/>
        </p:nvSpPr>
        <p:spPr>
          <a:xfrm xmlns:a="http://schemas.openxmlformats.org/drawingml/2006/main">
            <a:off x="552450" y="2667000"/>
            <a:ext cx="966716" cy="2857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8" name="">
            <a:extLst xmlns:a="http://schemas.openxmlformats.org/drawingml/2006/main">
              <a:ext uri="{FF2B5EF4-FFF2-40B4-BE49-F238E27FC236}">
                <a16:creationId xmlns:a16="http://schemas.microsoft.com/office/drawing/2014/main" id="{B8969068-98FD-428C-9CC6-0CDD23F97C21}"/>
              </a:ext>
            </a:extLst>
          </p:cNvPr>
          <p:cNvSpPr>
            <a:spLocks xmlns:a="http://schemas.openxmlformats.org/drawingml/2006/main" noGrp="1"/>
          </p:cNvSpPr>
          <p:nvPr/>
        </p:nvSpPr>
        <p:spPr>
          <a:xfrm xmlns:a="http://schemas.openxmlformats.org/drawingml/2006/main">
            <a:off x="590550" y="2695575"/>
            <a:ext cx="89051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建设成本</a:t>
            </a:r>
          </a:p>
        </p:txBody>
      </p:sp>
      <p:sp>
        <p:nvSpPr>
          <p:cNvPr id="29" name="">
            <a:extLst xmlns:a="http://schemas.openxmlformats.org/drawingml/2006/main">
              <a:ext uri="{FF2B5EF4-FFF2-40B4-BE49-F238E27FC236}">
                <a16:creationId xmlns:a16="http://schemas.microsoft.com/office/drawing/2014/main" id="{5D98F740-945C-48CB-A76A-CC5AA896D1B0}"/>
              </a:ext>
            </a:extLst>
          </p:cNvPr>
          <p:cNvSpPr>
            <a:spLocks xmlns:a="http://schemas.openxmlformats.org/drawingml/2006/main" noGrp="1"/>
          </p:cNvSpPr>
          <p:nvPr/>
        </p:nvSpPr>
        <p:spPr>
          <a:xfrm xmlns:a="http://schemas.openxmlformats.org/drawingml/2006/main">
            <a:off x="1519166" y="2667000"/>
            <a:ext cx="2126776" cy="2857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0" name="">
            <a:extLst xmlns:a="http://schemas.openxmlformats.org/drawingml/2006/main">
              <a:ext uri="{FF2B5EF4-FFF2-40B4-BE49-F238E27FC236}">
                <a16:creationId xmlns:a16="http://schemas.microsoft.com/office/drawing/2014/main" id="{A7835275-C83D-44DC-8373-D7AE20B0286C}"/>
              </a:ext>
            </a:extLst>
          </p:cNvPr>
          <p:cNvSpPr>
            <a:spLocks xmlns:a="http://schemas.openxmlformats.org/drawingml/2006/main" noGrp="1"/>
          </p:cNvSpPr>
          <p:nvPr/>
        </p:nvSpPr>
        <p:spPr>
          <a:xfrm xmlns:a="http://schemas.openxmlformats.org/drawingml/2006/main">
            <a:off x="1557266" y="2695575"/>
            <a:ext cx="205057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低（短期）</a:t>
            </a:r>
          </a:p>
        </p:txBody>
      </p:sp>
      <p:sp>
        <p:nvSpPr>
          <p:cNvPr id="31" name="">
            <a:extLst xmlns:a="http://schemas.openxmlformats.org/drawingml/2006/main">
              <a:ext uri="{FF2B5EF4-FFF2-40B4-BE49-F238E27FC236}">
                <a16:creationId xmlns:a16="http://schemas.microsoft.com/office/drawing/2014/main" id="{E9E4BDB2-C455-4157-BC2F-088711DAB2DD}"/>
              </a:ext>
            </a:extLst>
          </p:cNvPr>
          <p:cNvSpPr>
            <a:spLocks xmlns:a="http://schemas.openxmlformats.org/drawingml/2006/main" noGrp="1"/>
          </p:cNvSpPr>
          <p:nvPr/>
        </p:nvSpPr>
        <p:spPr>
          <a:xfrm xmlns:a="http://schemas.openxmlformats.org/drawingml/2006/main">
            <a:off x="3645943" y="2667000"/>
            <a:ext cx="1933433" cy="2857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2" name="">
            <a:extLst xmlns:a="http://schemas.openxmlformats.org/drawingml/2006/main">
              <a:ext uri="{FF2B5EF4-FFF2-40B4-BE49-F238E27FC236}">
                <a16:creationId xmlns:a16="http://schemas.microsoft.com/office/drawing/2014/main" id="{702E4544-2200-4E7F-9A9A-5C78AE811A11}"/>
              </a:ext>
            </a:extLst>
          </p:cNvPr>
          <p:cNvSpPr>
            <a:spLocks xmlns:a="http://schemas.openxmlformats.org/drawingml/2006/main" noGrp="1"/>
          </p:cNvSpPr>
          <p:nvPr/>
        </p:nvSpPr>
        <p:spPr>
          <a:xfrm xmlns:a="http://schemas.openxmlformats.org/drawingml/2006/main">
            <a:off x="3684043" y="2695575"/>
            <a:ext cx="1857233"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高（需额外建设）</a:t>
            </a:r>
          </a:p>
        </p:txBody>
      </p:sp>
      <p:sp>
        <p:nvSpPr>
          <p:cNvPr id="33" name="">
            <a:extLst xmlns:a="http://schemas.openxmlformats.org/drawingml/2006/main">
              <a:ext uri="{FF2B5EF4-FFF2-40B4-BE49-F238E27FC236}">
                <a16:creationId xmlns:a16="http://schemas.microsoft.com/office/drawing/2014/main" id="{974097E7-BDF3-4CA7-BC40-04695C44897C}"/>
              </a:ext>
            </a:extLst>
          </p:cNvPr>
          <p:cNvSpPr>
            <a:spLocks xmlns:a="http://schemas.openxmlformats.org/drawingml/2006/main" noGrp="1"/>
          </p:cNvSpPr>
          <p:nvPr/>
        </p:nvSpPr>
        <p:spPr>
          <a:xfrm xmlns:a="http://schemas.openxmlformats.org/drawingml/2006/main">
            <a:off x="552450" y="2952750"/>
            <a:ext cx="966716" cy="2857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4" name="">
            <a:extLst xmlns:a="http://schemas.openxmlformats.org/drawingml/2006/main">
              <a:ext uri="{FF2B5EF4-FFF2-40B4-BE49-F238E27FC236}">
                <a16:creationId xmlns:a16="http://schemas.microsoft.com/office/drawing/2014/main" id="{CC7AC62E-0DFB-4F26-97A6-A8883C087F46}"/>
              </a:ext>
            </a:extLst>
          </p:cNvPr>
          <p:cNvSpPr>
            <a:spLocks xmlns:a="http://schemas.openxmlformats.org/drawingml/2006/main" noGrp="1"/>
          </p:cNvSpPr>
          <p:nvPr/>
        </p:nvSpPr>
        <p:spPr>
          <a:xfrm xmlns:a="http://schemas.openxmlformats.org/drawingml/2006/main">
            <a:off x="590550" y="2981325"/>
            <a:ext cx="89051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维护成本</a:t>
            </a:r>
          </a:p>
        </p:txBody>
      </p:sp>
      <p:sp>
        <p:nvSpPr>
          <p:cNvPr id="35" name="">
            <a:extLst xmlns:a="http://schemas.openxmlformats.org/drawingml/2006/main">
              <a:ext uri="{FF2B5EF4-FFF2-40B4-BE49-F238E27FC236}">
                <a16:creationId xmlns:a16="http://schemas.microsoft.com/office/drawing/2014/main" id="{E657B575-420B-4424-8BFC-8DDB95980482}"/>
              </a:ext>
            </a:extLst>
          </p:cNvPr>
          <p:cNvSpPr>
            <a:spLocks xmlns:a="http://schemas.openxmlformats.org/drawingml/2006/main" noGrp="1"/>
          </p:cNvSpPr>
          <p:nvPr/>
        </p:nvSpPr>
        <p:spPr>
          <a:xfrm xmlns:a="http://schemas.openxmlformats.org/drawingml/2006/main">
            <a:off x="1519166" y="2952750"/>
            <a:ext cx="2126776" cy="2857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6" name="">
            <a:extLst xmlns:a="http://schemas.openxmlformats.org/drawingml/2006/main">
              <a:ext uri="{FF2B5EF4-FFF2-40B4-BE49-F238E27FC236}">
                <a16:creationId xmlns:a16="http://schemas.microsoft.com/office/drawing/2014/main" id="{7EC805D1-C23A-4976-89CA-7A9869FEB4ED}"/>
              </a:ext>
            </a:extLst>
          </p:cNvPr>
          <p:cNvSpPr>
            <a:spLocks xmlns:a="http://schemas.openxmlformats.org/drawingml/2006/main" noGrp="1"/>
          </p:cNvSpPr>
          <p:nvPr/>
        </p:nvSpPr>
        <p:spPr>
          <a:xfrm xmlns:a="http://schemas.openxmlformats.org/drawingml/2006/main">
            <a:off x="1557266" y="2981325"/>
            <a:ext cx="205057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高（任一系统升级影响多条接口）</a:t>
            </a:r>
          </a:p>
        </p:txBody>
      </p:sp>
      <p:sp>
        <p:nvSpPr>
          <p:cNvPr id="37" name="">
            <a:extLst xmlns:a="http://schemas.openxmlformats.org/drawingml/2006/main">
              <a:ext uri="{FF2B5EF4-FFF2-40B4-BE49-F238E27FC236}">
                <a16:creationId xmlns:a16="http://schemas.microsoft.com/office/drawing/2014/main" id="{EBFC1880-7955-4FFC-B544-145628E9F37A}"/>
              </a:ext>
            </a:extLst>
          </p:cNvPr>
          <p:cNvSpPr>
            <a:spLocks xmlns:a="http://schemas.openxmlformats.org/drawingml/2006/main" noGrp="1"/>
          </p:cNvSpPr>
          <p:nvPr/>
        </p:nvSpPr>
        <p:spPr>
          <a:xfrm xmlns:a="http://schemas.openxmlformats.org/drawingml/2006/main">
            <a:off x="3645943" y="2952750"/>
            <a:ext cx="1933433" cy="2857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8" name="">
            <a:extLst xmlns:a="http://schemas.openxmlformats.org/drawingml/2006/main">
              <a:ext uri="{FF2B5EF4-FFF2-40B4-BE49-F238E27FC236}">
                <a16:creationId xmlns:a16="http://schemas.microsoft.com/office/drawing/2014/main" id="{F34DFB30-25D7-4BB0-9FF3-9B13AECD404B}"/>
              </a:ext>
            </a:extLst>
          </p:cNvPr>
          <p:cNvSpPr>
            <a:spLocks xmlns:a="http://schemas.openxmlformats.org/drawingml/2006/main" noGrp="1"/>
          </p:cNvSpPr>
          <p:nvPr/>
        </p:nvSpPr>
        <p:spPr>
          <a:xfrm xmlns:a="http://schemas.openxmlformats.org/drawingml/2006/main">
            <a:off x="3684043" y="2981325"/>
            <a:ext cx="1857233"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低（只改中台适配器）</a:t>
            </a:r>
          </a:p>
        </p:txBody>
      </p:sp>
      <p:sp>
        <p:nvSpPr>
          <p:cNvPr id="39" name="">
            <a:extLst xmlns:a="http://schemas.openxmlformats.org/drawingml/2006/main">
              <a:ext uri="{FF2B5EF4-FFF2-40B4-BE49-F238E27FC236}">
                <a16:creationId xmlns:a16="http://schemas.microsoft.com/office/drawing/2014/main" id="{12944160-618C-4F7E-9348-9FD6950991E8}"/>
              </a:ext>
            </a:extLst>
          </p:cNvPr>
          <p:cNvSpPr>
            <a:spLocks xmlns:a="http://schemas.openxmlformats.org/drawingml/2006/main" noGrp="1"/>
          </p:cNvSpPr>
          <p:nvPr/>
        </p:nvSpPr>
        <p:spPr>
          <a:xfrm xmlns:a="http://schemas.openxmlformats.org/drawingml/2006/main">
            <a:off x="552450" y="3238500"/>
            <a:ext cx="966716" cy="2857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0" name="">
            <a:extLst xmlns:a="http://schemas.openxmlformats.org/drawingml/2006/main">
              <a:ext uri="{FF2B5EF4-FFF2-40B4-BE49-F238E27FC236}">
                <a16:creationId xmlns:a16="http://schemas.microsoft.com/office/drawing/2014/main" id="{B39DC5FD-2A1D-4BF5-8D21-88F88BD14D88}"/>
              </a:ext>
            </a:extLst>
          </p:cNvPr>
          <p:cNvSpPr>
            <a:spLocks xmlns:a="http://schemas.openxmlformats.org/drawingml/2006/main" noGrp="1"/>
          </p:cNvSpPr>
          <p:nvPr/>
        </p:nvSpPr>
        <p:spPr>
          <a:xfrm xmlns:a="http://schemas.openxmlformats.org/drawingml/2006/main">
            <a:off x="590550" y="3267075"/>
            <a:ext cx="89051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数据一致性</a:t>
            </a:r>
          </a:p>
        </p:txBody>
      </p:sp>
      <p:sp>
        <p:nvSpPr>
          <p:cNvPr id="41" name="">
            <a:extLst xmlns:a="http://schemas.openxmlformats.org/drawingml/2006/main">
              <a:ext uri="{FF2B5EF4-FFF2-40B4-BE49-F238E27FC236}">
                <a16:creationId xmlns:a16="http://schemas.microsoft.com/office/drawing/2014/main" id="{1EC8720E-8BBD-4C04-AC4A-E6E06060E807}"/>
              </a:ext>
            </a:extLst>
          </p:cNvPr>
          <p:cNvSpPr>
            <a:spLocks xmlns:a="http://schemas.openxmlformats.org/drawingml/2006/main" noGrp="1"/>
          </p:cNvSpPr>
          <p:nvPr/>
        </p:nvSpPr>
        <p:spPr>
          <a:xfrm xmlns:a="http://schemas.openxmlformats.org/drawingml/2006/main">
            <a:off x="1519166" y="3238500"/>
            <a:ext cx="2126776" cy="2857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2" name="">
            <a:extLst xmlns:a="http://schemas.openxmlformats.org/drawingml/2006/main">
              <a:ext uri="{FF2B5EF4-FFF2-40B4-BE49-F238E27FC236}">
                <a16:creationId xmlns:a16="http://schemas.microsoft.com/office/drawing/2014/main" id="{92CE7149-31E6-42F8-8AC9-E5ED9B791800}"/>
              </a:ext>
            </a:extLst>
          </p:cNvPr>
          <p:cNvSpPr>
            <a:spLocks xmlns:a="http://schemas.openxmlformats.org/drawingml/2006/main" noGrp="1"/>
          </p:cNvSpPr>
          <p:nvPr/>
        </p:nvSpPr>
        <p:spPr>
          <a:xfrm xmlns:a="http://schemas.openxmlformats.org/drawingml/2006/main">
            <a:off x="1557266" y="3267075"/>
            <a:ext cx="205057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难保证（各系统各自同步）</a:t>
            </a:r>
          </a:p>
        </p:txBody>
      </p:sp>
      <p:sp>
        <p:nvSpPr>
          <p:cNvPr id="43" name="">
            <a:extLst xmlns:a="http://schemas.openxmlformats.org/drawingml/2006/main">
              <a:ext uri="{FF2B5EF4-FFF2-40B4-BE49-F238E27FC236}">
                <a16:creationId xmlns:a16="http://schemas.microsoft.com/office/drawing/2014/main" id="{E50DF091-80CE-4CBA-A034-0B188390FCC0}"/>
              </a:ext>
            </a:extLst>
          </p:cNvPr>
          <p:cNvSpPr>
            <a:spLocks xmlns:a="http://schemas.openxmlformats.org/drawingml/2006/main" noGrp="1"/>
          </p:cNvSpPr>
          <p:nvPr/>
        </p:nvSpPr>
        <p:spPr>
          <a:xfrm xmlns:a="http://schemas.openxmlformats.org/drawingml/2006/main">
            <a:off x="3645943" y="3238500"/>
            <a:ext cx="1933433" cy="2857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4" name="">
            <a:extLst xmlns:a="http://schemas.openxmlformats.org/drawingml/2006/main">
              <a:ext uri="{FF2B5EF4-FFF2-40B4-BE49-F238E27FC236}">
                <a16:creationId xmlns:a16="http://schemas.microsoft.com/office/drawing/2014/main" id="{E641DE1A-B73B-428C-8922-872290611FB3}"/>
              </a:ext>
            </a:extLst>
          </p:cNvPr>
          <p:cNvSpPr>
            <a:spLocks xmlns:a="http://schemas.openxmlformats.org/drawingml/2006/main" noGrp="1"/>
          </p:cNvSpPr>
          <p:nvPr/>
        </p:nvSpPr>
        <p:spPr>
          <a:xfrm xmlns:a="http://schemas.openxmlformats.org/drawingml/2006/main">
            <a:off x="3684043" y="3267075"/>
            <a:ext cx="1857233"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易保证（统一调度）</a:t>
            </a:r>
          </a:p>
        </p:txBody>
      </p:sp>
      <p:sp>
        <p:nvSpPr>
          <p:cNvPr id="45" name="">
            <a:extLst xmlns:a="http://schemas.openxmlformats.org/drawingml/2006/main">
              <a:ext uri="{FF2B5EF4-FFF2-40B4-BE49-F238E27FC236}">
                <a16:creationId xmlns:a16="http://schemas.microsoft.com/office/drawing/2014/main" id="{05AB0BB9-6EA1-4460-8675-F287A858B9D7}"/>
              </a:ext>
            </a:extLst>
          </p:cNvPr>
          <p:cNvSpPr>
            <a:spLocks xmlns:a="http://schemas.openxmlformats.org/drawingml/2006/main" noGrp="1"/>
          </p:cNvSpPr>
          <p:nvPr/>
        </p:nvSpPr>
        <p:spPr>
          <a:xfrm xmlns:a="http://schemas.openxmlformats.org/drawingml/2006/main">
            <a:off x="552450" y="3524250"/>
            <a:ext cx="966716" cy="2857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6" name="">
            <a:extLst xmlns:a="http://schemas.openxmlformats.org/drawingml/2006/main">
              <a:ext uri="{FF2B5EF4-FFF2-40B4-BE49-F238E27FC236}">
                <a16:creationId xmlns:a16="http://schemas.microsoft.com/office/drawing/2014/main" id="{6F751D0F-221E-4AE6-AD0A-7E9163D9E647}"/>
              </a:ext>
            </a:extLst>
          </p:cNvPr>
          <p:cNvSpPr>
            <a:spLocks xmlns:a="http://schemas.openxmlformats.org/drawingml/2006/main" noGrp="1"/>
          </p:cNvSpPr>
          <p:nvPr/>
        </p:nvSpPr>
        <p:spPr>
          <a:xfrm xmlns:a="http://schemas.openxmlformats.org/drawingml/2006/main">
            <a:off x="590550" y="3552825"/>
            <a:ext cx="89051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适航追溯</a:t>
            </a:r>
          </a:p>
        </p:txBody>
      </p:sp>
      <p:sp>
        <p:nvSpPr>
          <p:cNvPr id="47" name="">
            <a:extLst xmlns:a="http://schemas.openxmlformats.org/drawingml/2006/main">
              <a:ext uri="{FF2B5EF4-FFF2-40B4-BE49-F238E27FC236}">
                <a16:creationId xmlns:a16="http://schemas.microsoft.com/office/drawing/2014/main" id="{0C2C9335-F187-40E7-BC53-DBCA3A6C6430}"/>
              </a:ext>
            </a:extLst>
          </p:cNvPr>
          <p:cNvSpPr>
            <a:spLocks xmlns:a="http://schemas.openxmlformats.org/drawingml/2006/main" noGrp="1"/>
          </p:cNvSpPr>
          <p:nvPr/>
        </p:nvSpPr>
        <p:spPr>
          <a:xfrm xmlns:a="http://schemas.openxmlformats.org/drawingml/2006/main">
            <a:off x="1519166" y="3524250"/>
            <a:ext cx="2126776" cy="2857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8" name="">
            <a:extLst xmlns:a="http://schemas.openxmlformats.org/drawingml/2006/main">
              <a:ext uri="{FF2B5EF4-FFF2-40B4-BE49-F238E27FC236}">
                <a16:creationId xmlns:a16="http://schemas.microsoft.com/office/drawing/2014/main" id="{7474D816-F7F9-42E1-8784-AAE36FCAA145}"/>
              </a:ext>
            </a:extLst>
          </p:cNvPr>
          <p:cNvSpPr>
            <a:spLocks xmlns:a="http://schemas.openxmlformats.org/drawingml/2006/main" noGrp="1"/>
          </p:cNvSpPr>
          <p:nvPr/>
        </p:nvSpPr>
        <p:spPr>
          <a:xfrm xmlns:a="http://schemas.openxmlformats.org/drawingml/2006/main">
            <a:off x="1557266" y="3552825"/>
            <a:ext cx="205057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难（数据散落各系统）</a:t>
            </a:r>
          </a:p>
        </p:txBody>
      </p:sp>
      <p:sp>
        <p:nvSpPr>
          <p:cNvPr id="49" name="">
            <a:extLst xmlns:a="http://schemas.openxmlformats.org/drawingml/2006/main">
              <a:ext uri="{FF2B5EF4-FFF2-40B4-BE49-F238E27FC236}">
                <a16:creationId xmlns:a16="http://schemas.microsoft.com/office/drawing/2014/main" id="{937D9819-7A16-43FE-8CBF-18261729D417}"/>
              </a:ext>
            </a:extLst>
          </p:cNvPr>
          <p:cNvSpPr>
            <a:spLocks xmlns:a="http://schemas.openxmlformats.org/drawingml/2006/main" noGrp="1"/>
          </p:cNvSpPr>
          <p:nvPr/>
        </p:nvSpPr>
        <p:spPr>
          <a:xfrm xmlns:a="http://schemas.openxmlformats.org/drawingml/2006/main">
            <a:off x="3645943" y="3524250"/>
            <a:ext cx="1933433" cy="2857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0" name="">
            <a:extLst xmlns:a="http://schemas.openxmlformats.org/drawingml/2006/main">
              <a:ext uri="{FF2B5EF4-FFF2-40B4-BE49-F238E27FC236}">
                <a16:creationId xmlns:a16="http://schemas.microsoft.com/office/drawing/2014/main" id="{68AD59A4-DF64-4DA3-8F71-E0E55921B85C}"/>
              </a:ext>
            </a:extLst>
          </p:cNvPr>
          <p:cNvSpPr>
            <a:spLocks xmlns:a="http://schemas.openxmlformats.org/drawingml/2006/main" noGrp="1"/>
          </p:cNvSpPr>
          <p:nvPr/>
        </p:nvSpPr>
        <p:spPr>
          <a:xfrm xmlns:a="http://schemas.openxmlformats.org/drawingml/2006/main">
            <a:off x="3684043" y="3552825"/>
            <a:ext cx="1857233"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易（中台统一存储追溯链）</a:t>
            </a:r>
          </a:p>
        </p:txBody>
      </p:sp>
      <p:sp>
        <p:nvSpPr>
          <p:cNvPr id="51" name="">
            <a:extLst xmlns:a="http://schemas.openxmlformats.org/drawingml/2006/main">
              <a:ext uri="{FF2B5EF4-FFF2-40B4-BE49-F238E27FC236}">
                <a16:creationId xmlns:a16="http://schemas.microsoft.com/office/drawing/2014/main" id="{7AF4D4B8-BC1F-4953-93A7-E93DBD9AA49A}"/>
              </a:ext>
            </a:extLst>
          </p:cNvPr>
          <p:cNvSpPr>
            <a:spLocks xmlns:a="http://schemas.openxmlformats.org/drawingml/2006/main" noGrp="1"/>
          </p:cNvSpPr>
          <p:nvPr/>
        </p:nvSpPr>
        <p:spPr>
          <a:xfrm xmlns:a="http://schemas.openxmlformats.org/drawingml/2006/main">
            <a:off x="552450" y="3810000"/>
            <a:ext cx="966716" cy="2857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2" name="">
            <a:extLst xmlns:a="http://schemas.openxmlformats.org/drawingml/2006/main">
              <a:ext uri="{FF2B5EF4-FFF2-40B4-BE49-F238E27FC236}">
                <a16:creationId xmlns:a16="http://schemas.microsoft.com/office/drawing/2014/main" id="{11D34D5F-2EA3-47A9-996A-8931308CFF95}"/>
              </a:ext>
            </a:extLst>
          </p:cNvPr>
          <p:cNvSpPr>
            <a:spLocks xmlns:a="http://schemas.openxmlformats.org/drawingml/2006/main" noGrp="1"/>
          </p:cNvSpPr>
          <p:nvPr/>
        </p:nvSpPr>
        <p:spPr>
          <a:xfrm xmlns:a="http://schemas.openxmlformats.org/drawingml/2006/main">
            <a:off x="590550" y="3838575"/>
            <a:ext cx="89051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适用场景</a:t>
            </a:r>
          </a:p>
        </p:txBody>
      </p:sp>
      <p:sp>
        <p:nvSpPr>
          <p:cNvPr id="53" name="">
            <a:extLst xmlns:a="http://schemas.openxmlformats.org/drawingml/2006/main">
              <a:ext uri="{FF2B5EF4-FFF2-40B4-BE49-F238E27FC236}">
                <a16:creationId xmlns:a16="http://schemas.microsoft.com/office/drawing/2014/main" id="{9A3C2E5F-D310-40AA-B770-8A416CE89FAC}"/>
              </a:ext>
            </a:extLst>
          </p:cNvPr>
          <p:cNvSpPr>
            <a:spLocks xmlns:a="http://schemas.openxmlformats.org/drawingml/2006/main" noGrp="1"/>
          </p:cNvSpPr>
          <p:nvPr/>
        </p:nvSpPr>
        <p:spPr>
          <a:xfrm xmlns:a="http://schemas.openxmlformats.org/drawingml/2006/main">
            <a:off x="1519166" y="3810000"/>
            <a:ext cx="2126776" cy="2857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4" name="">
            <a:extLst xmlns:a="http://schemas.openxmlformats.org/drawingml/2006/main">
              <a:ext uri="{FF2B5EF4-FFF2-40B4-BE49-F238E27FC236}">
                <a16:creationId xmlns:a16="http://schemas.microsoft.com/office/drawing/2014/main" id="{0886ED68-9D90-4D65-A707-11CAE2911ACD}"/>
              </a:ext>
            </a:extLst>
          </p:cNvPr>
          <p:cNvSpPr>
            <a:spLocks xmlns:a="http://schemas.openxmlformats.org/drawingml/2006/main" noGrp="1"/>
          </p:cNvSpPr>
          <p:nvPr/>
        </p:nvSpPr>
        <p:spPr>
          <a:xfrm xmlns:a="http://schemas.openxmlformats.org/drawingml/2006/main">
            <a:off x="1557266" y="3838575"/>
            <a:ext cx="205057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系统少、集成简单</a:t>
            </a:r>
          </a:p>
        </p:txBody>
      </p:sp>
      <p:sp>
        <p:nvSpPr>
          <p:cNvPr id="55" name="">
            <a:extLst xmlns:a="http://schemas.openxmlformats.org/drawingml/2006/main">
              <a:ext uri="{FF2B5EF4-FFF2-40B4-BE49-F238E27FC236}">
                <a16:creationId xmlns:a16="http://schemas.microsoft.com/office/drawing/2014/main" id="{A882616E-92B1-415F-8EAD-4CB4EB78FCD4}"/>
              </a:ext>
            </a:extLst>
          </p:cNvPr>
          <p:cNvSpPr>
            <a:spLocks xmlns:a="http://schemas.openxmlformats.org/drawingml/2006/main" noGrp="1"/>
          </p:cNvSpPr>
          <p:nvPr/>
        </p:nvSpPr>
        <p:spPr>
          <a:xfrm xmlns:a="http://schemas.openxmlformats.org/drawingml/2006/main">
            <a:off x="3645943" y="3810000"/>
            <a:ext cx="1933433" cy="2857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6" name="">
            <a:extLst xmlns:a="http://schemas.openxmlformats.org/drawingml/2006/main">
              <a:ext uri="{FF2B5EF4-FFF2-40B4-BE49-F238E27FC236}">
                <a16:creationId xmlns:a16="http://schemas.microsoft.com/office/drawing/2014/main" id="{4F959080-83BC-4896-94F4-6567F5F36843}"/>
              </a:ext>
            </a:extLst>
          </p:cNvPr>
          <p:cNvSpPr>
            <a:spLocks xmlns:a="http://schemas.openxmlformats.org/drawingml/2006/main" noGrp="1"/>
          </p:cNvSpPr>
          <p:nvPr/>
        </p:nvSpPr>
        <p:spPr>
          <a:xfrm xmlns:a="http://schemas.openxmlformats.org/drawingml/2006/main">
            <a:off x="3684043" y="3838575"/>
            <a:ext cx="1857233"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系统多、数据复杂、有追溯要求</a:t>
            </a:r>
          </a:p>
        </p:txBody>
      </p:sp>
      <p:sp>
        <p:nvSpPr>
          <p:cNvPr id="57" name="">
            <a:extLst xmlns:a="http://schemas.openxmlformats.org/drawingml/2006/main">
              <a:ext uri="{FF2B5EF4-FFF2-40B4-BE49-F238E27FC236}">
                <a16:creationId xmlns:a16="http://schemas.microsoft.com/office/drawing/2014/main" id="{A3B4905E-DAD1-4552-BD17-16B8E0BA1C5C}"/>
              </a:ext>
            </a:extLst>
          </p:cNvPr>
          <p:cNvSpPr>
            <a:spLocks xmlns:a="http://schemas.openxmlformats.org/drawingml/2006/main" noGrp="1"/>
          </p:cNvSpPr>
          <p:nvPr/>
        </p:nvSpPr>
        <p:spPr>
          <a:xfrm xmlns:a="http://schemas.openxmlformats.org/drawingml/2006/main">
            <a:off x="552450" y="4095750"/>
            <a:ext cx="966716" cy="2857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8" name="">
            <a:extLst xmlns:a="http://schemas.openxmlformats.org/drawingml/2006/main">
              <a:ext uri="{FF2B5EF4-FFF2-40B4-BE49-F238E27FC236}">
                <a16:creationId xmlns:a16="http://schemas.microsoft.com/office/drawing/2014/main" id="{42A2DF09-716E-4754-BB6F-252A72F04A62}"/>
              </a:ext>
            </a:extLst>
          </p:cNvPr>
          <p:cNvSpPr>
            <a:spLocks xmlns:a="http://schemas.openxmlformats.org/drawingml/2006/main" noGrp="1"/>
          </p:cNvSpPr>
          <p:nvPr/>
        </p:nvSpPr>
        <p:spPr>
          <a:xfrm xmlns:a="http://schemas.openxmlformats.org/drawingml/2006/main">
            <a:off x="590550" y="4124325"/>
            <a:ext cx="89051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推荐度</a:t>
            </a:r>
          </a:p>
        </p:txBody>
      </p:sp>
      <p:sp>
        <p:nvSpPr>
          <p:cNvPr id="59" name="">
            <a:extLst xmlns:a="http://schemas.openxmlformats.org/drawingml/2006/main">
              <a:ext uri="{FF2B5EF4-FFF2-40B4-BE49-F238E27FC236}">
                <a16:creationId xmlns:a16="http://schemas.microsoft.com/office/drawing/2014/main" id="{94569F30-C56E-4A2B-8E73-1F1AB0728696}"/>
              </a:ext>
            </a:extLst>
          </p:cNvPr>
          <p:cNvSpPr>
            <a:spLocks xmlns:a="http://schemas.openxmlformats.org/drawingml/2006/main" noGrp="1"/>
          </p:cNvSpPr>
          <p:nvPr/>
        </p:nvSpPr>
        <p:spPr>
          <a:xfrm xmlns:a="http://schemas.openxmlformats.org/drawingml/2006/main">
            <a:off x="1519166" y="4095750"/>
            <a:ext cx="2126776" cy="2857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0" name="">
            <a:extLst xmlns:a="http://schemas.openxmlformats.org/drawingml/2006/main">
              <a:ext uri="{FF2B5EF4-FFF2-40B4-BE49-F238E27FC236}">
                <a16:creationId xmlns:a16="http://schemas.microsoft.com/office/drawing/2014/main" id="{17F5B0D5-3EEF-444D-87AA-C79FED07205D}"/>
              </a:ext>
            </a:extLst>
          </p:cNvPr>
          <p:cNvSpPr>
            <a:spLocks xmlns:a="http://schemas.openxmlformats.org/drawingml/2006/main" noGrp="1"/>
          </p:cNvSpPr>
          <p:nvPr/>
        </p:nvSpPr>
        <p:spPr>
          <a:xfrm xmlns:a="http://schemas.openxmlformats.org/drawingml/2006/main">
            <a:off x="1557266" y="4124325"/>
            <a:ext cx="2050576"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不推荐（8系统规模）</a:t>
            </a:r>
          </a:p>
        </p:txBody>
      </p:sp>
      <p:sp>
        <p:nvSpPr>
          <p:cNvPr id="61" name="">
            <a:extLst xmlns:a="http://schemas.openxmlformats.org/drawingml/2006/main">
              <a:ext uri="{FF2B5EF4-FFF2-40B4-BE49-F238E27FC236}">
                <a16:creationId xmlns:a16="http://schemas.microsoft.com/office/drawing/2014/main" id="{428841DB-D0EA-4B6B-A54A-1E760DDB47FD}"/>
              </a:ext>
            </a:extLst>
          </p:cNvPr>
          <p:cNvSpPr>
            <a:spLocks xmlns:a="http://schemas.openxmlformats.org/drawingml/2006/main" noGrp="1"/>
          </p:cNvSpPr>
          <p:nvPr/>
        </p:nvSpPr>
        <p:spPr>
          <a:xfrm xmlns:a="http://schemas.openxmlformats.org/drawingml/2006/main">
            <a:off x="3645943" y="4095750"/>
            <a:ext cx="1933433" cy="2857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2" name="">
            <a:extLst xmlns:a="http://schemas.openxmlformats.org/drawingml/2006/main">
              <a:ext uri="{FF2B5EF4-FFF2-40B4-BE49-F238E27FC236}">
                <a16:creationId xmlns:a16="http://schemas.microsoft.com/office/drawing/2014/main" id="{D160CF98-E1D8-4CE4-A119-24DBAF7472AB}"/>
              </a:ext>
            </a:extLst>
          </p:cNvPr>
          <p:cNvSpPr>
            <a:spLocks xmlns:a="http://schemas.openxmlformats.org/drawingml/2006/main" noGrp="1"/>
          </p:cNvSpPr>
          <p:nvPr/>
        </p:nvSpPr>
        <p:spPr>
          <a:xfrm xmlns:a="http://schemas.openxmlformats.org/drawingml/2006/main">
            <a:off x="3684043" y="4124325"/>
            <a:ext cx="1857233"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推荐</a:t>
            </a:r>
          </a:p>
        </p:txBody>
      </p:sp>
      <p:sp>
        <p:nvSpPr>
          <p:cNvPr id="63" name="">
            <a:extLst xmlns:a="http://schemas.openxmlformats.org/drawingml/2006/main">
              <a:ext uri="{FF2B5EF4-FFF2-40B4-BE49-F238E27FC236}">
                <a16:creationId xmlns:a16="http://schemas.microsoft.com/office/drawing/2014/main" id="{1C371734-0C4F-4254-B20A-23698638A68A}"/>
              </a:ext>
            </a:extLst>
          </p:cNvPr>
          <p:cNvSpPr>
            <a:spLocks xmlns:a="http://schemas.openxmlformats.org/drawingml/2006/main" noGrp="1"/>
          </p:cNvSpPr>
          <p:nvPr/>
        </p:nvSpPr>
        <p:spPr>
          <a:xfrm xmlns:a="http://schemas.openxmlformats.org/drawingml/2006/main">
            <a:off x="7524750" y="1809750"/>
            <a:ext cx="3200400" cy="257175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E2E8F0"/>
            </a:solidFill>
            <a:prstDash val="solid"/>
          </a:ln>
        </p:spPr>
      </p:sp>
      <p:sp>
        <p:nvSpPr>
          <p:cNvPr id="64" name="">
            <a:extLst xmlns:a="http://schemas.openxmlformats.org/drawingml/2006/main">
              <a:ext uri="{FF2B5EF4-FFF2-40B4-BE49-F238E27FC236}">
                <a16:creationId xmlns:a16="http://schemas.microsoft.com/office/drawing/2014/main" id="{8664F7F2-0D06-4CA3-A4B5-91314E5E36C1}"/>
              </a:ext>
            </a:extLst>
          </p:cNvPr>
          <p:cNvSpPr>
            <a:spLocks xmlns:a="http://schemas.openxmlformats.org/drawingml/2006/main" noGrp="1"/>
          </p:cNvSpPr>
          <p:nvPr/>
        </p:nvSpPr>
        <p:spPr>
          <a:xfrm xmlns:a="http://schemas.openxmlformats.org/drawingml/2006/main">
            <a:off x="7734300" y="2038350"/>
            <a:ext cx="2781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350" b="1">
                <a:solidFill>
                  <a:srgbClr val="0F2A5E"/>
                </a:solidFill>
              </a:defRPr>
            </a:pPr>
            <a:r>
              <a:rPr sz="1350" b="1">
                <a:solidFill>
                  <a:srgbClr val="0F2A5E"/>
                </a:solidFill>
              </a:rPr>
              <a:t>Q7 是否建设数据中台/集成总线？</a:t>
            </a:r>
          </a:p>
        </p:txBody>
      </p:sp>
      <p:sp>
        <p:nvSpPr>
          <p:cNvPr id="65" name="">
            <a:extLst xmlns:a="http://schemas.openxmlformats.org/drawingml/2006/main">
              <a:ext uri="{FF2B5EF4-FFF2-40B4-BE49-F238E27FC236}">
                <a16:creationId xmlns:a16="http://schemas.microsoft.com/office/drawing/2014/main" id="{517F0D37-6776-4EC4-AD16-6D1BD5370871}"/>
              </a:ext>
            </a:extLst>
          </p:cNvPr>
          <p:cNvSpPr>
            <a:spLocks xmlns:a="http://schemas.openxmlformats.org/drawingml/2006/main" noGrp="1"/>
          </p:cNvSpPr>
          <p:nvPr/>
        </p:nvSpPr>
        <p:spPr>
          <a:xfrm xmlns:a="http://schemas.openxmlformats.org/drawingml/2006/main">
            <a:off x="7734300" y="2571750"/>
            <a:ext cx="27813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选项A：点对点，由各实施商自行负责接口；选项B：建设统一集成总线（ESB/消息中间件）；选项C：建设完整数据中台（含MDM主数据管理）。</a:t>
            </a:r>
          </a:p>
        </p:txBody>
      </p:sp>
      <p:sp>
        <p:nvSpPr>
          <p:cNvPr id="66" name="">
            <a:extLst xmlns:a="http://schemas.openxmlformats.org/drawingml/2006/main">
              <a:ext uri="{FF2B5EF4-FFF2-40B4-BE49-F238E27FC236}">
                <a16:creationId xmlns:a16="http://schemas.microsoft.com/office/drawing/2014/main" id="{E035F5CA-1B54-4833-B5E4-42AABE51CF2D}"/>
              </a:ext>
            </a:extLst>
          </p:cNvPr>
          <p:cNvSpPr>
            <a:spLocks xmlns:a="http://schemas.openxmlformats.org/drawingml/2006/main" noGrp="1"/>
          </p:cNvSpPr>
          <p:nvPr/>
        </p:nvSpPr>
        <p:spPr>
          <a:xfrm xmlns:a="http://schemas.openxmlformats.org/drawingml/2006/main">
            <a:off x="7734300" y="3676650"/>
            <a:ext cx="2476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825" b="1">
                <a:solidFill>
                  <a:srgbClr val="1A56DB"/>
                </a:solidFill>
              </a:defRPr>
            </a:pPr>
            <a:r>
              <a:rPr sz="825" b="1">
                <a:solidFill>
                  <a:srgbClr val="1A56DB"/>
                </a:solidFill>
              </a:rPr>
              <a:t>项目管理部 + 总经理</a:t>
            </a:r>
          </a:p>
          <a:p xmlns:a="http://schemas.openxmlformats.org/drawingml/2006/main">
            <a:pPr algn="l">
              <a:defRPr sz="825" b="1">
                <a:solidFill>
                  <a:srgbClr val="1A56DB"/>
                </a:solidFill>
              </a:defRPr>
            </a:pPr>
            <a:r>
              <a:rPr sz="825" b="1">
                <a:solidFill>
                  <a:srgbClr val="1A56DB"/>
                </a:solidFill>
              </a:rPr>
              <a:t>2026-05-09</a:t>
            </a:r>
          </a:p>
          <a:p xmlns:a="http://schemas.openxmlformats.org/drawingml/2006/main">
            <a:pPr algn="l">
              <a:defRPr sz="825" b="1">
                <a:solidFill>
                  <a:srgbClr val="1A56DB"/>
                </a:solidFill>
              </a:defRPr>
            </a:pPr>
            <a:r>
              <a:rPr sz="825" b="1">
                <a:solidFill>
                  <a:srgbClr val="1A56DB"/>
                </a:solidFill>
              </a:rPr>
              <a:t>待决议</a:t>
            </a:r>
          </a:p>
        </p:txBody>
      </p:sp>
      <p:sp>
        <p:nvSpPr>
          <p:cNvPr id="67" name="">
            <a:extLst xmlns:a="http://schemas.openxmlformats.org/drawingml/2006/main">
              <a:ext uri="{FF2B5EF4-FFF2-40B4-BE49-F238E27FC236}">
                <a16:creationId xmlns:a16="http://schemas.microsoft.com/office/drawing/2014/main" id="{DF39B6DE-C590-4697-8F38-A698293B5FF0}"/>
              </a:ext>
            </a:extLst>
          </p:cNvPr>
          <p:cNvSpPr>
            <a:spLocks xmlns:a="http://schemas.openxmlformats.org/drawingml/2006/main" noGrp="1"/>
          </p:cNvSpPr>
          <p:nvPr/>
        </p:nvSpPr>
        <p:spPr>
          <a:xfrm xmlns:a="http://schemas.openxmlformats.org/drawingml/2006/main">
            <a:off x="838200" y="4800600"/>
            <a:ext cx="9601200" cy="742950"/>
          </a:xfrm>
          <a:prstGeom xmlns:a="http://schemas.openxmlformats.org/drawingml/2006/main" prst="roundRect">
            <a:avLst>
              <a:gd name="adj" fmla="val 10256"/>
            </a:avLst>
          </a:prstGeom>
          <a:solidFill xmlns:a="http://schemas.openxmlformats.org/drawingml/2006/main">
            <a:srgbClr val="FFFBEB"/>
          </a:solidFill>
          <a:ln xmlns:a="http://schemas.openxmlformats.org/drawingml/2006/main" w="9525">
            <a:solidFill>
              <a:srgbClr val="E2E8F0"/>
            </a:solidFill>
            <a:prstDash val="solid"/>
          </a:ln>
        </p:spPr>
      </p:sp>
      <p:sp>
        <p:nvSpPr>
          <p:cNvPr id="68" name="">
            <a:extLst xmlns:a="http://schemas.openxmlformats.org/drawingml/2006/main">
              <a:ext uri="{FF2B5EF4-FFF2-40B4-BE49-F238E27FC236}">
                <a16:creationId xmlns:a16="http://schemas.microsoft.com/office/drawing/2014/main" id="{CA0398BE-66D8-480D-B06E-35B4C5190362}"/>
              </a:ext>
            </a:extLst>
          </p:cNvPr>
          <p:cNvSpPr>
            <a:spLocks xmlns:a="http://schemas.openxmlformats.org/drawingml/2006/main" noGrp="1"/>
          </p:cNvSpPr>
          <p:nvPr/>
        </p:nvSpPr>
        <p:spPr>
          <a:xfrm xmlns:a="http://schemas.openxmlformats.org/drawingml/2006/main">
            <a:off x="838200" y="4800600"/>
            <a:ext cx="57150" cy="7429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928D76B9-6074-41FA-8E7B-17BB3A56E290}"/>
              </a:ext>
            </a:extLst>
          </p:cNvPr>
          <p:cNvSpPr>
            <a:spLocks xmlns:a="http://schemas.openxmlformats.org/drawingml/2006/main" noGrp="1"/>
          </p:cNvSpPr>
          <p:nvPr/>
        </p:nvSpPr>
        <p:spPr>
          <a:xfrm xmlns:a="http://schemas.openxmlformats.org/drawingml/2006/main">
            <a:off x="1009650" y="4914900"/>
            <a:ext cx="92583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125" b="1">
                <a:solidFill>
                  <a:srgbClr val="D97706"/>
                </a:solidFill>
              </a:defRPr>
            </a:pPr>
            <a:r>
              <a:rPr sz="1125" b="1">
                <a:solidFill>
                  <a:srgbClr val="D97706"/>
                </a:solidFill>
              </a:rPr>
              <a:t>数据中台在架构中的位置</a:t>
            </a:r>
          </a:p>
        </p:txBody>
      </p:sp>
      <p:sp>
        <p:nvSpPr>
          <p:cNvPr id="70" name="">
            <a:extLst xmlns:a="http://schemas.openxmlformats.org/drawingml/2006/main">
              <a:ext uri="{FF2B5EF4-FFF2-40B4-BE49-F238E27FC236}">
                <a16:creationId xmlns:a16="http://schemas.microsoft.com/office/drawing/2014/main" id="{DE3BC8CB-CF19-46F2-8E7B-8732ADBA6C92}"/>
              </a:ext>
            </a:extLst>
          </p:cNvPr>
          <p:cNvSpPr>
            <a:spLocks xmlns:a="http://schemas.openxmlformats.org/drawingml/2006/main" noGrp="1"/>
          </p:cNvSpPr>
          <p:nvPr/>
        </p:nvSpPr>
        <p:spPr>
          <a:xfrm xmlns:a="http://schemas.openxmlformats.org/drawingml/2006/main">
            <a:off x="1009650" y="5181600"/>
            <a:ext cx="9258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00" b="0">
                <a:solidFill>
                  <a:srgbClr val="475569"/>
                </a:solidFill>
              </a:defRPr>
            </a:pPr>
            <a:r>
              <a:rPr sz="900" b="0">
                <a:solidFill>
                  <a:srgbClr val="475569"/>
                </a:solidFill>
              </a:rPr>
              <a:t>不直接拍最终架构；先确认关键接口不再裸奔，并补齐主数据依赖、异常处理和人工兜底。</a:t>
            </a:r>
          </a:p>
        </p:txBody>
      </p:sp>
      <p:sp>
        <p:nvSpPr>
          <p:cNvPr id="71" name="">
            <a:extLst xmlns:a="http://schemas.openxmlformats.org/drawingml/2006/main">
              <a:ext uri="{FF2B5EF4-FFF2-40B4-BE49-F238E27FC236}">
                <a16:creationId xmlns:a16="http://schemas.microsoft.com/office/drawing/2014/main" id="{7B93F49C-68B4-4FC7-9D03-2A19E3960D00}"/>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19 / 29</a:t>
            </a:r>
          </a:p>
        </p:txBody>
      </p:sp>
    </p:spTree>
    <p:extLst>
      <p:ext uri="{BB962C8B-B14F-4D97-AF65-F5344CB8AC3E}">
        <p14:creationId xmlns:p14="http://schemas.microsoft.com/office/powerpoint/2010/main" val="1723268163"/>
      </p:ext>
    </p:extLst>
  </p:cSld>
</p:sld>
</file>

<file path=ppt/slides/slide20.xml><?xml version="1.0" encoding="utf-8"?>
<p:sld xmlns:p="http://schemas.openxmlformats.org/presentationml/2006/main">
  <p:cSld>
    <p:bg>
      <p:bgPr>
        <a:solidFill xmlns:a="http://schemas.openxmlformats.org/drawingml/2006/main">
          <a:srgbClr val="0F2A5E"/>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464B9F1-18E9-4EE0-B38A-933AE61943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E695767-6C8D-4D6B-9D66-B3A785E6918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FF33CA5-38FC-4B49-886A-572685245F45}"/>
              </a:ext>
            </a:extLst>
          </p:cNvPr>
          <p:cNvSpPr>
            <a:spLocks xmlns:a="http://schemas.openxmlformats.org/drawingml/2006/main" noGrp="1"/>
          </p:cNvSpPr>
          <p:nvPr/>
        </p:nvSpPr>
        <p:spPr>
          <a:xfrm xmlns:a="http://schemas.openxmlformats.org/drawingml/2006/main">
            <a:off x="8001000" y="-1714500"/>
            <a:ext cx="5524500" cy="5524500"/>
          </a:xfrm>
          <a:prstGeom xmlns:a="http://schemas.openxmlformats.org/drawingml/2006/main" prst="ellipse">
            <a:avLst/>
          </a:prstGeom>
          <a:solidFill xmlns:a="http://schemas.openxmlformats.org/drawingml/2006/main">
            <a:srgbClr val="FFFFFF">
              <a:alpha val="705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A51E076-62C3-47B6-944B-9BC896DD1090}"/>
              </a:ext>
            </a:extLst>
          </p:cNvPr>
          <p:cNvSpPr>
            <a:spLocks xmlns:a="http://schemas.openxmlformats.org/drawingml/2006/main" noGrp="1"/>
          </p:cNvSpPr>
          <p:nvPr/>
        </p:nvSpPr>
        <p:spPr>
          <a:xfrm xmlns:a="http://schemas.openxmlformats.org/drawingml/2006/main">
            <a:off x="857250" y="1428750"/>
            <a:ext cx="76200" cy="37147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25C6888-5391-400B-B2D1-4B8CC1AFB252}"/>
              </a:ext>
            </a:extLst>
          </p:cNvPr>
          <p:cNvSpPr>
            <a:spLocks xmlns:a="http://schemas.openxmlformats.org/drawingml/2006/main" noGrp="1"/>
          </p:cNvSpPr>
          <p:nvPr/>
        </p:nvSpPr>
        <p:spPr>
          <a:xfrm xmlns:a="http://schemas.openxmlformats.org/drawingml/2006/main">
            <a:off x="1181100" y="1428750"/>
            <a:ext cx="1524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800" b="1">
                <a:solidFill>
                  <a:srgbClr val="7DD3FC"/>
                </a:solidFill>
              </a:defRPr>
            </a:pPr>
            <a:r>
              <a:rPr sz="1800" b="1">
                <a:solidFill>
                  <a:srgbClr val="7DD3FC"/>
                </a:solidFill>
              </a:rPr>
              <a:t>04</a:t>
            </a:r>
          </a:p>
        </p:txBody>
      </p:sp>
      <p:sp>
        <p:nvSpPr>
          <p:cNvPr id="7" name="">
            <a:extLst xmlns:a="http://schemas.openxmlformats.org/drawingml/2006/main">
              <a:ext uri="{FF2B5EF4-FFF2-40B4-BE49-F238E27FC236}">
                <a16:creationId xmlns:a16="http://schemas.microsoft.com/office/drawing/2014/main" id="{6863F22F-80D7-4261-B526-CF561D9F1F41}"/>
              </a:ext>
            </a:extLst>
          </p:cNvPr>
          <p:cNvSpPr>
            <a:spLocks xmlns:a="http://schemas.openxmlformats.org/drawingml/2006/main" noGrp="1"/>
          </p:cNvSpPr>
          <p:nvPr/>
        </p:nvSpPr>
        <p:spPr>
          <a:xfrm xmlns:a="http://schemas.openxmlformats.org/drawingml/2006/main">
            <a:off x="1181100" y="1981200"/>
            <a:ext cx="65722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3150" b="1">
                <a:solidFill>
                  <a:srgbClr val="FFFFFF"/>
                </a:solidFill>
              </a:defRPr>
            </a:pPr>
            <a:r>
              <a:rPr sz="3150" b="1">
                <a:solidFill>
                  <a:srgbClr val="FFFFFF"/>
                </a:solidFill>
              </a:rPr>
              <a:t>适航追溯与关键接口</a:t>
            </a:r>
          </a:p>
        </p:txBody>
      </p:sp>
      <p:sp>
        <p:nvSpPr>
          <p:cNvPr id="8" name="">
            <a:extLst xmlns:a="http://schemas.openxmlformats.org/drawingml/2006/main">
              <a:ext uri="{FF2B5EF4-FFF2-40B4-BE49-F238E27FC236}">
                <a16:creationId xmlns:a16="http://schemas.microsoft.com/office/drawing/2014/main" id="{155BDFF3-0831-47CD-BF47-13D3A8F87D68}"/>
              </a:ext>
            </a:extLst>
          </p:cNvPr>
          <p:cNvSpPr>
            <a:spLocks xmlns:a="http://schemas.openxmlformats.org/drawingml/2006/main" noGrp="1"/>
          </p:cNvSpPr>
          <p:nvPr/>
        </p:nvSpPr>
        <p:spPr>
          <a:xfrm xmlns:a="http://schemas.openxmlformats.org/drawingml/2006/main">
            <a:off x="1200150" y="2857500"/>
            <a:ext cx="6858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350" b="0">
                <a:solidFill>
                  <a:srgbClr val="DBEAFE"/>
                </a:solidFill>
              </a:defRPr>
            </a:pPr>
            <a:r>
              <a:rPr sz="1350" b="0">
                <a:solidFill>
                  <a:srgbClr val="DBEAFE"/>
                </a:solidFill>
              </a:rPr>
              <a:t>用追溯要求倒逼接口卡、字段映射和异常处理补齐</a:t>
            </a:r>
          </a:p>
        </p:txBody>
      </p:sp>
      <p:sp>
        <p:nvSpPr>
          <p:cNvPr id="9" name="">
            <a:extLst xmlns:a="http://schemas.openxmlformats.org/drawingml/2006/main">
              <a:ext uri="{FF2B5EF4-FFF2-40B4-BE49-F238E27FC236}">
                <a16:creationId xmlns:a16="http://schemas.microsoft.com/office/drawing/2014/main" id="{DD09E255-28C5-4CFD-A75B-0805428E4CAE}"/>
              </a:ext>
            </a:extLst>
          </p:cNvPr>
          <p:cNvSpPr>
            <a:spLocks xmlns:a="http://schemas.openxmlformats.org/drawingml/2006/main" noGrp="1"/>
          </p:cNvSpPr>
          <p:nvPr/>
        </p:nvSpPr>
        <p:spPr>
          <a:xfrm xmlns:a="http://schemas.openxmlformats.org/drawingml/2006/main">
            <a:off x="1257300" y="3638550"/>
            <a:ext cx="95250" cy="95250"/>
          </a:xfrm>
          <a:prstGeom xmlns:a="http://schemas.openxmlformats.org/drawingml/2006/main" prst="ellipse">
            <a:avLst/>
          </a:prstGeom>
          <a:solidFill xmlns:a="http://schemas.openxmlformats.org/drawingml/2006/main">
            <a:srgbClr val="7DD3FC"/>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788B91B-20F5-438A-BE77-7039324BA551}"/>
              </a:ext>
            </a:extLst>
          </p:cNvPr>
          <p:cNvSpPr>
            <a:spLocks xmlns:a="http://schemas.openxmlformats.org/drawingml/2006/main" noGrp="1"/>
          </p:cNvSpPr>
          <p:nvPr/>
        </p:nvSpPr>
        <p:spPr>
          <a:xfrm xmlns:a="http://schemas.openxmlformats.org/drawingml/2006/main">
            <a:off x="1504950" y="3533775"/>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EEF6FF"/>
                </a:solidFill>
              </a:defRPr>
            </a:pPr>
            <a:r>
              <a:rPr sz="1275" b="0">
                <a:solidFill>
                  <a:srgbClr val="EEF6FF"/>
                </a:solidFill>
              </a:rPr>
              <a:t>Q8：零件编号 + 质量编号追溯</a:t>
            </a:r>
          </a:p>
        </p:txBody>
      </p:sp>
      <p:sp>
        <p:nvSpPr>
          <p:cNvPr id="11" name="">
            <a:extLst xmlns:a="http://schemas.openxmlformats.org/drawingml/2006/main">
              <a:ext uri="{FF2B5EF4-FFF2-40B4-BE49-F238E27FC236}">
                <a16:creationId xmlns:a16="http://schemas.microsoft.com/office/drawing/2014/main" id="{66F3D00A-83A3-4A9A-A2C1-C5F80F8ED545}"/>
              </a:ext>
            </a:extLst>
          </p:cNvPr>
          <p:cNvSpPr>
            <a:spLocks xmlns:a="http://schemas.openxmlformats.org/drawingml/2006/main" noGrp="1"/>
          </p:cNvSpPr>
          <p:nvPr/>
        </p:nvSpPr>
        <p:spPr>
          <a:xfrm xmlns:a="http://schemas.openxmlformats.org/drawingml/2006/main">
            <a:off x="1257300" y="4076700"/>
            <a:ext cx="95250" cy="95250"/>
          </a:xfrm>
          <a:prstGeom xmlns:a="http://schemas.openxmlformats.org/drawingml/2006/main" prst="ellipse">
            <a:avLst/>
          </a:prstGeom>
          <a:solidFill xmlns:a="http://schemas.openxmlformats.org/drawingml/2006/main">
            <a:srgbClr val="7DD3FC"/>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E209D24F-E48C-4DF1-B40C-A0F5FC9B824A}"/>
              </a:ext>
            </a:extLst>
          </p:cNvPr>
          <p:cNvSpPr>
            <a:spLocks xmlns:a="http://schemas.openxmlformats.org/drawingml/2006/main" noGrp="1"/>
          </p:cNvSpPr>
          <p:nvPr/>
        </p:nvSpPr>
        <p:spPr>
          <a:xfrm xmlns:a="http://schemas.openxmlformats.org/drawingml/2006/main">
            <a:off x="1504950" y="3971925"/>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EEF6FF"/>
                </a:solidFill>
              </a:defRPr>
            </a:pPr>
            <a:r>
              <a:rPr sz="1275" b="0">
                <a:solidFill>
                  <a:srgbClr val="EEF6FF"/>
                </a:solidFill>
              </a:rPr>
              <a:t>接口卡：方向、触发、字段、异常</a:t>
            </a:r>
          </a:p>
        </p:txBody>
      </p:sp>
      <p:sp>
        <p:nvSpPr>
          <p:cNvPr id="13" name="">
            <a:extLst xmlns:a="http://schemas.openxmlformats.org/drawingml/2006/main">
              <a:ext uri="{FF2B5EF4-FFF2-40B4-BE49-F238E27FC236}">
                <a16:creationId xmlns:a16="http://schemas.microsoft.com/office/drawing/2014/main" id="{1FBED1B0-B255-40E5-9F6D-524DB8AEB941}"/>
              </a:ext>
            </a:extLst>
          </p:cNvPr>
          <p:cNvSpPr>
            <a:spLocks xmlns:a="http://schemas.openxmlformats.org/drawingml/2006/main" noGrp="1"/>
          </p:cNvSpPr>
          <p:nvPr/>
        </p:nvSpPr>
        <p:spPr>
          <a:xfrm xmlns:a="http://schemas.openxmlformats.org/drawingml/2006/main">
            <a:off x="1257300" y="4514850"/>
            <a:ext cx="95250" cy="95250"/>
          </a:xfrm>
          <a:prstGeom xmlns:a="http://schemas.openxmlformats.org/drawingml/2006/main" prst="ellipse">
            <a:avLst/>
          </a:prstGeom>
          <a:solidFill xmlns:a="http://schemas.openxmlformats.org/drawingml/2006/main">
            <a:srgbClr val="7DD3F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C743003-E92A-4819-A71C-F2896284D275}"/>
              </a:ext>
            </a:extLst>
          </p:cNvPr>
          <p:cNvSpPr>
            <a:spLocks xmlns:a="http://schemas.openxmlformats.org/drawingml/2006/main" noGrp="1"/>
          </p:cNvSpPr>
          <p:nvPr/>
        </p:nvSpPr>
        <p:spPr>
          <a:xfrm xmlns:a="http://schemas.openxmlformats.org/drawingml/2006/main">
            <a:off x="1504950" y="4410075"/>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EEF6FF"/>
                </a:solidFill>
              </a:defRPr>
            </a:pPr>
            <a:r>
              <a:rPr sz="1275" b="0">
                <a:solidFill>
                  <a:srgbClr val="EEF6FF"/>
                </a:solidFill>
              </a:rPr>
              <a:t>字段映射：以 PLM→PDM 为样例</a:t>
            </a:r>
          </a:p>
        </p:txBody>
      </p:sp>
      <p:sp>
        <p:nvSpPr>
          <p:cNvPr id="15" name="">
            <a:extLst xmlns:a="http://schemas.openxmlformats.org/drawingml/2006/main">
              <a:ext uri="{FF2B5EF4-FFF2-40B4-BE49-F238E27FC236}">
                <a16:creationId xmlns:a16="http://schemas.microsoft.com/office/drawing/2014/main" id="{6098708B-181F-4BE1-A9FF-00ECCB8E7753}"/>
              </a:ext>
            </a:extLst>
          </p:cNvPr>
          <p:cNvSpPr>
            <a:spLocks xmlns:a="http://schemas.openxmlformats.org/drawingml/2006/main" noGrp="1"/>
          </p:cNvSpPr>
          <p:nvPr/>
        </p:nvSpPr>
        <p:spPr>
          <a:xfrm xmlns:a="http://schemas.openxmlformats.org/drawingml/2006/main">
            <a:off x="10477500" y="6210300"/>
            <a:ext cx="857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BFDBFE"/>
                </a:solidFill>
              </a:defRPr>
            </a:pPr>
            <a:r>
              <a:rPr sz="900" b="0">
                <a:solidFill>
                  <a:srgbClr val="BFDBFE"/>
                </a:solidFill>
              </a:rPr>
              <a:t>20 / 29</a:t>
            </a:r>
          </a:p>
        </p:txBody>
      </p:sp>
    </p:spTree>
    <p:extLst>
      <p:ext uri="{BB962C8B-B14F-4D97-AF65-F5344CB8AC3E}">
        <p14:creationId xmlns:p14="http://schemas.microsoft.com/office/powerpoint/2010/main" val="1557324732"/>
      </p:ext>
    </p:extLst>
  </p:cSld>
</p:sld>
</file>

<file path=ppt/slides/slide2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501A50A-CE85-4ECB-97CC-1A0AE69402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D563B76-1149-48C0-B3E9-B48DFCC96E4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37C9189-FAD1-4CF4-8F52-D549C77FE805}"/>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FC91D8A-8A58-4B2F-88AA-2E6E67761C30}"/>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04.1 适航追溯</a:t>
            </a:r>
          </a:p>
        </p:txBody>
      </p:sp>
      <p:sp>
        <p:nvSpPr>
          <p:cNvPr id="6" name="">
            <a:extLst xmlns:a="http://schemas.openxmlformats.org/drawingml/2006/main">
              <a:ext uri="{FF2B5EF4-FFF2-40B4-BE49-F238E27FC236}">
                <a16:creationId xmlns:a16="http://schemas.microsoft.com/office/drawing/2014/main" id="{E57C4CCD-5209-4EEF-82F6-283746996BBA}"/>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AD873081-DED8-4122-92AE-D44B4F39C78C}"/>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适航追溯专节</a:t>
            </a:r>
          </a:p>
        </p:txBody>
      </p:sp>
      <p:sp>
        <p:nvSpPr>
          <p:cNvPr id="8" name="">
            <a:extLst xmlns:a="http://schemas.openxmlformats.org/drawingml/2006/main">
              <a:ext uri="{FF2B5EF4-FFF2-40B4-BE49-F238E27FC236}">
                <a16:creationId xmlns:a16="http://schemas.microsoft.com/office/drawing/2014/main" id="{63AE927D-A91C-46A2-94A7-1CB1F508FC8E}"/>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零件编号+质量编号追溯 · 终身保存 · Q8</a:t>
            </a:r>
          </a:p>
        </p:txBody>
      </p:sp>
      <p:sp>
        <p:nvSpPr>
          <p:cNvPr id="9" name="">
            <a:extLst xmlns:a="http://schemas.openxmlformats.org/drawingml/2006/main">
              <a:ext uri="{FF2B5EF4-FFF2-40B4-BE49-F238E27FC236}">
                <a16:creationId xmlns:a16="http://schemas.microsoft.com/office/drawing/2014/main" id="{8E1CA3B4-3D77-4B8A-9F8C-B136D06D30B8}"/>
              </a:ext>
            </a:extLst>
          </p:cNvPr>
          <p:cNvSpPr>
            <a:spLocks xmlns:a="http://schemas.openxmlformats.org/drawingml/2006/main" noGrp="1"/>
          </p:cNvSpPr>
          <p:nvPr/>
        </p:nvSpPr>
        <p:spPr>
          <a:xfrm xmlns:a="http://schemas.openxmlformats.org/drawingml/2006/main">
            <a:off x="552450" y="1790700"/>
            <a:ext cx="31813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C82B5D65-2724-410B-BD3D-7765B8D8262D}"/>
              </a:ext>
            </a:extLst>
          </p:cNvPr>
          <p:cNvSpPr>
            <a:spLocks xmlns:a="http://schemas.openxmlformats.org/drawingml/2006/main" noGrp="1"/>
          </p:cNvSpPr>
          <p:nvPr/>
        </p:nvSpPr>
        <p:spPr>
          <a:xfrm xmlns:a="http://schemas.openxmlformats.org/drawingml/2006/main">
            <a:off x="552450" y="1790700"/>
            <a:ext cx="47625" cy="11049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D984FDD-60FF-421F-8575-9414AF7E0561}"/>
              </a:ext>
            </a:extLst>
          </p:cNvPr>
          <p:cNvSpPr>
            <a:spLocks xmlns:a="http://schemas.openxmlformats.org/drawingml/2006/main" noGrp="1"/>
          </p:cNvSpPr>
          <p:nvPr/>
        </p:nvSpPr>
        <p:spPr>
          <a:xfrm xmlns:a="http://schemas.openxmlformats.org/drawingml/2006/main">
            <a:off x="723900" y="1924050"/>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零件编号+质量编号追溯</a:t>
            </a:r>
          </a:p>
        </p:txBody>
      </p:sp>
      <p:sp>
        <p:nvSpPr>
          <p:cNvPr id="12" name="">
            <a:extLst xmlns:a="http://schemas.openxmlformats.org/drawingml/2006/main">
              <a:ext uri="{FF2B5EF4-FFF2-40B4-BE49-F238E27FC236}">
                <a16:creationId xmlns:a16="http://schemas.microsoft.com/office/drawing/2014/main" id="{0DF09728-381E-42D9-9B05-8A1C21F6E2E9}"/>
              </a:ext>
            </a:extLst>
          </p:cNvPr>
          <p:cNvSpPr>
            <a:spLocks xmlns:a="http://schemas.openxmlformats.org/drawingml/2006/main" noGrp="1"/>
          </p:cNvSpPr>
          <p:nvPr/>
        </p:nvSpPr>
        <p:spPr>
          <a:xfrm xmlns:a="http://schemas.openxmlformats.org/drawingml/2006/main">
            <a:off x="723900" y="2266950"/>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每个零件建立独立档案，不以批次追溯替代单件追溯。</a:t>
            </a:r>
          </a:p>
        </p:txBody>
      </p:sp>
      <p:sp>
        <p:nvSpPr>
          <p:cNvPr id="13" name="">
            <a:extLst xmlns:a="http://schemas.openxmlformats.org/drawingml/2006/main">
              <a:ext uri="{FF2B5EF4-FFF2-40B4-BE49-F238E27FC236}">
                <a16:creationId xmlns:a16="http://schemas.microsoft.com/office/drawing/2014/main" id="{B77716F5-5225-41DB-9DEB-BE327D5BCDE5}"/>
              </a:ext>
            </a:extLst>
          </p:cNvPr>
          <p:cNvSpPr>
            <a:spLocks xmlns:a="http://schemas.openxmlformats.org/drawingml/2006/main" noGrp="1"/>
          </p:cNvSpPr>
          <p:nvPr/>
        </p:nvSpPr>
        <p:spPr>
          <a:xfrm xmlns:a="http://schemas.openxmlformats.org/drawingml/2006/main">
            <a:off x="4076700" y="1790700"/>
            <a:ext cx="31813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9228B857-B8CE-46D0-A188-9DA48E0BEB96}"/>
              </a:ext>
            </a:extLst>
          </p:cNvPr>
          <p:cNvSpPr>
            <a:spLocks xmlns:a="http://schemas.openxmlformats.org/drawingml/2006/main" noGrp="1"/>
          </p:cNvSpPr>
          <p:nvPr/>
        </p:nvSpPr>
        <p:spPr>
          <a:xfrm xmlns:a="http://schemas.openxmlformats.org/drawingml/2006/main">
            <a:off x="4076700" y="1790700"/>
            <a:ext cx="47625" cy="110490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53F99380-9739-4E4D-9051-49A6363FABCD}"/>
              </a:ext>
            </a:extLst>
          </p:cNvPr>
          <p:cNvSpPr>
            <a:spLocks xmlns:a="http://schemas.openxmlformats.org/drawingml/2006/main" noGrp="1"/>
          </p:cNvSpPr>
          <p:nvPr/>
        </p:nvSpPr>
        <p:spPr>
          <a:xfrm xmlns:a="http://schemas.openxmlformats.org/drawingml/2006/main">
            <a:off x="4248150" y="1924050"/>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终身保存</a:t>
            </a:r>
          </a:p>
        </p:txBody>
      </p:sp>
      <p:sp>
        <p:nvSpPr>
          <p:cNvPr id="16" name="">
            <a:extLst xmlns:a="http://schemas.openxmlformats.org/drawingml/2006/main">
              <a:ext uri="{FF2B5EF4-FFF2-40B4-BE49-F238E27FC236}">
                <a16:creationId xmlns:a16="http://schemas.microsoft.com/office/drawing/2014/main" id="{9DC8C6CD-2BF6-42BF-9E6F-3C34EDBF09B4}"/>
              </a:ext>
            </a:extLst>
          </p:cNvPr>
          <p:cNvSpPr>
            <a:spLocks xmlns:a="http://schemas.openxmlformats.org/drawingml/2006/main" noGrp="1"/>
          </p:cNvSpPr>
          <p:nvPr/>
        </p:nvSpPr>
        <p:spPr>
          <a:xfrm xmlns:a="http://schemas.openxmlformats.org/drawingml/2006/main">
            <a:off x="4248150" y="2266950"/>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质量档案须保存至零件退役，通常 20 年以上。</a:t>
            </a:r>
          </a:p>
        </p:txBody>
      </p:sp>
      <p:sp>
        <p:nvSpPr>
          <p:cNvPr id="17" name="">
            <a:extLst xmlns:a="http://schemas.openxmlformats.org/drawingml/2006/main">
              <a:ext uri="{FF2B5EF4-FFF2-40B4-BE49-F238E27FC236}">
                <a16:creationId xmlns:a16="http://schemas.microsoft.com/office/drawing/2014/main" id="{A39BFA23-DE22-420A-BB03-8E20B34CA8CA}"/>
              </a:ext>
            </a:extLst>
          </p:cNvPr>
          <p:cNvSpPr>
            <a:spLocks xmlns:a="http://schemas.openxmlformats.org/drawingml/2006/main" noGrp="1"/>
          </p:cNvSpPr>
          <p:nvPr/>
        </p:nvSpPr>
        <p:spPr>
          <a:xfrm xmlns:a="http://schemas.openxmlformats.org/drawingml/2006/main">
            <a:off x="7600950" y="1790700"/>
            <a:ext cx="31813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15D78014-0897-4777-9E96-B0BEEA7E2BF9}"/>
              </a:ext>
            </a:extLst>
          </p:cNvPr>
          <p:cNvSpPr>
            <a:spLocks xmlns:a="http://schemas.openxmlformats.org/drawingml/2006/main" noGrp="1"/>
          </p:cNvSpPr>
          <p:nvPr/>
        </p:nvSpPr>
        <p:spPr>
          <a:xfrm xmlns:a="http://schemas.openxmlformats.org/drawingml/2006/main">
            <a:off x="7600950" y="1790700"/>
            <a:ext cx="47625" cy="11049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FEB1CC6E-16B6-4843-B4F6-92ED0B21ED50}"/>
              </a:ext>
            </a:extLst>
          </p:cNvPr>
          <p:cNvSpPr>
            <a:spLocks xmlns:a="http://schemas.openxmlformats.org/drawingml/2006/main" noGrp="1"/>
          </p:cNvSpPr>
          <p:nvPr/>
        </p:nvSpPr>
        <p:spPr>
          <a:xfrm xmlns:a="http://schemas.openxmlformats.org/drawingml/2006/main">
            <a:off x="7772400" y="1924050"/>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全链路可查</a:t>
            </a:r>
          </a:p>
        </p:txBody>
      </p:sp>
      <p:sp>
        <p:nvSpPr>
          <p:cNvPr id="20" name="">
            <a:extLst xmlns:a="http://schemas.openxmlformats.org/drawingml/2006/main">
              <a:ext uri="{FF2B5EF4-FFF2-40B4-BE49-F238E27FC236}">
                <a16:creationId xmlns:a16="http://schemas.microsoft.com/office/drawing/2014/main" id="{5CD797AE-D8FA-4A48-A325-739881A0F62E}"/>
              </a:ext>
            </a:extLst>
          </p:cNvPr>
          <p:cNvSpPr>
            <a:spLocks xmlns:a="http://schemas.openxmlformats.org/drawingml/2006/main" noGrp="1"/>
          </p:cNvSpPr>
          <p:nvPr/>
        </p:nvSpPr>
        <p:spPr>
          <a:xfrm xmlns:a="http://schemas.openxmlformats.org/drawingml/2006/main">
            <a:off x="7772400" y="2266950"/>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从原材料批次、制造工艺、检验记录到交付构型，均需可追溯。</a:t>
            </a:r>
          </a:p>
        </p:txBody>
      </p:sp>
      <p:sp>
        <p:nvSpPr>
          <p:cNvPr id="21" name="">
            <a:extLst xmlns:a="http://schemas.openxmlformats.org/drawingml/2006/main">
              <a:ext uri="{FF2B5EF4-FFF2-40B4-BE49-F238E27FC236}">
                <a16:creationId xmlns:a16="http://schemas.microsoft.com/office/drawing/2014/main" id="{471333F4-5EF2-480B-B38D-52E8384532CB}"/>
              </a:ext>
            </a:extLst>
          </p:cNvPr>
          <p:cNvSpPr>
            <a:spLocks xmlns:a="http://schemas.openxmlformats.org/drawingml/2006/main" noGrp="1"/>
          </p:cNvSpPr>
          <p:nvPr/>
        </p:nvSpPr>
        <p:spPr>
          <a:xfrm xmlns:a="http://schemas.openxmlformats.org/drawingml/2006/main">
            <a:off x="762000" y="3429000"/>
            <a:ext cx="2376488"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7B23F0D0-BF61-4FC5-8188-9CE4282B9C4C}"/>
              </a:ext>
            </a:extLst>
          </p:cNvPr>
          <p:cNvSpPr>
            <a:spLocks xmlns:a="http://schemas.openxmlformats.org/drawingml/2006/main" noGrp="1"/>
          </p:cNvSpPr>
          <p:nvPr/>
        </p:nvSpPr>
        <p:spPr>
          <a:xfrm xmlns:a="http://schemas.openxmlformats.org/drawingml/2006/main">
            <a:off x="895350" y="3562350"/>
            <a:ext cx="285750" cy="285750"/>
          </a:xfrm>
          <a:prstGeom xmlns:a="http://schemas.openxmlformats.org/drawingml/2006/main" prst="ellipse">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6ACE4E6A-9E3A-4337-83FE-47D760E5E95B}"/>
              </a:ext>
            </a:extLst>
          </p:cNvPr>
          <p:cNvSpPr>
            <a:spLocks xmlns:a="http://schemas.openxmlformats.org/drawingml/2006/main" noGrp="1"/>
          </p:cNvSpPr>
          <p:nvPr/>
        </p:nvSpPr>
        <p:spPr>
          <a:xfrm xmlns:a="http://schemas.openxmlformats.org/drawingml/2006/main">
            <a:off x="895350" y="360045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900" b="1">
                <a:solidFill>
                  <a:srgbClr val="FFFFFF"/>
                </a:solidFill>
              </a:defRPr>
            </a:pPr>
            <a:r>
              <a:rPr sz="900" b="1">
                <a:solidFill>
                  <a:srgbClr val="FFFFFF"/>
                </a:solidFill>
              </a:rPr>
              <a:t>1</a:t>
            </a:r>
          </a:p>
        </p:txBody>
      </p:sp>
      <p:sp>
        <p:nvSpPr>
          <p:cNvPr id="24" name="">
            <a:extLst xmlns:a="http://schemas.openxmlformats.org/drawingml/2006/main">
              <a:ext uri="{FF2B5EF4-FFF2-40B4-BE49-F238E27FC236}">
                <a16:creationId xmlns:a16="http://schemas.microsoft.com/office/drawing/2014/main" id="{2AFA56D2-E032-4E12-BC54-4068A046D95B}"/>
              </a:ext>
            </a:extLst>
          </p:cNvPr>
          <p:cNvSpPr>
            <a:spLocks xmlns:a="http://schemas.openxmlformats.org/drawingml/2006/main" noGrp="1"/>
          </p:cNvSpPr>
          <p:nvPr/>
        </p:nvSpPr>
        <p:spPr>
          <a:xfrm xmlns:a="http://schemas.openxmlformats.org/drawingml/2006/main">
            <a:off x="1257300" y="3552825"/>
            <a:ext cx="1785938"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原材料批次</a:t>
            </a:r>
          </a:p>
        </p:txBody>
      </p:sp>
      <p:sp>
        <p:nvSpPr>
          <p:cNvPr id="25" name="">
            <a:extLst xmlns:a="http://schemas.openxmlformats.org/drawingml/2006/main">
              <a:ext uri="{FF2B5EF4-FFF2-40B4-BE49-F238E27FC236}">
                <a16:creationId xmlns:a16="http://schemas.microsoft.com/office/drawing/2014/main" id="{08A0B819-5580-4E07-A45E-E052713454C2}"/>
              </a:ext>
            </a:extLst>
          </p:cNvPr>
          <p:cNvSpPr>
            <a:spLocks xmlns:a="http://schemas.openxmlformats.org/drawingml/2006/main" noGrp="1"/>
          </p:cNvSpPr>
          <p:nvPr/>
        </p:nvSpPr>
        <p:spPr>
          <a:xfrm xmlns:a="http://schemas.openxmlformats.org/drawingml/2006/main">
            <a:off x="933450" y="3886200"/>
            <a:ext cx="2090738"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批号、有效期、存储条件</a:t>
            </a:r>
          </a:p>
        </p:txBody>
      </p:sp>
      <p:sp>
        <p:nvSpPr>
          <p:cNvPr id="26" name="">
            <a:extLst xmlns:a="http://schemas.openxmlformats.org/drawingml/2006/main">
              <a:ext uri="{FF2B5EF4-FFF2-40B4-BE49-F238E27FC236}">
                <a16:creationId xmlns:a16="http://schemas.microsoft.com/office/drawing/2014/main" id="{E9290C3C-8F19-4A99-A92E-3C9E7A452E59}"/>
              </a:ext>
            </a:extLst>
          </p:cNvPr>
          <p:cNvSpPr>
            <a:spLocks xmlns:a="http://schemas.openxmlformats.org/drawingml/2006/main" noGrp="1"/>
          </p:cNvSpPr>
          <p:nvPr/>
        </p:nvSpPr>
        <p:spPr>
          <a:xfrm xmlns:a="http://schemas.openxmlformats.org/drawingml/2006/main">
            <a:off x="3157538" y="3848100"/>
            <a:ext cx="95250" cy="28575"/>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8E0C0555-2F0B-4395-8B58-3D8E5353493A}"/>
              </a:ext>
            </a:extLst>
          </p:cNvPr>
          <p:cNvSpPr>
            <a:spLocks xmlns:a="http://schemas.openxmlformats.org/drawingml/2006/main" noGrp="1"/>
          </p:cNvSpPr>
          <p:nvPr/>
        </p:nvSpPr>
        <p:spPr>
          <a:xfrm xmlns:a="http://schemas.openxmlformats.org/drawingml/2006/main">
            <a:off x="3271838" y="3429000"/>
            <a:ext cx="2376488"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55C72459-7D3A-46B5-B5C2-EAB0CC87E86E}"/>
              </a:ext>
            </a:extLst>
          </p:cNvPr>
          <p:cNvSpPr>
            <a:spLocks xmlns:a="http://schemas.openxmlformats.org/drawingml/2006/main" noGrp="1"/>
          </p:cNvSpPr>
          <p:nvPr/>
        </p:nvSpPr>
        <p:spPr>
          <a:xfrm xmlns:a="http://schemas.openxmlformats.org/drawingml/2006/main">
            <a:off x="3405188" y="3562350"/>
            <a:ext cx="285750" cy="285750"/>
          </a:xfrm>
          <a:prstGeom xmlns:a="http://schemas.openxmlformats.org/drawingml/2006/main" prst="ellipse">
            <a:avLst/>
          </a:prstGeom>
          <a:solidFill xmlns:a="http://schemas.openxmlformats.org/drawingml/2006/main">
            <a:srgbClr val="EA580C"/>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79A5588F-E89C-49A3-9FAD-EB11F941631E}"/>
              </a:ext>
            </a:extLst>
          </p:cNvPr>
          <p:cNvSpPr>
            <a:spLocks xmlns:a="http://schemas.openxmlformats.org/drawingml/2006/main" noGrp="1"/>
          </p:cNvSpPr>
          <p:nvPr/>
        </p:nvSpPr>
        <p:spPr>
          <a:xfrm xmlns:a="http://schemas.openxmlformats.org/drawingml/2006/main">
            <a:off x="3405188" y="360045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900" b="1">
                <a:solidFill>
                  <a:srgbClr val="FFFFFF"/>
                </a:solidFill>
              </a:defRPr>
            </a:pPr>
            <a:r>
              <a:rPr sz="900" b="1">
                <a:solidFill>
                  <a:srgbClr val="FFFFFF"/>
                </a:solidFill>
              </a:rPr>
              <a:t>2</a:t>
            </a:r>
          </a:p>
        </p:txBody>
      </p:sp>
      <p:sp>
        <p:nvSpPr>
          <p:cNvPr id="30" name="">
            <a:extLst xmlns:a="http://schemas.openxmlformats.org/drawingml/2006/main">
              <a:ext uri="{FF2B5EF4-FFF2-40B4-BE49-F238E27FC236}">
                <a16:creationId xmlns:a16="http://schemas.microsoft.com/office/drawing/2014/main" id="{732AC414-36EF-4B6D-BCEB-206055ECD937}"/>
              </a:ext>
            </a:extLst>
          </p:cNvPr>
          <p:cNvSpPr>
            <a:spLocks xmlns:a="http://schemas.openxmlformats.org/drawingml/2006/main" noGrp="1"/>
          </p:cNvSpPr>
          <p:nvPr/>
        </p:nvSpPr>
        <p:spPr>
          <a:xfrm xmlns:a="http://schemas.openxmlformats.org/drawingml/2006/main">
            <a:off x="3767138" y="3552825"/>
            <a:ext cx="1785938"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制造工艺</a:t>
            </a:r>
          </a:p>
        </p:txBody>
      </p:sp>
      <p:sp>
        <p:nvSpPr>
          <p:cNvPr id="31" name="">
            <a:extLst xmlns:a="http://schemas.openxmlformats.org/drawingml/2006/main">
              <a:ext uri="{FF2B5EF4-FFF2-40B4-BE49-F238E27FC236}">
                <a16:creationId xmlns:a16="http://schemas.microsoft.com/office/drawing/2014/main" id="{DBE883E7-0226-4FEF-9D61-DF4510782FFA}"/>
              </a:ext>
            </a:extLst>
          </p:cNvPr>
          <p:cNvSpPr>
            <a:spLocks xmlns:a="http://schemas.openxmlformats.org/drawingml/2006/main" noGrp="1"/>
          </p:cNvSpPr>
          <p:nvPr/>
        </p:nvSpPr>
        <p:spPr>
          <a:xfrm xmlns:a="http://schemas.openxmlformats.org/drawingml/2006/main">
            <a:off x="3443288" y="3886200"/>
            <a:ext cx="2090738"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工序、设备、人员、热压罐参数</a:t>
            </a:r>
          </a:p>
        </p:txBody>
      </p:sp>
      <p:sp>
        <p:nvSpPr>
          <p:cNvPr id="32" name="">
            <a:extLst xmlns:a="http://schemas.openxmlformats.org/drawingml/2006/main">
              <a:ext uri="{FF2B5EF4-FFF2-40B4-BE49-F238E27FC236}">
                <a16:creationId xmlns:a16="http://schemas.microsoft.com/office/drawing/2014/main" id="{BC434CDA-57E0-4B1F-8E8C-170334B1E681}"/>
              </a:ext>
            </a:extLst>
          </p:cNvPr>
          <p:cNvSpPr>
            <a:spLocks xmlns:a="http://schemas.openxmlformats.org/drawingml/2006/main" noGrp="1"/>
          </p:cNvSpPr>
          <p:nvPr/>
        </p:nvSpPr>
        <p:spPr>
          <a:xfrm xmlns:a="http://schemas.openxmlformats.org/drawingml/2006/main">
            <a:off x="5667375" y="3848100"/>
            <a:ext cx="95250" cy="28575"/>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DE47216A-BE59-4273-9D91-04A4214BD72D}"/>
              </a:ext>
            </a:extLst>
          </p:cNvPr>
          <p:cNvSpPr>
            <a:spLocks xmlns:a="http://schemas.openxmlformats.org/drawingml/2006/main" noGrp="1"/>
          </p:cNvSpPr>
          <p:nvPr/>
        </p:nvSpPr>
        <p:spPr>
          <a:xfrm xmlns:a="http://schemas.openxmlformats.org/drawingml/2006/main">
            <a:off x="5781675" y="3429000"/>
            <a:ext cx="2376488"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C203D799-A846-4B57-8B15-572E51042843}"/>
              </a:ext>
            </a:extLst>
          </p:cNvPr>
          <p:cNvSpPr>
            <a:spLocks xmlns:a="http://schemas.openxmlformats.org/drawingml/2006/main" noGrp="1"/>
          </p:cNvSpPr>
          <p:nvPr/>
        </p:nvSpPr>
        <p:spPr>
          <a:xfrm xmlns:a="http://schemas.openxmlformats.org/drawingml/2006/main">
            <a:off x="5915025" y="3562350"/>
            <a:ext cx="285750" cy="285750"/>
          </a:xfrm>
          <a:prstGeom xmlns:a="http://schemas.openxmlformats.org/drawingml/2006/main" prst="ellipse">
            <a:avLst/>
          </a:prstGeom>
          <a:solidFill xmlns:a="http://schemas.openxmlformats.org/drawingml/2006/main">
            <a:srgbClr val="DC2626"/>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C994BFB2-6985-4C3A-A59F-B39D6860B0B7}"/>
              </a:ext>
            </a:extLst>
          </p:cNvPr>
          <p:cNvSpPr>
            <a:spLocks xmlns:a="http://schemas.openxmlformats.org/drawingml/2006/main" noGrp="1"/>
          </p:cNvSpPr>
          <p:nvPr/>
        </p:nvSpPr>
        <p:spPr>
          <a:xfrm xmlns:a="http://schemas.openxmlformats.org/drawingml/2006/main">
            <a:off x="5915025" y="360045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900" b="1">
                <a:solidFill>
                  <a:srgbClr val="FFFFFF"/>
                </a:solidFill>
              </a:defRPr>
            </a:pPr>
            <a:r>
              <a:rPr sz="900" b="1">
                <a:solidFill>
                  <a:srgbClr val="FFFFFF"/>
                </a:solidFill>
              </a:rPr>
              <a:t>3</a:t>
            </a:r>
          </a:p>
        </p:txBody>
      </p:sp>
      <p:sp>
        <p:nvSpPr>
          <p:cNvPr id="36" name="">
            <a:extLst xmlns:a="http://schemas.openxmlformats.org/drawingml/2006/main">
              <a:ext uri="{FF2B5EF4-FFF2-40B4-BE49-F238E27FC236}">
                <a16:creationId xmlns:a16="http://schemas.microsoft.com/office/drawing/2014/main" id="{45CB87A4-A119-48E7-869F-E4D0E7724DA1}"/>
              </a:ext>
            </a:extLst>
          </p:cNvPr>
          <p:cNvSpPr>
            <a:spLocks xmlns:a="http://schemas.openxmlformats.org/drawingml/2006/main" noGrp="1"/>
          </p:cNvSpPr>
          <p:nvPr/>
        </p:nvSpPr>
        <p:spPr>
          <a:xfrm xmlns:a="http://schemas.openxmlformats.org/drawingml/2006/main">
            <a:off x="6276975" y="3552825"/>
            <a:ext cx="1785938"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质量记录</a:t>
            </a:r>
          </a:p>
        </p:txBody>
      </p:sp>
      <p:sp>
        <p:nvSpPr>
          <p:cNvPr id="37" name="">
            <a:extLst xmlns:a="http://schemas.openxmlformats.org/drawingml/2006/main">
              <a:ext uri="{FF2B5EF4-FFF2-40B4-BE49-F238E27FC236}">
                <a16:creationId xmlns:a16="http://schemas.microsoft.com/office/drawing/2014/main" id="{DDDBC743-9C45-4123-BF2B-9F853A563A33}"/>
              </a:ext>
            </a:extLst>
          </p:cNvPr>
          <p:cNvSpPr>
            <a:spLocks xmlns:a="http://schemas.openxmlformats.org/drawingml/2006/main" noGrp="1"/>
          </p:cNvSpPr>
          <p:nvPr/>
        </p:nvSpPr>
        <p:spPr>
          <a:xfrm xmlns:a="http://schemas.openxmlformats.org/drawingml/2006/main">
            <a:off x="5953125" y="3886200"/>
            <a:ext cx="2090738"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NDT、偏离/超差、检验结果</a:t>
            </a:r>
          </a:p>
        </p:txBody>
      </p:sp>
      <p:sp>
        <p:nvSpPr>
          <p:cNvPr id="38" name="">
            <a:extLst xmlns:a="http://schemas.openxmlformats.org/drawingml/2006/main">
              <a:ext uri="{FF2B5EF4-FFF2-40B4-BE49-F238E27FC236}">
                <a16:creationId xmlns:a16="http://schemas.microsoft.com/office/drawing/2014/main" id="{3AFF4B6D-E7DC-4B91-B714-BB54D68F575E}"/>
              </a:ext>
            </a:extLst>
          </p:cNvPr>
          <p:cNvSpPr>
            <a:spLocks xmlns:a="http://schemas.openxmlformats.org/drawingml/2006/main" noGrp="1"/>
          </p:cNvSpPr>
          <p:nvPr/>
        </p:nvSpPr>
        <p:spPr>
          <a:xfrm xmlns:a="http://schemas.openxmlformats.org/drawingml/2006/main">
            <a:off x="8177213" y="3848100"/>
            <a:ext cx="95250" cy="28575"/>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CF5E2549-2CA9-46FE-87EE-9EA3E507E22E}"/>
              </a:ext>
            </a:extLst>
          </p:cNvPr>
          <p:cNvSpPr>
            <a:spLocks xmlns:a="http://schemas.openxmlformats.org/drawingml/2006/main" noGrp="1"/>
          </p:cNvSpPr>
          <p:nvPr/>
        </p:nvSpPr>
        <p:spPr>
          <a:xfrm xmlns:a="http://schemas.openxmlformats.org/drawingml/2006/main">
            <a:off x="8291513" y="3429000"/>
            <a:ext cx="2376488"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E2E8F0"/>
            </a:solidFill>
            <a:prstDash val="solid"/>
          </a:ln>
        </p:spPr>
      </p:sp>
      <p:sp>
        <p:nvSpPr>
          <p:cNvPr id="40" name="">
            <a:extLst xmlns:a="http://schemas.openxmlformats.org/drawingml/2006/main">
              <a:ext uri="{FF2B5EF4-FFF2-40B4-BE49-F238E27FC236}">
                <a16:creationId xmlns:a16="http://schemas.microsoft.com/office/drawing/2014/main" id="{E40192D8-B376-4128-9ABA-A5732FE3D24B}"/>
              </a:ext>
            </a:extLst>
          </p:cNvPr>
          <p:cNvSpPr>
            <a:spLocks xmlns:a="http://schemas.openxmlformats.org/drawingml/2006/main" noGrp="1"/>
          </p:cNvSpPr>
          <p:nvPr/>
        </p:nvSpPr>
        <p:spPr>
          <a:xfrm xmlns:a="http://schemas.openxmlformats.org/drawingml/2006/main">
            <a:off x="8424863" y="3562350"/>
            <a:ext cx="285750" cy="285750"/>
          </a:xfrm>
          <a:prstGeom xmlns:a="http://schemas.openxmlformats.org/drawingml/2006/main" prst="ellipse">
            <a:avLst/>
          </a:prstGeom>
          <a:solidFill xmlns:a="http://schemas.openxmlformats.org/drawingml/2006/main">
            <a:srgbClr val="7C3AED"/>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AD0274BA-165D-4DF6-B17A-0E7A9EC77683}"/>
              </a:ext>
            </a:extLst>
          </p:cNvPr>
          <p:cNvSpPr>
            <a:spLocks xmlns:a="http://schemas.openxmlformats.org/drawingml/2006/main" noGrp="1"/>
          </p:cNvSpPr>
          <p:nvPr/>
        </p:nvSpPr>
        <p:spPr>
          <a:xfrm xmlns:a="http://schemas.openxmlformats.org/drawingml/2006/main">
            <a:off x="8424863" y="360045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ctr">
              <a:defRPr sz="900" b="1">
                <a:solidFill>
                  <a:srgbClr val="FFFFFF"/>
                </a:solidFill>
              </a:defRPr>
            </a:pPr>
            <a:r>
              <a:rPr sz="900" b="1">
                <a:solidFill>
                  <a:srgbClr val="FFFFFF"/>
                </a:solidFill>
              </a:rPr>
              <a:t>4</a:t>
            </a:r>
          </a:p>
        </p:txBody>
      </p:sp>
      <p:sp>
        <p:nvSpPr>
          <p:cNvPr id="42" name="">
            <a:extLst xmlns:a="http://schemas.openxmlformats.org/drawingml/2006/main">
              <a:ext uri="{FF2B5EF4-FFF2-40B4-BE49-F238E27FC236}">
                <a16:creationId xmlns:a16="http://schemas.microsoft.com/office/drawing/2014/main" id="{17C6568D-596A-424B-91E6-FA6CF1D5402A}"/>
              </a:ext>
            </a:extLst>
          </p:cNvPr>
          <p:cNvSpPr>
            <a:spLocks xmlns:a="http://schemas.openxmlformats.org/drawingml/2006/main" noGrp="1"/>
          </p:cNvSpPr>
          <p:nvPr/>
        </p:nvSpPr>
        <p:spPr>
          <a:xfrm xmlns:a="http://schemas.openxmlformats.org/drawingml/2006/main">
            <a:off x="8786813" y="3552825"/>
            <a:ext cx="1785938"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1">
                <a:solidFill>
                  <a:srgbClr val="0F2A5E"/>
                </a:solidFill>
              </a:defRPr>
            </a:pPr>
            <a:r>
              <a:rPr sz="1050" b="1">
                <a:solidFill>
                  <a:srgbClr val="0F2A5E"/>
                </a:solidFill>
              </a:rPr>
              <a:t>交付构型</a:t>
            </a:r>
          </a:p>
        </p:txBody>
      </p:sp>
      <p:sp>
        <p:nvSpPr>
          <p:cNvPr id="43" name="">
            <a:extLst xmlns:a="http://schemas.openxmlformats.org/drawingml/2006/main">
              <a:ext uri="{FF2B5EF4-FFF2-40B4-BE49-F238E27FC236}">
                <a16:creationId xmlns:a16="http://schemas.microsoft.com/office/drawing/2014/main" id="{62FDCFA1-6B25-4F58-99D4-5891DA315464}"/>
              </a:ext>
            </a:extLst>
          </p:cNvPr>
          <p:cNvSpPr>
            <a:spLocks xmlns:a="http://schemas.openxmlformats.org/drawingml/2006/main" noGrp="1"/>
          </p:cNvSpPr>
          <p:nvPr/>
        </p:nvSpPr>
        <p:spPr>
          <a:xfrm xmlns:a="http://schemas.openxmlformats.org/drawingml/2006/main">
            <a:off x="8462963" y="3886200"/>
            <a:ext cx="2090738"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788" b="0">
                <a:solidFill>
                  <a:srgbClr val="475569"/>
                </a:solidFill>
              </a:defRPr>
            </a:pPr>
            <a:r>
              <a:rPr sz="788" b="0">
                <a:solidFill>
                  <a:srgbClr val="475569"/>
                </a:solidFill>
              </a:rPr>
              <a:t>件号、质量编号、符合性证明</a:t>
            </a:r>
          </a:p>
        </p:txBody>
      </p:sp>
      <p:sp>
        <p:nvSpPr>
          <p:cNvPr id="44" name="">
            <a:extLst xmlns:a="http://schemas.openxmlformats.org/drawingml/2006/main">
              <a:ext uri="{FF2B5EF4-FFF2-40B4-BE49-F238E27FC236}">
                <a16:creationId xmlns:a16="http://schemas.microsoft.com/office/drawing/2014/main" id="{50B229B7-19DA-483F-ADBC-0FCEBD650CBB}"/>
              </a:ext>
            </a:extLst>
          </p:cNvPr>
          <p:cNvSpPr>
            <a:spLocks xmlns:a="http://schemas.openxmlformats.org/drawingml/2006/main" noGrp="1"/>
          </p:cNvSpPr>
          <p:nvPr/>
        </p:nvSpPr>
        <p:spPr>
          <a:xfrm xmlns:a="http://schemas.openxmlformats.org/drawingml/2006/main">
            <a:off x="1028700" y="5048250"/>
            <a:ext cx="9334500" cy="742950"/>
          </a:xfrm>
          <a:prstGeom xmlns:a="http://schemas.openxmlformats.org/drawingml/2006/main" prst="roundRect">
            <a:avLst>
              <a:gd name="adj" fmla="val 10256"/>
            </a:avLst>
          </a:prstGeom>
          <a:solidFill xmlns:a="http://schemas.openxmlformats.org/drawingml/2006/main">
            <a:srgbClr val="FEF2F2"/>
          </a:solidFill>
          <a:ln xmlns:a="http://schemas.openxmlformats.org/drawingml/2006/main" w="9525">
            <a:solidFill>
              <a:srgbClr val="E2E8F0"/>
            </a:solidFill>
            <a:prstDash val="solid"/>
          </a:ln>
        </p:spPr>
      </p:sp>
      <p:sp>
        <p:nvSpPr>
          <p:cNvPr id="45" name="">
            <a:extLst xmlns:a="http://schemas.openxmlformats.org/drawingml/2006/main">
              <a:ext uri="{FF2B5EF4-FFF2-40B4-BE49-F238E27FC236}">
                <a16:creationId xmlns:a16="http://schemas.microsoft.com/office/drawing/2014/main" id="{1D30B339-383F-4159-83B4-D5F16B681EC9}"/>
              </a:ext>
            </a:extLst>
          </p:cNvPr>
          <p:cNvSpPr>
            <a:spLocks xmlns:a="http://schemas.openxmlformats.org/drawingml/2006/main" noGrp="1"/>
          </p:cNvSpPr>
          <p:nvPr/>
        </p:nvSpPr>
        <p:spPr>
          <a:xfrm xmlns:a="http://schemas.openxmlformats.org/drawingml/2006/main">
            <a:off x="1028700" y="5048250"/>
            <a:ext cx="57150" cy="742950"/>
          </a:xfrm>
          <a:prstGeom xmlns:a="http://schemas.openxmlformats.org/drawingml/2006/main" prst="rect">
            <a:avLst/>
          </a:prstGeom>
          <a:solidFill xmlns:a="http://schemas.openxmlformats.org/drawingml/2006/main">
            <a:srgbClr val="DC2626"/>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FCB8B714-2CC1-4EE2-BDA1-620098ABC58F}"/>
              </a:ext>
            </a:extLst>
          </p:cNvPr>
          <p:cNvSpPr>
            <a:spLocks xmlns:a="http://schemas.openxmlformats.org/drawingml/2006/main" noGrp="1"/>
          </p:cNvSpPr>
          <p:nvPr/>
        </p:nvSpPr>
        <p:spPr>
          <a:xfrm xmlns:a="http://schemas.openxmlformats.org/drawingml/2006/main">
            <a:off x="1200150" y="5162550"/>
            <a:ext cx="8991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125" b="1">
                <a:solidFill>
                  <a:srgbClr val="DC2626"/>
                </a:solidFill>
              </a:defRPr>
            </a:pPr>
            <a:r>
              <a:rPr sz="1125" b="1">
                <a:solidFill>
                  <a:srgbClr val="DC2626"/>
                </a:solidFill>
              </a:rPr>
              <a:t>适航追溯数据的存储和查询方案？</a:t>
            </a:r>
          </a:p>
        </p:txBody>
      </p:sp>
      <p:sp>
        <p:nvSpPr>
          <p:cNvPr id="47" name="">
            <a:extLst xmlns:a="http://schemas.openxmlformats.org/drawingml/2006/main">
              <a:ext uri="{FF2B5EF4-FFF2-40B4-BE49-F238E27FC236}">
                <a16:creationId xmlns:a16="http://schemas.microsoft.com/office/drawing/2014/main" id="{9E61B57C-9C01-4FE7-AC1F-76C37AD12EEA}"/>
              </a:ext>
            </a:extLst>
          </p:cNvPr>
          <p:cNvSpPr>
            <a:spLocks xmlns:a="http://schemas.openxmlformats.org/drawingml/2006/main" noGrp="1"/>
          </p:cNvSpPr>
          <p:nvPr/>
        </p:nvSpPr>
        <p:spPr>
          <a:xfrm xmlns:a="http://schemas.openxmlformats.org/drawingml/2006/main">
            <a:off x="1200150" y="5429250"/>
            <a:ext cx="8991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1920"/>
          </a:bodyPr>
          <a:lstStyle xmlns:a="http://schemas.openxmlformats.org/drawingml/2006/main"/>
          <a:p xmlns:a="http://schemas.openxmlformats.org/drawingml/2006/main">
            <a:pPr algn="l">
              <a:defRPr sz="900" b="0">
                <a:solidFill>
                  <a:srgbClr val="475569"/>
                </a:solidFill>
              </a:defRPr>
            </a:pPr>
            <a:r>
              <a:rPr sz="900" b="0">
                <a:solidFill>
                  <a:srgbClr val="475569"/>
                </a:solidFill>
              </a:rPr>
              <a:t>选项A：分散存储，各系统自管，按需人工汇总；选项B：数据中台统一存储追溯链，提供统一查询接口。</a:t>
            </a:r>
          </a:p>
          <a:p xmlns:a="http://schemas.openxmlformats.org/drawingml/2006/main">
            <a:pPr algn="l">
              <a:defRPr sz="900" b="0">
                <a:solidFill>
                  <a:srgbClr val="475569"/>
                </a:solidFill>
              </a:defRPr>
            </a:pPr>
            <a:r>
              <a:rPr sz="900" b="0">
                <a:solidFill>
                  <a:srgbClr val="475569"/>
                </a:solidFill>
              </a:rPr>
              <a:t>质量管理部 + 项目管理部 · 2026-05-09 · 待决议</a:t>
            </a:r>
          </a:p>
        </p:txBody>
      </p:sp>
      <p:sp>
        <p:nvSpPr>
          <p:cNvPr id="48" name="">
            <a:extLst xmlns:a="http://schemas.openxmlformats.org/drawingml/2006/main">
              <a:ext uri="{FF2B5EF4-FFF2-40B4-BE49-F238E27FC236}">
                <a16:creationId xmlns:a16="http://schemas.microsoft.com/office/drawing/2014/main" id="{201C32FD-1945-45E0-BBAE-74E650C3F1C8}"/>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21 / 29</a:t>
            </a:r>
          </a:p>
        </p:txBody>
      </p:sp>
    </p:spTree>
    <p:extLst>
      <p:ext uri="{BB962C8B-B14F-4D97-AF65-F5344CB8AC3E}">
        <p14:creationId xmlns:p14="http://schemas.microsoft.com/office/powerpoint/2010/main" val="1630898101"/>
      </p:ext>
    </p:extLst>
  </p:cSld>
</p:sld>
</file>

<file path=ppt/slides/slide2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387DCE14-C76F-4C38-8789-901A6CC6F02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6DB9BC2-B4A7-4553-A2D8-B640F025B35C}"/>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106D3D0-26BB-4DA5-81FB-F653033C47B8}"/>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211B43A-3DC4-4B34-86CE-981FB83EE431}"/>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04.2 关键接口</a:t>
            </a:r>
          </a:p>
        </p:txBody>
      </p:sp>
      <p:sp>
        <p:nvSpPr>
          <p:cNvPr id="6" name="">
            <a:extLst xmlns:a="http://schemas.openxmlformats.org/drawingml/2006/main">
              <a:ext uri="{FF2B5EF4-FFF2-40B4-BE49-F238E27FC236}">
                <a16:creationId xmlns:a16="http://schemas.microsoft.com/office/drawing/2014/main" id="{0E2C320B-F012-4276-B1B4-2E262A6CE8D0}"/>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F3A7BF95-8885-4520-8B4F-DC76EA6E389E}"/>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关键接口设计</a:t>
            </a:r>
          </a:p>
        </p:txBody>
      </p:sp>
      <p:sp>
        <p:nvSpPr>
          <p:cNvPr id="8" name="">
            <a:extLst xmlns:a="http://schemas.openxmlformats.org/drawingml/2006/main">
              <a:ext uri="{FF2B5EF4-FFF2-40B4-BE49-F238E27FC236}">
                <a16:creationId xmlns:a16="http://schemas.microsoft.com/office/drawing/2014/main" id="{31C37BDC-5AAB-4F14-9957-FC76691749FF}"/>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接口卡预审 · 主数据依赖 · 异常处理</a:t>
            </a:r>
          </a:p>
        </p:txBody>
      </p:sp>
      <p:sp>
        <p:nvSpPr>
          <p:cNvPr id="9" name="">
            <a:extLst xmlns:a="http://schemas.openxmlformats.org/drawingml/2006/main">
              <a:ext uri="{FF2B5EF4-FFF2-40B4-BE49-F238E27FC236}">
                <a16:creationId xmlns:a16="http://schemas.microsoft.com/office/drawing/2014/main" id="{26757EC7-4C6D-4EDC-97FF-D0736994B327}"/>
              </a:ext>
            </a:extLst>
          </p:cNvPr>
          <p:cNvSpPr>
            <a:spLocks xmlns:a="http://schemas.openxmlformats.org/drawingml/2006/main" noGrp="1"/>
          </p:cNvSpPr>
          <p:nvPr/>
        </p:nvSpPr>
        <p:spPr>
          <a:xfrm xmlns:a="http://schemas.openxmlformats.org/drawingml/2006/main">
            <a:off x="552450" y="1790700"/>
            <a:ext cx="2537460" cy="57912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0" name="">
            <a:extLst xmlns:a="http://schemas.openxmlformats.org/drawingml/2006/main">
              <a:ext uri="{FF2B5EF4-FFF2-40B4-BE49-F238E27FC236}">
                <a16:creationId xmlns:a16="http://schemas.microsoft.com/office/drawing/2014/main" id="{54537224-3389-4CFE-A36E-033E10300203}"/>
              </a:ext>
            </a:extLst>
          </p:cNvPr>
          <p:cNvSpPr>
            <a:spLocks xmlns:a="http://schemas.openxmlformats.org/drawingml/2006/main" noGrp="1"/>
          </p:cNvSpPr>
          <p:nvPr/>
        </p:nvSpPr>
        <p:spPr>
          <a:xfrm xmlns:a="http://schemas.openxmlformats.org/drawingml/2006/main">
            <a:off x="590550" y="1819275"/>
            <a:ext cx="246126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1">
                <a:solidFill>
                  <a:srgbClr val="FFFFFF"/>
                </a:solidFill>
              </a:defRPr>
            </a:pPr>
            <a:r>
              <a:rPr sz="660" b="1">
                <a:solidFill>
                  <a:srgbClr val="FFFFFF"/>
                </a:solidFill>
              </a:rPr>
              <a:t>接口</a:t>
            </a:r>
          </a:p>
        </p:txBody>
      </p:sp>
      <p:sp>
        <p:nvSpPr>
          <p:cNvPr id="11" name="">
            <a:extLst xmlns:a="http://schemas.openxmlformats.org/drawingml/2006/main">
              <a:ext uri="{FF2B5EF4-FFF2-40B4-BE49-F238E27FC236}">
                <a16:creationId xmlns:a16="http://schemas.microsoft.com/office/drawing/2014/main" id="{363A5E23-287D-4DB0-86AF-33840B93A142}"/>
              </a:ext>
            </a:extLst>
          </p:cNvPr>
          <p:cNvSpPr>
            <a:spLocks xmlns:a="http://schemas.openxmlformats.org/drawingml/2006/main" noGrp="1"/>
          </p:cNvSpPr>
          <p:nvPr/>
        </p:nvSpPr>
        <p:spPr>
          <a:xfrm xmlns:a="http://schemas.openxmlformats.org/drawingml/2006/main">
            <a:off x="3089910" y="1790700"/>
            <a:ext cx="1550670" cy="57912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2" name="">
            <a:extLst xmlns:a="http://schemas.openxmlformats.org/drawingml/2006/main">
              <a:ext uri="{FF2B5EF4-FFF2-40B4-BE49-F238E27FC236}">
                <a16:creationId xmlns:a16="http://schemas.microsoft.com/office/drawing/2014/main" id="{EE742B6F-67D1-4E0E-8E12-B4C777B8118C}"/>
              </a:ext>
            </a:extLst>
          </p:cNvPr>
          <p:cNvSpPr>
            <a:spLocks xmlns:a="http://schemas.openxmlformats.org/drawingml/2006/main" noGrp="1"/>
          </p:cNvSpPr>
          <p:nvPr/>
        </p:nvSpPr>
        <p:spPr>
          <a:xfrm xmlns:a="http://schemas.openxmlformats.org/drawingml/2006/main">
            <a:off x="3128010" y="1819275"/>
            <a:ext cx="147447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1">
                <a:solidFill>
                  <a:srgbClr val="FFFFFF"/>
                </a:solidFill>
              </a:defRPr>
            </a:pPr>
            <a:r>
              <a:rPr sz="660" b="1">
                <a:solidFill>
                  <a:srgbClr val="FFFFFF"/>
                </a:solidFill>
              </a:rPr>
              <a:t>触发时机</a:t>
            </a:r>
          </a:p>
        </p:txBody>
      </p:sp>
      <p:sp>
        <p:nvSpPr>
          <p:cNvPr id="13" name="">
            <a:extLst xmlns:a="http://schemas.openxmlformats.org/drawingml/2006/main">
              <a:ext uri="{FF2B5EF4-FFF2-40B4-BE49-F238E27FC236}">
                <a16:creationId xmlns:a16="http://schemas.microsoft.com/office/drawing/2014/main" id="{0970D674-6230-4206-812C-DC85FC6B7705}"/>
              </a:ext>
            </a:extLst>
          </p:cNvPr>
          <p:cNvSpPr>
            <a:spLocks xmlns:a="http://schemas.openxmlformats.org/drawingml/2006/main" noGrp="1"/>
          </p:cNvSpPr>
          <p:nvPr/>
        </p:nvSpPr>
        <p:spPr>
          <a:xfrm xmlns:a="http://schemas.openxmlformats.org/drawingml/2006/main">
            <a:off x="4640580" y="1790700"/>
            <a:ext cx="2960370" cy="57912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4" name="">
            <a:extLst xmlns:a="http://schemas.openxmlformats.org/drawingml/2006/main">
              <a:ext uri="{FF2B5EF4-FFF2-40B4-BE49-F238E27FC236}">
                <a16:creationId xmlns:a16="http://schemas.microsoft.com/office/drawing/2014/main" id="{684CB793-9BF7-4828-B9C3-1B29E18E94BA}"/>
              </a:ext>
            </a:extLst>
          </p:cNvPr>
          <p:cNvSpPr>
            <a:spLocks xmlns:a="http://schemas.openxmlformats.org/drawingml/2006/main" noGrp="1"/>
          </p:cNvSpPr>
          <p:nvPr/>
        </p:nvSpPr>
        <p:spPr>
          <a:xfrm xmlns:a="http://schemas.openxmlformats.org/drawingml/2006/main">
            <a:off x="4678680" y="1819275"/>
            <a:ext cx="288417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1">
                <a:solidFill>
                  <a:srgbClr val="FFFFFF"/>
                </a:solidFill>
              </a:defRPr>
            </a:pPr>
            <a:r>
              <a:rPr sz="660" b="1">
                <a:solidFill>
                  <a:srgbClr val="FFFFFF"/>
                </a:solidFill>
              </a:rPr>
              <a:t>集成目的</a:t>
            </a:r>
          </a:p>
        </p:txBody>
      </p:sp>
      <p:sp>
        <p:nvSpPr>
          <p:cNvPr id="15" name="">
            <a:extLst xmlns:a="http://schemas.openxmlformats.org/drawingml/2006/main">
              <a:ext uri="{FF2B5EF4-FFF2-40B4-BE49-F238E27FC236}">
                <a16:creationId xmlns:a16="http://schemas.microsoft.com/office/drawing/2014/main" id="{79BDA953-4194-46EF-B59B-E4FB2E9D5EE9}"/>
              </a:ext>
            </a:extLst>
          </p:cNvPr>
          <p:cNvSpPr>
            <a:spLocks xmlns:a="http://schemas.openxmlformats.org/drawingml/2006/main" noGrp="1"/>
          </p:cNvSpPr>
          <p:nvPr/>
        </p:nvSpPr>
        <p:spPr>
          <a:xfrm xmlns:a="http://schemas.openxmlformats.org/drawingml/2006/main">
            <a:off x="7600950" y="1790700"/>
            <a:ext cx="3524250" cy="57912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6" name="">
            <a:extLst xmlns:a="http://schemas.openxmlformats.org/drawingml/2006/main">
              <a:ext uri="{FF2B5EF4-FFF2-40B4-BE49-F238E27FC236}">
                <a16:creationId xmlns:a16="http://schemas.microsoft.com/office/drawing/2014/main" id="{F21C26B0-0721-4CFB-A09D-2B0E03581A15}"/>
              </a:ext>
            </a:extLst>
          </p:cNvPr>
          <p:cNvSpPr>
            <a:spLocks xmlns:a="http://schemas.openxmlformats.org/drawingml/2006/main" noGrp="1"/>
          </p:cNvSpPr>
          <p:nvPr/>
        </p:nvSpPr>
        <p:spPr>
          <a:xfrm xmlns:a="http://schemas.openxmlformats.org/drawingml/2006/main">
            <a:off x="7639050" y="1819275"/>
            <a:ext cx="344805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1">
                <a:solidFill>
                  <a:srgbClr val="FFFFFF"/>
                </a:solidFill>
              </a:defRPr>
            </a:pPr>
            <a:r>
              <a:rPr sz="660" b="1">
                <a:solidFill>
                  <a:srgbClr val="FFFFFF"/>
                </a:solidFill>
              </a:rPr>
              <a:t>数据格式 / 核心字段</a:t>
            </a:r>
          </a:p>
        </p:txBody>
      </p:sp>
      <p:sp>
        <p:nvSpPr>
          <p:cNvPr id="17" name="">
            <a:extLst xmlns:a="http://schemas.openxmlformats.org/drawingml/2006/main">
              <a:ext uri="{FF2B5EF4-FFF2-40B4-BE49-F238E27FC236}">
                <a16:creationId xmlns:a16="http://schemas.microsoft.com/office/drawing/2014/main" id="{3FD24FC9-0ED9-4E54-A191-18B6A679DE60}"/>
              </a:ext>
            </a:extLst>
          </p:cNvPr>
          <p:cNvSpPr>
            <a:spLocks xmlns:a="http://schemas.openxmlformats.org/drawingml/2006/main" noGrp="1"/>
          </p:cNvSpPr>
          <p:nvPr/>
        </p:nvSpPr>
        <p:spPr>
          <a:xfrm xmlns:a="http://schemas.openxmlformats.org/drawingml/2006/main">
            <a:off x="552450" y="2369820"/>
            <a:ext cx="2537460" cy="57912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8" name="">
            <a:extLst xmlns:a="http://schemas.openxmlformats.org/drawingml/2006/main">
              <a:ext uri="{FF2B5EF4-FFF2-40B4-BE49-F238E27FC236}">
                <a16:creationId xmlns:a16="http://schemas.microsoft.com/office/drawing/2014/main" id="{A776E0EA-6E4E-40F3-9A38-3C8C7C93D930}"/>
              </a:ext>
            </a:extLst>
          </p:cNvPr>
          <p:cNvSpPr>
            <a:spLocks xmlns:a="http://schemas.openxmlformats.org/drawingml/2006/main" noGrp="1"/>
          </p:cNvSpPr>
          <p:nvPr/>
        </p:nvSpPr>
        <p:spPr>
          <a:xfrm xmlns:a="http://schemas.openxmlformats.org/drawingml/2006/main">
            <a:off x="590550" y="2398395"/>
            <a:ext cx="246126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#1 PLM → PDM（工程BOM发布）</a:t>
            </a:r>
          </a:p>
        </p:txBody>
      </p:sp>
      <p:sp>
        <p:nvSpPr>
          <p:cNvPr id="19" name="">
            <a:extLst xmlns:a="http://schemas.openxmlformats.org/drawingml/2006/main">
              <a:ext uri="{FF2B5EF4-FFF2-40B4-BE49-F238E27FC236}">
                <a16:creationId xmlns:a16="http://schemas.microsoft.com/office/drawing/2014/main" id="{B1083F60-D044-439F-B939-E5DE697C75D9}"/>
              </a:ext>
            </a:extLst>
          </p:cNvPr>
          <p:cNvSpPr>
            <a:spLocks xmlns:a="http://schemas.openxmlformats.org/drawingml/2006/main" noGrp="1"/>
          </p:cNvSpPr>
          <p:nvPr/>
        </p:nvSpPr>
        <p:spPr>
          <a:xfrm xmlns:a="http://schemas.openxmlformats.org/drawingml/2006/main">
            <a:off x="3089910" y="2369820"/>
            <a:ext cx="1550670" cy="57912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0" name="">
            <a:extLst xmlns:a="http://schemas.openxmlformats.org/drawingml/2006/main">
              <a:ext uri="{FF2B5EF4-FFF2-40B4-BE49-F238E27FC236}">
                <a16:creationId xmlns:a16="http://schemas.microsoft.com/office/drawing/2014/main" id="{6225EB55-53D0-420D-A108-A3A91DAA52EB}"/>
              </a:ext>
            </a:extLst>
          </p:cNvPr>
          <p:cNvSpPr>
            <a:spLocks xmlns:a="http://schemas.openxmlformats.org/drawingml/2006/main" noGrp="1"/>
          </p:cNvSpPr>
          <p:nvPr/>
        </p:nvSpPr>
        <p:spPr>
          <a:xfrm xmlns:a="http://schemas.openxmlformats.org/drawingml/2006/main">
            <a:off x="3128010" y="2398395"/>
            <a:ext cx="147447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Engineering Release</a:t>
            </a:r>
          </a:p>
        </p:txBody>
      </p:sp>
      <p:sp>
        <p:nvSpPr>
          <p:cNvPr id="21" name="">
            <a:extLst xmlns:a="http://schemas.openxmlformats.org/drawingml/2006/main">
              <a:ext uri="{FF2B5EF4-FFF2-40B4-BE49-F238E27FC236}">
                <a16:creationId xmlns:a16="http://schemas.microsoft.com/office/drawing/2014/main" id="{47881230-717F-4085-A1D0-AC939F59F896}"/>
              </a:ext>
            </a:extLst>
          </p:cNvPr>
          <p:cNvSpPr>
            <a:spLocks xmlns:a="http://schemas.openxmlformats.org/drawingml/2006/main" noGrp="1"/>
          </p:cNvSpPr>
          <p:nvPr/>
        </p:nvSpPr>
        <p:spPr>
          <a:xfrm xmlns:a="http://schemas.openxmlformats.org/drawingml/2006/main">
            <a:off x="4640580" y="2369820"/>
            <a:ext cx="2960370" cy="57912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2" name="">
            <a:extLst xmlns:a="http://schemas.openxmlformats.org/drawingml/2006/main">
              <a:ext uri="{FF2B5EF4-FFF2-40B4-BE49-F238E27FC236}">
                <a16:creationId xmlns:a16="http://schemas.microsoft.com/office/drawing/2014/main" id="{51DB0A4E-0E26-4904-A86F-1AD9DD0C8043}"/>
              </a:ext>
            </a:extLst>
          </p:cNvPr>
          <p:cNvSpPr>
            <a:spLocks xmlns:a="http://schemas.openxmlformats.org/drawingml/2006/main" noGrp="1"/>
          </p:cNvSpPr>
          <p:nvPr/>
        </p:nvSpPr>
        <p:spPr>
          <a:xfrm xmlns:a="http://schemas.openxmlformats.org/drawingml/2006/main">
            <a:off x="4678680" y="2398395"/>
            <a:ext cx="288417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将设计态 EBOM 受控传递给 PDM，作为 MBOM 转换的数据源。</a:t>
            </a:r>
          </a:p>
        </p:txBody>
      </p:sp>
      <p:sp>
        <p:nvSpPr>
          <p:cNvPr id="23" name="">
            <a:extLst xmlns:a="http://schemas.openxmlformats.org/drawingml/2006/main">
              <a:ext uri="{FF2B5EF4-FFF2-40B4-BE49-F238E27FC236}">
                <a16:creationId xmlns:a16="http://schemas.microsoft.com/office/drawing/2014/main" id="{CFF09FD7-57B4-48BA-B726-7495FAB00028}"/>
              </a:ext>
            </a:extLst>
          </p:cNvPr>
          <p:cNvSpPr>
            <a:spLocks xmlns:a="http://schemas.openxmlformats.org/drawingml/2006/main" noGrp="1"/>
          </p:cNvSpPr>
          <p:nvPr/>
        </p:nvSpPr>
        <p:spPr>
          <a:xfrm xmlns:a="http://schemas.openxmlformats.org/drawingml/2006/main">
            <a:off x="7600950" y="2369820"/>
            <a:ext cx="3524250" cy="57912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4" name="">
            <a:extLst xmlns:a="http://schemas.openxmlformats.org/drawingml/2006/main">
              <a:ext uri="{FF2B5EF4-FFF2-40B4-BE49-F238E27FC236}">
                <a16:creationId xmlns:a16="http://schemas.microsoft.com/office/drawing/2014/main" id="{C8E80136-B755-4F5A-B18F-19C11B5E0388}"/>
              </a:ext>
            </a:extLst>
          </p:cNvPr>
          <p:cNvSpPr>
            <a:spLocks xmlns:a="http://schemas.openxmlformats.org/drawingml/2006/main" noGrp="1"/>
          </p:cNvSpPr>
          <p:nvPr/>
        </p:nvSpPr>
        <p:spPr>
          <a:xfrm xmlns:a="http://schemas.openxmlformats.org/drawingml/2006/main">
            <a:off x="7639050" y="2398395"/>
            <a:ext cx="344805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REST API / WebService / JSON / XML / 数据库视图（供应商支持多种方式，按场景推荐）</a:t>
            </a:r>
          </a:p>
          <a:p xmlns:a="http://schemas.openxmlformats.org/drawingml/2006/main">
            <a:pPr algn="l">
              <a:defRPr sz="660" b="0">
                <a:solidFill>
                  <a:srgbClr val="475569"/>
                </a:solidFill>
              </a:defRPr>
            </a:pPr>
            <a:r>
              <a:rPr sz="660" b="0">
                <a:solidFill>
                  <a:srgbClr val="475569"/>
                </a:solidFill>
              </a:rPr>
              <a:t>物料编码、件号、版次、铺层顺序、材料规范号、固化工艺规范号、NDT检测规范号、虚拟件标记。</a:t>
            </a:r>
          </a:p>
        </p:txBody>
      </p:sp>
      <p:sp>
        <p:nvSpPr>
          <p:cNvPr id="25" name="">
            <a:extLst xmlns:a="http://schemas.openxmlformats.org/drawingml/2006/main">
              <a:ext uri="{FF2B5EF4-FFF2-40B4-BE49-F238E27FC236}">
                <a16:creationId xmlns:a16="http://schemas.microsoft.com/office/drawing/2014/main" id="{1B896AB9-2E7E-4A2D-A289-260EDB2594F5}"/>
              </a:ext>
            </a:extLst>
          </p:cNvPr>
          <p:cNvSpPr>
            <a:spLocks xmlns:a="http://schemas.openxmlformats.org/drawingml/2006/main" noGrp="1"/>
          </p:cNvSpPr>
          <p:nvPr/>
        </p:nvSpPr>
        <p:spPr>
          <a:xfrm xmlns:a="http://schemas.openxmlformats.org/drawingml/2006/main">
            <a:off x="552450" y="2948940"/>
            <a:ext cx="2537460" cy="57912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26" name="">
            <a:extLst xmlns:a="http://schemas.openxmlformats.org/drawingml/2006/main">
              <a:ext uri="{FF2B5EF4-FFF2-40B4-BE49-F238E27FC236}">
                <a16:creationId xmlns:a16="http://schemas.microsoft.com/office/drawing/2014/main" id="{CA0B6AC7-AA1B-444C-BB13-15549DB089E6}"/>
              </a:ext>
            </a:extLst>
          </p:cNvPr>
          <p:cNvSpPr>
            <a:spLocks xmlns:a="http://schemas.openxmlformats.org/drawingml/2006/main" noGrp="1"/>
          </p:cNvSpPr>
          <p:nvPr/>
        </p:nvSpPr>
        <p:spPr>
          <a:xfrm xmlns:a="http://schemas.openxmlformats.org/drawingml/2006/main">
            <a:off x="590550" y="2977515"/>
            <a:ext cx="246126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#2 PDM → CAPP（受控EBOM + MBD传递）</a:t>
            </a:r>
          </a:p>
        </p:txBody>
      </p:sp>
      <p:sp>
        <p:nvSpPr>
          <p:cNvPr id="27" name="">
            <a:extLst xmlns:a="http://schemas.openxmlformats.org/drawingml/2006/main">
              <a:ext uri="{FF2B5EF4-FFF2-40B4-BE49-F238E27FC236}">
                <a16:creationId xmlns:a16="http://schemas.microsoft.com/office/drawing/2014/main" id="{8E569D96-9830-438E-AD62-782449AEE3A5}"/>
              </a:ext>
            </a:extLst>
          </p:cNvPr>
          <p:cNvSpPr>
            <a:spLocks xmlns:a="http://schemas.openxmlformats.org/drawingml/2006/main" noGrp="1"/>
          </p:cNvSpPr>
          <p:nvPr/>
        </p:nvSpPr>
        <p:spPr>
          <a:xfrm xmlns:a="http://schemas.openxmlformats.org/drawingml/2006/main">
            <a:off x="3089910" y="2948940"/>
            <a:ext cx="1550670" cy="57912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28" name="">
            <a:extLst xmlns:a="http://schemas.openxmlformats.org/drawingml/2006/main">
              <a:ext uri="{FF2B5EF4-FFF2-40B4-BE49-F238E27FC236}">
                <a16:creationId xmlns:a16="http://schemas.microsoft.com/office/drawing/2014/main" id="{B3435046-E7F6-41FC-B0D9-AD8D764E31F7}"/>
              </a:ext>
            </a:extLst>
          </p:cNvPr>
          <p:cNvSpPr>
            <a:spLocks xmlns:a="http://schemas.openxmlformats.org/drawingml/2006/main" noGrp="1"/>
          </p:cNvSpPr>
          <p:nvPr/>
        </p:nvSpPr>
        <p:spPr>
          <a:xfrm xmlns:a="http://schemas.openxmlformats.org/drawingml/2006/main">
            <a:off x="3128010" y="2977515"/>
            <a:ext cx="147447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受控发布后</a:t>
            </a:r>
          </a:p>
        </p:txBody>
      </p:sp>
      <p:sp>
        <p:nvSpPr>
          <p:cNvPr id="29" name="">
            <a:extLst xmlns:a="http://schemas.openxmlformats.org/drawingml/2006/main">
              <a:ext uri="{FF2B5EF4-FFF2-40B4-BE49-F238E27FC236}">
                <a16:creationId xmlns:a16="http://schemas.microsoft.com/office/drawing/2014/main" id="{5CAE6C2B-4CD1-4E49-8B3D-7DD4DD9E47E3}"/>
              </a:ext>
            </a:extLst>
          </p:cNvPr>
          <p:cNvSpPr>
            <a:spLocks xmlns:a="http://schemas.openxmlformats.org/drawingml/2006/main" noGrp="1"/>
          </p:cNvSpPr>
          <p:nvPr/>
        </p:nvSpPr>
        <p:spPr>
          <a:xfrm xmlns:a="http://schemas.openxmlformats.org/drawingml/2006/main">
            <a:off x="4640580" y="2948940"/>
            <a:ext cx="2960370" cy="57912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0" name="">
            <a:extLst xmlns:a="http://schemas.openxmlformats.org/drawingml/2006/main">
              <a:ext uri="{FF2B5EF4-FFF2-40B4-BE49-F238E27FC236}">
                <a16:creationId xmlns:a16="http://schemas.microsoft.com/office/drawing/2014/main" id="{2DB87E35-364D-4F2C-8ADC-AC9BE30AB806}"/>
              </a:ext>
            </a:extLst>
          </p:cNvPr>
          <p:cNvSpPr>
            <a:spLocks xmlns:a="http://schemas.openxmlformats.org/drawingml/2006/main" noGrp="1"/>
          </p:cNvSpPr>
          <p:nvPr/>
        </p:nvSpPr>
        <p:spPr>
          <a:xfrm xmlns:a="http://schemas.openxmlformats.org/drawingml/2006/main">
            <a:off x="4678680" y="2977515"/>
            <a:ext cx="288417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将受控 EBOM 和 MBD 模型传递给 CAPP，驱动工艺路线设计和工序展开。</a:t>
            </a:r>
          </a:p>
        </p:txBody>
      </p:sp>
      <p:sp>
        <p:nvSpPr>
          <p:cNvPr id="31" name="">
            <a:extLst xmlns:a="http://schemas.openxmlformats.org/drawingml/2006/main">
              <a:ext uri="{FF2B5EF4-FFF2-40B4-BE49-F238E27FC236}">
                <a16:creationId xmlns:a16="http://schemas.microsoft.com/office/drawing/2014/main" id="{A082F2F1-E1A4-472D-9632-EE139E0169FD}"/>
              </a:ext>
            </a:extLst>
          </p:cNvPr>
          <p:cNvSpPr>
            <a:spLocks xmlns:a="http://schemas.openxmlformats.org/drawingml/2006/main" noGrp="1"/>
          </p:cNvSpPr>
          <p:nvPr/>
        </p:nvSpPr>
        <p:spPr>
          <a:xfrm xmlns:a="http://schemas.openxmlformats.org/drawingml/2006/main">
            <a:off x="7600950" y="2948940"/>
            <a:ext cx="3524250" cy="57912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2" name="">
            <a:extLst xmlns:a="http://schemas.openxmlformats.org/drawingml/2006/main">
              <a:ext uri="{FF2B5EF4-FFF2-40B4-BE49-F238E27FC236}">
                <a16:creationId xmlns:a16="http://schemas.microsoft.com/office/drawing/2014/main" id="{585397DA-920C-47F2-AA79-557E558AA12D}"/>
              </a:ext>
            </a:extLst>
          </p:cNvPr>
          <p:cNvSpPr>
            <a:spLocks xmlns:a="http://schemas.openxmlformats.org/drawingml/2006/main" noGrp="1"/>
          </p:cNvSpPr>
          <p:nvPr/>
        </p:nvSpPr>
        <p:spPr>
          <a:xfrm xmlns:a="http://schemas.openxmlformats.org/drawingml/2006/main">
            <a:off x="7639050" y="2977515"/>
            <a:ext cx="344805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STEP AP242 / JSON（待与翎瑞鸿翔确认；CAPP暂不在一期，此接口一期不实施）</a:t>
            </a:r>
          </a:p>
          <a:p xmlns:a="http://schemas.openxmlformats.org/drawingml/2006/main">
            <a:pPr algn="l">
              <a:defRPr sz="660" b="0">
                <a:solidFill>
                  <a:srgbClr val="475569"/>
                </a:solidFill>
              </a:defRPr>
            </a:pPr>
            <a:r>
              <a:rPr sz="660" b="0">
                <a:solidFill>
                  <a:srgbClr val="475569"/>
                </a:solidFill>
              </a:rPr>
              <a:t>EBOM结构、MBD三维模型（含PMI标注）、材料定义、公差定义。</a:t>
            </a:r>
          </a:p>
        </p:txBody>
      </p:sp>
      <p:sp>
        <p:nvSpPr>
          <p:cNvPr id="33" name="">
            <a:extLst xmlns:a="http://schemas.openxmlformats.org/drawingml/2006/main">
              <a:ext uri="{FF2B5EF4-FFF2-40B4-BE49-F238E27FC236}">
                <a16:creationId xmlns:a16="http://schemas.microsoft.com/office/drawing/2014/main" id="{38A89065-A0BE-469F-BB2A-D207026C9E17}"/>
              </a:ext>
            </a:extLst>
          </p:cNvPr>
          <p:cNvSpPr>
            <a:spLocks xmlns:a="http://schemas.openxmlformats.org/drawingml/2006/main" noGrp="1"/>
          </p:cNvSpPr>
          <p:nvPr/>
        </p:nvSpPr>
        <p:spPr>
          <a:xfrm xmlns:a="http://schemas.openxmlformats.org/drawingml/2006/main">
            <a:off x="552450" y="3528060"/>
            <a:ext cx="2537460" cy="57912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4" name="">
            <a:extLst xmlns:a="http://schemas.openxmlformats.org/drawingml/2006/main">
              <a:ext uri="{FF2B5EF4-FFF2-40B4-BE49-F238E27FC236}">
                <a16:creationId xmlns:a16="http://schemas.microsoft.com/office/drawing/2014/main" id="{7CD93869-ABE5-4FA3-AF3F-4D4CFF9F7089}"/>
              </a:ext>
            </a:extLst>
          </p:cNvPr>
          <p:cNvSpPr>
            <a:spLocks xmlns:a="http://schemas.openxmlformats.org/drawingml/2006/main" noGrp="1"/>
          </p:cNvSpPr>
          <p:nvPr/>
        </p:nvSpPr>
        <p:spPr>
          <a:xfrm xmlns:a="http://schemas.openxmlformats.org/drawingml/2006/main">
            <a:off x="590550" y="3556635"/>
            <a:ext cx="246126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#3 CAPP → MES（MBOM下发）</a:t>
            </a:r>
          </a:p>
        </p:txBody>
      </p:sp>
      <p:sp>
        <p:nvSpPr>
          <p:cNvPr id="35" name="">
            <a:extLst xmlns:a="http://schemas.openxmlformats.org/drawingml/2006/main">
              <a:ext uri="{FF2B5EF4-FFF2-40B4-BE49-F238E27FC236}">
                <a16:creationId xmlns:a16="http://schemas.microsoft.com/office/drawing/2014/main" id="{BA4863AA-56BF-46F0-AC5B-CD1E2740D319}"/>
              </a:ext>
            </a:extLst>
          </p:cNvPr>
          <p:cNvSpPr>
            <a:spLocks xmlns:a="http://schemas.openxmlformats.org/drawingml/2006/main" noGrp="1"/>
          </p:cNvSpPr>
          <p:nvPr/>
        </p:nvSpPr>
        <p:spPr>
          <a:xfrm xmlns:a="http://schemas.openxmlformats.org/drawingml/2006/main">
            <a:off x="3089910" y="3528060"/>
            <a:ext cx="1550670" cy="57912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6" name="">
            <a:extLst xmlns:a="http://schemas.openxmlformats.org/drawingml/2006/main">
              <a:ext uri="{FF2B5EF4-FFF2-40B4-BE49-F238E27FC236}">
                <a16:creationId xmlns:a16="http://schemas.microsoft.com/office/drawing/2014/main" id="{E5000EA7-E8C3-496F-95BB-1D730CD83B38}"/>
              </a:ext>
            </a:extLst>
          </p:cNvPr>
          <p:cNvSpPr>
            <a:spLocks xmlns:a="http://schemas.openxmlformats.org/drawingml/2006/main" noGrp="1"/>
          </p:cNvSpPr>
          <p:nvPr/>
        </p:nvSpPr>
        <p:spPr>
          <a:xfrm xmlns:a="http://schemas.openxmlformats.org/drawingml/2006/main">
            <a:off x="3128010" y="3556635"/>
            <a:ext cx="147447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MBOM审批通过后</a:t>
            </a:r>
          </a:p>
        </p:txBody>
      </p:sp>
      <p:sp>
        <p:nvSpPr>
          <p:cNvPr id="37" name="">
            <a:extLst xmlns:a="http://schemas.openxmlformats.org/drawingml/2006/main">
              <a:ext uri="{FF2B5EF4-FFF2-40B4-BE49-F238E27FC236}">
                <a16:creationId xmlns:a16="http://schemas.microsoft.com/office/drawing/2014/main" id="{6C4CE3C7-CD53-44D5-9BA2-899FA304D547}"/>
              </a:ext>
            </a:extLst>
          </p:cNvPr>
          <p:cNvSpPr>
            <a:spLocks xmlns:a="http://schemas.openxmlformats.org/drawingml/2006/main" noGrp="1"/>
          </p:cNvSpPr>
          <p:nvPr/>
        </p:nvSpPr>
        <p:spPr>
          <a:xfrm xmlns:a="http://schemas.openxmlformats.org/drawingml/2006/main">
            <a:off x="4640580" y="3528060"/>
            <a:ext cx="2960370" cy="57912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8" name="">
            <a:extLst xmlns:a="http://schemas.openxmlformats.org/drawingml/2006/main">
              <a:ext uri="{FF2B5EF4-FFF2-40B4-BE49-F238E27FC236}">
                <a16:creationId xmlns:a16="http://schemas.microsoft.com/office/drawing/2014/main" id="{AAA93ACD-AE7C-4DC3-B37D-98A88FF29554}"/>
              </a:ext>
            </a:extLst>
          </p:cNvPr>
          <p:cNvSpPr>
            <a:spLocks xmlns:a="http://schemas.openxmlformats.org/drawingml/2006/main" noGrp="1"/>
          </p:cNvSpPr>
          <p:nvPr/>
        </p:nvSpPr>
        <p:spPr>
          <a:xfrm xmlns:a="http://schemas.openxmlformats.org/drawingml/2006/main">
            <a:off x="4678680" y="3556635"/>
            <a:ext cx="288417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将制造 BOM 下发给北京虎蜥 MES，驱动车间执行。</a:t>
            </a:r>
          </a:p>
        </p:txBody>
      </p:sp>
      <p:sp>
        <p:nvSpPr>
          <p:cNvPr id="39" name="">
            <a:extLst xmlns:a="http://schemas.openxmlformats.org/drawingml/2006/main">
              <a:ext uri="{FF2B5EF4-FFF2-40B4-BE49-F238E27FC236}">
                <a16:creationId xmlns:a16="http://schemas.microsoft.com/office/drawing/2014/main" id="{8E4197C8-414A-4930-9F14-CD525DDC5141}"/>
              </a:ext>
            </a:extLst>
          </p:cNvPr>
          <p:cNvSpPr>
            <a:spLocks xmlns:a="http://schemas.openxmlformats.org/drawingml/2006/main" noGrp="1"/>
          </p:cNvSpPr>
          <p:nvPr/>
        </p:nvSpPr>
        <p:spPr>
          <a:xfrm xmlns:a="http://schemas.openxmlformats.org/drawingml/2006/main">
            <a:off x="7600950" y="3528060"/>
            <a:ext cx="3524250" cy="57912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0" name="">
            <a:extLst xmlns:a="http://schemas.openxmlformats.org/drawingml/2006/main">
              <a:ext uri="{FF2B5EF4-FFF2-40B4-BE49-F238E27FC236}">
                <a16:creationId xmlns:a16="http://schemas.microsoft.com/office/drawing/2014/main" id="{356456B0-6743-4299-8FA0-F5F7DCDF2536}"/>
              </a:ext>
            </a:extLst>
          </p:cNvPr>
          <p:cNvSpPr>
            <a:spLocks xmlns:a="http://schemas.openxmlformats.org/drawingml/2006/main" noGrp="1"/>
          </p:cNvSpPr>
          <p:nvPr/>
        </p:nvSpPr>
        <p:spPr>
          <a:xfrm xmlns:a="http://schemas.openxmlformats.org/drawingml/2006/main">
            <a:off x="7639050" y="3556635"/>
            <a:ext cx="344805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JSON / 数据库视图（待与 MES 供应商确认）</a:t>
            </a:r>
          </a:p>
          <a:p xmlns:a="http://schemas.openxmlformats.org/drawingml/2006/main">
            <a:pPr algn="l">
              <a:defRPr sz="660" b="0">
                <a:solidFill>
                  <a:srgbClr val="475569"/>
                </a:solidFill>
              </a:defRPr>
            </a:pPr>
            <a:r>
              <a:rPr sz="660" b="0">
                <a:solidFill>
                  <a:srgbClr val="475569"/>
                </a:solidFill>
              </a:rPr>
              <a:t>物料编码、MBOM工序结构（工序号/名称/工艺规范/工装/定额）、固化工艺规范关联。</a:t>
            </a:r>
          </a:p>
        </p:txBody>
      </p:sp>
      <p:sp>
        <p:nvSpPr>
          <p:cNvPr id="41" name="">
            <a:extLst xmlns:a="http://schemas.openxmlformats.org/drawingml/2006/main">
              <a:ext uri="{FF2B5EF4-FFF2-40B4-BE49-F238E27FC236}">
                <a16:creationId xmlns:a16="http://schemas.microsoft.com/office/drawing/2014/main" id="{6E9D41FF-5ED6-4737-8313-5C46A0ADF792}"/>
              </a:ext>
            </a:extLst>
          </p:cNvPr>
          <p:cNvSpPr>
            <a:spLocks xmlns:a="http://schemas.openxmlformats.org/drawingml/2006/main" noGrp="1"/>
          </p:cNvSpPr>
          <p:nvPr/>
        </p:nvSpPr>
        <p:spPr>
          <a:xfrm xmlns:a="http://schemas.openxmlformats.org/drawingml/2006/main">
            <a:off x="552450" y="4107180"/>
            <a:ext cx="2537460" cy="57912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2" name="">
            <a:extLst xmlns:a="http://schemas.openxmlformats.org/drawingml/2006/main">
              <a:ext uri="{FF2B5EF4-FFF2-40B4-BE49-F238E27FC236}">
                <a16:creationId xmlns:a16="http://schemas.microsoft.com/office/drawing/2014/main" id="{9BC27452-A295-4A77-A3BD-C06E277B65C9}"/>
              </a:ext>
            </a:extLst>
          </p:cNvPr>
          <p:cNvSpPr>
            <a:spLocks xmlns:a="http://schemas.openxmlformats.org/drawingml/2006/main" noGrp="1"/>
          </p:cNvSpPr>
          <p:nvPr/>
        </p:nvSpPr>
        <p:spPr>
          <a:xfrm xmlns:a="http://schemas.openxmlformats.org/drawingml/2006/main">
            <a:off x="590550" y="4135755"/>
            <a:ext cx="246126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#4 ERP-PP → MES（生产订单下达）</a:t>
            </a:r>
          </a:p>
        </p:txBody>
      </p:sp>
      <p:sp>
        <p:nvSpPr>
          <p:cNvPr id="43" name="">
            <a:extLst xmlns:a="http://schemas.openxmlformats.org/drawingml/2006/main">
              <a:ext uri="{FF2B5EF4-FFF2-40B4-BE49-F238E27FC236}">
                <a16:creationId xmlns:a16="http://schemas.microsoft.com/office/drawing/2014/main" id="{A8FA4607-77B5-4548-B682-14F4AC807235}"/>
              </a:ext>
            </a:extLst>
          </p:cNvPr>
          <p:cNvSpPr>
            <a:spLocks xmlns:a="http://schemas.openxmlformats.org/drawingml/2006/main" noGrp="1"/>
          </p:cNvSpPr>
          <p:nvPr/>
        </p:nvSpPr>
        <p:spPr>
          <a:xfrm xmlns:a="http://schemas.openxmlformats.org/drawingml/2006/main">
            <a:off x="3089910" y="4107180"/>
            <a:ext cx="1550670" cy="57912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4" name="">
            <a:extLst xmlns:a="http://schemas.openxmlformats.org/drawingml/2006/main">
              <a:ext uri="{FF2B5EF4-FFF2-40B4-BE49-F238E27FC236}">
                <a16:creationId xmlns:a16="http://schemas.microsoft.com/office/drawing/2014/main" id="{19A4D02F-0415-4364-A90C-B9039CE0203C}"/>
              </a:ext>
            </a:extLst>
          </p:cNvPr>
          <p:cNvSpPr>
            <a:spLocks xmlns:a="http://schemas.openxmlformats.org/drawingml/2006/main" noGrp="1"/>
          </p:cNvSpPr>
          <p:nvPr/>
        </p:nvSpPr>
        <p:spPr>
          <a:xfrm xmlns:a="http://schemas.openxmlformats.org/drawingml/2006/main">
            <a:off x="3128010" y="4135755"/>
            <a:ext cx="147447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计划下达时</a:t>
            </a:r>
          </a:p>
        </p:txBody>
      </p:sp>
      <p:sp>
        <p:nvSpPr>
          <p:cNvPr id="45" name="">
            <a:extLst xmlns:a="http://schemas.openxmlformats.org/drawingml/2006/main">
              <a:ext uri="{FF2B5EF4-FFF2-40B4-BE49-F238E27FC236}">
                <a16:creationId xmlns:a16="http://schemas.microsoft.com/office/drawing/2014/main" id="{E88BCB21-39E7-4DCE-AD76-CE0E5B6196DE}"/>
              </a:ext>
            </a:extLst>
          </p:cNvPr>
          <p:cNvSpPr>
            <a:spLocks xmlns:a="http://schemas.openxmlformats.org/drawingml/2006/main" noGrp="1"/>
          </p:cNvSpPr>
          <p:nvPr/>
        </p:nvSpPr>
        <p:spPr>
          <a:xfrm xmlns:a="http://schemas.openxmlformats.org/drawingml/2006/main">
            <a:off x="4640580" y="4107180"/>
            <a:ext cx="2960370" cy="57912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6" name="">
            <a:extLst xmlns:a="http://schemas.openxmlformats.org/drawingml/2006/main">
              <a:ext uri="{FF2B5EF4-FFF2-40B4-BE49-F238E27FC236}">
                <a16:creationId xmlns:a16="http://schemas.microsoft.com/office/drawing/2014/main" id="{47A06CD8-613B-4E93-B9A2-0A4A5842975E}"/>
              </a:ext>
            </a:extLst>
          </p:cNvPr>
          <p:cNvSpPr>
            <a:spLocks xmlns:a="http://schemas.openxmlformats.org/drawingml/2006/main" noGrp="1"/>
          </p:cNvSpPr>
          <p:nvPr/>
        </p:nvSpPr>
        <p:spPr>
          <a:xfrm xmlns:a="http://schemas.openxmlformats.org/drawingml/2006/main">
            <a:off x="4678680" y="4135755"/>
            <a:ext cx="288417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将生产订单下达给 MES，驱动排产和执行。</a:t>
            </a:r>
          </a:p>
        </p:txBody>
      </p:sp>
      <p:sp>
        <p:nvSpPr>
          <p:cNvPr id="47" name="">
            <a:extLst xmlns:a="http://schemas.openxmlformats.org/drawingml/2006/main">
              <a:ext uri="{FF2B5EF4-FFF2-40B4-BE49-F238E27FC236}">
                <a16:creationId xmlns:a16="http://schemas.microsoft.com/office/drawing/2014/main" id="{AE47281D-1800-41A9-B521-9DDA31BA4E88}"/>
              </a:ext>
            </a:extLst>
          </p:cNvPr>
          <p:cNvSpPr>
            <a:spLocks xmlns:a="http://schemas.openxmlformats.org/drawingml/2006/main" noGrp="1"/>
          </p:cNvSpPr>
          <p:nvPr/>
        </p:nvSpPr>
        <p:spPr>
          <a:xfrm xmlns:a="http://schemas.openxmlformats.org/drawingml/2006/main">
            <a:off x="7600950" y="4107180"/>
            <a:ext cx="3524250" cy="57912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8" name="">
            <a:extLst xmlns:a="http://schemas.openxmlformats.org/drawingml/2006/main">
              <a:ext uri="{FF2B5EF4-FFF2-40B4-BE49-F238E27FC236}">
                <a16:creationId xmlns:a16="http://schemas.microsoft.com/office/drawing/2014/main" id="{3AAC14D4-23EA-49DE-9A86-8D711E642141}"/>
              </a:ext>
            </a:extLst>
          </p:cNvPr>
          <p:cNvSpPr>
            <a:spLocks xmlns:a="http://schemas.openxmlformats.org/drawingml/2006/main" noGrp="1"/>
          </p:cNvSpPr>
          <p:nvPr/>
        </p:nvSpPr>
        <p:spPr>
          <a:xfrm xmlns:a="http://schemas.openxmlformats.org/drawingml/2006/main">
            <a:off x="7639050" y="4135755"/>
            <a:ext cx="3448050" cy="52197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60" b="0">
                <a:solidFill>
                  <a:srgbClr val="475569"/>
                </a:solidFill>
              </a:defRPr>
            </a:pPr>
            <a:r>
              <a:rPr sz="660" b="0">
                <a:solidFill>
                  <a:srgbClr val="475569"/>
                </a:solidFill>
              </a:rPr>
              <a:t>用友 U8 标准接口</a:t>
            </a:r>
          </a:p>
          <a:p xmlns:a="http://schemas.openxmlformats.org/drawingml/2006/main">
            <a:pPr algn="l">
              <a:defRPr sz="660" b="0">
                <a:solidFill>
                  <a:srgbClr val="475569"/>
                </a:solidFill>
              </a:defRPr>
            </a:pPr>
            <a:r>
              <a:rPr sz="660" b="0">
                <a:solidFill>
                  <a:srgbClr val="475569"/>
                </a:solidFill>
              </a:rPr>
              <a:t>下发：生产订单号、物料编码、计划数量、计划日期、工艺路线；回传：完工数量、实际工时、质检结果。</a:t>
            </a:r>
          </a:p>
        </p:txBody>
      </p:sp>
      <p:sp>
        <p:nvSpPr>
          <p:cNvPr id="49" name="">
            <a:extLst xmlns:a="http://schemas.openxmlformats.org/drawingml/2006/main">
              <a:ext uri="{FF2B5EF4-FFF2-40B4-BE49-F238E27FC236}">
                <a16:creationId xmlns:a16="http://schemas.microsoft.com/office/drawing/2014/main" id="{DE977862-810A-4518-B097-7A425668D71A}"/>
              </a:ext>
            </a:extLst>
          </p:cNvPr>
          <p:cNvSpPr>
            <a:spLocks xmlns:a="http://schemas.openxmlformats.org/drawingml/2006/main" noGrp="1"/>
          </p:cNvSpPr>
          <p:nvPr/>
        </p:nvSpPr>
        <p:spPr>
          <a:xfrm xmlns:a="http://schemas.openxmlformats.org/drawingml/2006/main">
            <a:off x="762000" y="5048250"/>
            <a:ext cx="20955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E2E8F0"/>
            </a:solidFill>
            <a:prstDash val="solid"/>
          </a:ln>
        </p:spPr>
      </p:sp>
      <p:sp>
        <p:nvSpPr>
          <p:cNvPr id="50" name="">
            <a:extLst xmlns:a="http://schemas.openxmlformats.org/drawingml/2006/main">
              <a:ext uri="{FF2B5EF4-FFF2-40B4-BE49-F238E27FC236}">
                <a16:creationId xmlns:a16="http://schemas.microsoft.com/office/drawing/2014/main" id="{19D0E4CE-43E6-4901-AE49-A104CEE6AFF1}"/>
              </a:ext>
            </a:extLst>
          </p:cNvPr>
          <p:cNvSpPr>
            <a:spLocks xmlns:a="http://schemas.openxmlformats.org/drawingml/2006/main" noGrp="1"/>
          </p:cNvSpPr>
          <p:nvPr/>
        </p:nvSpPr>
        <p:spPr>
          <a:xfrm xmlns:a="http://schemas.openxmlformats.org/drawingml/2006/main">
            <a:off x="762000" y="5048250"/>
            <a:ext cx="47625" cy="81915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A9246805-C412-4000-AC91-6D943ADA2550}"/>
              </a:ext>
            </a:extLst>
          </p:cNvPr>
          <p:cNvSpPr>
            <a:spLocks xmlns:a="http://schemas.openxmlformats.org/drawingml/2006/main" noGrp="1"/>
          </p:cNvSpPr>
          <p:nvPr/>
        </p:nvSpPr>
        <p:spPr>
          <a:xfrm xmlns:a="http://schemas.openxmlformats.org/drawingml/2006/main">
            <a:off x="933450" y="5181600"/>
            <a:ext cx="1771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方向</a:t>
            </a:r>
          </a:p>
        </p:txBody>
      </p:sp>
      <p:sp>
        <p:nvSpPr>
          <p:cNvPr id="52" name="">
            <a:extLst xmlns:a="http://schemas.openxmlformats.org/drawingml/2006/main">
              <a:ext uri="{FF2B5EF4-FFF2-40B4-BE49-F238E27FC236}">
                <a16:creationId xmlns:a16="http://schemas.microsoft.com/office/drawing/2014/main" id="{C10AB94D-2471-4BC1-B952-F50100214530}"/>
              </a:ext>
            </a:extLst>
          </p:cNvPr>
          <p:cNvSpPr>
            <a:spLocks xmlns:a="http://schemas.openxmlformats.org/drawingml/2006/main" noGrp="1"/>
          </p:cNvSpPr>
          <p:nvPr/>
        </p:nvSpPr>
        <p:spPr>
          <a:xfrm xmlns:a="http://schemas.openxmlformats.org/drawingml/2006/main">
            <a:off x="933450" y="5524500"/>
            <a:ext cx="1771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系统起点/终点与主写方</a:t>
            </a:r>
          </a:p>
        </p:txBody>
      </p:sp>
      <p:sp>
        <p:nvSpPr>
          <p:cNvPr id="53" name="">
            <a:extLst xmlns:a="http://schemas.openxmlformats.org/drawingml/2006/main">
              <a:ext uri="{FF2B5EF4-FFF2-40B4-BE49-F238E27FC236}">
                <a16:creationId xmlns:a16="http://schemas.microsoft.com/office/drawing/2014/main" id="{14A4F418-6002-406C-9776-8E57258534B8}"/>
              </a:ext>
            </a:extLst>
          </p:cNvPr>
          <p:cNvSpPr>
            <a:spLocks xmlns:a="http://schemas.openxmlformats.org/drawingml/2006/main" noGrp="1"/>
          </p:cNvSpPr>
          <p:nvPr/>
        </p:nvSpPr>
        <p:spPr>
          <a:xfrm xmlns:a="http://schemas.openxmlformats.org/drawingml/2006/main">
            <a:off x="3238500" y="5048250"/>
            <a:ext cx="20955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E2E8F0"/>
            </a:solidFill>
            <a:prstDash val="solid"/>
          </a:ln>
        </p:spPr>
      </p:sp>
      <p:sp>
        <p:nvSpPr>
          <p:cNvPr id="54" name="">
            <a:extLst xmlns:a="http://schemas.openxmlformats.org/drawingml/2006/main">
              <a:ext uri="{FF2B5EF4-FFF2-40B4-BE49-F238E27FC236}">
                <a16:creationId xmlns:a16="http://schemas.microsoft.com/office/drawing/2014/main" id="{C2ED0632-EB31-4392-891F-5A9C0DA2DDEC}"/>
              </a:ext>
            </a:extLst>
          </p:cNvPr>
          <p:cNvSpPr>
            <a:spLocks xmlns:a="http://schemas.openxmlformats.org/drawingml/2006/main" noGrp="1"/>
          </p:cNvSpPr>
          <p:nvPr/>
        </p:nvSpPr>
        <p:spPr>
          <a:xfrm xmlns:a="http://schemas.openxmlformats.org/drawingml/2006/main">
            <a:off x="3238500" y="5048250"/>
            <a:ext cx="47625" cy="819150"/>
          </a:xfrm>
          <a:prstGeom xmlns:a="http://schemas.openxmlformats.org/drawingml/2006/main" prst="rect">
            <a:avLst/>
          </a:prstGeom>
          <a:solidFill xmlns:a="http://schemas.openxmlformats.org/drawingml/2006/main">
            <a:srgbClr val="0891B2"/>
          </a:solidFill>
          <a:ln xmlns:a="http://schemas.openxmlformats.org/drawingml/2006/main" w="0">
            <a:solidFill>
              <a:srgbClr val="000000">
                <a:alpha val="0"/>
              </a:srgbClr>
            </a:solidFill>
            <a:prstDash val="solid"/>
          </a:ln>
        </p:spPr>
      </p:sp>
      <p:sp>
        <p:nvSpPr>
          <p:cNvPr id="55" name="">
            <a:extLst xmlns:a="http://schemas.openxmlformats.org/drawingml/2006/main">
              <a:ext uri="{FF2B5EF4-FFF2-40B4-BE49-F238E27FC236}">
                <a16:creationId xmlns:a16="http://schemas.microsoft.com/office/drawing/2014/main" id="{50A1A1F5-316A-4AAC-B062-5C3C171385A4}"/>
              </a:ext>
            </a:extLst>
          </p:cNvPr>
          <p:cNvSpPr>
            <a:spLocks xmlns:a="http://schemas.openxmlformats.org/drawingml/2006/main" noGrp="1"/>
          </p:cNvSpPr>
          <p:nvPr/>
        </p:nvSpPr>
        <p:spPr>
          <a:xfrm xmlns:a="http://schemas.openxmlformats.org/drawingml/2006/main">
            <a:off x="3409950" y="5181600"/>
            <a:ext cx="1771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触发</a:t>
            </a:r>
          </a:p>
        </p:txBody>
      </p:sp>
      <p:sp>
        <p:nvSpPr>
          <p:cNvPr id="56" name="">
            <a:extLst xmlns:a="http://schemas.openxmlformats.org/drawingml/2006/main">
              <a:ext uri="{FF2B5EF4-FFF2-40B4-BE49-F238E27FC236}">
                <a16:creationId xmlns:a16="http://schemas.microsoft.com/office/drawing/2014/main" id="{2290D8C1-E873-46E6-A4AF-483137DE0D24}"/>
              </a:ext>
            </a:extLst>
          </p:cNvPr>
          <p:cNvSpPr>
            <a:spLocks xmlns:a="http://schemas.openxmlformats.org/drawingml/2006/main" noGrp="1"/>
          </p:cNvSpPr>
          <p:nvPr/>
        </p:nvSpPr>
        <p:spPr>
          <a:xfrm xmlns:a="http://schemas.openxmlformats.org/drawingml/2006/main">
            <a:off x="3409950" y="5524500"/>
            <a:ext cx="1771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事件、频率、批量/实时</a:t>
            </a:r>
          </a:p>
        </p:txBody>
      </p:sp>
      <p:sp>
        <p:nvSpPr>
          <p:cNvPr id="57" name="">
            <a:extLst xmlns:a="http://schemas.openxmlformats.org/drawingml/2006/main">
              <a:ext uri="{FF2B5EF4-FFF2-40B4-BE49-F238E27FC236}">
                <a16:creationId xmlns:a16="http://schemas.microsoft.com/office/drawing/2014/main" id="{EEFF5AFC-063D-4F8C-BEA1-B2989A1C5990}"/>
              </a:ext>
            </a:extLst>
          </p:cNvPr>
          <p:cNvSpPr>
            <a:spLocks xmlns:a="http://schemas.openxmlformats.org/drawingml/2006/main" noGrp="1"/>
          </p:cNvSpPr>
          <p:nvPr/>
        </p:nvSpPr>
        <p:spPr>
          <a:xfrm xmlns:a="http://schemas.openxmlformats.org/drawingml/2006/main">
            <a:off x="5715000" y="5048250"/>
            <a:ext cx="20955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E2E8F0"/>
            </a:solidFill>
            <a:prstDash val="solid"/>
          </a:ln>
        </p:spPr>
      </p:sp>
      <p:sp>
        <p:nvSpPr>
          <p:cNvPr id="58" name="">
            <a:extLst xmlns:a="http://schemas.openxmlformats.org/drawingml/2006/main">
              <a:ext uri="{FF2B5EF4-FFF2-40B4-BE49-F238E27FC236}">
                <a16:creationId xmlns:a16="http://schemas.microsoft.com/office/drawing/2014/main" id="{784C771E-BA4B-455C-8FF5-62FA883C8C85}"/>
              </a:ext>
            </a:extLst>
          </p:cNvPr>
          <p:cNvSpPr>
            <a:spLocks xmlns:a="http://schemas.openxmlformats.org/drawingml/2006/main" noGrp="1"/>
          </p:cNvSpPr>
          <p:nvPr/>
        </p:nvSpPr>
        <p:spPr>
          <a:xfrm xmlns:a="http://schemas.openxmlformats.org/drawingml/2006/main">
            <a:off x="5715000" y="5048250"/>
            <a:ext cx="47625" cy="8191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59" name="">
            <a:extLst xmlns:a="http://schemas.openxmlformats.org/drawingml/2006/main">
              <a:ext uri="{FF2B5EF4-FFF2-40B4-BE49-F238E27FC236}">
                <a16:creationId xmlns:a16="http://schemas.microsoft.com/office/drawing/2014/main" id="{2F75399D-B19C-4FDA-AC34-7F0A67FA78F0}"/>
              </a:ext>
            </a:extLst>
          </p:cNvPr>
          <p:cNvSpPr>
            <a:spLocks xmlns:a="http://schemas.openxmlformats.org/drawingml/2006/main" noGrp="1"/>
          </p:cNvSpPr>
          <p:nvPr/>
        </p:nvSpPr>
        <p:spPr>
          <a:xfrm xmlns:a="http://schemas.openxmlformats.org/drawingml/2006/main">
            <a:off x="5886450" y="5181600"/>
            <a:ext cx="1771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字段</a:t>
            </a:r>
          </a:p>
        </p:txBody>
      </p:sp>
      <p:sp>
        <p:nvSpPr>
          <p:cNvPr id="60" name="">
            <a:extLst xmlns:a="http://schemas.openxmlformats.org/drawingml/2006/main">
              <a:ext uri="{FF2B5EF4-FFF2-40B4-BE49-F238E27FC236}">
                <a16:creationId xmlns:a16="http://schemas.microsoft.com/office/drawing/2014/main" id="{E679D45F-28D5-485F-B571-6F09F6ED0151}"/>
              </a:ext>
            </a:extLst>
          </p:cNvPr>
          <p:cNvSpPr>
            <a:spLocks xmlns:a="http://schemas.openxmlformats.org/drawingml/2006/main" noGrp="1"/>
          </p:cNvSpPr>
          <p:nvPr/>
        </p:nvSpPr>
        <p:spPr>
          <a:xfrm xmlns:a="http://schemas.openxmlformats.org/drawingml/2006/main">
            <a:off x="5886450" y="5524500"/>
            <a:ext cx="1771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95558"/>
          </a:bodyPr>
          <a:lstStyle xmlns:a="http://schemas.openxmlformats.org/drawingml/2006/main"/>
          <a:p xmlns:a="http://schemas.openxmlformats.org/drawingml/2006/main">
            <a:pPr algn="l">
              <a:defRPr sz="975" b="0">
                <a:solidFill>
                  <a:srgbClr val="475569"/>
                </a:solidFill>
              </a:defRPr>
            </a:pPr>
            <a:r>
              <a:rPr sz="975" b="0">
                <a:solidFill>
                  <a:srgbClr val="475569"/>
                </a:solidFill>
              </a:rPr>
              <a:t>字段名、编码、版次、质量编号</a:t>
            </a:r>
          </a:p>
        </p:txBody>
      </p:sp>
      <p:sp>
        <p:nvSpPr>
          <p:cNvPr id="61" name="">
            <a:extLst xmlns:a="http://schemas.openxmlformats.org/drawingml/2006/main">
              <a:ext uri="{FF2B5EF4-FFF2-40B4-BE49-F238E27FC236}">
                <a16:creationId xmlns:a16="http://schemas.microsoft.com/office/drawing/2014/main" id="{80C44A23-C845-4621-9315-42533C118D11}"/>
              </a:ext>
            </a:extLst>
          </p:cNvPr>
          <p:cNvSpPr>
            <a:spLocks xmlns:a="http://schemas.openxmlformats.org/drawingml/2006/main" noGrp="1"/>
          </p:cNvSpPr>
          <p:nvPr/>
        </p:nvSpPr>
        <p:spPr>
          <a:xfrm xmlns:a="http://schemas.openxmlformats.org/drawingml/2006/main">
            <a:off x="8191500" y="5048250"/>
            <a:ext cx="20955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E2E8F0"/>
            </a:solidFill>
            <a:prstDash val="solid"/>
          </a:ln>
        </p:spPr>
      </p:sp>
      <p:sp>
        <p:nvSpPr>
          <p:cNvPr id="62" name="">
            <a:extLst xmlns:a="http://schemas.openxmlformats.org/drawingml/2006/main">
              <a:ext uri="{FF2B5EF4-FFF2-40B4-BE49-F238E27FC236}">
                <a16:creationId xmlns:a16="http://schemas.microsoft.com/office/drawing/2014/main" id="{B595B5AD-E0A9-42CD-B10C-FF0728F6E582}"/>
              </a:ext>
            </a:extLst>
          </p:cNvPr>
          <p:cNvSpPr>
            <a:spLocks xmlns:a="http://schemas.openxmlformats.org/drawingml/2006/main" noGrp="1"/>
          </p:cNvSpPr>
          <p:nvPr/>
        </p:nvSpPr>
        <p:spPr>
          <a:xfrm xmlns:a="http://schemas.openxmlformats.org/drawingml/2006/main">
            <a:off x="8191500" y="5048250"/>
            <a:ext cx="47625" cy="819150"/>
          </a:xfrm>
          <a:prstGeom xmlns:a="http://schemas.openxmlformats.org/drawingml/2006/main" prst="rect">
            <a:avLst/>
          </a:prstGeom>
          <a:solidFill xmlns:a="http://schemas.openxmlformats.org/drawingml/2006/main">
            <a:srgbClr val="DC2626"/>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105CA9FA-3DC5-4A37-9951-CD75ECFADFEE}"/>
              </a:ext>
            </a:extLst>
          </p:cNvPr>
          <p:cNvSpPr>
            <a:spLocks xmlns:a="http://schemas.openxmlformats.org/drawingml/2006/main" noGrp="1"/>
          </p:cNvSpPr>
          <p:nvPr/>
        </p:nvSpPr>
        <p:spPr>
          <a:xfrm xmlns:a="http://schemas.openxmlformats.org/drawingml/2006/main">
            <a:off x="8362950" y="5181600"/>
            <a:ext cx="1771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异常</a:t>
            </a:r>
          </a:p>
        </p:txBody>
      </p:sp>
      <p:sp>
        <p:nvSpPr>
          <p:cNvPr id="64" name="">
            <a:extLst xmlns:a="http://schemas.openxmlformats.org/drawingml/2006/main">
              <a:ext uri="{FF2B5EF4-FFF2-40B4-BE49-F238E27FC236}">
                <a16:creationId xmlns:a16="http://schemas.microsoft.com/office/drawing/2014/main" id="{8F8FA7D9-941B-41E4-8C63-7A296AC2CA0F}"/>
              </a:ext>
            </a:extLst>
          </p:cNvPr>
          <p:cNvSpPr>
            <a:spLocks xmlns:a="http://schemas.openxmlformats.org/drawingml/2006/main" noGrp="1"/>
          </p:cNvSpPr>
          <p:nvPr/>
        </p:nvSpPr>
        <p:spPr>
          <a:xfrm xmlns:a="http://schemas.openxmlformats.org/drawingml/2006/main">
            <a:off x="8362950" y="5524500"/>
            <a:ext cx="1771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75" b="0">
                <a:solidFill>
                  <a:srgbClr val="475569"/>
                </a:solidFill>
              </a:defRPr>
            </a:pPr>
            <a:r>
              <a:rPr sz="975" b="0">
                <a:solidFill>
                  <a:srgbClr val="475569"/>
                </a:solidFill>
              </a:rPr>
              <a:t>失败重试、告警、人工兜底</a:t>
            </a:r>
          </a:p>
        </p:txBody>
      </p:sp>
      <p:sp>
        <p:nvSpPr>
          <p:cNvPr id="65" name="">
            <a:extLst xmlns:a="http://schemas.openxmlformats.org/drawingml/2006/main">
              <a:ext uri="{FF2B5EF4-FFF2-40B4-BE49-F238E27FC236}">
                <a16:creationId xmlns:a16="http://schemas.microsoft.com/office/drawing/2014/main" id="{A719E062-C0F6-47D1-8228-F69D41735A68}"/>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22 / 29</a:t>
            </a:r>
          </a:p>
        </p:txBody>
      </p:sp>
    </p:spTree>
    <p:extLst>
      <p:ext uri="{BB962C8B-B14F-4D97-AF65-F5344CB8AC3E}">
        <p14:creationId xmlns:p14="http://schemas.microsoft.com/office/powerpoint/2010/main" val="705533487"/>
      </p:ext>
    </p:extLst>
  </p:cSld>
</p:sld>
</file>

<file path=ppt/slides/slide2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59534863-F844-4EA9-A346-BF62C9EB2B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26253B0-BDC9-4D4F-A8A6-0B5EAA177EA3}"/>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E201605B-8C8A-4AA8-A927-DC3A3D615560}"/>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1425F9D-7F9F-4D79-ABF4-58A0243F6CAA}"/>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04.3 字段映射</a:t>
            </a:r>
          </a:p>
        </p:txBody>
      </p:sp>
      <p:sp>
        <p:nvSpPr>
          <p:cNvPr id="6" name="">
            <a:extLst xmlns:a="http://schemas.openxmlformats.org/drawingml/2006/main">
              <a:ext uri="{FF2B5EF4-FFF2-40B4-BE49-F238E27FC236}">
                <a16:creationId xmlns:a16="http://schemas.microsoft.com/office/drawing/2014/main" id="{70FD2022-F0B2-41FB-B714-04BFA45FE221}"/>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81715B3D-F181-442F-BB40-9CEAB594F6DF}"/>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PLM → PDM 工程 BOM 发布</a:t>
            </a:r>
          </a:p>
        </p:txBody>
      </p:sp>
      <p:sp>
        <p:nvSpPr>
          <p:cNvPr id="8" name="">
            <a:extLst xmlns:a="http://schemas.openxmlformats.org/drawingml/2006/main">
              <a:ext uri="{FF2B5EF4-FFF2-40B4-BE49-F238E27FC236}">
                <a16:creationId xmlns:a16="http://schemas.microsoft.com/office/drawing/2014/main" id="{B3706E59-939B-4185-BDC0-7BE5E1DF9468}"/>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虚拟件不过渡到 PDM BOM 结构；发布版本与接收版本严格一一对应</a:t>
            </a:r>
          </a:p>
        </p:txBody>
      </p:sp>
      <p:sp>
        <p:nvSpPr>
          <p:cNvPr id="9" name="">
            <a:extLst xmlns:a="http://schemas.openxmlformats.org/drawingml/2006/main">
              <a:ext uri="{FF2B5EF4-FFF2-40B4-BE49-F238E27FC236}">
                <a16:creationId xmlns:a16="http://schemas.microsoft.com/office/drawing/2014/main" id="{E72E9771-8C05-4DB9-B21E-7D95C774306E}"/>
              </a:ext>
            </a:extLst>
          </p:cNvPr>
          <p:cNvSpPr>
            <a:spLocks xmlns:a="http://schemas.openxmlformats.org/drawingml/2006/main" noGrp="1"/>
          </p:cNvSpPr>
          <p:nvPr/>
        </p:nvSpPr>
        <p:spPr>
          <a:xfrm xmlns:a="http://schemas.openxmlformats.org/drawingml/2006/main">
            <a:off x="552450" y="1790700"/>
            <a:ext cx="40005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58D02EA8-B151-4DB5-B756-A88F2BC0AD03}"/>
              </a:ext>
            </a:extLst>
          </p:cNvPr>
          <p:cNvSpPr>
            <a:spLocks xmlns:a="http://schemas.openxmlformats.org/drawingml/2006/main" noGrp="1"/>
          </p:cNvSpPr>
          <p:nvPr/>
        </p:nvSpPr>
        <p:spPr>
          <a:xfrm xmlns:a="http://schemas.openxmlformats.org/drawingml/2006/main">
            <a:off x="552450" y="1790700"/>
            <a:ext cx="47625" cy="1390650"/>
          </a:xfrm>
          <a:prstGeom xmlns:a="http://schemas.openxmlformats.org/drawingml/2006/main" prst="rect">
            <a:avLst/>
          </a:prstGeom>
          <a:solidFill xmlns:a="http://schemas.openxmlformats.org/drawingml/2006/main">
            <a:srgbClr val="7C3AED"/>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E8D74D4-60BE-4F83-9859-15C3C31AA7AB}"/>
              </a:ext>
            </a:extLst>
          </p:cNvPr>
          <p:cNvSpPr>
            <a:spLocks xmlns:a="http://schemas.openxmlformats.org/drawingml/2006/main" noGrp="1"/>
          </p:cNvSpPr>
          <p:nvPr/>
        </p:nvSpPr>
        <p:spPr>
          <a:xfrm xmlns:a="http://schemas.openxmlformats.org/drawingml/2006/main">
            <a:off x="723900" y="1924050"/>
            <a:ext cx="3676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PLM → PDM（工程BOM发布）</a:t>
            </a:r>
          </a:p>
        </p:txBody>
      </p:sp>
      <p:sp>
        <p:nvSpPr>
          <p:cNvPr id="12" name="">
            <a:extLst xmlns:a="http://schemas.openxmlformats.org/drawingml/2006/main">
              <a:ext uri="{FF2B5EF4-FFF2-40B4-BE49-F238E27FC236}">
                <a16:creationId xmlns:a16="http://schemas.microsoft.com/office/drawing/2014/main" id="{560B4559-0CF3-4C4A-A2A0-87ACE846FB22}"/>
              </a:ext>
            </a:extLst>
          </p:cNvPr>
          <p:cNvSpPr>
            <a:spLocks xmlns:a="http://schemas.openxmlformats.org/drawingml/2006/main" noGrp="1"/>
          </p:cNvSpPr>
          <p:nvPr/>
        </p:nvSpPr>
        <p:spPr>
          <a:xfrm xmlns:a="http://schemas.openxmlformats.org/drawingml/2006/main">
            <a:off x="723900" y="2266950"/>
            <a:ext cx="36766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8296"/>
          </a:bodyPr>
          <a:lstStyle xmlns:a="http://schemas.openxmlformats.org/drawingml/2006/main"/>
          <a:p xmlns:a="http://schemas.openxmlformats.org/drawingml/2006/main">
            <a:pPr algn="l">
              <a:defRPr sz="975" b="0">
                <a:solidFill>
                  <a:srgbClr val="475569"/>
                </a:solidFill>
              </a:defRPr>
            </a:pPr>
            <a:r>
              <a:rPr sz="975" b="0">
                <a:solidFill>
                  <a:srgbClr val="475569"/>
                </a:solidFill>
              </a:rPr>
              <a:t>集成目的：将设计态 EBOM 受控传递给 PDM，作为 MBOM 转换的数据源。</a:t>
            </a:r>
          </a:p>
          <a:p xmlns:a="http://schemas.openxmlformats.org/drawingml/2006/main">
            <a:pPr algn="l">
              <a:defRPr sz="975" b="0">
                <a:solidFill>
                  <a:srgbClr val="475569"/>
                </a:solidFill>
              </a:defRPr>
            </a:pPr>
            <a:r>
              <a:rPr sz="975" b="0">
                <a:solidFill>
                  <a:srgbClr val="475569"/>
                </a:solidFill>
              </a:rPr>
              <a:t>数据格式：REST API / WebService / JSON / XML / 数据库视图（供应商支持多种方式，按场景推荐）</a:t>
            </a:r>
          </a:p>
          <a:p xmlns:a="http://schemas.openxmlformats.org/drawingml/2006/main">
            <a:pPr algn="l">
              <a:defRPr sz="975" b="0">
                <a:solidFill>
                  <a:srgbClr val="475569"/>
                </a:solidFill>
              </a:defRPr>
            </a:pPr>
            <a:r>
              <a:rPr sz="975" b="0">
                <a:solidFill>
                  <a:srgbClr val="475569"/>
                </a:solidFill>
              </a:rPr>
              <a:t>核心字段：物料编码、件号、版次、铺层顺序、材料规范号、固化工艺规范号、NDT检测规范号、虚拟件标记。</a:t>
            </a:r>
          </a:p>
        </p:txBody>
      </p:sp>
      <p:sp>
        <p:nvSpPr>
          <p:cNvPr id="13" name="">
            <a:extLst xmlns:a="http://schemas.openxmlformats.org/drawingml/2006/main">
              <a:ext uri="{FF2B5EF4-FFF2-40B4-BE49-F238E27FC236}">
                <a16:creationId xmlns:a16="http://schemas.microsoft.com/office/drawing/2014/main" id="{88D66504-3C38-4A24-85CE-65FADBF5A1FD}"/>
              </a:ext>
            </a:extLst>
          </p:cNvPr>
          <p:cNvSpPr>
            <a:spLocks xmlns:a="http://schemas.openxmlformats.org/drawingml/2006/main" noGrp="1"/>
          </p:cNvSpPr>
          <p:nvPr/>
        </p:nvSpPr>
        <p:spPr>
          <a:xfrm xmlns:a="http://schemas.openxmlformats.org/drawingml/2006/main">
            <a:off x="4914900" y="1790700"/>
            <a:ext cx="1728439" cy="3492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4" name="">
            <a:extLst xmlns:a="http://schemas.openxmlformats.org/drawingml/2006/main">
              <a:ext uri="{FF2B5EF4-FFF2-40B4-BE49-F238E27FC236}">
                <a16:creationId xmlns:a16="http://schemas.microsoft.com/office/drawing/2014/main" id="{C3A34A59-CD6D-4EA4-9369-A2AF4D34F1C2}"/>
              </a:ext>
            </a:extLst>
          </p:cNvPr>
          <p:cNvSpPr>
            <a:spLocks xmlns:a="http://schemas.openxmlformats.org/drawingml/2006/main" noGrp="1"/>
          </p:cNvSpPr>
          <p:nvPr/>
        </p:nvSpPr>
        <p:spPr>
          <a:xfrm xmlns:a="http://schemas.openxmlformats.org/drawingml/2006/main">
            <a:off x="4953000" y="181927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1">
                <a:solidFill>
                  <a:srgbClr val="FFFFFF"/>
                </a:solidFill>
              </a:defRPr>
            </a:pPr>
            <a:r>
              <a:rPr sz="675" b="1">
                <a:solidFill>
                  <a:srgbClr val="FFFFFF"/>
                </a:solidFill>
              </a:rPr>
              <a:t>PLM字段</a:t>
            </a:r>
          </a:p>
        </p:txBody>
      </p:sp>
      <p:sp>
        <p:nvSpPr>
          <p:cNvPr id="15" name="">
            <a:extLst xmlns:a="http://schemas.openxmlformats.org/drawingml/2006/main">
              <a:ext uri="{FF2B5EF4-FFF2-40B4-BE49-F238E27FC236}">
                <a16:creationId xmlns:a16="http://schemas.microsoft.com/office/drawing/2014/main" id="{0179EF97-DBA8-40C6-A7DC-241C2BD9EEFA}"/>
              </a:ext>
            </a:extLst>
          </p:cNvPr>
          <p:cNvSpPr>
            <a:spLocks xmlns:a="http://schemas.openxmlformats.org/drawingml/2006/main" noGrp="1"/>
          </p:cNvSpPr>
          <p:nvPr/>
        </p:nvSpPr>
        <p:spPr>
          <a:xfrm xmlns:a="http://schemas.openxmlformats.org/drawingml/2006/main">
            <a:off x="6643339" y="1790700"/>
            <a:ext cx="1728439" cy="3492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6" name="">
            <a:extLst xmlns:a="http://schemas.openxmlformats.org/drawingml/2006/main">
              <a:ext uri="{FF2B5EF4-FFF2-40B4-BE49-F238E27FC236}">
                <a16:creationId xmlns:a16="http://schemas.microsoft.com/office/drawing/2014/main" id="{91AD76B7-D7DF-4B03-9A36-E55E74B23ABF}"/>
              </a:ext>
            </a:extLst>
          </p:cNvPr>
          <p:cNvSpPr>
            <a:spLocks xmlns:a="http://schemas.openxmlformats.org/drawingml/2006/main" noGrp="1"/>
          </p:cNvSpPr>
          <p:nvPr/>
        </p:nvSpPr>
        <p:spPr>
          <a:xfrm xmlns:a="http://schemas.openxmlformats.org/drawingml/2006/main">
            <a:off x="6681439" y="181927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1">
                <a:solidFill>
                  <a:srgbClr val="FFFFFF"/>
                </a:solidFill>
              </a:defRPr>
            </a:pPr>
            <a:r>
              <a:rPr sz="675" b="1">
                <a:solidFill>
                  <a:srgbClr val="FFFFFF"/>
                </a:solidFill>
              </a:rPr>
              <a:t>PDM字段</a:t>
            </a:r>
          </a:p>
        </p:txBody>
      </p:sp>
      <p:sp>
        <p:nvSpPr>
          <p:cNvPr id="17" name="">
            <a:extLst xmlns:a="http://schemas.openxmlformats.org/drawingml/2006/main">
              <a:ext uri="{FF2B5EF4-FFF2-40B4-BE49-F238E27FC236}">
                <a16:creationId xmlns:a16="http://schemas.microsoft.com/office/drawing/2014/main" id="{46CC6745-6CE8-4076-A8CF-9DD49B0E3279}"/>
              </a:ext>
            </a:extLst>
          </p:cNvPr>
          <p:cNvSpPr>
            <a:spLocks xmlns:a="http://schemas.openxmlformats.org/drawingml/2006/main" noGrp="1"/>
          </p:cNvSpPr>
          <p:nvPr/>
        </p:nvSpPr>
        <p:spPr>
          <a:xfrm xmlns:a="http://schemas.openxmlformats.org/drawingml/2006/main">
            <a:off x="8371778" y="1790700"/>
            <a:ext cx="2448622" cy="3492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8" name="">
            <a:extLst xmlns:a="http://schemas.openxmlformats.org/drawingml/2006/main">
              <a:ext uri="{FF2B5EF4-FFF2-40B4-BE49-F238E27FC236}">
                <a16:creationId xmlns:a16="http://schemas.microsoft.com/office/drawing/2014/main" id="{BA165D0A-EB72-4653-B11D-781B63944369}"/>
              </a:ext>
            </a:extLst>
          </p:cNvPr>
          <p:cNvSpPr>
            <a:spLocks xmlns:a="http://schemas.openxmlformats.org/drawingml/2006/main" noGrp="1"/>
          </p:cNvSpPr>
          <p:nvPr/>
        </p:nvSpPr>
        <p:spPr>
          <a:xfrm xmlns:a="http://schemas.openxmlformats.org/drawingml/2006/main">
            <a:off x="8409878" y="1819275"/>
            <a:ext cx="2372422"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1">
                <a:solidFill>
                  <a:srgbClr val="FFFFFF"/>
                </a:solidFill>
              </a:defRPr>
            </a:pPr>
            <a:r>
              <a:rPr sz="675" b="1">
                <a:solidFill>
                  <a:srgbClr val="FFFFFF"/>
                </a:solidFill>
              </a:rPr>
              <a:t>说明</a:t>
            </a:r>
          </a:p>
        </p:txBody>
      </p:sp>
      <p:sp>
        <p:nvSpPr>
          <p:cNvPr id="19" name="">
            <a:extLst xmlns:a="http://schemas.openxmlformats.org/drawingml/2006/main">
              <a:ext uri="{FF2B5EF4-FFF2-40B4-BE49-F238E27FC236}">
                <a16:creationId xmlns:a16="http://schemas.microsoft.com/office/drawing/2014/main" id="{9A6371D1-8C06-4AB0-B245-CBB55E2449EF}"/>
              </a:ext>
            </a:extLst>
          </p:cNvPr>
          <p:cNvSpPr>
            <a:spLocks xmlns:a="http://schemas.openxmlformats.org/drawingml/2006/main" noGrp="1"/>
          </p:cNvSpPr>
          <p:nvPr/>
        </p:nvSpPr>
        <p:spPr>
          <a:xfrm xmlns:a="http://schemas.openxmlformats.org/drawingml/2006/main">
            <a:off x="4914900" y="2139950"/>
            <a:ext cx="1728439" cy="3492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0" name="">
            <a:extLst xmlns:a="http://schemas.openxmlformats.org/drawingml/2006/main">
              <a:ext uri="{FF2B5EF4-FFF2-40B4-BE49-F238E27FC236}">
                <a16:creationId xmlns:a16="http://schemas.microsoft.com/office/drawing/2014/main" id="{BC7FF232-A4BC-4525-9407-CB8D82CC1632}"/>
              </a:ext>
            </a:extLst>
          </p:cNvPr>
          <p:cNvSpPr>
            <a:spLocks xmlns:a="http://schemas.openxmlformats.org/drawingml/2006/main" noGrp="1"/>
          </p:cNvSpPr>
          <p:nvPr/>
        </p:nvSpPr>
        <p:spPr>
          <a:xfrm xmlns:a="http://schemas.openxmlformats.org/drawingml/2006/main">
            <a:off x="4953000" y="216852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item_code</a:t>
            </a:r>
          </a:p>
        </p:txBody>
      </p:sp>
      <p:sp>
        <p:nvSpPr>
          <p:cNvPr id="21" name="">
            <a:extLst xmlns:a="http://schemas.openxmlformats.org/drawingml/2006/main">
              <a:ext uri="{FF2B5EF4-FFF2-40B4-BE49-F238E27FC236}">
                <a16:creationId xmlns:a16="http://schemas.microsoft.com/office/drawing/2014/main" id="{0918C19D-A17A-4777-82D0-E4434702BF0E}"/>
              </a:ext>
            </a:extLst>
          </p:cNvPr>
          <p:cNvSpPr>
            <a:spLocks xmlns:a="http://schemas.openxmlformats.org/drawingml/2006/main" noGrp="1"/>
          </p:cNvSpPr>
          <p:nvPr/>
        </p:nvSpPr>
        <p:spPr>
          <a:xfrm xmlns:a="http://schemas.openxmlformats.org/drawingml/2006/main">
            <a:off x="6643339" y="2139950"/>
            <a:ext cx="1728439" cy="3492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2" name="">
            <a:extLst xmlns:a="http://schemas.openxmlformats.org/drawingml/2006/main">
              <a:ext uri="{FF2B5EF4-FFF2-40B4-BE49-F238E27FC236}">
                <a16:creationId xmlns:a16="http://schemas.microsoft.com/office/drawing/2014/main" id="{1995C1C0-18F8-4B7D-A4F9-4F442BE13842}"/>
              </a:ext>
            </a:extLst>
          </p:cNvPr>
          <p:cNvSpPr>
            <a:spLocks xmlns:a="http://schemas.openxmlformats.org/drawingml/2006/main" noGrp="1"/>
          </p:cNvSpPr>
          <p:nvPr/>
        </p:nvSpPr>
        <p:spPr>
          <a:xfrm xmlns:a="http://schemas.openxmlformats.org/drawingml/2006/main">
            <a:off x="6681439" y="216852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material_code</a:t>
            </a:r>
          </a:p>
        </p:txBody>
      </p:sp>
      <p:sp>
        <p:nvSpPr>
          <p:cNvPr id="23" name="">
            <a:extLst xmlns:a="http://schemas.openxmlformats.org/drawingml/2006/main">
              <a:ext uri="{FF2B5EF4-FFF2-40B4-BE49-F238E27FC236}">
                <a16:creationId xmlns:a16="http://schemas.microsoft.com/office/drawing/2014/main" id="{A31368D8-C3D1-4E32-A055-F6588B150B22}"/>
              </a:ext>
            </a:extLst>
          </p:cNvPr>
          <p:cNvSpPr>
            <a:spLocks xmlns:a="http://schemas.openxmlformats.org/drawingml/2006/main" noGrp="1"/>
          </p:cNvSpPr>
          <p:nvPr/>
        </p:nvSpPr>
        <p:spPr>
          <a:xfrm xmlns:a="http://schemas.openxmlformats.org/drawingml/2006/main">
            <a:off x="8371778" y="2139950"/>
            <a:ext cx="2448622" cy="3492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4" name="">
            <a:extLst xmlns:a="http://schemas.openxmlformats.org/drawingml/2006/main">
              <a:ext uri="{FF2B5EF4-FFF2-40B4-BE49-F238E27FC236}">
                <a16:creationId xmlns:a16="http://schemas.microsoft.com/office/drawing/2014/main" id="{1071DC55-DCCB-4407-8B73-16C994C3631E}"/>
              </a:ext>
            </a:extLst>
          </p:cNvPr>
          <p:cNvSpPr>
            <a:spLocks xmlns:a="http://schemas.openxmlformats.org/drawingml/2006/main" noGrp="1"/>
          </p:cNvSpPr>
          <p:nvPr/>
        </p:nvSpPr>
        <p:spPr>
          <a:xfrm xmlns:a="http://schemas.openxmlformats.org/drawingml/2006/main">
            <a:off x="8409878" y="2168525"/>
            <a:ext cx="2372422"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物料编码</a:t>
            </a:r>
          </a:p>
        </p:txBody>
      </p:sp>
      <p:sp>
        <p:nvSpPr>
          <p:cNvPr id="25" name="">
            <a:extLst xmlns:a="http://schemas.openxmlformats.org/drawingml/2006/main">
              <a:ext uri="{FF2B5EF4-FFF2-40B4-BE49-F238E27FC236}">
                <a16:creationId xmlns:a16="http://schemas.microsoft.com/office/drawing/2014/main" id="{B7545558-9615-462D-8E49-0C498C58D217}"/>
              </a:ext>
            </a:extLst>
          </p:cNvPr>
          <p:cNvSpPr>
            <a:spLocks xmlns:a="http://schemas.openxmlformats.org/drawingml/2006/main" noGrp="1"/>
          </p:cNvSpPr>
          <p:nvPr/>
        </p:nvSpPr>
        <p:spPr>
          <a:xfrm xmlns:a="http://schemas.openxmlformats.org/drawingml/2006/main">
            <a:off x="4914900" y="2489200"/>
            <a:ext cx="1728439" cy="3492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26" name="">
            <a:extLst xmlns:a="http://schemas.openxmlformats.org/drawingml/2006/main">
              <a:ext uri="{FF2B5EF4-FFF2-40B4-BE49-F238E27FC236}">
                <a16:creationId xmlns:a16="http://schemas.microsoft.com/office/drawing/2014/main" id="{6D9E172B-A75C-42EF-AD63-0E9B4D9CF28C}"/>
              </a:ext>
            </a:extLst>
          </p:cNvPr>
          <p:cNvSpPr>
            <a:spLocks xmlns:a="http://schemas.openxmlformats.org/drawingml/2006/main" noGrp="1"/>
          </p:cNvSpPr>
          <p:nvPr/>
        </p:nvSpPr>
        <p:spPr>
          <a:xfrm xmlns:a="http://schemas.openxmlformats.org/drawingml/2006/main">
            <a:off x="4953000" y="251777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part_number</a:t>
            </a:r>
          </a:p>
        </p:txBody>
      </p:sp>
      <p:sp>
        <p:nvSpPr>
          <p:cNvPr id="27" name="">
            <a:extLst xmlns:a="http://schemas.openxmlformats.org/drawingml/2006/main">
              <a:ext uri="{FF2B5EF4-FFF2-40B4-BE49-F238E27FC236}">
                <a16:creationId xmlns:a16="http://schemas.microsoft.com/office/drawing/2014/main" id="{A6FE6F81-6C60-4797-B81C-BF8356442B82}"/>
              </a:ext>
            </a:extLst>
          </p:cNvPr>
          <p:cNvSpPr>
            <a:spLocks xmlns:a="http://schemas.openxmlformats.org/drawingml/2006/main" noGrp="1"/>
          </p:cNvSpPr>
          <p:nvPr/>
        </p:nvSpPr>
        <p:spPr>
          <a:xfrm xmlns:a="http://schemas.openxmlformats.org/drawingml/2006/main">
            <a:off x="6643339" y="2489200"/>
            <a:ext cx="1728439" cy="3492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28" name="">
            <a:extLst xmlns:a="http://schemas.openxmlformats.org/drawingml/2006/main">
              <a:ext uri="{FF2B5EF4-FFF2-40B4-BE49-F238E27FC236}">
                <a16:creationId xmlns:a16="http://schemas.microsoft.com/office/drawing/2014/main" id="{280D7014-344F-4328-A911-617BBE95C2DC}"/>
              </a:ext>
            </a:extLst>
          </p:cNvPr>
          <p:cNvSpPr>
            <a:spLocks xmlns:a="http://schemas.openxmlformats.org/drawingml/2006/main" noGrp="1"/>
          </p:cNvSpPr>
          <p:nvPr/>
        </p:nvSpPr>
        <p:spPr>
          <a:xfrm xmlns:a="http://schemas.openxmlformats.org/drawingml/2006/main">
            <a:off x="6681439" y="251777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part_number</a:t>
            </a:r>
          </a:p>
        </p:txBody>
      </p:sp>
      <p:sp>
        <p:nvSpPr>
          <p:cNvPr id="29" name="">
            <a:extLst xmlns:a="http://schemas.openxmlformats.org/drawingml/2006/main">
              <a:ext uri="{FF2B5EF4-FFF2-40B4-BE49-F238E27FC236}">
                <a16:creationId xmlns:a16="http://schemas.microsoft.com/office/drawing/2014/main" id="{567CFD39-B476-4B01-BFA7-F05D55E13921}"/>
              </a:ext>
            </a:extLst>
          </p:cNvPr>
          <p:cNvSpPr>
            <a:spLocks xmlns:a="http://schemas.openxmlformats.org/drawingml/2006/main" noGrp="1"/>
          </p:cNvSpPr>
          <p:nvPr/>
        </p:nvSpPr>
        <p:spPr>
          <a:xfrm xmlns:a="http://schemas.openxmlformats.org/drawingml/2006/main">
            <a:off x="8371778" y="2489200"/>
            <a:ext cx="2448622" cy="3492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0" name="">
            <a:extLst xmlns:a="http://schemas.openxmlformats.org/drawingml/2006/main">
              <a:ext uri="{FF2B5EF4-FFF2-40B4-BE49-F238E27FC236}">
                <a16:creationId xmlns:a16="http://schemas.microsoft.com/office/drawing/2014/main" id="{7D87F03B-82A5-4CC9-804E-5B8A842142F7}"/>
              </a:ext>
            </a:extLst>
          </p:cNvPr>
          <p:cNvSpPr>
            <a:spLocks xmlns:a="http://schemas.openxmlformats.org/drawingml/2006/main" noGrp="1"/>
          </p:cNvSpPr>
          <p:nvPr/>
        </p:nvSpPr>
        <p:spPr>
          <a:xfrm xmlns:a="http://schemas.openxmlformats.org/drawingml/2006/main">
            <a:off x="8409878" y="2517775"/>
            <a:ext cx="2372422"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对外交付件号</a:t>
            </a:r>
          </a:p>
        </p:txBody>
      </p:sp>
      <p:sp>
        <p:nvSpPr>
          <p:cNvPr id="31" name="">
            <a:extLst xmlns:a="http://schemas.openxmlformats.org/drawingml/2006/main">
              <a:ext uri="{FF2B5EF4-FFF2-40B4-BE49-F238E27FC236}">
                <a16:creationId xmlns:a16="http://schemas.microsoft.com/office/drawing/2014/main" id="{3582D3D1-09C8-4FB6-ABF2-D8E0C484D6C7}"/>
              </a:ext>
            </a:extLst>
          </p:cNvPr>
          <p:cNvSpPr>
            <a:spLocks xmlns:a="http://schemas.openxmlformats.org/drawingml/2006/main" noGrp="1"/>
          </p:cNvSpPr>
          <p:nvPr/>
        </p:nvSpPr>
        <p:spPr>
          <a:xfrm xmlns:a="http://schemas.openxmlformats.org/drawingml/2006/main">
            <a:off x="4914900" y="2838450"/>
            <a:ext cx="1728439" cy="3492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2" name="">
            <a:extLst xmlns:a="http://schemas.openxmlformats.org/drawingml/2006/main">
              <a:ext uri="{FF2B5EF4-FFF2-40B4-BE49-F238E27FC236}">
                <a16:creationId xmlns:a16="http://schemas.microsoft.com/office/drawing/2014/main" id="{2C727C3B-277A-4E7B-9C8F-A082AAF4E5C9}"/>
              </a:ext>
            </a:extLst>
          </p:cNvPr>
          <p:cNvSpPr>
            <a:spLocks xmlns:a="http://schemas.openxmlformats.org/drawingml/2006/main" noGrp="1"/>
          </p:cNvSpPr>
          <p:nvPr/>
        </p:nvSpPr>
        <p:spPr>
          <a:xfrm xmlns:a="http://schemas.openxmlformats.org/drawingml/2006/main">
            <a:off x="4953000" y="286702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revision</a:t>
            </a:r>
          </a:p>
        </p:txBody>
      </p:sp>
      <p:sp>
        <p:nvSpPr>
          <p:cNvPr id="33" name="">
            <a:extLst xmlns:a="http://schemas.openxmlformats.org/drawingml/2006/main">
              <a:ext uri="{FF2B5EF4-FFF2-40B4-BE49-F238E27FC236}">
                <a16:creationId xmlns:a16="http://schemas.microsoft.com/office/drawing/2014/main" id="{68ADCDE5-3EBA-4A1B-95ED-7F6654709829}"/>
              </a:ext>
            </a:extLst>
          </p:cNvPr>
          <p:cNvSpPr>
            <a:spLocks xmlns:a="http://schemas.openxmlformats.org/drawingml/2006/main" noGrp="1"/>
          </p:cNvSpPr>
          <p:nvPr/>
        </p:nvSpPr>
        <p:spPr>
          <a:xfrm xmlns:a="http://schemas.openxmlformats.org/drawingml/2006/main">
            <a:off x="6643339" y="2838450"/>
            <a:ext cx="1728439" cy="3492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4" name="">
            <a:extLst xmlns:a="http://schemas.openxmlformats.org/drawingml/2006/main">
              <a:ext uri="{FF2B5EF4-FFF2-40B4-BE49-F238E27FC236}">
                <a16:creationId xmlns:a16="http://schemas.microsoft.com/office/drawing/2014/main" id="{BD475E59-B020-4A7A-A851-E071F2523AD1}"/>
              </a:ext>
            </a:extLst>
          </p:cNvPr>
          <p:cNvSpPr>
            <a:spLocks xmlns:a="http://schemas.openxmlformats.org/drawingml/2006/main" noGrp="1"/>
          </p:cNvSpPr>
          <p:nvPr/>
        </p:nvSpPr>
        <p:spPr>
          <a:xfrm xmlns:a="http://schemas.openxmlformats.org/drawingml/2006/main">
            <a:off x="6681439" y="286702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rev</a:t>
            </a:r>
          </a:p>
        </p:txBody>
      </p:sp>
      <p:sp>
        <p:nvSpPr>
          <p:cNvPr id="35" name="">
            <a:extLst xmlns:a="http://schemas.openxmlformats.org/drawingml/2006/main">
              <a:ext uri="{FF2B5EF4-FFF2-40B4-BE49-F238E27FC236}">
                <a16:creationId xmlns:a16="http://schemas.microsoft.com/office/drawing/2014/main" id="{BF0F86EF-D91B-4343-B53D-2645407A23B2}"/>
              </a:ext>
            </a:extLst>
          </p:cNvPr>
          <p:cNvSpPr>
            <a:spLocks xmlns:a="http://schemas.openxmlformats.org/drawingml/2006/main" noGrp="1"/>
          </p:cNvSpPr>
          <p:nvPr/>
        </p:nvSpPr>
        <p:spPr>
          <a:xfrm xmlns:a="http://schemas.openxmlformats.org/drawingml/2006/main">
            <a:off x="8371778" y="2838450"/>
            <a:ext cx="2448622" cy="3492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6" name="">
            <a:extLst xmlns:a="http://schemas.openxmlformats.org/drawingml/2006/main">
              <a:ext uri="{FF2B5EF4-FFF2-40B4-BE49-F238E27FC236}">
                <a16:creationId xmlns:a16="http://schemas.microsoft.com/office/drawing/2014/main" id="{F70FD90B-B455-4E2F-A8DA-1029F789592E}"/>
              </a:ext>
            </a:extLst>
          </p:cNvPr>
          <p:cNvSpPr>
            <a:spLocks xmlns:a="http://schemas.openxmlformats.org/drawingml/2006/main" noGrp="1"/>
          </p:cNvSpPr>
          <p:nvPr/>
        </p:nvSpPr>
        <p:spPr>
          <a:xfrm xmlns:a="http://schemas.openxmlformats.org/drawingml/2006/main">
            <a:off x="8409878" y="2867025"/>
            <a:ext cx="2372422"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版次（A/B/C）</a:t>
            </a:r>
          </a:p>
        </p:txBody>
      </p:sp>
      <p:sp>
        <p:nvSpPr>
          <p:cNvPr id="37" name="">
            <a:extLst xmlns:a="http://schemas.openxmlformats.org/drawingml/2006/main">
              <a:ext uri="{FF2B5EF4-FFF2-40B4-BE49-F238E27FC236}">
                <a16:creationId xmlns:a16="http://schemas.microsoft.com/office/drawing/2014/main" id="{83068FEC-67FE-4696-8C61-08241AF4BC36}"/>
              </a:ext>
            </a:extLst>
          </p:cNvPr>
          <p:cNvSpPr>
            <a:spLocks xmlns:a="http://schemas.openxmlformats.org/drawingml/2006/main" noGrp="1"/>
          </p:cNvSpPr>
          <p:nvPr/>
        </p:nvSpPr>
        <p:spPr>
          <a:xfrm xmlns:a="http://schemas.openxmlformats.org/drawingml/2006/main">
            <a:off x="4914900" y="3187700"/>
            <a:ext cx="1728439" cy="3492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8" name="">
            <a:extLst xmlns:a="http://schemas.openxmlformats.org/drawingml/2006/main">
              <a:ext uri="{FF2B5EF4-FFF2-40B4-BE49-F238E27FC236}">
                <a16:creationId xmlns:a16="http://schemas.microsoft.com/office/drawing/2014/main" id="{015EA880-E018-4EED-8F28-C56AED5CD756}"/>
              </a:ext>
            </a:extLst>
          </p:cNvPr>
          <p:cNvSpPr>
            <a:spLocks xmlns:a="http://schemas.openxmlformats.org/drawingml/2006/main" noGrp="1"/>
          </p:cNvSpPr>
          <p:nvPr/>
        </p:nvSpPr>
        <p:spPr>
          <a:xfrm xmlns:a="http://schemas.openxmlformats.org/drawingml/2006/main">
            <a:off x="4953000" y="321627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ply_sequence</a:t>
            </a:r>
          </a:p>
        </p:txBody>
      </p:sp>
      <p:sp>
        <p:nvSpPr>
          <p:cNvPr id="39" name="">
            <a:extLst xmlns:a="http://schemas.openxmlformats.org/drawingml/2006/main">
              <a:ext uri="{FF2B5EF4-FFF2-40B4-BE49-F238E27FC236}">
                <a16:creationId xmlns:a16="http://schemas.microsoft.com/office/drawing/2014/main" id="{B8DDBB6E-F783-4567-BAE5-FD390FF71B3E}"/>
              </a:ext>
            </a:extLst>
          </p:cNvPr>
          <p:cNvSpPr>
            <a:spLocks xmlns:a="http://schemas.openxmlformats.org/drawingml/2006/main" noGrp="1"/>
          </p:cNvSpPr>
          <p:nvPr/>
        </p:nvSpPr>
        <p:spPr>
          <a:xfrm xmlns:a="http://schemas.openxmlformats.org/drawingml/2006/main">
            <a:off x="6643339" y="3187700"/>
            <a:ext cx="1728439" cy="3492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0" name="">
            <a:extLst xmlns:a="http://schemas.openxmlformats.org/drawingml/2006/main">
              <a:ext uri="{FF2B5EF4-FFF2-40B4-BE49-F238E27FC236}">
                <a16:creationId xmlns:a16="http://schemas.microsoft.com/office/drawing/2014/main" id="{FE8F2776-6A8B-43C3-80F3-F696E178D72F}"/>
              </a:ext>
            </a:extLst>
          </p:cNvPr>
          <p:cNvSpPr>
            <a:spLocks xmlns:a="http://schemas.openxmlformats.org/drawingml/2006/main" noGrp="1"/>
          </p:cNvSpPr>
          <p:nvPr/>
        </p:nvSpPr>
        <p:spPr>
          <a:xfrm xmlns:a="http://schemas.openxmlformats.org/drawingml/2006/main">
            <a:off x="6681439" y="321627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ply_stackup</a:t>
            </a:r>
          </a:p>
        </p:txBody>
      </p:sp>
      <p:sp>
        <p:nvSpPr>
          <p:cNvPr id="41" name="">
            <a:extLst xmlns:a="http://schemas.openxmlformats.org/drawingml/2006/main">
              <a:ext uri="{FF2B5EF4-FFF2-40B4-BE49-F238E27FC236}">
                <a16:creationId xmlns:a16="http://schemas.microsoft.com/office/drawing/2014/main" id="{958A7162-DDAF-4EC6-A084-E0BBC87316EA}"/>
              </a:ext>
            </a:extLst>
          </p:cNvPr>
          <p:cNvSpPr>
            <a:spLocks xmlns:a="http://schemas.openxmlformats.org/drawingml/2006/main" noGrp="1"/>
          </p:cNvSpPr>
          <p:nvPr/>
        </p:nvSpPr>
        <p:spPr>
          <a:xfrm xmlns:a="http://schemas.openxmlformats.org/drawingml/2006/main">
            <a:off x="8371778" y="3187700"/>
            <a:ext cx="2448622" cy="3492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2" name="">
            <a:extLst xmlns:a="http://schemas.openxmlformats.org/drawingml/2006/main">
              <a:ext uri="{FF2B5EF4-FFF2-40B4-BE49-F238E27FC236}">
                <a16:creationId xmlns:a16="http://schemas.microsoft.com/office/drawing/2014/main" id="{3EF85AEA-8F51-464E-98BF-53827576E9C4}"/>
              </a:ext>
            </a:extLst>
          </p:cNvPr>
          <p:cNvSpPr>
            <a:spLocks xmlns:a="http://schemas.openxmlformats.org/drawingml/2006/main" noGrp="1"/>
          </p:cNvSpPr>
          <p:nvPr/>
        </p:nvSpPr>
        <p:spPr>
          <a:xfrm xmlns:a="http://schemas.openxmlformats.org/drawingml/2006/main">
            <a:off x="8409878" y="3216275"/>
            <a:ext cx="2372422"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铺层顺序定义</a:t>
            </a:r>
          </a:p>
        </p:txBody>
      </p:sp>
      <p:sp>
        <p:nvSpPr>
          <p:cNvPr id="43" name="">
            <a:extLst xmlns:a="http://schemas.openxmlformats.org/drawingml/2006/main">
              <a:ext uri="{FF2B5EF4-FFF2-40B4-BE49-F238E27FC236}">
                <a16:creationId xmlns:a16="http://schemas.microsoft.com/office/drawing/2014/main" id="{B23179B9-BF56-404F-B554-98BB9CE52046}"/>
              </a:ext>
            </a:extLst>
          </p:cNvPr>
          <p:cNvSpPr>
            <a:spLocks xmlns:a="http://schemas.openxmlformats.org/drawingml/2006/main" noGrp="1"/>
          </p:cNvSpPr>
          <p:nvPr/>
        </p:nvSpPr>
        <p:spPr>
          <a:xfrm xmlns:a="http://schemas.openxmlformats.org/drawingml/2006/main">
            <a:off x="4914900" y="3536950"/>
            <a:ext cx="1728439" cy="3492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4" name="">
            <a:extLst xmlns:a="http://schemas.openxmlformats.org/drawingml/2006/main">
              <a:ext uri="{FF2B5EF4-FFF2-40B4-BE49-F238E27FC236}">
                <a16:creationId xmlns:a16="http://schemas.microsoft.com/office/drawing/2014/main" id="{9F26CF9B-C9CC-402E-85F6-D9E2FAA99F5D}"/>
              </a:ext>
            </a:extLst>
          </p:cNvPr>
          <p:cNvSpPr>
            <a:spLocks xmlns:a="http://schemas.openxmlformats.org/drawingml/2006/main" noGrp="1"/>
          </p:cNvSpPr>
          <p:nvPr/>
        </p:nvSpPr>
        <p:spPr>
          <a:xfrm xmlns:a="http://schemas.openxmlformats.org/drawingml/2006/main">
            <a:off x="4953000" y="356552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material_spec</a:t>
            </a:r>
          </a:p>
        </p:txBody>
      </p:sp>
      <p:sp>
        <p:nvSpPr>
          <p:cNvPr id="45" name="">
            <a:extLst xmlns:a="http://schemas.openxmlformats.org/drawingml/2006/main">
              <a:ext uri="{FF2B5EF4-FFF2-40B4-BE49-F238E27FC236}">
                <a16:creationId xmlns:a16="http://schemas.microsoft.com/office/drawing/2014/main" id="{B0087F0B-8575-43B7-B87D-346C15431F95}"/>
              </a:ext>
            </a:extLst>
          </p:cNvPr>
          <p:cNvSpPr>
            <a:spLocks xmlns:a="http://schemas.openxmlformats.org/drawingml/2006/main" noGrp="1"/>
          </p:cNvSpPr>
          <p:nvPr/>
        </p:nvSpPr>
        <p:spPr>
          <a:xfrm xmlns:a="http://schemas.openxmlformats.org/drawingml/2006/main">
            <a:off x="6643339" y="3536950"/>
            <a:ext cx="1728439" cy="3492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6" name="">
            <a:extLst xmlns:a="http://schemas.openxmlformats.org/drawingml/2006/main">
              <a:ext uri="{FF2B5EF4-FFF2-40B4-BE49-F238E27FC236}">
                <a16:creationId xmlns:a16="http://schemas.microsoft.com/office/drawing/2014/main" id="{4BC92E3E-ED6E-4867-95C0-0925F445D323}"/>
              </a:ext>
            </a:extLst>
          </p:cNvPr>
          <p:cNvSpPr>
            <a:spLocks xmlns:a="http://schemas.openxmlformats.org/drawingml/2006/main" noGrp="1"/>
          </p:cNvSpPr>
          <p:nvPr/>
        </p:nvSpPr>
        <p:spPr>
          <a:xfrm xmlns:a="http://schemas.openxmlformats.org/drawingml/2006/main">
            <a:off x="6681439" y="356552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mat_spec_no</a:t>
            </a:r>
          </a:p>
        </p:txBody>
      </p:sp>
      <p:sp>
        <p:nvSpPr>
          <p:cNvPr id="47" name="">
            <a:extLst xmlns:a="http://schemas.openxmlformats.org/drawingml/2006/main">
              <a:ext uri="{FF2B5EF4-FFF2-40B4-BE49-F238E27FC236}">
                <a16:creationId xmlns:a16="http://schemas.microsoft.com/office/drawing/2014/main" id="{CA29EF22-160F-46ED-BEC2-17A95B555A59}"/>
              </a:ext>
            </a:extLst>
          </p:cNvPr>
          <p:cNvSpPr>
            <a:spLocks xmlns:a="http://schemas.openxmlformats.org/drawingml/2006/main" noGrp="1"/>
          </p:cNvSpPr>
          <p:nvPr/>
        </p:nvSpPr>
        <p:spPr>
          <a:xfrm xmlns:a="http://schemas.openxmlformats.org/drawingml/2006/main">
            <a:off x="8371778" y="3536950"/>
            <a:ext cx="2448622" cy="3492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8" name="">
            <a:extLst xmlns:a="http://schemas.openxmlformats.org/drawingml/2006/main">
              <a:ext uri="{FF2B5EF4-FFF2-40B4-BE49-F238E27FC236}">
                <a16:creationId xmlns:a16="http://schemas.microsoft.com/office/drawing/2014/main" id="{85AE08B9-70DF-48BD-9EA8-E8FCFFD35276}"/>
              </a:ext>
            </a:extLst>
          </p:cNvPr>
          <p:cNvSpPr>
            <a:spLocks xmlns:a="http://schemas.openxmlformats.org/drawingml/2006/main" noGrp="1"/>
          </p:cNvSpPr>
          <p:nvPr/>
        </p:nvSpPr>
        <p:spPr>
          <a:xfrm xmlns:a="http://schemas.openxmlformats.org/drawingml/2006/main">
            <a:off x="8409878" y="3565525"/>
            <a:ext cx="2372422"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材料规范号</a:t>
            </a:r>
          </a:p>
        </p:txBody>
      </p:sp>
      <p:sp>
        <p:nvSpPr>
          <p:cNvPr id="49" name="">
            <a:extLst xmlns:a="http://schemas.openxmlformats.org/drawingml/2006/main">
              <a:ext uri="{FF2B5EF4-FFF2-40B4-BE49-F238E27FC236}">
                <a16:creationId xmlns:a16="http://schemas.microsoft.com/office/drawing/2014/main" id="{5C30C524-8385-413E-9B6F-0EC9B407FC0A}"/>
              </a:ext>
            </a:extLst>
          </p:cNvPr>
          <p:cNvSpPr>
            <a:spLocks xmlns:a="http://schemas.openxmlformats.org/drawingml/2006/main" noGrp="1"/>
          </p:cNvSpPr>
          <p:nvPr/>
        </p:nvSpPr>
        <p:spPr>
          <a:xfrm xmlns:a="http://schemas.openxmlformats.org/drawingml/2006/main">
            <a:off x="4914900" y="3886200"/>
            <a:ext cx="1728439" cy="3492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0" name="">
            <a:extLst xmlns:a="http://schemas.openxmlformats.org/drawingml/2006/main">
              <a:ext uri="{FF2B5EF4-FFF2-40B4-BE49-F238E27FC236}">
                <a16:creationId xmlns:a16="http://schemas.microsoft.com/office/drawing/2014/main" id="{E8D5036C-3812-4097-92F2-CA9088856463}"/>
              </a:ext>
            </a:extLst>
          </p:cNvPr>
          <p:cNvSpPr>
            <a:spLocks xmlns:a="http://schemas.openxmlformats.org/drawingml/2006/main" noGrp="1"/>
          </p:cNvSpPr>
          <p:nvPr/>
        </p:nvSpPr>
        <p:spPr>
          <a:xfrm xmlns:a="http://schemas.openxmlformats.org/drawingml/2006/main">
            <a:off x="4953000" y="391477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cure_spec</a:t>
            </a:r>
          </a:p>
        </p:txBody>
      </p:sp>
      <p:sp>
        <p:nvSpPr>
          <p:cNvPr id="51" name="">
            <a:extLst xmlns:a="http://schemas.openxmlformats.org/drawingml/2006/main">
              <a:ext uri="{FF2B5EF4-FFF2-40B4-BE49-F238E27FC236}">
                <a16:creationId xmlns:a16="http://schemas.microsoft.com/office/drawing/2014/main" id="{2C50E210-ECD6-4D07-B3E8-3B7B31AC76B5}"/>
              </a:ext>
            </a:extLst>
          </p:cNvPr>
          <p:cNvSpPr>
            <a:spLocks xmlns:a="http://schemas.openxmlformats.org/drawingml/2006/main" noGrp="1"/>
          </p:cNvSpPr>
          <p:nvPr/>
        </p:nvSpPr>
        <p:spPr>
          <a:xfrm xmlns:a="http://schemas.openxmlformats.org/drawingml/2006/main">
            <a:off x="6643339" y="3886200"/>
            <a:ext cx="1728439" cy="3492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2" name="">
            <a:extLst xmlns:a="http://schemas.openxmlformats.org/drawingml/2006/main">
              <a:ext uri="{FF2B5EF4-FFF2-40B4-BE49-F238E27FC236}">
                <a16:creationId xmlns:a16="http://schemas.microsoft.com/office/drawing/2014/main" id="{8CBA2375-8DB4-4B1E-AB6B-4EB565602FF0}"/>
              </a:ext>
            </a:extLst>
          </p:cNvPr>
          <p:cNvSpPr>
            <a:spLocks xmlns:a="http://schemas.openxmlformats.org/drawingml/2006/main" noGrp="1"/>
          </p:cNvSpPr>
          <p:nvPr/>
        </p:nvSpPr>
        <p:spPr>
          <a:xfrm xmlns:a="http://schemas.openxmlformats.org/drawingml/2006/main">
            <a:off x="6681439" y="391477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cure_spec_no</a:t>
            </a:r>
          </a:p>
        </p:txBody>
      </p:sp>
      <p:sp>
        <p:nvSpPr>
          <p:cNvPr id="53" name="">
            <a:extLst xmlns:a="http://schemas.openxmlformats.org/drawingml/2006/main">
              <a:ext uri="{FF2B5EF4-FFF2-40B4-BE49-F238E27FC236}">
                <a16:creationId xmlns:a16="http://schemas.microsoft.com/office/drawing/2014/main" id="{33F15BBB-0B35-43BD-8E37-F3F173F5F1A9}"/>
              </a:ext>
            </a:extLst>
          </p:cNvPr>
          <p:cNvSpPr>
            <a:spLocks xmlns:a="http://schemas.openxmlformats.org/drawingml/2006/main" noGrp="1"/>
          </p:cNvSpPr>
          <p:nvPr/>
        </p:nvSpPr>
        <p:spPr>
          <a:xfrm xmlns:a="http://schemas.openxmlformats.org/drawingml/2006/main">
            <a:off x="8371778" y="3886200"/>
            <a:ext cx="2448622" cy="3492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4" name="">
            <a:extLst xmlns:a="http://schemas.openxmlformats.org/drawingml/2006/main">
              <a:ext uri="{FF2B5EF4-FFF2-40B4-BE49-F238E27FC236}">
                <a16:creationId xmlns:a16="http://schemas.microsoft.com/office/drawing/2014/main" id="{A164FD42-049B-4860-9119-94C3E541A50C}"/>
              </a:ext>
            </a:extLst>
          </p:cNvPr>
          <p:cNvSpPr>
            <a:spLocks xmlns:a="http://schemas.openxmlformats.org/drawingml/2006/main" noGrp="1"/>
          </p:cNvSpPr>
          <p:nvPr/>
        </p:nvSpPr>
        <p:spPr>
          <a:xfrm xmlns:a="http://schemas.openxmlformats.org/drawingml/2006/main">
            <a:off x="8409878" y="3914775"/>
            <a:ext cx="2372422"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固化工艺规范号</a:t>
            </a:r>
          </a:p>
        </p:txBody>
      </p:sp>
      <p:sp>
        <p:nvSpPr>
          <p:cNvPr id="55" name="">
            <a:extLst xmlns:a="http://schemas.openxmlformats.org/drawingml/2006/main">
              <a:ext uri="{FF2B5EF4-FFF2-40B4-BE49-F238E27FC236}">
                <a16:creationId xmlns:a16="http://schemas.microsoft.com/office/drawing/2014/main" id="{043742CE-5D8C-41D9-BB44-87AE58049BA4}"/>
              </a:ext>
            </a:extLst>
          </p:cNvPr>
          <p:cNvSpPr>
            <a:spLocks xmlns:a="http://schemas.openxmlformats.org/drawingml/2006/main" noGrp="1"/>
          </p:cNvSpPr>
          <p:nvPr/>
        </p:nvSpPr>
        <p:spPr>
          <a:xfrm xmlns:a="http://schemas.openxmlformats.org/drawingml/2006/main">
            <a:off x="4914900" y="4235450"/>
            <a:ext cx="1728439" cy="3492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6" name="">
            <a:extLst xmlns:a="http://schemas.openxmlformats.org/drawingml/2006/main">
              <a:ext uri="{FF2B5EF4-FFF2-40B4-BE49-F238E27FC236}">
                <a16:creationId xmlns:a16="http://schemas.microsoft.com/office/drawing/2014/main" id="{BC3A5E35-2BF9-48CF-8C45-77DC35941ACF}"/>
              </a:ext>
            </a:extLst>
          </p:cNvPr>
          <p:cNvSpPr>
            <a:spLocks xmlns:a="http://schemas.openxmlformats.org/drawingml/2006/main" noGrp="1"/>
          </p:cNvSpPr>
          <p:nvPr/>
        </p:nvSpPr>
        <p:spPr>
          <a:xfrm xmlns:a="http://schemas.openxmlformats.org/drawingml/2006/main">
            <a:off x="4953000" y="426402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ndt_spec</a:t>
            </a:r>
          </a:p>
        </p:txBody>
      </p:sp>
      <p:sp>
        <p:nvSpPr>
          <p:cNvPr id="57" name="">
            <a:extLst xmlns:a="http://schemas.openxmlformats.org/drawingml/2006/main">
              <a:ext uri="{FF2B5EF4-FFF2-40B4-BE49-F238E27FC236}">
                <a16:creationId xmlns:a16="http://schemas.microsoft.com/office/drawing/2014/main" id="{66DA2A36-876A-4AAC-890C-6C1A7FEF47D0}"/>
              </a:ext>
            </a:extLst>
          </p:cNvPr>
          <p:cNvSpPr>
            <a:spLocks xmlns:a="http://schemas.openxmlformats.org/drawingml/2006/main" noGrp="1"/>
          </p:cNvSpPr>
          <p:nvPr/>
        </p:nvSpPr>
        <p:spPr>
          <a:xfrm xmlns:a="http://schemas.openxmlformats.org/drawingml/2006/main">
            <a:off x="6643339" y="4235450"/>
            <a:ext cx="1728439" cy="3492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8" name="">
            <a:extLst xmlns:a="http://schemas.openxmlformats.org/drawingml/2006/main">
              <a:ext uri="{FF2B5EF4-FFF2-40B4-BE49-F238E27FC236}">
                <a16:creationId xmlns:a16="http://schemas.microsoft.com/office/drawing/2014/main" id="{D284577B-C8B3-4929-8720-99DCFB1DB164}"/>
              </a:ext>
            </a:extLst>
          </p:cNvPr>
          <p:cNvSpPr>
            <a:spLocks xmlns:a="http://schemas.openxmlformats.org/drawingml/2006/main" noGrp="1"/>
          </p:cNvSpPr>
          <p:nvPr/>
        </p:nvSpPr>
        <p:spPr>
          <a:xfrm xmlns:a="http://schemas.openxmlformats.org/drawingml/2006/main">
            <a:off x="6681439" y="426402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ndt_spec_no</a:t>
            </a:r>
          </a:p>
        </p:txBody>
      </p:sp>
      <p:sp>
        <p:nvSpPr>
          <p:cNvPr id="59" name="">
            <a:extLst xmlns:a="http://schemas.openxmlformats.org/drawingml/2006/main">
              <a:ext uri="{FF2B5EF4-FFF2-40B4-BE49-F238E27FC236}">
                <a16:creationId xmlns:a16="http://schemas.microsoft.com/office/drawing/2014/main" id="{3BAB190A-3CE0-4C53-AFC2-8E1F965C71D5}"/>
              </a:ext>
            </a:extLst>
          </p:cNvPr>
          <p:cNvSpPr>
            <a:spLocks xmlns:a="http://schemas.openxmlformats.org/drawingml/2006/main" noGrp="1"/>
          </p:cNvSpPr>
          <p:nvPr/>
        </p:nvSpPr>
        <p:spPr>
          <a:xfrm xmlns:a="http://schemas.openxmlformats.org/drawingml/2006/main">
            <a:off x="8371778" y="4235450"/>
            <a:ext cx="2448622" cy="3492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0" name="">
            <a:extLst xmlns:a="http://schemas.openxmlformats.org/drawingml/2006/main">
              <a:ext uri="{FF2B5EF4-FFF2-40B4-BE49-F238E27FC236}">
                <a16:creationId xmlns:a16="http://schemas.microsoft.com/office/drawing/2014/main" id="{3056B1FD-3B89-45AD-82FF-799938097A65}"/>
              </a:ext>
            </a:extLst>
          </p:cNvPr>
          <p:cNvSpPr>
            <a:spLocks xmlns:a="http://schemas.openxmlformats.org/drawingml/2006/main" noGrp="1"/>
          </p:cNvSpPr>
          <p:nvPr/>
        </p:nvSpPr>
        <p:spPr>
          <a:xfrm xmlns:a="http://schemas.openxmlformats.org/drawingml/2006/main">
            <a:off x="8409878" y="4264025"/>
            <a:ext cx="2372422"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NDT检测规范号</a:t>
            </a:r>
          </a:p>
        </p:txBody>
      </p:sp>
      <p:sp>
        <p:nvSpPr>
          <p:cNvPr id="61" name="">
            <a:extLst xmlns:a="http://schemas.openxmlformats.org/drawingml/2006/main">
              <a:ext uri="{FF2B5EF4-FFF2-40B4-BE49-F238E27FC236}">
                <a16:creationId xmlns:a16="http://schemas.microsoft.com/office/drawing/2014/main" id="{F99B0E90-9CED-446E-B293-C2B46F1B72A0}"/>
              </a:ext>
            </a:extLst>
          </p:cNvPr>
          <p:cNvSpPr>
            <a:spLocks xmlns:a="http://schemas.openxmlformats.org/drawingml/2006/main" noGrp="1"/>
          </p:cNvSpPr>
          <p:nvPr/>
        </p:nvSpPr>
        <p:spPr>
          <a:xfrm xmlns:a="http://schemas.openxmlformats.org/drawingml/2006/main">
            <a:off x="4914900" y="4584700"/>
            <a:ext cx="1728439" cy="3492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2" name="">
            <a:extLst xmlns:a="http://schemas.openxmlformats.org/drawingml/2006/main">
              <a:ext uri="{FF2B5EF4-FFF2-40B4-BE49-F238E27FC236}">
                <a16:creationId xmlns:a16="http://schemas.microsoft.com/office/drawing/2014/main" id="{60B3266E-9113-428A-8B29-451ED8045C5D}"/>
              </a:ext>
            </a:extLst>
          </p:cNvPr>
          <p:cNvSpPr>
            <a:spLocks xmlns:a="http://schemas.openxmlformats.org/drawingml/2006/main" noGrp="1"/>
          </p:cNvSpPr>
          <p:nvPr/>
        </p:nvSpPr>
        <p:spPr>
          <a:xfrm xmlns:a="http://schemas.openxmlformats.org/drawingml/2006/main">
            <a:off x="4953000" y="461327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is_virtual</a:t>
            </a:r>
          </a:p>
        </p:txBody>
      </p:sp>
      <p:sp>
        <p:nvSpPr>
          <p:cNvPr id="63" name="">
            <a:extLst xmlns:a="http://schemas.openxmlformats.org/drawingml/2006/main">
              <a:ext uri="{FF2B5EF4-FFF2-40B4-BE49-F238E27FC236}">
                <a16:creationId xmlns:a16="http://schemas.microsoft.com/office/drawing/2014/main" id="{D5E13364-069A-4B4F-89C8-F1F8C92C5298}"/>
              </a:ext>
            </a:extLst>
          </p:cNvPr>
          <p:cNvSpPr>
            <a:spLocks xmlns:a="http://schemas.openxmlformats.org/drawingml/2006/main" noGrp="1"/>
          </p:cNvSpPr>
          <p:nvPr/>
        </p:nvSpPr>
        <p:spPr>
          <a:xfrm xmlns:a="http://schemas.openxmlformats.org/drawingml/2006/main">
            <a:off x="6643339" y="4584700"/>
            <a:ext cx="1728439" cy="3492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4" name="">
            <a:extLst xmlns:a="http://schemas.openxmlformats.org/drawingml/2006/main">
              <a:ext uri="{FF2B5EF4-FFF2-40B4-BE49-F238E27FC236}">
                <a16:creationId xmlns:a16="http://schemas.microsoft.com/office/drawing/2014/main" id="{2E13ED2D-4533-4C79-9AD9-804E2621CB62}"/>
              </a:ext>
            </a:extLst>
          </p:cNvPr>
          <p:cNvSpPr>
            <a:spLocks xmlns:a="http://schemas.openxmlformats.org/drawingml/2006/main" noGrp="1"/>
          </p:cNvSpPr>
          <p:nvPr/>
        </p:nvSpPr>
        <p:spPr>
          <a:xfrm xmlns:a="http://schemas.openxmlformats.org/drawingml/2006/main">
            <a:off x="6681439" y="4613275"/>
            <a:ext cx="1652239"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virtual_item_flag</a:t>
            </a:r>
          </a:p>
        </p:txBody>
      </p:sp>
      <p:sp>
        <p:nvSpPr>
          <p:cNvPr id="65" name="">
            <a:extLst xmlns:a="http://schemas.openxmlformats.org/drawingml/2006/main">
              <a:ext uri="{FF2B5EF4-FFF2-40B4-BE49-F238E27FC236}">
                <a16:creationId xmlns:a16="http://schemas.microsoft.com/office/drawing/2014/main" id="{6D600622-5895-4E37-829A-2E03555659EE}"/>
              </a:ext>
            </a:extLst>
          </p:cNvPr>
          <p:cNvSpPr>
            <a:spLocks xmlns:a="http://schemas.openxmlformats.org/drawingml/2006/main" noGrp="1"/>
          </p:cNvSpPr>
          <p:nvPr/>
        </p:nvSpPr>
        <p:spPr>
          <a:xfrm xmlns:a="http://schemas.openxmlformats.org/drawingml/2006/main">
            <a:off x="8371778" y="4584700"/>
            <a:ext cx="2448622" cy="3492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6" name="">
            <a:extLst xmlns:a="http://schemas.openxmlformats.org/drawingml/2006/main">
              <a:ext uri="{FF2B5EF4-FFF2-40B4-BE49-F238E27FC236}">
                <a16:creationId xmlns:a16="http://schemas.microsoft.com/office/drawing/2014/main" id="{F13BA453-392B-4887-A2A3-D3DD7880F64B}"/>
              </a:ext>
            </a:extLst>
          </p:cNvPr>
          <p:cNvSpPr>
            <a:spLocks xmlns:a="http://schemas.openxmlformats.org/drawingml/2006/main" noGrp="1"/>
          </p:cNvSpPr>
          <p:nvPr/>
        </p:nvSpPr>
        <p:spPr>
          <a:xfrm xmlns:a="http://schemas.openxmlformats.org/drawingml/2006/main">
            <a:off x="8409878" y="4613275"/>
            <a:ext cx="2372422" cy="29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虚拟件标记（0=实物，1=虚拟）</a:t>
            </a:r>
          </a:p>
        </p:txBody>
      </p:sp>
      <p:sp>
        <p:nvSpPr>
          <p:cNvPr id="67" name="">
            <a:extLst xmlns:a="http://schemas.openxmlformats.org/drawingml/2006/main">
              <a:ext uri="{FF2B5EF4-FFF2-40B4-BE49-F238E27FC236}">
                <a16:creationId xmlns:a16="http://schemas.microsoft.com/office/drawing/2014/main" id="{2CB7FEAB-037D-4333-A0DB-0E7E11D72404}"/>
              </a:ext>
            </a:extLst>
          </p:cNvPr>
          <p:cNvSpPr>
            <a:spLocks xmlns:a="http://schemas.openxmlformats.org/drawingml/2006/main" noGrp="1"/>
          </p:cNvSpPr>
          <p:nvPr/>
        </p:nvSpPr>
        <p:spPr>
          <a:xfrm xmlns:a="http://schemas.openxmlformats.org/drawingml/2006/main">
            <a:off x="819150" y="5257800"/>
            <a:ext cx="9620250" cy="723900"/>
          </a:xfrm>
          <a:prstGeom xmlns:a="http://schemas.openxmlformats.org/drawingml/2006/main" prst="roundRect">
            <a:avLst>
              <a:gd name="adj" fmla="val 10526"/>
            </a:avLst>
          </a:prstGeom>
          <a:solidFill xmlns:a="http://schemas.openxmlformats.org/drawingml/2006/main">
            <a:srgbClr val="FFFBEB"/>
          </a:solidFill>
          <a:ln xmlns:a="http://schemas.openxmlformats.org/drawingml/2006/main" w="9525">
            <a:solidFill>
              <a:srgbClr val="E2E8F0"/>
            </a:solidFill>
            <a:prstDash val="solid"/>
          </a:ln>
        </p:spPr>
      </p:sp>
      <p:sp>
        <p:nvSpPr>
          <p:cNvPr id="68" name="">
            <a:extLst xmlns:a="http://schemas.openxmlformats.org/drawingml/2006/main">
              <a:ext uri="{FF2B5EF4-FFF2-40B4-BE49-F238E27FC236}">
                <a16:creationId xmlns:a16="http://schemas.microsoft.com/office/drawing/2014/main" id="{20CA020A-8F1C-414E-8689-A4AD2954DDDA}"/>
              </a:ext>
            </a:extLst>
          </p:cNvPr>
          <p:cNvSpPr>
            <a:spLocks xmlns:a="http://schemas.openxmlformats.org/drawingml/2006/main" noGrp="1"/>
          </p:cNvSpPr>
          <p:nvPr/>
        </p:nvSpPr>
        <p:spPr>
          <a:xfrm xmlns:a="http://schemas.openxmlformats.org/drawingml/2006/main">
            <a:off x="819150" y="5257800"/>
            <a:ext cx="57150" cy="7239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F1B69C0B-64F5-47B4-A286-F064E417931E}"/>
              </a:ext>
            </a:extLst>
          </p:cNvPr>
          <p:cNvSpPr>
            <a:spLocks xmlns:a="http://schemas.openxmlformats.org/drawingml/2006/main" noGrp="1"/>
          </p:cNvSpPr>
          <p:nvPr/>
        </p:nvSpPr>
        <p:spPr>
          <a:xfrm xmlns:a="http://schemas.openxmlformats.org/drawingml/2006/main">
            <a:off x="990600" y="5372100"/>
            <a:ext cx="9277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125" b="1">
                <a:solidFill>
                  <a:srgbClr val="D97706"/>
                </a:solidFill>
              </a:defRPr>
            </a:pPr>
            <a:r>
              <a:rPr sz="1125" b="1">
                <a:solidFill>
                  <a:srgbClr val="D97706"/>
                </a:solidFill>
              </a:rPr>
              <a:t>异常处理</a:t>
            </a:r>
          </a:p>
        </p:txBody>
      </p:sp>
      <p:sp>
        <p:nvSpPr>
          <p:cNvPr id="70" name="">
            <a:extLst xmlns:a="http://schemas.openxmlformats.org/drawingml/2006/main">
              <a:ext uri="{FF2B5EF4-FFF2-40B4-BE49-F238E27FC236}">
                <a16:creationId xmlns:a16="http://schemas.microsoft.com/office/drawing/2014/main" id="{E094CE27-9CEB-49BC-A9EF-0C2FD3BCAE8B}"/>
              </a:ext>
            </a:extLst>
          </p:cNvPr>
          <p:cNvSpPr>
            <a:spLocks xmlns:a="http://schemas.openxmlformats.org/drawingml/2006/main" noGrp="1"/>
          </p:cNvSpPr>
          <p:nvPr/>
        </p:nvSpPr>
        <p:spPr>
          <a:xfrm xmlns:a="http://schemas.openxmlformats.org/drawingml/2006/main">
            <a:off x="990600" y="5638800"/>
            <a:ext cx="927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00" b="0">
                <a:solidFill>
                  <a:srgbClr val="475569"/>
                </a:solidFill>
              </a:defRPr>
            </a:pPr>
            <a:r>
              <a:rPr sz="900" b="0">
                <a:solidFill>
                  <a:srgbClr val="475569"/>
                </a:solidFill>
              </a:rPr>
              <a:t>虚拟件不过渡到 PDM BOM 结构；PLM 发布版本与 PDM 接收版本严格一一对应，不允许覆盖旧版本；接口失败时自动告警并触发人工介入流程。</a:t>
            </a:r>
          </a:p>
        </p:txBody>
      </p:sp>
      <p:sp>
        <p:nvSpPr>
          <p:cNvPr id="71" name="">
            <a:extLst xmlns:a="http://schemas.openxmlformats.org/drawingml/2006/main">
              <a:ext uri="{FF2B5EF4-FFF2-40B4-BE49-F238E27FC236}">
                <a16:creationId xmlns:a16="http://schemas.microsoft.com/office/drawing/2014/main" id="{0F531C6E-4CA5-48BC-A0D3-CCE2D0760D3B}"/>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23 / 29</a:t>
            </a:r>
          </a:p>
        </p:txBody>
      </p:sp>
    </p:spTree>
    <p:extLst>
      <p:ext uri="{BB962C8B-B14F-4D97-AF65-F5344CB8AC3E}">
        <p14:creationId xmlns:p14="http://schemas.microsoft.com/office/powerpoint/2010/main" val="24276116"/>
      </p:ext>
    </p:extLst>
  </p:cSld>
</p:sld>
</file>

<file path=ppt/slides/slide24.xml><?xml version="1.0" encoding="utf-8"?>
<p:sld xmlns:p="http://schemas.openxmlformats.org/presentationml/2006/main">
  <p:cSld>
    <p:bg>
      <p:bgPr>
        <a:solidFill xmlns:a="http://schemas.openxmlformats.org/drawingml/2006/main">
          <a:srgbClr val="0F2A5E"/>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D782DCA-6B48-4EF3-AA44-6E4EB14DBF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FAA9CC8-D965-4D5D-A7BF-C234007EFE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4E6799B-BA2B-4D71-9A31-D49BB7AA170F}"/>
              </a:ext>
            </a:extLst>
          </p:cNvPr>
          <p:cNvSpPr>
            <a:spLocks xmlns:a="http://schemas.openxmlformats.org/drawingml/2006/main" noGrp="1"/>
          </p:cNvSpPr>
          <p:nvPr/>
        </p:nvSpPr>
        <p:spPr>
          <a:xfrm xmlns:a="http://schemas.openxmlformats.org/drawingml/2006/main">
            <a:off x="8001000" y="-1714500"/>
            <a:ext cx="5524500" cy="5524500"/>
          </a:xfrm>
          <a:prstGeom xmlns:a="http://schemas.openxmlformats.org/drawingml/2006/main" prst="ellipse">
            <a:avLst/>
          </a:prstGeom>
          <a:solidFill xmlns:a="http://schemas.openxmlformats.org/drawingml/2006/main">
            <a:srgbClr val="FFFFFF">
              <a:alpha val="7059"/>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F881219-4BBA-48D6-838C-800C4AE7A389}"/>
              </a:ext>
            </a:extLst>
          </p:cNvPr>
          <p:cNvSpPr>
            <a:spLocks xmlns:a="http://schemas.openxmlformats.org/drawingml/2006/main" noGrp="1"/>
          </p:cNvSpPr>
          <p:nvPr/>
        </p:nvSpPr>
        <p:spPr>
          <a:xfrm xmlns:a="http://schemas.openxmlformats.org/drawingml/2006/main">
            <a:off x="857250" y="1428750"/>
            <a:ext cx="76200" cy="37147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79B3FD02-4FB5-474A-A104-102FE7309E6D}"/>
              </a:ext>
            </a:extLst>
          </p:cNvPr>
          <p:cNvSpPr>
            <a:spLocks xmlns:a="http://schemas.openxmlformats.org/drawingml/2006/main" noGrp="1"/>
          </p:cNvSpPr>
          <p:nvPr/>
        </p:nvSpPr>
        <p:spPr>
          <a:xfrm xmlns:a="http://schemas.openxmlformats.org/drawingml/2006/main">
            <a:off x="1181100" y="1428750"/>
            <a:ext cx="1524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800" b="1">
                <a:solidFill>
                  <a:srgbClr val="7DD3FC"/>
                </a:solidFill>
              </a:defRPr>
            </a:pPr>
            <a:r>
              <a:rPr sz="1800" b="1">
                <a:solidFill>
                  <a:srgbClr val="7DD3FC"/>
                </a:solidFill>
              </a:rPr>
              <a:t>05</a:t>
            </a:r>
          </a:p>
        </p:txBody>
      </p:sp>
      <p:sp>
        <p:nvSpPr>
          <p:cNvPr id="7" name="">
            <a:extLst xmlns:a="http://schemas.openxmlformats.org/drawingml/2006/main">
              <a:ext uri="{FF2B5EF4-FFF2-40B4-BE49-F238E27FC236}">
                <a16:creationId xmlns:a16="http://schemas.microsoft.com/office/drawing/2014/main" id="{2DAB3E85-8796-4271-8877-ED3F41EC26B2}"/>
              </a:ext>
            </a:extLst>
          </p:cNvPr>
          <p:cNvSpPr>
            <a:spLocks xmlns:a="http://schemas.openxmlformats.org/drawingml/2006/main" noGrp="1"/>
          </p:cNvSpPr>
          <p:nvPr/>
        </p:nvSpPr>
        <p:spPr>
          <a:xfrm xmlns:a="http://schemas.openxmlformats.org/drawingml/2006/main">
            <a:off x="1181100" y="1981200"/>
            <a:ext cx="65722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3150" b="1">
                <a:solidFill>
                  <a:srgbClr val="FFFFFF"/>
                </a:solidFill>
              </a:defRPr>
            </a:pPr>
            <a:r>
              <a:rPr sz="3150" b="1">
                <a:solidFill>
                  <a:srgbClr val="FFFFFF"/>
                </a:solidFill>
              </a:rPr>
              <a:t>会前行动与会议组织</a:t>
            </a:r>
          </a:p>
        </p:txBody>
      </p:sp>
      <p:sp>
        <p:nvSpPr>
          <p:cNvPr id="8" name="">
            <a:extLst xmlns:a="http://schemas.openxmlformats.org/drawingml/2006/main">
              <a:ext uri="{FF2B5EF4-FFF2-40B4-BE49-F238E27FC236}">
                <a16:creationId xmlns:a16="http://schemas.microsoft.com/office/drawing/2014/main" id="{E8ED4BD6-E199-43EA-8852-928EDB7E7457}"/>
              </a:ext>
            </a:extLst>
          </p:cNvPr>
          <p:cNvSpPr>
            <a:spLocks xmlns:a="http://schemas.openxmlformats.org/drawingml/2006/main" noGrp="1"/>
          </p:cNvSpPr>
          <p:nvPr/>
        </p:nvSpPr>
        <p:spPr>
          <a:xfrm xmlns:a="http://schemas.openxmlformats.org/drawingml/2006/main">
            <a:off x="1200150" y="2857500"/>
            <a:ext cx="6858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350" b="0">
                <a:solidFill>
                  <a:srgbClr val="DBEAFE"/>
                </a:solidFill>
              </a:defRPr>
            </a:pPr>
            <a:r>
              <a:rPr sz="1350" b="0">
                <a:solidFill>
                  <a:srgbClr val="DBEAFE"/>
                </a:solidFill>
              </a:rPr>
              <a:t>把未决问题变成责任、输出物和截止时间</a:t>
            </a:r>
          </a:p>
        </p:txBody>
      </p:sp>
      <p:sp>
        <p:nvSpPr>
          <p:cNvPr id="9" name="">
            <a:extLst xmlns:a="http://schemas.openxmlformats.org/drawingml/2006/main">
              <a:ext uri="{FF2B5EF4-FFF2-40B4-BE49-F238E27FC236}">
                <a16:creationId xmlns:a16="http://schemas.microsoft.com/office/drawing/2014/main" id="{E318F292-EF4A-4F45-BBDB-909CE0C3841F}"/>
              </a:ext>
            </a:extLst>
          </p:cNvPr>
          <p:cNvSpPr>
            <a:spLocks xmlns:a="http://schemas.openxmlformats.org/drawingml/2006/main" noGrp="1"/>
          </p:cNvSpPr>
          <p:nvPr/>
        </p:nvSpPr>
        <p:spPr>
          <a:xfrm xmlns:a="http://schemas.openxmlformats.org/drawingml/2006/main">
            <a:off x="1257300" y="3638550"/>
            <a:ext cx="95250" cy="95250"/>
          </a:xfrm>
          <a:prstGeom xmlns:a="http://schemas.openxmlformats.org/drawingml/2006/main" prst="ellipse">
            <a:avLst/>
          </a:prstGeom>
          <a:solidFill xmlns:a="http://schemas.openxmlformats.org/drawingml/2006/main">
            <a:srgbClr val="7DD3FC"/>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39FAF56D-737F-4A82-A666-C32FB990EFBF}"/>
              </a:ext>
            </a:extLst>
          </p:cNvPr>
          <p:cNvSpPr>
            <a:spLocks xmlns:a="http://schemas.openxmlformats.org/drawingml/2006/main" noGrp="1"/>
          </p:cNvSpPr>
          <p:nvPr/>
        </p:nvSpPr>
        <p:spPr>
          <a:xfrm xmlns:a="http://schemas.openxmlformats.org/drawingml/2006/main">
            <a:off x="1504950" y="3533775"/>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EEF6FF"/>
                </a:solidFill>
              </a:defRPr>
            </a:pPr>
            <a:r>
              <a:rPr sz="1275" b="0">
                <a:solidFill>
                  <a:srgbClr val="EEF6FF"/>
                </a:solidFill>
              </a:rPr>
              <a:t>A1/A3：已完成并进入最新状态</a:t>
            </a:r>
          </a:p>
        </p:txBody>
      </p:sp>
      <p:sp>
        <p:nvSpPr>
          <p:cNvPr id="11" name="">
            <a:extLst xmlns:a="http://schemas.openxmlformats.org/drawingml/2006/main">
              <a:ext uri="{FF2B5EF4-FFF2-40B4-BE49-F238E27FC236}">
                <a16:creationId xmlns:a16="http://schemas.microsoft.com/office/drawing/2014/main" id="{511AAE51-CC67-40B6-8822-B9C9E08CE054}"/>
              </a:ext>
            </a:extLst>
          </p:cNvPr>
          <p:cNvSpPr>
            <a:spLocks xmlns:a="http://schemas.openxmlformats.org/drawingml/2006/main" noGrp="1"/>
          </p:cNvSpPr>
          <p:nvPr/>
        </p:nvSpPr>
        <p:spPr>
          <a:xfrm xmlns:a="http://schemas.openxmlformats.org/drawingml/2006/main">
            <a:off x="1257300" y="4076700"/>
            <a:ext cx="95250" cy="95250"/>
          </a:xfrm>
          <a:prstGeom xmlns:a="http://schemas.openxmlformats.org/drawingml/2006/main" prst="ellipse">
            <a:avLst/>
          </a:prstGeom>
          <a:solidFill xmlns:a="http://schemas.openxmlformats.org/drawingml/2006/main">
            <a:srgbClr val="7DD3FC"/>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13C4EE7F-6998-4BB2-A7E9-01D319D7F013}"/>
              </a:ext>
            </a:extLst>
          </p:cNvPr>
          <p:cNvSpPr>
            <a:spLocks xmlns:a="http://schemas.openxmlformats.org/drawingml/2006/main" noGrp="1"/>
          </p:cNvSpPr>
          <p:nvPr/>
        </p:nvSpPr>
        <p:spPr>
          <a:xfrm xmlns:a="http://schemas.openxmlformats.org/drawingml/2006/main">
            <a:off x="1504950" y="3971925"/>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EEF6FF"/>
                </a:solidFill>
              </a:defRPr>
            </a:pPr>
            <a:r>
              <a:rPr sz="1275" b="0">
                <a:solidFill>
                  <a:srgbClr val="EEF6FF"/>
                </a:solidFill>
              </a:rPr>
              <a:t>A4-A8：5月8日补齐预审输入</a:t>
            </a:r>
          </a:p>
        </p:txBody>
      </p:sp>
      <p:sp>
        <p:nvSpPr>
          <p:cNvPr id="13" name="">
            <a:extLst xmlns:a="http://schemas.openxmlformats.org/drawingml/2006/main">
              <a:ext uri="{FF2B5EF4-FFF2-40B4-BE49-F238E27FC236}">
                <a16:creationId xmlns:a16="http://schemas.microsoft.com/office/drawing/2014/main" id="{4E90C7EB-C94A-4415-BAAB-9379866C982F}"/>
              </a:ext>
            </a:extLst>
          </p:cNvPr>
          <p:cNvSpPr>
            <a:spLocks xmlns:a="http://schemas.openxmlformats.org/drawingml/2006/main" noGrp="1"/>
          </p:cNvSpPr>
          <p:nvPr/>
        </p:nvSpPr>
        <p:spPr>
          <a:xfrm xmlns:a="http://schemas.openxmlformats.org/drawingml/2006/main">
            <a:off x="1257300" y="4514850"/>
            <a:ext cx="95250" cy="95250"/>
          </a:xfrm>
          <a:prstGeom xmlns:a="http://schemas.openxmlformats.org/drawingml/2006/main" prst="ellipse">
            <a:avLst/>
          </a:prstGeom>
          <a:solidFill xmlns:a="http://schemas.openxmlformats.org/drawingml/2006/main">
            <a:srgbClr val="7DD3F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3692DC00-3C03-415C-A921-1A33EF6C583A}"/>
              </a:ext>
            </a:extLst>
          </p:cNvPr>
          <p:cNvSpPr>
            <a:spLocks xmlns:a="http://schemas.openxmlformats.org/drawingml/2006/main" noGrp="1"/>
          </p:cNvSpPr>
          <p:nvPr/>
        </p:nvSpPr>
        <p:spPr>
          <a:xfrm xmlns:a="http://schemas.openxmlformats.org/drawingml/2006/main">
            <a:off x="1504950" y="4410075"/>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0">
                <a:solidFill>
                  <a:srgbClr val="EEF6FF"/>
                </a:solidFill>
              </a:defRPr>
            </a:pPr>
            <a:r>
              <a:rPr sz="1275" b="0">
                <a:solidFill>
                  <a:srgbClr val="EEF6FF"/>
                </a:solidFill>
              </a:rPr>
              <a:t>Q1-Q8：成熟度预审和会后补资料</a:t>
            </a:r>
          </a:p>
        </p:txBody>
      </p:sp>
      <p:sp>
        <p:nvSpPr>
          <p:cNvPr id="15" name="">
            <a:extLst xmlns:a="http://schemas.openxmlformats.org/drawingml/2006/main">
              <a:ext uri="{FF2B5EF4-FFF2-40B4-BE49-F238E27FC236}">
                <a16:creationId xmlns:a16="http://schemas.microsoft.com/office/drawing/2014/main" id="{2301496B-C4DC-4294-A5F6-962977480D6D}"/>
              </a:ext>
            </a:extLst>
          </p:cNvPr>
          <p:cNvSpPr>
            <a:spLocks xmlns:a="http://schemas.openxmlformats.org/drawingml/2006/main" noGrp="1"/>
          </p:cNvSpPr>
          <p:nvPr/>
        </p:nvSpPr>
        <p:spPr>
          <a:xfrm xmlns:a="http://schemas.openxmlformats.org/drawingml/2006/main">
            <a:off x="10477500" y="6210300"/>
            <a:ext cx="857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BFDBFE"/>
                </a:solidFill>
              </a:defRPr>
            </a:pPr>
            <a:r>
              <a:rPr sz="900" b="0">
                <a:solidFill>
                  <a:srgbClr val="BFDBFE"/>
                </a:solidFill>
              </a:rPr>
              <a:t>24 / 29</a:t>
            </a:r>
          </a:p>
        </p:txBody>
      </p:sp>
    </p:spTree>
    <p:extLst>
      <p:ext uri="{BB962C8B-B14F-4D97-AF65-F5344CB8AC3E}">
        <p14:creationId xmlns:p14="http://schemas.microsoft.com/office/powerpoint/2010/main" val="1466922999"/>
      </p:ext>
    </p:extLst>
  </p:cSld>
</p:sld>
</file>

<file path=ppt/slides/slide2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8895AE13-DBD1-4836-B048-62030373A2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6320F6D-77A3-4AB6-8BA9-8A8D5F874EE4}"/>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450B504-9286-4867-AC4C-5A05A9D052A9}"/>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5B5EB907-6206-4C92-AF0F-2E51C36AE465}"/>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05.1 未决问题</a:t>
            </a:r>
          </a:p>
        </p:txBody>
      </p:sp>
      <p:sp>
        <p:nvSpPr>
          <p:cNvPr id="6" name="">
            <a:extLst xmlns:a="http://schemas.openxmlformats.org/drawingml/2006/main">
              <a:ext uri="{FF2B5EF4-FFF2-40B4-BE49-F238E27FC236}">
                <a16:creationId xmlns:a16="http://schemas.microsoft.com/office/drawing/2014/main" id="{A439D2DA-E236-4C8E-A260-FA1CD02B5236}"/>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5155ADAC-4596-4C1B-9DCD-F1BBE31FE966}"/>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未决问题与会前行动</a:t>
            </a:r>
          </a:p>
        </p:txBody>
      </p:sp>
      <p:sp>
        <p:nvSpPr>
          <p:cNvPr id="8" name="">
            <a:extLst xmlns:a="http://schemas.openxmlformats.org/drawingml/2006/main">
              <a:ext uri="{FF2B5EF4-FFF2-40B4-BE49-F238E27FC236}">
                <a16:creationId xmlns:a16="http://schemas.microsoft.com/office/drawing/2014/main" id="{C2092386-C30D-4328-BB74-2DD42932E66E}"/>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问题诊断 · 解决路径 · A0-A8</a:t>
            </a:r>
          </a:p>
        </p:txBody>
      </p:sp>
      <p:sp>
        <p:nvSpPr>
          <p:cNvPr id="9" name="">
            <a:extLst xmlns:a="http://schemas.openxmlformats.org/drawingml/2006/main">
              <a:ext uri="{FF2B5EF4-FFF2-40B4-BE49-F238E27FC236}">
                <a16:creationId xmlns:a16="http://schemas.microsoft.com/office/drawing/2014/main" id="{554D4372-76C9-47E0-B671-F9C688EBB05D}"/>
              </a:ext>
            </a:extLst>
          </p:cNvPr>
          <p:cNvSpPr>
            <a:spLocks xmlns:a="http://schemas.openxmlformats.org/drawingml/2006/main" noGrp="1"/>
          </p:cNvSpPr>
          <p:nvPr/>
        </p:nvSpPr>
        <p:spPr>
          <a:xfrm xmlns:a="http://schemas.openxmlformats.org/drawingml/2006/main">
            <a:off x="552450" y="1714500"/>
            <a:ext cx="10572750" cy="742950"/>
          </a:xfrm>
          <a:prstGeom xmlns:a="http://schemas.openxmlformats.org/drawingml/2006/main" prst="roundRect">
            <a:avLst>
              <a:gd name="adj" fmla="val 10256"/>
            </a:avLst>
          </a:prstGeom>
          <a:solidFill xmlns:a="http://schemas.openxmlformats.org/drawingml/2006/main">
            <a:srgbClr val="FEF2F2"/>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ED99BB70-F445-4667-9940-08CF01118F3A}"/>
              </a:ext>
            </a:extLst>
          </p:cNvPr>
          <p:cNvSpPr>
            <a:spLocks xmlns:a="http://schemas.openxmlformats.org/drawingml/2006/main" noGrp="1"/>
          </p:cNvSpPr>
          <p:nvPr/>
        </p:nvSpPr>
        <p:spPr>
          <a:xfrm xmlns:a="http://schemas.openxmlformats.org/drawingml/2006/main">
            <a:off x="552450" y="1714500"/>
            <a:ext cx="57150" cy="742950"/>
          </a:xfrm>
          <a:prstGeom xmlns:a="http://schemas.openxmlformats.org/drawingml/2006/main" prst="rect">
            <a:avLst/>
          </a:prstGeom>
          <a:solidFill xmlns:a="http://schemas.openxmlformats.org/drawingml/2006/main">
            <a:srgbClr val="DC2626"/>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EAD51DD2-D245-40A2-A17C-BEFE9FEB470E}"/>
              </a:ext>
            </a:extLst>
          </p:cNvPr>
          <p:cNvSpPr>
            <a:spLocks xmlns:a="http://schemas.openxmlformats.org/drawingml/2006/main" noGrp="1"/>
          </p:cNvSpPr>
          <p:nvPr/>
        </p:nvSpPr>
        <p:spPr>
          <a:xfrm xmlns:a="http://schemas.openxmlformats.org/drawingml/2006/main">
            <a:off x="723900" y="1828800"/>
            <a:ext cx="10229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125" b="1">
                <a:solidFill>
                  <a:srgbClr val="DC2626"/>
                </a:solidFill>
              </a:defRPr>
            </a:pPr>
            <a:r>
              <a:rPr sz="1125" b="1">
                <a:solidFill>
                  <a:srgbClr val="DC2626"/>
                </a:solidFill>
              </a:rPr>
              <a:t>会议判断</a:t>
            </a:r>
          </a:p>
        </p:txBody>
      </p:sp>
      <p:sp>
        <p:nvSpPr>
          <p:cNvPr id="12" name="">
            <a:extLst xmlns:a="http://schemas.openxmlformats.org/drawingml/2006/main">
              <a:ext uri="{FF2B5EF4-FFF2-40B4-BE49-F238E27FC236}">
                <a16:creationId xmlns:a16="http://schemas.microsoft.com/office/drawing/2014/main" id="{C729F130-D844-4AE6-AA03-B79DFEE3E9BB}"/>
              </a:ext>
            </a:extLst>
          </p:cNvPr>
          <p:cNvSpPr>
            <a:spLocks xmlns:a="http://schemas.openxmlformats.org/drawingml/2006/main" noGrp="1"/>
          </p:cNvSpPr>
          <p:nvPr/>
        </p:nvSpPr>
        <p:spPr>
          <a:xfrm xmlns:a="http://schemas.openxmlformats.org/drawingml/2006/main">
            <a:off x="723900" y="2095500"/>
            <a:ext cx="10229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82771"/>
          </a:bodyPr>
          <a:lstStyle xmlns:a="http://schemas.openxmlformats.org/drawingml/2006/main"/>
          <a:p xmlns:a="http://schemas.openxmlformats.org/drawingml/2006/main">
            <a:pPr algn="l">
              <a:defRPr sz="900" b="0">
                <a:solidFill>
                  <a:srgbClr val="475569"/>
                </a:solidFill>
              </a:defRPr>
            </a:pPr>
            <a:r>
              <a:rPr sz="900" b="0">
                <a:solidFill>
                  <a:srgbClr val="475569"/>
                </a:solidFill>
              </a:rPr>
              <a:t>按当前材料，5月9日会议应定位为系统集成方案预审会。项目组需要先与工程技术、质量、物资保障、复材车间、财务、行政人事及各系统供应商完成一轮预沟通，把关键输入带到会上，否则会议会变成现场补资料，Q1–Q8无法形成有效决议。</a:t>
            </a:r>
          </a:p>
        </p:txBody>
      </p:sp>
      <p:sp>
        <p:nvSpPr>
          <p:cNvPr id="13" name="">
            <a:extLst xmlns:a="http://schemas.openxmlformats.org/drawingml/2006/main">
              <a:ext uri="{FF2B5EF4-FFF2-40B4-BE49-F238E27FC236}">
                <a16:creationId xmlns:a16="http://schemas.microsoft.com/office/drawing/2014/main" id="{84694CD3-B906-423E-B588-112CFC8DE00B}"/>
              </a:ext>
            </a:extLst>
          </p:cNvPr>
          <p:cNvSpPr>
            <a:spLocks xmlns:a="http://schemas.openxmlformats.org/drawingml/2006/main" noGrp="1"/>
          </p:cNvSpPr>
          <p:nvPr/>
        </p:nvSpPr>
        <p:spPr>
          <a:xfrm xmlns:a="http://schemas.openxmlformats.org/drawingml/2006/main">
            <a:off x="552450" y="2724150"/>
            <a:ext cx="1762125" cy="297656"/>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4" name="">
            <a:extLst xmlns:a="http://schemas.openxmlformats.org/drawingml/2006/main">
              <a:ext uri="{FF2B5EF4-FFF2-40B4-BE49-F238E27FC236}">
                <a16:creationId xmlns:a16="http://schemas.microsoft.com/office/drawing/2014/main" id="{D38D33BC-C1CD-4609-9990-8F9DDE03C741}"/>
              </a:ext>
            </a:extLst>
          </p:cNvPr>
          <p:cNvSpPr>
            <a:spLocks xmlns:a="http://schemas.openxmlformats.org/drawingml/2006/main" noGrp="1"/>
          </p:cNvSpPr>
          <p:nvPr/>
        </p:nvSpPr>
        <p:spPr>
          <a:xfrm xmlns:a="http://schemas.openxmlformats.org/drawingml/2006/main">
            <a:off x="590550" y="2752725"/>
            <a:ext cx="168592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1">
                <a:solidFill>
                  <a:srgbClr val="FFFFFF"/>
                </a:solidFill>
              </a:defRPr>
            </a:pPr>
            <a:r>
              <a:rPr sz="675" b="1">
                <a:solidFill>
                  <a:srgbClr val="FFFFFF"/>
                </a:solidFill>
              </a:rPr>
              <a:t>维度</a:t>
            </a:r>
          </a:p>
        </p:txBody>
      </p:sp>
      <p:sp>
        <p:nvSpPr>
          <p:cNvPr id="15" name="">
            <a:extLst xmlns:a="http://schemas.openxmlformats.org/drawingml/2006/main">
              <a:ext uri="{FF2B5EF4-FFF2-40B4-BE49-F238E27FC236}">
                <a16:creationId xmlns:a16="http://schemas.microsoft.com/office/drawing/2014/main" id="{60561139-B8E6-4964-98DD-7E448594950C}"/>
              </a:ext>
            </a:extLst>
          </p:cNvPr>
          <p:cNvSpPr>
            <a:spLocks xmlns:a="http://schemas.openxmlformats.org/drawingml/2006/main" noGrp="1"/>
          </p:cNvSpPr>
          <p:nvPr/>
        </p:nvSpPr>
        <p:spPr>
          <a:xfrm xmlns:a="http://schemas.openxmlformats.org/drawingml/2006/main">
            <a:off x="2314575" y="2724150"/>
            <a:ext cx="3524250" cy="297656"/>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6" name="">
            <a:extLst xmlns:a="http://schemas.openxmlformats.org/drawingml/2006/main">
              <a:ext uri="{FF2B5EF4-FFF2-40B4-BE49-F238E27FC236}">
                <a16:creationId xmlns:a16="http://schemas.microsoft.com/office/drawing/2014/main" id="{86E90FAC-74AF-40A1-9A56-5CF4A793355E}"/>
              </a:ext>
            </a:extLst>
          </p:cNvPr>
          <p:cNvSpPr>
            <a:spLocks xmlns:a="http://schemas.openxmlformats.org/drawingml/2006/main" noGrp="1"/>
          </p:cNvSpPr>
          <p:nvPr/>
        </p:nvSpPr>
        <p:spPr>
          <a:xfrm xmlns:a="http://schemas.openxmlformats.org/drawingml/2006/main">
            <a:off x="2352675" y="2752725"/>
            <a:ext cx="344805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1">
                <a:solidFill>
                  <a:srgbClr val="FFFFFF"/>
                </a:solidFill>
              </a:defRPr>
            </a:pPr>
            <a:r>
              <a:rPr sz="675" b="1">
                <a:solidFill>
                  <a:srgbClr val="FFFFFF"/>
                </a:solidFill>
              </a:rPr>
              <a:t>现状（V2.1）</a:t>
            </a:r>
          </a:p>
        </p:txBody>
      </p:sp>
      <p:sp>
        <p:nvSpPr>
          <p:cNvPr id="17" name="">
            <a:extLst xmlns:a="http://schemas.openxmlformats.org/drawingml/2006/main">
              <a:ext uri="{FF2B5EF4-FFF2-40B4-BE49-F238E27FC236}">
                <a16:creationId xmlns:a16="http://schemas.microsoft.com/office/drawing/2014/main" id="{524075FB-6D1A-444D-9CDD-BB2CD5757B65}"/>
              </a:ext>
            </a:extLst>
          </p:cNvPr>
          <p:cNvSpPr>
            <a:spLocks xmlns:a="http://schemas.openxmlformats.org/drawingml/2006/main" noGrp="1"/>
          </p:cNvSpPr>
          <p:nvPr/>
        </p:nvSpPr>
        <p:spPr>
          <a:xfrm xmlns:a="http://schemas.openxmlformats.org/drawingml/2006/main">
            <a:off x="5838825" y="2724150"/>
            <a:ext cx="3876675" cy="297656"/>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8" name="">
            <a:extLst xmlns:a="http://schemas.openxmlformats.org/drawingml/2006/main">
              <a:ext uri="{FF2B5EF4-FFF2-40B4-BE49-F238E27FC236}">
                <a16:creationId xmlns:a16="http://schemas.microsoft.com/office/drawing/2014/main" id="{BB1DBF40-9A81-4345-9B80-25D50AE0D446}"/>
              </a:ext>
            </a:extLst>
          </p:cNvPr>
          <p:cNvSpPr>
            <a:spLocks xmlns:a="http://schemas.openxmlformats.org/drawingml/2006/main" noGrp="1"/>
          </p:cNvSpPr>
          <p:nvPr/>
        </p:nvSpPr>
        <p:spPr>
          <a:xfrm xmlns:a="http://schemas.openxmlformats.org/drawingml/2006/main">
            <a:off x="5876925" y="2752725"/>
            <a:ext cx="380047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1">
                <a:solidFill>
                  <a:srgbClr val="FFFFFF"/>
                </a:solidFill>
              </a:defRPr>
            </a:pPr>
            <a:r>
              <a:rPr sz="675" b="1">
                <a:solidFill>
                  <a:srgbClr val="FFFFFF"/>
                </a:solidFill>
              </a:rPr>
              <a:t>缺什么</a:t>
            </a:r>
          </a:p>
        </p:txBody>
      </p:sp>
      <p:sp>
        <p:nvSpPr>
          <p:cNvPr id="19" name="">
            <a:extLst xmlns:a="http://schemas.openxmlformats.org/drawingml/2006/main">
              <a:ext uri="{FF2B5EF4-FFF2-40B4-BE49-F238E27FC236}">
                <a16:creationId xmlns:a16="http://schemas.microsoft.com/office/drawing/2014/main" id="{B5005F68-B7D7-404F-92F3-7FF0919EFA09}"/>
              </a:ext>
            </a:extLst>
          </p:cNvPr>
          <p:cNvSpPr>
            <a:spLocks xmlns:a="http://schemas.openxmlformats.org/drawingml/2006/main" noGrp="1"/>
          </p:cNvSpPr>
          <p:nvPr/>
        </p:nvSpPr>
        <p:spPr>
          <a:xfrm xmlns:a="http://schemas.openxmlformats.org/drawingml/2006/main">
            <a:off x="9715500" y="2724150"/>
            <a:ext cx="1409700" cy="297656"/>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20" name="">
            <a:extLst xmlns:a="http://schemas.openxmlformats.org/drawingml/2006/main">
              <a:ext uri="{FF2B5EF4-FFF2-40B4-BE49-F238E27FC236}">
                <a16:creationId xmlns:a16="http://schemas.microsoft.com/office/drawing/2014/main" id="{C777C5EC-D947-4AE1-8047-D957396E8F59}"/>
              </a:ext>
            </a:extLst>
          </p:cNvPr>
          <p:cNvSpPr>
            <a:spLocks xmlns:a="http://schemas.openxmlformats.org/drawingml/2006/main" noGrp="1"/>
          </p:cNvSpPr>
          <p:nvPr/>
        </p:nvSpPr>
        <p:spPr>
          <a:xfrm xmlns:a="http://schemas.openxmlformats.org/drawingml/2006/main">
            <a:off x="9753600" y="2752725"/>
            <a:ext cx="133350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1">
                <a:solidFill>
                  <a:srgbClr val="FFFFFF"/>
                </a:solidFill>
              </a:defRPr>
            </a:pPr>
            <a:r>
              <a:rPr sz="675" b="1">
                <a:solidFill>
                  <a:srgbClr val="FFFFFF"/>
                </a:solidFill>
              </a:rPr>
              <a:t>风险等级</a:t>
            </a:r>
          </a:p>
        </p:txBody>
      </p:sp>
      <p:sp>
        <p:nvSpPr>
          <p:cNvPr id="21" name="">
            <a:extLst xmlns:a="http://schemas.openxmlformats.org/drawingml/2006/main">
              <a:ext uri="{FF2B5EF4-FFF2-40B4-BE49-F238E27FC236}">
                <a16:creationId xmlns:a16="http://schemas.microsoft.com/office/drawing/2014/main" id="{607B2985-9A77-42BF-AB09-C591A5CC9FBF}"/>
              </a:ext>
            </a:extLst>
          </p:cNvPr>
          <p:cNvSpPr>
            <a:spLocks xmlns:a="http://schemas.openxmlformats.org/drawingml/2006/main" noGrp="1"/>
          </p:cNvSpPr>
          <p:nvPr/>
        </p:nvSpPr>
        <p:spPr>
          <a:xfrm xmlns:a="http://schemas.openxmlformats.org/drawingml/2006/main">
            <a:off x="552450" y="3021806"/>
            <a:ext cx="1762125"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2" name="">
            <a:extLst xmlns:a="http://schemas.openxmlformats.org/drawingml/2006/main">
              <a:ext uri="{FF2B5EF4-FFF2-40B4-BE49-F238E27FC236}">
                <a16:creationId xmlns:a16="http://schemas.microsoft.com/office/drawing/2014/main" id="{7CBEF948-C6D9-4CA8-8C2B-2338DE63C794}"/>
              </a:ext>
            </a:extLst>
          </p:cNvPr>
          <p:cNvSpPr>
            <a:spLocks xmlns:a="http://schemas.openxmlformats.org/drawingml/2006/main" noGrp="1"/>
          </p:cNvSpPr>
          <p:nvPr/>
        </p:nvSpPr>
        <p:spPr>
          <a:xfrm xmlns:a="http://schemas.openxmlformats.org/drawingml/2006/main">
            <a:off x="590550" y="3050381"/>
            <a:ext cx="168592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拓扑图</a:t>
            </a:r>
          </a:p>
        </p:txBody>
      </p:sp>
      <p:sp>
        <p:nvSpPr>
          <p:cNvPr id="23" name="">
            <a:extLst xmlns:a="http://schemas.openxmlformats.org/drawingml/2006/main">
              <a:ext uri="{FF2B5EF4-FFF2-40B4-BE49-F238E27FC236}">
                <a16:creationId xmlns:a16="http://schemas.microsoft.com/office/drawing/2014/main" id="{6CB7BA29-075C-4921-A8ED-8BC438B50599}"/>
              </a:ext>
            </a:extLst>
          </p:cNvPr>
          <p:cNvSpPr>
            <a:spLocks xmlns:a="http://schemas.openxmlformats.org/drawingml/2006/main" noGrp="1"/>
          </p:cNvSpPr>
          <p:nvPr/>
        </p:nvSpPr>
        <p:spPr>
          <a:xfrm xmlns:a="http://schemas.openxmlformats.org/drawingml/2006/main">
            <a:off x="2314575" y="3021806"/>
            <a:ext cx="3524250"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4" name="">
            <a:extLst xmlns:a="http://schemas.openxmlformats.org/drawingml/2006/main">
              <a:ext uri="{FF2B5EF4-FFF2-40B4-BE49-F238E27FC236}">
                <a16:creationId xmlns:a16="http://schemas.microsoft.com/office/drawing/2014/main" id="{0CBF3C80-48B7-47DB-816F-9DD071AE2468}"/>
              </a:ext>
            </a:extLst>
          </p:cNvPr>
          <p:cNvSpPr>
            <a:spLocks xmlns:a="http://schemas.openxmlformats.org/drawingml/2006/main" noGrp="1"/>
          </p:cNvSpPr>
          <p:nvPr/>
        </p:nvSpPr>
        <p:spPr>
          <a:xfrm xmlns:a="http://schemas.openxmlformats.org/drawingml/2006/main">
            <a:off x="2352675" y="3050381"/>
            <a:ext cx="344805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有系统关系图</a:t>
            </a:r>
          </a:p>
        </p:txBody>
      </p:sp>
      <p:sp>
        <p:nvSpPr>
          <p:cNvPr id="25" name="">
            <a:extLst xmlns:a="http://schemas.openxmlformats.org/drawingml/2006/main">
              <a:ext uri="{FF2B5EF4-FFF2-40B4-BE49-F238E27FC236}">
                <a16:creationId xmlns:a16="http://schemas.microsoft.com/office/drawing/2014/main" id="{7A8AD146-C9E5-4129-87C3-2FE28264D7E3}"/>
              </a:ext>
            </a:extLst>
          </p:cNvPr>
          <p:cNvSpPr>
            <a:spLocks xmlns:a="http://schemas.openxmlformats.org/drawingml/2006/main" noGrp="1"/>
          </p:cNvSpPr>
          <p:nvPr/>
        </p:nvSpPr>
        <p:spPr>
          <a:xfrm xmlns:a="http://schemas.openxmlformats.org/drawingml/2006/main">
            <a:off x="5838825" y="3021806"/>
            <a:ext cx="3876675"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6" name="">
            <a:extLst xmlns:a="http://schemas.openxmlformats.org/drawingml/2006/main">
              <a:ext uri="{FF2B5EF4-FFF2-40B4-BE49-F238E27FC236}">
                <a16:creationId xmlns:a16="http://schemas.microsoft.com/office/drawing/2014/main" id="{230C33B1-F1A7-43DC-9441-A1C3EB5540AB}"/>
              </a:ext>
            </a:extLst>
          </p:cNvPr>
          <p:cNvSpPr>
            <a:spLocks xmlns:a="http://schemas.openxmlformats.org/drawingml/2006/main" noGrp="1"/>
          </p:cNvSpPr>
          <p:nvPr/>
        </p:nvSpPr>
        <p:spPr>
          <a:xfrm xmlns:a="http://schemas.openxmlformats.org/drawingml/2006/main">
            <a:off x="5876925" y="3050381"/>
            <a:ext cx="380047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没有数据流向的字段级定义</a:t>
            </a:r>
          </a:p>
        </p:txBody>
      </p:sp>
      <p:sp>
        <p:nvSpPr>
          <p:cNvPr id="27" name="">
            <a:extLst xmlns:a="http://schemas.openxmlformats.org/drawingml/2006/main">
              <a:ext uri="{FF2B5EF4-FFF2-40B4-BE49-F238E27FC236}">
                <a16:creationId xmlns:a16="http://schemas.microsoft.com/office/drawing/2014/main" id="{8DE0DC6D-5B99-4334-81BB-5FC63CBC1147}"/>
              </a:ext>
            </a:extLst>
          </p:cNvPr>
          <p:cNvSpPr>
            <a:spLocks xmlns:a="http://schemas.openxmlformats.org/drawingml/2006/main" noGrp="1"/>
          </p:cNvSpPr>
          <p:nvPr/>
        </p:nvSpPr>
        <p:spPr>
          <a:xfrm xmlns:a="http://schemas.openxmlformats.org/drawingml/2006/main">
            <a:off x="9715500" y="3021806"/>
            <a:ext cx="1409700"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8" name="">
            <a:extLst xmlns:a="http://schemas.openxmlformats.org/drawingml/2006/main">
              <a:ext uri="{FF2B5EF4-FFF2-40B4-BE49-F238E27FC236}">
                <a16:creationId xmlns:a16="http://schemas.microsoft.com/office/drawing/2014/main" id="{F5643300-AE42-410A-A797-E7BD4B1550EB}"/>
              </a:ext>
            </a:extLst>
          </p:cNvPr>
          <p:cNvSpPr>
            <a:spLocks xmlns:a="http://schemas.openxmlformats.org/drawingml/2006/main" noGrp="1"/>
          </p:cNvSpPr>
          <p:nvPr/>
        </p:nvSpPr>
        <p:spPr>
          <a:xfrm xmlns:a="http://schemas.openxmlformats.org/drawingml/2006/main">
            <a:off x="9753600" y="3050381"/>
            <a:ext cx="133350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中</a:t>
            </a:r>
          </a:p>
        </p:txBody>
      </p:sp>
      <p:sp>
        <p:nvSpPr>
          <p:cNvPr id="29" name="">
            <a:extLst xmlns:a="http://schemas.openxmlformats.org/drawingml/2006/main">
              <a:ext uri="{FF2B5EF4-FFF2-40B4-BE49-F238E27FC236}">
                <a16:creationId xmlns:a16="http://schemas.microsoft.com/office/drawing/2014/main" id="{36537A05-5685-426B-B8F0-B7BF5F4F978C}"/>
              </a:ext>
            </a:extLst>
          </p:cNvPr>
          <p:cNvSpPr>
            <a:spLocks xmlns:a="http://schemas.openxmlformats.org/drawingml/2006/main" noGrp="1"/>
          </p:cNvSpPr>
          <p:nvPr/>
        </p:nvSpPr>
        <p:spPr>
          <a:xfrm xmlns:a="http://schemas.openxmlformats.org/drawingml/2006/main">
            <a:off x="552450" y="3319463"/>
            <a:ext cx="1762125" cy="297656"/>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0" name="">
            <a:extLst xmlns:a="http://schemas.openxmlformats.org/drawingml/2006/main">
              <a:ext uri="{FF2B5EF4-FFF2-40B4-BE49-F238E27FC236}">
                <a16:creationId xmlns:a16="http://schemas.microsoft.com/office/drawing/2014/main" id="{A27D63AD-5595-486F-9AD8-D7CE1875595F}"/>
              </a:ext>
            </a:extLst>
          </p:cNvPr>
          <p:cNvSpPr>
            <a:spLocks xmlns:a="http://schemas.openxmlformats.org/drawingml/2006/main" noGrp="1"/>
          </p:cNvSpPr>
          <p:nvPr/>
        </p:nvSpPr>
        <p:spPr>
          <a:xfrm xmlns:a="http://schemas.openxmlformats.org/drawingml/2006/main">
            <a:off x="590550" y="3348038"/>
            <a:ext cx="168592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接口描述</a:t>
            </a:r>
          </a:p>
        </p:txBody>
      </p:sp>
      <p:sp>
        <p:nvSpPr>
          <p:cNvPr id="31" name="">
            <a:extLst xmlns:a="http://schemas.openxmlformats.org/drawingml/2006/main">
              <a:ext uri="{FF2B5EF4-FFF2-40B4-BE49-F238E27FC236}">
                <a16:creationId xmlns:a16="http://schemas.microsoft.com/office/drawing/2014/main" id="{762029EB-B7A3-43CE-A73A-989DDC23F21C}"/>
              </a:ext>
            </a:extLst>
          </p:cNvPr>
          <p:cNvSpPr>
            <a:spLocks xmlns:a="http://schemas.openxmlformats.org/drawingml/2006/main" noGrp="1"/>
          </p:cNvSpPr>
          <p:nvPr/>
        </p:nvSpPr>
        <p:spPr>
          <a:xfrm xmlns:a="http://schemas.openxmlformats.org/drawingml/2006/main">
            <a:off x="2314575" y="3319463"/>
            <a:ext cx="3524250" cy="297656"/>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2" name="">
            <a:extLst xmlns:a="http://schemas.openxmlformats.org/drawingml/2006/main">
              <a:ext uri="{FF2B5EF4-FFF2-40B4-BE49-F238E27FC236}">
                <a16:creationId xmlns:a16="http://schemas.microsoft.com/office/drawing/2014/main" id="{87B2E890-7DAC-46D3-9129-B3F7022ED63E}"/>
              </a:ext>
            </a:extLst>
          </p:cNvPr>
          <p:cNvSpPr>
            <a:spLocks xmlns:a="http://schemas.openxmlformats.org/drawingml/2006/main" noGrp="1"/>
          </p:cNvSpPr>
          <p:nvPr/>
        </p:nvSpPr>
        <p:spPr>
          <a:xfrm xmlns:a="http://schemas.openxmlformats.org/drawingml/2006/main">
            <a:off x="2352675" y="3348038"/>
            <a:ext cx="344805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有“传递数据”列</a:t>
            </a:r>
          </a:p>
        </p:txBody>
      </p:sp>
      <p:sp>
        <p:nvSpPr>
          <p:cNvPr id="33" name="">
            <a:extLst xmlns:a="http://schemas.openxmlformats.org/drawingml/2006/main">
              <a:ext uri="{FF2B5EF4-FFF2-40B4-BE49-F238E27FC236}">
                <a16:creationId xmlns:a16="http://schemas.microsoft.com/office/drawing/2014/main" id="{B84FCEEC-BFA7-4172-8C6F-28224F28A69A}"/>
              </a:ext>
            </a:extLst>
          </p:cNvPr>
          <p:cNvSpPr>
            <a:spLocks xmlns:a="http://schemas.openxmlformats.org/drawingml/2006/main" noGrp="1"/>
          </p:cNvSpPr>
          <p:nvPr/>
        </p:nvSpPr>
        <p:spPr>
          <a:xfrm xmlns:a="http://schemas.openxmlformats.org/drawingml/2006/main">
            <a:off x="5838825" y="3319463"/>
            <a:ext cx="3876675" cy="297656"/>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4" name="">
            <a:extLst xmlns:a="http://schemas.openxmlformats.org/drawingml/2006/main">
              <a:ext uri="{FF2B5EF4-FFF2-40B4-BE49-F238E27FC236}">
                <a16:creationId xmlns:a16="http://schemas.microsoft.com/office/drawing/2014/main" id="{75B30B55-C379-4AD5-81E5-6B30494774BC}"/>
              </a:ext>
            </a:extLst>
          </p:cNvPr>
          <p:cNvSpPr>
            <a:spLocks xmlns:a="http://schemas.openxmlformats.org/drawingml/2006/main" noGrp="1"/>
          </p:cNvSpPr>
          <p:nvPr/>
        </p:nvSpPr>
        <p:spPr>
          <a:xfrm xmlns:a="http://schemas.openxmlformats.org/drawingml/2006/main">
            <a:off x="5876925" y="3348038"/>
            <a:ext cx="380047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没有接口协议、触发时机、频率</a:t>
            </a:r>
          </a:p>
        </p:txBody>
      </p:sp>
      <p:sp>
        <p:nvSpPr>
          <p:cNvPr id="35" name="">
            <a:extLst xmlns:a="http://schemas.openxmlformats.org/drawingml/2006/main">
              <a:ext uri="{FF2B5EF4-FFF2-40B4-BE49-F238E27FC236}">
                <a16:creationId xmlns:a16="http://schemas.microsoft.com/office/drawing/2014/main" id="{7A434A5F-ED72-47E1-BB76-0F008BC6E4F7}"/>
              </a:ext>
            </a:extLst>
          </p:cNvPr>
          <p:cNvSpPr>
            <a:spLocks xmlns:a="http://schemas.openxmlformats.org/drawingml/2006/main" noGrp="1"/>
          </p:cNvSpPr>
          <p:nvPr/>
        </p:nvSpPr>
        <p:spPr>
          <a:xfrm xmlns:a="http://schemas.openxmlformats.org/drawingml/2006/main">
            <a:off x="9715500" y="3319463"/>
            <a:ext cx="1409700" cy="297656"/>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6" name="">
            <a:extLst xmlns:a="http://schemas.openxmlformats.org/drawingml/2006/main">
              <a:ext uri="{FF2B5EF4-FFF2-40B4-BE49-F238E27FC236}">
                <a16:creationId xmlns:a16="http://schemas.microsoft.com/office/drawing/2014/main" id="{2EA43F96-BF50-4A16-AA31-85A244251B9B}"/>
              </a:ext>
            </a:extLst>
          </p:cNvPr>
          <p:cNvSpPr>
            <a:spLocks xmlns:a="http://schemas.openxmlformats.org/drawingml/2006/main" noGrp="1"/>
          </p:cNvSpPr>
          <p:nvPr/>
        </p:nvSpPr>
        <p:spPr>
          <a:xfrm xmlns:a="http://schemas.openxmlformats.org/drawingml/2006/main">
            <a:off x="9753600" y="3348038"/>
            <a:ext cx="133350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高</a:t>
            </a:r>
          </a:p>
        </p:txBody>
      </p:sp>
      <p:sp>
        <p:nvSpPr>
          <p:cNvPr id="37" name="">
            <a:extLst xmlns:a="http://schemas.openxmlformats.org/drawingml/2006/main">
              <a:ext uri="{FF2B5EF4-FFF2-40B4-BE49-F238E27FC236}">
                <a16:creationId xmlns:a16="http://schemas.microsoft.com/office/drawing/2014/main" id="{A3EF41ED-1942-435E-865A-3DDEEFE9F739}"/>
              </a:ext>
            </a:extLst>
          </p:cNvPr>
          <p:cNvSpPr>
            <a:spLocks xmlns:a="http://schemas.openxmlformats.org/drawingml/2006/main" noGrp="1"/>
          </p:cNvSpPr>
          <p:nvPr/>
        </p:nvSpPr>
        <p:spPr>
          <a:xfrm xmlns:a="http://schemas.openxmlformats.org/drawingml/2006/main">
            <a:off x="552450" y="3617119"/>
            <a:ext cx="1762125"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8" name="">
            <a:extLst xmlns:a="http://schemas.openxmlformats.org/drawingml/2006/main">
              <a:ext uri="{FF2B5EF4-FFF2-40B4-BE49-F238E27FC236}">
                <a16:creationId xmlns:a16="http://schemas.microsoft.com/office/drawing/2014/main" id="{A2AB4C1A-609C-4425-B031-3A4FEAFD0C12}"/>
              </a:ext>
            </a:extLst>
          </p:cNvPr>
          <p:cNvSpPr>
            <a:spLocks xmlns:a="http://schemas.openxmlformats.org/drawingml/2006/main" noGrp="1"/>
          </p:cNvSpPr>
          <p:nvPr/>
        </p:nvSpPr>
        <p:spPr>
          <a:xfrm xmlns:a="http://schemas.openxmlformats.org/drawingml/2006/main">
            <a:off x="590550" y="3645694"/>
            <a:ext cx="168592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MDM主数据</a:t>
            </a:r>
          </a:p>
        </p:txBody>
      </p:sp>
      <p:sp>
        <p:nvSpPr>
          <p:cNvPr id="39" name="">
            <a:extLst xmlns:a="http://schemas.openxmlformats.org/drawingml/2006/main">
              <a:ext uri="{FF2B5EF4-FFF2-40B4-BE49-F238E27FC236}">
                <a16:creationId xmlns:a16="http://schemas.microsoft.com/office/drawing/2014/main" id="{BBB1802B-26BE-44E0-897E-C586D4C619DC}"/>
              </a:ext>
            </a:extLst>
          </p:cNvPr>
          <p:cNvSpPr>
            <a:spLocks xmlns:a="http://schemas.openxmlformats.org/drawingml/2006/main" noGrp="1"/>
          </p:cNvSpPr>
          <p:nvPr/>
        </p:nvSpPr>
        <p:spPr>
          <a:xfrm xmlns:a="http://schemas.openxmlformats.org/drawingml/2006/main">
            <a:off x="2314575" y="3617119"/>
            <a:ext cx="3524250"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0" name="">
            <a:extLst xmlns:a="http://schemas.openxmlformats.org/drawingml/2006/main">
              <a:ext uri="{FF2B5EF4-FFF2-40B4-BE49-F238E27FC236}">
                <a16:creationId xmlns:a16="http://schemas.microsoft.com/office/drawing/2014/main" id="{465E3602-BF7C-49F9-91D1-8206BA0DAF12}"/>
              </a:ext>
            </a:extLst>
          </p:cNvPr>
          <p:cNvSpPr>
            <a:spLocks xmlns:a="http://schemas.openxmlformats.org/drawingml/2006/main" noGrp="1"/>
          </p:cNvSpPr>
          <p:nvPr/>
        </p:nvSpPr>
        <p:spPr>
          <a:xfrm xmlns:a="http://schemas.openxmlformats.org/drawingml/2006/main">
            <a:off x="2352675" y="3645694"/>
            <a:ext cx="344805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已有编码草案，但组织身份、字段台账、术语治理和黄金源矩阵仍未成体系</a:t>
            </a:r>
          </a:p>
        </p:txBody>
      </p:sp>
      <p:sp>
        <p:nvSpPr>
          <p:cNvPr id="41" name="">
            <a:extLst xmlns:a="http://schemas.openxmlformats.org/drawingml/2006/main">
              <a:ext uri="{FF2B5EF4-FFF2-40B4-BE49-F238E27FC236}">
                <a16:creationId xmlns:a16="http://schemas.microsoft.com/office/drawing/2014/main" id="{A3EB5B36-13EB-41A9-ACFA-39114142A2FF}"/>
              </a:ext>
            </a:extLst>
          </p:cNvPr>
          <p:cNvSpPr>
            <a:spLocks xmlns:a="http://schemas.openxmlformats.org/drawingml/2006/main" noGrp="1"/>
          </p:cNvSpPr>
          <p:nvPr/>
        </p:nvSpPr>
        <p:spPr>
          <a:xfrm xmlns:a="http://schemas.openxmlformats.org/drawingml/2006/main">
            <a:off x="5838825" y="3617119"/>
            <a:ext cx="3876675"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2" name="">
            <a:extLst xmlns:a="http://schemas.openxmlformats.org/drawingml/2006/main">
              <a:ext uri="{FF2B5EF4-FFF2-40B4-BE49-F238E27FC236}">
                <a16:creationId xmlns:a16="http://schemas.microsoft.com/office/drawing/2014/main" id="{286AEB2F-FA7B-4CD0-B948-80375367A649}"/>
              </a:ext>
            </a:extLst>
          </p:cNvPr>
          <p:cNvSpPr>
            <a:spLocks xmlns:a="http://schemas.openxmlformats.org/drawingml/2006/main" noGrp="1"/>
          </p:cNvSpPr>
          <p:nvPr/>
        </p:nvSpPr>
        <p:spPr>
          <a:xfrm xmlns:a="http://schemas.openxmlformats.org/drawingml/2006/main">
            <a:off x="5876925" y="3645694"/>
            <a:ext cx="380047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组织架构统一方案、字段台账、术语词典、黄金源矩阵</a:t>
            </a:r>
          </a:p>
        </p:txBody>
      </p:sp>
      <p:sp>
        <p:nvSpPr>
          <p:cNvPr id="43" name="">
            <a:extLst xmlns:a="http://schemas.openxmlformats.org/drawingml/2006/main">
              <a:ext uri="{FF2B5EF4-FFF2-40B4-BE49-F238E27FC236}">
                <a16:creationId xmlns:a16="http://schemas.microsoft.com/office/drawing/2014/main" id="{DDF368E5-E120-4CAF-95EE-549FFF179357}"/>
              </a:ext>
            </a:extLst>
          </p:cNvPr>
          <p:cNvSpPr>
            <a:spLocks xmlns:a="http://schemas.openxmlformats.org/drawingml/2006/main" noGrp="1"/>
          </p:cNvSpPr>
          <p:nvPr/>
        </p:nvSpPr>
        <p:spPr>
          <a:xfrm xmlns:a="http://schemas.openxmlformats.org/drawingml/2006/main">
            <a:off x="9715500" y="3617119"/>
            <a:ext cx="1409700"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4" name="">
            <a:extLst xmlns:a="http://schemas.openxmlformats.org/drawingml/2006/main">
              <a:ext uri="{FF2B5EF4-FFF2-40B4-BE49-F238E27FC236}">
                <a16:creationId xmlns:a16="http://schemas.microsoft.com/office/drawing/2014/main" id="{7EC743EF-8177-4CE2-8E56-5C9CC87912FF}"/>
              </a:ext>
            </a:extLst>
          </p:cNvPr>
          <p:cNvSpPr>
            <a:spLocks xmlns:a="http://schemas.openxmlformats.org/drawingml/2006/main" noGrp="1"/>
          </p:cNvSpPr>
          <p:nvPr/>
        </p:nvSpPr>
        <p:spPr>
          <a:xfrm xmlns:a="http://schemas.openxmlformats.org/drawingml/2006/main">
            <a:off x="9753600" y="3645694"/>
            <a:ext cx="133350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高</a:t>
            </a:r>
          </a:p>
        </p:txBody>
      </p:sp>
      <p:sp>
        <p:nvSpPr>
          <p:cNvPr id="45" name="">
            <a:extLst xmlns:a="http://schemas.openxmlformats.org/drawingml/2006/main">
              <a:ext uri="{FF2B5EF4-FFF2-40B4-BE49-F238E27FC236}">
                <a16:creationId xmlns:a16="http://schemas.microsoft.com/office/drawing/2014/main" id="{FDD7DC54-D2E3-481A-99B7-3B65EB694BD5}"/>
              </a:ext>
            </a:extLst>
          </p:cNvPr>
          <p:cNvSpPr>
            <a:spLocks xmlns:a="http://schemas.openxmlformats.org/drawingml/2006/main" noGrp="1"/>
          </p:cNvSpPr>
          <p:nvPr/>
        </p:nvSpPr>
        <p:spPr>
          <a:xfrm xmlns:a="http://schemas.openxmlformats.org/drawingml/2006/main">
            <a:off x="552450" y="3914775"/>
            <a:ext cx="1762125" cy="297656"/>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6" name="">
            <a:extLst xmlns:a="http://schemas.openxmlformats.org/drawingml/2006/main">
              <a:ext uri="{FF2B5EF4-FFF2-40B4-BE49-F238E27FC236}">
                <a16:creationId xmlns:a16="http://schemas.microsoft.com/office/drawing/2014/main" id="{5854EBC0-D29E-4713-8FDD-785A6C63FC44}"/>
              </a:ext>
            </a:extLst>
          </p:cNvPr>
          <p:cNvSpPr>
            <a:spLocks xmlns:a="http://schemas.openxmlformats.org/drawingml/2006/main" noGrp="1"/>
          </p:cNvSpPr>
          <p:nvPr/>
        </p:nvSpPr>
        <p:spPr>
          <a:xfrm xmlns:a="http://schemas.openxmlformats.org/drawingml/2006/main">
            <a:off x="590550" y="3943350"/>
            <a:ext cx="168592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异常处理</a:t>
            </a:r>
          </a:p>
        </p:txBody>
      </p:sp>
      <p:sp>
        <p:nvSpPr>
          <p:cNvPr id="47" name="">
            <a:extLst xmlns:a="http://schemas.openxmlformats.org/drawingml/2006/main">
              <a:ext uri="{FF2B5EF4-FFF2-40B4-BE49-F238E27FC236}">
                <a16:creationId xmlns:a16="http://schemas.microsoft.com/office/drawing/2014/main" id="{9EBBDC51-BF59-4244-AE2F-C2F83CFB495D}"/>
              </a:ext>
            </a:extLst>
          </p:cNvPr>
          <p:cNvSpPr>
            <a:spLocks xmlns:a="http://schemas.openxmlformats.org/drawingml/2006/main" noGrp="1"/>
          </p:cNvSpPr>
          <p:nvPr/>
        </p:nvSpPr>
        <p:spPr>
          <a:xfrm xmlns:a="http://schemas.openxmlformats.org/drawingml/2006/main">
            <a:off x="2314575" y="3914775"/>
            <a:ext cx="3524250" cy="297656"/>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8" name="">
            <a:extLst xmlns:a="http://schemas.openxmlformats.org/drawingml/2006/main">
              <a:ext uri="{FF2B5EF4-FFF2-40B4-BE49-F238E27FC236}">
                <a16:creationId xmlns:a16="http://schemas.microsoft.com/office/drawing/2014/main" id="{024F5459-CD2B-4EE9-8038-2BBF175B8528}"/>
              </a:ext>
            </a:extLst>
          </p:cNvPr>
          <p:cNvSpPr>
            <a:spLocks xmlns:a="http://schemas.openxmlformats.org/drawingml/2006/main" noGrp="1"/>
          </p:cNvSpPr>
          <p:nvPr/>
        </p:nvSpPr>
        <p:spPr>
          <a:xfrm xmlns:a="http://schemas.openxmlformats.org/drawingml/2006/main">
            <a:off x="2352675" y="3943350"/>
            <a:ext cx="344805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完全没提</a:t>
            </a:r>
          </a:p>
        </p:txBody>
      </p:sp>
      <p:sp>
        <p:nvSpPr>
          <p:cNvPr id="49" name="">
            <a:extLst xmlns:a="http://schemas.openxmlformats.org/drawingml/2006/main">
              <a:ext uri="{FF2B5EF4-FFF2-40B4-BE49-F238E27FC236}">
                <a16:creationId xmlns:a16="http://schemas.microsoft.com/office/drawing/2014/main" id="{28563931-24A4-4A15-BB8F-5164806B39B6}"/>
              </a:ext>
            </a:extLst>
          </p:cNvPr>
          <p:cNvSpPr>
            <a:spLocks xmlns:a="http://schemas.openxmlformats.org/drawingml/2006/main" noGrp="1"/>
          </p:cNvSpPr>
          <p:nvPr/>
        </p:nvSpPr>
        <p:spPr>
          <a:xfrm xmlns:a="http://schemas.openxmlformats.org/drawingml/2006/main">
            <a:off x="5838825" y="3914775"/>
            <a:ext cx="3876675" cy="297656"/>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0" name="">
            <a:extLst xmlns:a="http://schemas.openxmlformats.org/drawingml/2006/main">
              <a:ext uri="{FF2B5EF4-FFF2-40B4-BE49-F238E27FC236}">
                <a16:creationId xmlns:a16="http://schemas.microsoft.com/office/drawing/2014/main" id="{5EF946E3-AF4A-489A-9820-8A566E5BA470}"/>
              </a:ext>
            </a:extLst>
          </p:cNvPr>
          <p:cNvSpPr>
            <a:spLocks xmlns:a="http://schemas.openxmlformats.org/drawingml/2006/main" noGrp="1"/>
          </p:cNvSpPr>
          <p:nvPr/>
        </p:nvSpPr>
        <p:spPr>
          <a:xfrm xmlns:a="http://schemas.openxmlformats.org/drawingml/2006/main">
            <a:off x="5876925" y="3943350"/>
            <a:ext cx="380047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接口失败怎么办、数据冲突怎么处理</a:t>
            </a:r>
          </a:p>
        </p:txBody>
      </p:sp>
      <p:sp>
        <p:nvSpPr>
          <p:cNvPr id="51" name="">
            <a:extLst xmlns:a="http://schemas.openxmlformats.org/drawingml/2006/main">
              <a:ext uri="{FF2B5EF4-FFF2-40B4-BE49-F238E27FC236}">
                <a16:creationId xmlns:a16="http://schemas.microsoft.com/office/drawing/2014/main" id="{452CF146-75E3-4BB5-A47C-AEA29DDC1837}"/>
              </a:ext>
            </a:extLst>
          </p:cNvPr>
          <p:cNvSpPr>
            <a:spLocks xmlns:a="http://schemas.openxmlformats.org/drawingml/2006/main" noGrp="1"/>
          </p:cNvSpPr>
          <p:nvPr/>
        </p:nvSpPr>
        <p:spPr>
          <a:xfrm xmlns:a="http://schemas.openxmlformats.org/drawingml/2006/main">
            <a:off x="9715500" y="3914775"/>
            <a:ext cx="1409700" cy="297656"/>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2" name="">
            <a:extLst xmlns:a="http://schemas.openxmlformats.org/drawingml/2006/main">
              <a:ext uri="{FF2B5EF4-FFF2-40B4-BE49-F238E27FC236}">
                <a16:creationId xmlns:a16="http://schemas.microsoft.com/office/drawing/2014/main" id="{1370A457-A52E-4EE1-B6BF-5EE345D8C5B4}"/>
              </a:ext>
            </a:extLst>
          </p:cNvPr>
          <p:cNvSpPr>
            <a:spLocks xmlns:a="http://schemas.openxmlformats.org/drawingml/2006/main" noGrp="1"/>
          </p:cNvSpPr>
          <p:nvPr/>
        </p:nvSpPr>
        <p:spPr>
          <a:xfrm xmlns:a="http://schemas.openxmlformats.org/drawingml/2006/main">
            <a:off x="9753600" y="3943350"/>
            <a:ext cx="133350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高</a:t>
            </a:r>
          </a:p>
        </p:txBody>
      </p:sp>
      <p:sp>
        <p:nvSpPr>
          <p:cNvPr id="53" name="">
            <a:extLst xmlns:a="http://schemas.openxmlformats.org/drawingml/2006/main">
              <a:ext uri="{FF2B5EF4-FFF2-40B4-BE49-F238E27FC236}">
                <a16:creationId xmlns:a16="http://schemas.microsoft.com/office/drawing/2014/main" id="{AF019E0F-6895-42AA-AEDC-F81ADFC33B34}"/>
              </a:ext>
            </a:extLst>
          </p:cNvPr>
          <p:cNvSpPr>
            <a:spLocks xmlns:a="http://schemas.openxmlformats.org/drawingml/2006/main" noGrp="1"/>
          </p:cNvSpPr>
          <p:nvPr/>
        </p:nvSpPr>
        <p:spPr>
          <a:xfrm xmlns:a="http://schemas.openxmlformats.org/drawingml/2006/main">
            <a:off x="552450" y="4212431"/>
            <a:ext cx="1762125"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4" name="">
            <a:extLst xmlns:a="http://schemas.openxmlformats.org/drawingml/2006/main">
              <a:ext uri="{FF2B5EF4-FFF2-40B4-BE49-F238E27FC236}">
                <a16:creationId xmlns:a16="http://schemas.microsoft.com/office/drawing/2014/main" id="{F649FA4D-DE7E-422F-9F35-960458E88BB4}"/>
              </a:ext>
            </a:extLst>
          </p:cNvPr>
          <p:cNvSpPr>
            <a:spLocks xmlns:a="http://schemas.openxmlformats.org/drawingml/2006/main" noGrp="1"/>
          </p:cNvSpPr>
          <p:nvPr/>
        </p:nvSpPr>
        <p:spPr>
          <a:xfrm xmlns:a="http://schemas.openxmlformats.org/drawingml/2006/main">
            <a:off x="590550" y="4241006"/>
            <a:ext cx="168592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版本管理</a:t>
            </a:r>
          </a:p>
        </p:txBody>
      </p:sp>
      <p:sp>
        <p:nvSpPr>
          <p:cNvPr id="55" name="">
            <a:extLst xmlns:a="http://schemas.openxmlformats.org/drawingml/2006/main">
              <a:ext uri="{FF2B5EF4-FFF2-40B4-BE49-F238E27FC236}">
                <a16:creationId xmlns:a16="http://schemas.microsoft.com/office/drawing/2014/main" id="{D7A5C3FD-733E-4970-929E-8BA94A1BEFDE}"/>
              </a:ext>
            </a:extLst>
          </p:cNvPr>
          <p:cNvSpPr>
            <a:spLocks xmlns:a="http://schemas.openxmlformats.org/drawingml/2006/main" noGrp="1"/>
          </p:cNvSpPr>
          <p:nvPr/>
        </p:nvSpPr>
        <p:spPr>
          <a:xfrm xmlns:a="http://schemas.openxmlformats.org/drawingml/2006/main">
            <a:off x="2314575" y="4212431"/>
            <a:ext cx="3524250"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6" name="">
            <a:extLst xmlns:a="http://schemas.openxmlformats.org/drawingml/2006/main">
              <a:ext uri="{FF2B5EF4-FFF2-40B4-BE49-F238E27FC236}">
                <a16:creationId xmlns:a16="http://schemas.microsoft.com/office/drawing/2014/main" id="{BCD00486-F342-48CB-8AD7-623F8B251943}"/>
              </a:ext>
            </a:extLst>
          </p:cNvPr>
          <p:cNvSpPr>
            <a:spLocks xmlns:a="http://schemas.openxmlformats.org/drawingml/2006/main" noGrp="1"/>
          </p:cNvSpPr>
          <p:nvPr/>
        </p:nvSpPr>
        <p:spPr>
          <a:xfrm xmlns:a="http://schemas.openxmlformats.org/drawingml/2006/main">
            <a:off x="2352675" y="4241006"/>
            <a:ext cx="344805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完全没提</a:t>
            </a:r>
          </a:p>
        </p:txBody>
      </p:sp>
      <p:sp>
        <p:nvSpPr>
          <p:cNvPr id="57" name="">
            <a:extLst xmlns:a="http://schemas.openxmlformats.org/drawingml/2006/main">
              <a:ext uri="{FF2B5EF4-FFF2-40B4-BE49-F238E27FC236}">
                <a16:creationId xmlns:a16="http://schemas.microsoft.com/office/drawing/2014/main" id="{8A934F8D-AB83-4DE2-A438-F79BFCF80398}"/>
              </a:ext>
            </a:extLst>
          </p:cNvPr>
          <p:cNvSpPr>
            <a:spLocks xmlns:a="http://schemas.openxmlformats.org/drawingml/2006/main" noGrp="1"/>
          </p:cNvSpPr>
          <p:nvPr/>
        </p:nvSpPr>
        <p:spPr>
          <a:xfrm xmlns:a="http://schemas.openxmlformats.org/drawingml/2006/main">
            <a:off x="5838825" y="4212431"/>
            <a:ext cx="3876675"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8" name="">
            <a:extLst xmlns:a="http://schemas.openxmlformats.org/drawingml/2006/main">
              <a:ext uri="{FF2B5EF4-FFF2-40B4-BE49-F238E27FC236}">
                <a16:creationId xmlns:a16="http://schemas.microsoft.com/office/drawing/2014/main" id="{4ECE0FFB-CB39-430E-8E4C-1CE0EE5FEF0C}"/>
              </a:ext>
            </a:extLst>
          </p:cNvPr>
          <p:cNvSpPr>
            <a:spLocks xmlns:a="http://schemas.openxmlformats.org/drawingml/2006/main" noGrp="1"/>
          </p:cNvSpPr>
          <p:nvPr/>
        </p:nvSpPr>
        <p:spPr>
          <a:xfrm xmlns:a="http://schemas.openxmlformats.org/drawingml/2006/main">
            <a:off x="5876925" y="4241006"/>
            <a:ext cx="380047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EBOM/MBOM版本切换规则</a:t>
            </a:r>
          </a:p>
        </p:txBody>
      </p:sp>
      <p:sp>
        <p:nvSpPr>
          <p:cNvPr id="59" name="">
            <a:extLst xmlns:a="http://schemas.openxmlformats.org/drawingml/2006/main">
              <a:ext uri="{FF2B5EF4-FFF2-40B4-BE49-F238E27FC236}">
                <a16:creationId xmlns:a16="http://schemas.microsoft.com/office/drawing/2014/main" id="{690A58B0-ED97-4689-8442-E9F835CD9948}"/>
              </a:ext>
            </a:extLst>
          </p:cNvPr>
          <p:cNvSpPr>
            <a:spLocks xmlns:a="http://schemas.openxmlformats.org/drawingml/2006/main" noGrp="1"/>
          </p:cNvSpPr>
          <p:nvPr/>
        </p:nvSpPr>
        <p:spPr>
          <a:xfrm xmlns:a="http://schemas.openxmlformats.org/drawingml/2006/main">
            <a:off x="9715500" y="4212431"/>
            <a:ext cx="1409700"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0" name="">
            <a:extLst xmlns:a="http://schemas.openxmlformats.org/drawingml/2006/main">
              <a:ext uri="{FF2B5EF4-FFF2-40B4-BE49-F238E27FC236}">
                <a16:creationId xmlns:a16="http://schemas.microsoft.com/office/drawing/2014/main" id="{9483B623-5187-4ED4-9CD7-9C6F58EFBDF0}"/>
              </a:ext>
            </a:extLst>
          </p:cNvPr>
          <p:cNvSpPr>
            <a:spLocks xmlns:a="http://schemas.openxmlformats.org/drawingml/2006/main" noGrp="1"/>
          </p:cNvSpPr>
          <p:nvPr/>
        </p:nvSpPr>
        <p:spPr>
          <a:xfrm xmlns:a="http://schemas.openxmlformats.org/drawingml/2006/main">
            <a:off x="9753600" y="4241006"/>
            <a:ext cx="133350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高</a:t>
            </a:r>
          </a:p>
        </p:txBody>
      </p:sp>
      <p:sp>
        <p:nvSpPr>
          <p:cNvPr id="61" name="">
            <a:extLst xmlns:a="http://schemas.openxmlformats.org/drawingml/2006/main">
              <a:ext uri="{FF2B5EF4-FFF2-40B4-BE49-F238E27FC236}">
                <a16:creationId xmlns:a16="http://schemas.microsoft.com/office/drawing/2014/main" id="{E3255005-2550-4C7E-95FA-30E64911295C}"/>
              </a:ext>
            </a:extLst>
          </p:cNvPr>
          <p:cNvSpPr>
            <a:spLocks xmlns:a="http://schemas.openxmlformats.org/drawingml/2006/main" noGrp="1"/>
          </p:cNvSpPr>
          <p:nvPr/>
        </p:nvSpPr>
        <p:spPr>
          <a:xfrm xmlns:a="http://schemas.openxmlformats.org/drawingml/2006/main">
            <a:off x="552450" y="4510088"/>
            <a:ext cx="1762125" cy="297656"/>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2" name="">
            <a:extLst xmlns:a="http://schemas.openxmlformats.org/drawingml/2006/main">
              <a:ext uri="{FF2B5EF4-FFF2-40B4-BE49-F238E27FC236}">
                <a16:creationId xmlns:a16="http://schemas.microsoft.com/office/drawing/2014/main" id="{BFE856F4-7622-4000-BFD0-8BD5AE470883}"/>
              </a:ext>
            </a:extLst>
          </p:cNvPr>
          <p:cNvSpPr>
            <a:spLocks xmlns:a="http://schemas.openxmlformats.org/drawingml/2006/main" noGrp="1"/>
          </p:cNvSpPr>
          <p:nvPr/>
        </p:nvSpPr>
        <p:spPr>
          <a:xfrm xmlns:a="http://schemas.openxmlformats.org/drawingml/2006/main">
            <a:off x="590550" y="4538663"/>
            <a:ext cx="168592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实施顺序</a:t>
            </a:r>
          </a:p>
        </p:txBody>
      </p:sp>
      <p:sp>
        <p:nvSpPr>
          <p:cNvPr id="63" name="">
            <a:extLst xmlns:a="http://schemas.openxmlformats.org/drawingml/2006/main">
              <a:ext uri="{FF2B5EF4-FFF2-40B4-BE49-F238E27FC236}">
                <a16:creationId xmlns:a16="http://schemas.microsoft.com/office/drawing/2014/main" id="{44767998-6A2F-449E-AB16-9C3D968FA516}"/>
              </a:ext>
            </a:extLst>
          </p:cNvPr>
          <p:cNvSpPr>
            <a:spLocks xmlns:a="http://schemas.openxmlformats.org/drawingml/2006/main" noGrp="1"/>
          </p:cNvSpPr>
          <p:nvPr/>
        </p:nvSpPr>
        <p:spPr>
          <a:xfrm xmlns:a="http://schemas.openxmlformats.org/drawingml/2006/main">
            <a:off x="2314575" y="4510088"/>
            <a:ext cx="3524250" cy="297656"/>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4" name="">
            <a:extLst xmlns:a="http://schemas.openxmlformats.org/drawingml/2006/main">
              <a:ext uri="{FF2B5EF4-FFF2-40B4-BE49-F238E27FC236}">
                <a16:creationId xmlns:a16="http://schemas.microsoft.com/office/drawing/2014/main" id="{EAF62BAD-9F82-4090-BA89-7C0B2320B53F}"/>
              </a:ext>
            </a:extLst>
          </p:cNvPr>
          <p:cNvSpPr>
            <a:spLocks xmlns:a="http://schemas.openxmlformats.org/drawingml/2006/main" noGrp="1"/>
          </p:cNvSpPr>
          <p:nvPr/>
        </p:nvSpPr>
        <p:spPr>
          <a:xfrm xmlns:a="http://schemas.openxmlformats.org/drawingml/2006/main">
            <a:off x="2352675" y="4538663"/>
            <a:ext cx="344805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完全没提</a:t>
            </a:r>
          </a:p>
        </p:txBody>
      </p:sp>
      <p:sp>
        <p:nvSpPr>
          <p:cNvPr id="65" name="">
            <a:extLst xmlns:a="http://schemas.openxmlformats.org/drawingml/2006/main">
              <a:ext uri="{FF2B5EF4-FFF2-40B4-BE49-F238E27FC236}">
                <a16:creationId xmlns:a16="http://schemas.microsoft.com/office/drawing/2014/main" id="{5BBA35DD-4B2D-40B7-913C-808C77A65845}"/>
              </a:ext>
            </a:extLst>
          </p:cNvPr>
          <p:cNvSpPr>
            <a:spLocks xmlns:a="http://schemas.openxmlformats.org/drawingml/2006/main" noGrp="1"/>
          </p:cNvSpPr>
          <p:nvPr/>
        </p:nvSpPr>
        <p:spPr>
          <a:xfrm xmlns:a="http://schemas.openxmlformats.org/drawingml/2006/main">
            <a:off x="5838825" y="4510088"/>
            <a:ext cx="3876675" cy="297656"/>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6" name="">
            <a:extLst xmlns:a="http://schemas.openxmlformats.org/drawingml/2006/main">
              <a:ext uri="{FF2B5EF4-FFF2-40B4-BE49-F238E27FC236}">
                <a16:creationId xmlns:a16="http://schemas.microsoft.com/office/drawing/2014/main" id="{0EE08FE4-6FB1-48D5-9C6B-1B785B21A9D9}"/>
              </a:ext>
            </a:extLst>
          </p:cNvPr>
          <p:cNvSpPr>
            <a:spLocks xmlns:a="http://schemas.openxmlformats.org/drawingml/2006/main" noGrp="1"/>
          </p:cNvSpPr>
          <p:nvPr/>
        </p:nvSpPr>
        <p:spPr>
          <a:xfrm xmlns:a="http://schemas.openxmlformats.org/drawingml/2006/main">
            <a:off x="5876925" y="4538663"/>
            <a:ext cx="380047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先上哪个、依赖关系是什么</a:t>
            </a:r>
          </a:p>
        </p:txBody>
      </p:sp>
      <p:sp>
        <p:nvSpPr>
          <p:cNvPr id="67" name="">
            <a:extLst xmlns:a="http://schemas.openxmlformats.org/drawingml/2006/main">
              <a:ext uri="{FF2B5EF4-FFF2-40B4-BE49-F238E27FC236}">
                <a16:creationId xmlns:a16="http://schemas.microsoft.com/office/drawing/2014/main" id="{8AD92415-0CB2-4A5A-B89C-DBC45A057A73}"/>
              </a:ext>
            </a:extLst>
          </p:cNvPr>
          <p:cNvSpPr>
            <a:spLocks xmlns:a="http://schemas.openxmlformats.org/drawingml/2006/main" noGrp="1"/>
          </p:cNvSpPr>
          <p:nvPr/>
        </p:nvSpPr>
        <p:spPr>
          <a:xfrm xmlns:a="http://schemas.openxmlformats.org/drawingml/2006/main">
            <a:off x="9715500" y="4510088"/>
            <a:ext cx="1409700" cy="297656"/>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8" name="">
            <a:extLst xmlns:a="http://schemas.openxmlformats.org/drawingml/2006/main">
              <a:ext uri="{FF2B5EF4-FFF2-40B4-BE49-F238E27FC236}">
                <a16:creationId xmlns:a16="http://schemas.microsoft.com/office/drawing/2014/main" id="{0B527486-6B3E-4D36-B29B-C7EB0AE11057}"/>
              </a:ext>
            </a:extLst>
          </p:cNvPr>
          <p:cNvSpPr>
            <a:spLocks xmlns:a="http://schemas.openxmlformats.org/drawingml/2006/main" noGrp="1"/>
          </p:cNvSpPr>
          <p:nvPr/>
        </p:nvSpPr>
        <p:spPr>
          <a:xfrm xmlns:a="http://schemas.openxmlformats.org/drawingml/2006/main">
            <a:off x="9753600" y="4538663"/>
            <a:ext cx="133350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中</a:t>
            </a:r>
          </a:p>
        </p:txBody>
      </p:sp>
      <p:sp>
        <p:nvSpPr>
          <p:cNvPr id="69" name="">
            <a:extLst xmlns:a="http://schemas.openxmlformats.org/drawingml/2006/main">
              <a:ext uri="{FF2B5EF4-FFF2-40B4-BE49-F238E27FC236}">
                <a16:creationId xmlns:a16="http://schemas.microsoft.com/office/drawing/2014/main" id="{542C55E0-76F7-430C-A28D-FA63D22A4E30}"/>
              </a:ext>
            </a:extLst>
          </p:cNvPr>
          <p:cNvSpPr>
            <a:spLocks xmlns:a="http://schemas.openxmlformats.org/drawingml/2006/main" noGrp="1"/>
          </p:cNvSpPr>
          <p:nvPr/>
        </p:nvSpPr>
        <p:spPr>
          <a:xfrm xmlns:a="http://schemas.openxmlformats.org/drawingml/2006/main">
            <a:off x="552450" y="4807744"/>
            <a:ext cx="1762125"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0" name="">
            <a:extLst xmlns:a="http://schemas.openxmlformats.org/drawingml/2006/main">
              <a:ext uri="{FF2B5EF4-FFF2-40B4-BE49-F238E27FC236}">
                <a16:creationId xmlns:a16="http://schemas.microsoft.com/office/drawing/2014/main" id="{81E12D53-5B20-4344-9E13-5AC6375E609F}"/>
              </a:ext>
            </a:extLst>
          </p:cNvPr>
          <p:cNvSpPr>
            <a:spLocks xmlns:a="http://schemas.openxmlformats.org/drawingml/2006/main" noGrp="1"/>
          </p:cNvSpPr>
          <p:nvPr/>
        </p:nvSpPr>
        <p:spPr>
          <a:xfrm xmlns:a="http://schemas.openxmlformats.org/drawingml/2006/main">
            <a:off x="590550" y="4836319"/>
            <a:ext cx="168592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中间件方案</a:t>
            </a:r>
          </a:p>
        </p:txBody>
      </p:sp>
      <p:sp>
        <p:nvSpPr>
          <p:cNvPr id="71" name="">
            <a:extLst xmlns:a="http://schemas.openxmlformats.org/drawingml/2006/main">
              <a:ext uri="{FF2B5EF4-FFF2-40B4-BE49-F238E27FC236}">
                <a16:creationId xmlns:a16="http://schemas.microsoft.com/office/drawing/2014/main" id="{D8B03520-F82D-4E41-AC7A-D00AEFADFE71}"/>
              </a:ext>
            </a:extLst>
          </p:cNvPr>
          <p:cNvSpPr>
            <a:spLocks xmlns:a="http://schemas.openxmlformats.org/drawingml/2006/main" noGrp="1"/>
          </p:cNvSpPr>
          <p:nvPr/>
        </p:nvSpPr>
        <p:spPr>
          <a:xfrm xmlns:a="http://schemas.openxmlformats.org/drawingml/2006/main">
            <a:off x="2314575" y="4807744"/>
            <a:ext cx="3524250"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2" name="">
            <a:extLst xmlns:a="http://schemas.openxmlformats.org/drawingml/2006/main">
              <a:ext uri="{FF2B5EF4-FFF2-40B4-BE49-F238E27FC236}">
                <a16:creationId xmlns:a16="http://schemas.microsoft.com/office/drawing/2014/main" id="{8E1A508F-3BEB-4AF1-910B-8BA1B5E35DC0}"/>
              </a:ext>
            </a:extLst>
          </p:cNvPr>
          <p:cNvSpPr>
            <a:spLocks xmlns:a="http://schemas.openxmlformats.org/drawingml/2006/main" noGrp="1"/>
          </p:cNvSpPr>
          <p:nvPr/>
        </p:nvSpPr>
        <p:spPr>
          <a:xfrm xmlns:a="http://schemas.openxmlformats.org/drawingml/2006/main">
            <a:off x="2352675" y="4836319"/>
            <a:ext cx="344805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完全没提</a:t>
            </a:r>
          </a:p>
        </p:txBody>
      </p:sp>
      <p:sp>
        <p:nvSpPr>
          <p:cNvPr id="73" name="">
            <a:extLst xmlns:a="http://schemas.openxmlformats.org/drawingml/2006/main">
              <a:ext uri="{FF2B5EF4-FFF2-40B4-BE49-F238E27FC236}">
                <a16:creationId xmlns:a16="http://schemas.microsoft.com/office/drawing/2014/main" id="{F5D7BA54-20A7-4771-A257-F7B0B26DA106}"/>
              </a:ext>
            </a:extLst>
          </p:cNvPr>
          <p:cNvSpPr>
            <a:spLocks xmlns:a="http://schemas.openxmlformats.org/drawingml/2006/main" noGrp="1"/>
          </p:cNvSpPr>
          <p:nvPr/>
        </p:nvSpPr>
        <p:spPr>
          <a:xfrm xmlns:a="http://schemas.openxmlformats.org/drawingml/2006/main">
            <a:off x="5838825" y="4807744"/>
            <a:ext cx="3876675"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4" name="">
            <a:extLst xmlns:a="http://schemas.openxmlformats.org/drawingml/2006/main">
              <a:ext uri="{FF2B5EF4-FFF2-40B4-BE49-F238E27FC236}">
                <a16:creationId xmlns:a16="http://schemas.microsoft.com/office/drawing/2014/main" id="{C1CC0803-8A73-4878-9645-8AFF417BD8D5}"/>
              </a:ext>
            </a:extLst>
          </p:cNvPr>
          <p:cNvSpPr>
            <a:spLocks xmlns:a="http://schemas.openxmlformats.org/drawingml/2006/main" noGrp="1"/>
          </p:cNvSpPr>
          <p:nvPr/>
        </p:nvSpPr>
        <p:spPr>
          <a:xfrm xmlns:a="http://schemas.openxmlformats.org/drawingml/2006/main">
            <a:off x="5876925" y="4836319"/>
            <a:ext cx="3800475"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点对点还是总线？谁来做？</a:t>
            </a:r>
          </a:p>
        </p:txBody>
      </p:sp>
      <p:sp>
        <p:nvSpPr>
          <p:cNvPr id="75" name="">
            <a:extLst xmlns:a="http://schemas.openxmlformats.org/drawingml/2006/main">
              <a:ext uri="{FF2B5EF4-FFF2-40B4-BE49-F238E27FC236}">
                <a16:creationId xmlns:a16="http://schemas.microsoft.com/office/drawing/2014/main" id="{D32F3AA5-E387-4E0D-AE5B-2DB5AFBA727E}"/>
              </a:ext>
            </a:extLst>
          </p:cNvPr>
          <p:cNvSpPr>
            <a:spLocks xmlns:a="http://schemas.openxmlformats.org/drawingml/2006/main" noGrp="1"/>
          </p:cNvSpPr>
          <p:nvPr/>
        </p:nvSpPr>
        <p:spPr>
          <a:xfrm xmlns:a="http://schemas.openxmlformats.org/drawingml/2006/main">
            <a:off x="9715500" y="4807744"/>
            <a:ext cx="1409700" cy="297656"/>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6" name="">
            <a:extLst xmlns:a="http://schemas.openxmlformats.org/drawingml/2006/main">
              <a:ext uri="{FF2B5EF4-FFF2-40B4-BE49-F238E27FC236}">
                <a16:creationId xmlns:a16="http://schemas.microsoft.com/office/drawing/2014/main" id="{623F992A-0CB1-4AA8-84C7-B8DC2BA5A2FB}"/>
              </a:ext>
            </a:extLst>
          </p:cNvPr>
          <p:cNvSpPr>
            <a:spLocks xmlns:a="http://schemas.openxmlformats.org/drawingml/2006/main" noGrp="1"/>
          </p:cNvSpPr>
          <p:nvPr/>
        </p:nvSpPr>
        <p:spPr>
          <a:xfrm xmlns:a="http://schemas.openxmlformats.org/drawingml/2006/main">
            <a:off x="9753600" y="4836319"/>
            <a:ext cx="1333500" cy="2405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675" b="0">
                <a:solidFill>
                  <a:srgbClr val="475569"/>
                </a:solidFill>
              </a:defRPr>
            </a:pPr>
            <a:r>
              <a:rPr sz="675" b="0">
                <a:solidFill>
                  <a:srgbClr val="475569"/>
                </a:solidFill>
              </a:rPr>
              <a:t>高</a:t>
            </a:r>
          </a:p>
        </p:txBody>
      </p:sp>
      <p:sp>
        <p:nvSpPr>
          <p:cNvPr id="77" name="">
            <a:extLst xmlns:a="http://schemas.openxmlformats.org/drawingml/2006/main">
              <a:ext uri="{FF2B5EF4-FFF2-40B4-BE49-F238E27FC236}">
                <a16:creationId xmlns:a16="http://schemas.microsoft.com/office/drawing/2014/main" id="{7920EBFE-3D80-414D-A31A-48A552C3FB7A}"/>
              </a:ext>
            </a:extLst>
          </p:cNvPr>
          <p:cNvSpPr>
            <a:spLocks xmlns:a="http://schemas.openxmlformats.org/drawingml/2006/main" noGrp="1"/>
          </p:cNvSpPr>
          <p:nvPr/>
        </p:nvSpPr>
        <p:spPr>
          <a:xfrm xmlns:a="http://schemas.openxmlformats.org/drawingml/2006/main">
            <a:off x="876300" y="5353050"/>
            <a:ext cx="45720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E2E8F0"/>
            </a:solidFill>
            <a:prstDash val="solid"/>
          </a:ln>
        </p:spPr>
      </p:sp>
      <p:sp>
        <p:nvSpPr>
          <p:cNvPr id="78" name="">
            <a:extLst xmlns:a="http://schemas.openxmlformats.org/drawingml/2006/main">
              <a:ext uri="{FF2B5EF4-FFF2-40B4-BE49-F238E27FC236}">
                <a16:creationId xmlns:a16="http://schemas.microsoft.com/office/drawing/2014/main" id="{B144A4E5-2763-4EA8-8536-304485A2EBA2}"/>
              </a:ext>
            </a:extLst>
          </p:cNvPr>
          <p:cNvSpPr>
            <a:spLocks xmlns:a="http://schemas.openxmlformats.org/drawingml/2006/main" noGrp="1"/>
          </p:cNvSpPr>
          <p:nvPr/>
        </p:nvSpPr>
        <p:spPr>
          <a:xfrm xmlns:a="http://schemas.openxmlformats.org/drawingml/2006/main">
            <a:off x="876300" y="5353050"/>
            <a:ext cx="47625" cy="7429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79" name="">
            <a:extLst xmlns:a="http://schemas.openxmlformats.org/drawingml/2006/main">
              <a:ext uri="{FF2B5EF4-FFF2-40B4-BE49-F238E27FC236}">
                <a16:creationId xmlns:a16="http://schemas.microsoft.com/office/drawing/2014/main" id="{6C0DBCCC-7BBC-4BCC-9588-1960769777D5}"/>
              </a:ext>
            </a:extLst>
          </p:cNvPr>
          <p:cNvSpPr>
            <a:spLocks xmlns:a="http://schemas.openxmlformats.org/drawingml/2006/main" noGrp="1"/>
          </p:cNvSpPr>
          <p:nvPr/>
        </p:nvSpPr>
        <p:spPr>
          <a:xfrm xmlns:a="http://schemas.openxmlformats.org/drawingml/2006/main">
            <a:off x="1047750" y="5486400"/>
            <a:ext cx="4248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5月7日 PLM 洽谈已完成</a:t>
            </a:r>
          </a:p>
        </p:txBody>
      </p:sp>
      <p:sp>
        <p:nvSpPr>
          <p:cNvPr id="80" name="">
            <a:extLst xmlns:a="http://schemas.openxmlformats.org/drawingml/2006/main">
              <a:ext uri="{FF2B5EF4-FFF2-40B4-BE49-F238E27FC236}">
                <a16:creationId xmlns:a16="http://schemas.microsoft.com/office/drawing/2014/main" id="{EFCA31C0-CB1F-4876-BD90-8DC14D49216F}"/>
              </a:ext>
            </a:extLst>
          </p:cNvPr>
          <p:cNvSpPr>
            <a:spLocks xmlns:a="http://schemas.openxmlformats.org/drawingml/2006/main" noGrp="1"/>
          </p:cNvSpPr>
          <p:nvPr/>
        </p:nvSpPr>
        <p:spPr>
          <a:xfrm xmlns:a="http://schemas.openxmlformats.org/drawingml/2006/main">
            <a:off x="1047750" y="5829300"/>
            <a:ext cx="4248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63015"/>
          </a:bodyPr>
          <a:lstStyle xmlns:a="http://schemas.openxmlformats.org/drawingml/2006/main"/>
          <a:p xmlns:a="http://schemas.openxmlformats.org/drawingml/2006/main">
            <a:pPr algn="l">
              <a:defRPr sz="975" b="0">
                <a:solidFill>
                  <a:srgbClr val="475569"/>
                </a:solidFill>
              </a:defRPr>
            </a:pPr>
            <a:r>
              <a:rPr sz="975" b="0">
                <a:solidFill>
                  <a:srgbClr val="475569"/>
                </a:solidFill>
              </a:rPr>
              <a:t>翎瑞鸿翔一期范围：MBOM、ECO、工程项目管理；A1/A3完成。</a:t>
            </a:r>
          </a:p>
        </p:txBody>
      </p:sp>
      <p:sp>
        <p:nvSpPr>
          <p:cNvPr id="81" name="">
            <a:extLst xmlns:a="http://schemas.openxmlformats.org/drawingml/2006/main">
              <a:ext uri="{FF2B5EF4-FFF2-40B4-BE49-F238E27FC236}">
                <a16:creationId xmlns:a16="http://schemas.microsoft.com/office/drawing/2014/main" id="{1F8980DA-7AD0-4BA4-9069-B85AF61E10CC}"/>
              </a:ext>
            </a:extLst>
          </p:cNvPr>
          <p:cNvSpPr>
            <a:spLocks xmlns:a="http://schemas.openxmlformats.org/drawingml/2006/main" noGrp="1"/>
          </p:cNvSpPr>
          <p:nvPr/>
        </p:nvSpPr>
        <p:spPr>
          <a:xfrm xmlns:a="http://schemas.openxmlformats.org/drawingml/2006/main">
            <a:off x="5905500" y="5353050"/>
            <a:ext cx="45720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E2E8F0"/>
            </a:solidFill>
            <a:prstDash val="solid"/>
          </a:ln>
        </p:spPr>
      </p:sp>
      <p:sp>
        <p:nvSpPr>
          <p:cNvPr id="82" name="">
            <a:extLst xmlns:a="http://schemas.openxmlformats.org/drawingml/2006/main">
              <a:ext uri="{FF2B5EF4-FFF2-40B4-BE49-F238E27FC236}">
                <a16:creationId xmlns:a16="http://schemas.microsoft.com/office/drawing/2014/main" id="{AF5F991A-C15B-4C10-B6AC-06966015F0FC}"/>
              </a:ext>
            </a:extLst>
          </p:cNvPr>
          <p:cNvSpPr>
            <a:spLocks xmlns:a="http://schemas.openxmlformats.org/drawingml/2006/main" noGrp="1"/>
          </p:cNvSpPr>
          <p:nvPr/>
        </p:nvSpPr>
        <p:spPr>
          <a:xfrm xmlns:a="http://schemas.openxmlformats.org/drawingml/2006/main">
            <a:off x="5905500" y="5353050"/>
            <a:ext cx="47625" cy="7429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83" name="">
            <a:extLst xmlns:a="http://schemas.openxmlformats.org/drawingml/2006/main">
              <a:ext uri="{FF2B5EF4-FFF2-40B4-BE49-F238E27FC236}">
                <a16:creationId xmlns:a16="http://schemas.microsoft.com/office/drawing/2014/main" id="{652B8436-3F8F-40A5-A05E-805790E50E26}"/>
              </a:ext>
            </a:extLst>
          </p:cNvPr>
          <p:cNvSpPr>
            <a:spLocks xmlns:a="http://schemas.openxmlformats.org/drawingml/2006/main" noGrp="1"/>
          </p:cNvSpPr>
          <p:nvPr/>
        </p:nvSpPr>
        <p:spPr>
          <a:xfrm xmlns:a="http://schemas.openxmlformats.org/drawingml/2006/main">
            <a:off x="6076950" y="5486400"/>
            <a:ext cx="4248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5月8日 部门预沟通</a:t>
            </a:r>
          </a:p>
        </p:txBody>
      </p:sp>
      <p:sp>
        <p:nvSpPr>
          <p:cNvPr id="84" name="">
            <a:extLst xmlns:a="http://schemas.openxmlformats.org/drawingml/2006/main">
              <a:ext uri="{FF2B5EF4-FFF2-40B4-BE49-F238E27FC236}">
                <a16:creationId xmlns:a16="http://schemas.microsoft.com/office/drawing/2014/main" id="{0593525E-87AF-4E2B-BBED-5AE7478E4AAA}"/>
              </a:ext>
            </a:extLst>
          </p:cNvPr>
          <p:cNvSpPr>
            <a:spLocks xmlns:a="http://schemas.openxmlformats.org/drawingml/2006/main" noGrp="1"/>
          </p:cNvSpPr>
          <p:nvPr/>
        </p:nvSpPr>
        <p:spPr>
          <a:xfrm xmlns:a="http://schemas.openxmlformats.org/drawingml/2006/main">
            <a:off x="6076950" y="5829300"/>
            <a:ext cx="4248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63015"/>
          </a:bodyPr>
          <a:lstStyle xmlns:a="http://schemas.openxmlformats.org/drawingml/2006/main"/>
          <a:p xmlns:a="http://schemas.openxmlformats.org/drawingml/2006/main">
            <a:pPr algn="l">
              <a:defRPr sz="975" b="0">
                <a:solidFill>
                  <a:srgbClr val="475569"/>
                </a:solidFill>
              </a:defRPr>
            </a:pPr>
            <a:r>
              <a:rPr sz="975" b="0">
                <a:solidFill>
                  <a:srgbClr val="475569"/>
                </a:solidFill>
              </a:rPr>
              <a:t>补齐SCIM、数据中台、编码确认、非PLM接口卡和Q1-Q8一页纸。</a:t>
            </a:r>
          </a:p>
        </p:txBody>
      </p:sp>
      <p:sp>
        <p:nvSpPr>
          <p:cNvPr id="85" name="">
            <a:extLst xmlns:a="http://schemas.openxmlformats.org/drawingml/2006/main">
              <a:ext uri="{FF2B5EF4-FFF2-40B4-BE49-F238E27FC236}">
                <a16:creationId xmlns:a16="http://schemas.microsoft.com/office/drawing/2014/main" id="{5091F102-0528-4854-953C-20F99E18C9FA}"/>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25 / 29</a:t>
            </a:r>
          </a:p>
        </p:txBody>
      </p:sp>
    </p:spTree>
    <p:extLst>
      <p:ext uri="{BB962C8B-B14F-4D97-AF65-F5344CB8AC3E}">
        <p14:creationId xmlns:p14="http://schemas.microsoft.com/office/powerpoint/2010/main" val="1601233682"/>
      </p:ext>
    </p:extLst>
  </p:cSld>
</p:sld>
</file>

<file path=ppt/slides/slide2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9AFCB491-2A77-4359-9D52-AB10E1CC24E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4915C38-DF2E-454E-86C3-522E196BE36D}"/>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F154E97-612D-4A72-87DC-EDAF84DF6BED}"/>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F8013BE-9326-49E0-BBD6-05B871A47062}"/>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05.2 会前行动</a:t>
            </a:r>
          </a:p>
        </p:txBody>
      </p:sp>
      <p:sp>
        <p:nvSpPr>
          <p:cNvPr id="6" name="">
            <a:extLst xmlns:a="http://schemas.openxmlformats.org/drawingml/2006/main">
              <a:ext uri="{FF2B5EF4-FFF2-40B4-BE49-F238E27FC236}">
                <a16:creationId xmlns:a16="http://schemas.microsoft.com/office/drawing/2014/main" id="{D7796623-B853-42A5-BCB3-4967E401CDD1}"/>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EE2D188C-8589-41AF-9E52-F000AF0D5D67}"/>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行动项、牵头部门与会前输出</a:t>
            </a:r>
          </a:p>
        </p:txBody>
      </p:sp>
      <p:sp>
        <p:nvSpPr>
          <p:cNvPr id="8" name="">
            <a:extLst xmlns:a="http://schemas.openxmlformats.org/drawingml/2006/main">
              <a:ext uri="{FF2B5EF4-FFF2-40B4-BE49-F238E27FC236}">
                <a16:creationId xmlns:a16="http://schemas.microsoft.com/office/drawing/2014/main" id="{55D41F4C-EDF3-4CED-AE5D-242D5CD86E0D}"/>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优先把问题诊断转化为责任人、参与方、输出物和截止时间</a:t>
            </a:r>
          </a:p>
        </p:txBody>
      </p:sp>
      <p:sp>
        <p:nvSpPr>
          <p:cNvPr id="9" name="">
            <a:extLst xmlns:a="http://schemas.openxmlformats.org/drawingml/2006/main">
              <a:ext uri="{FF2B5EF4-FFF2-40B4-BE49-F238E27FC236}">
                <a16:creationId xmlns:a16="http://schemas.microsoft.com/office/drawing/2014/main" id="{AE920D8B-A513-4E51-BCE7-7672558A3940}"/>
              </a:ext>
            </a:extLst>
          </p:cNvPr>
          <p:cNvSpPr>
            <a:spLocks xmlns:a="http://schemas.openxmlformats.org/drawingml/2006/main" noGrp="1"/>
          </p:cNvSpPr>
          <p:nvPr/>
        </p:nvSpPr>
        <p:spPr>
          <a:xfrm xmlns:a="http://schemas.openxmlformats.org/drawingml/2006/main">
            <a:off x="400050" y="1676400"/>
            <a:ext cx="1511746" cy="44958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0" name="">
            <a:extLst xmlns:a="http://schemas.openxmlformats.org/drawingml/2006/main">
              <a:ext uri="{FF2B5EF4-FFF2-40B4-BE49-F238E27FC236}">
                <a16:creationId xmlns:a16="http://schemas.microsoft.com/office/drawing/2014/main" id="{16CF6137-291A-4662-B6CA-F102C0D57E11}"/>
              </a:ext>
            </a:extLst>
          </p:cNvPr>
          <p:cNvSpPr>
            <a:spLocks xmlns:a="http://schemas.openxmlformats.org/drawingml/2006/main" noGrp="1"/>
          </p:cNvSpPr>
          <p:nvPr/>
        </p:nvSpPr>
        <p:spPr>
          <a:xfrm xmlns:a="http://schemas.openxmlformats.org/drawingml/2006/main">
            <a:off x="438150" y="1704975"/>
            <a:ext cx="1435546"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1">
                <a:solidFill>
                  <a:srgbClr val="FFFFFF"/>
                </a:solidFill>
              </a:defRPr>
            </a:pPr>
            <a:r>
              <a:rPr sz="570" b="1">
                <a:solidFill>
                  <a:srgbClr val="FFFFFF"/>
                </a:solidFill>
              </a:rPr>
              <a:t>行动项</a:t>
            </a:r>
          </a:p>
        </p:txBody>
      </p:sp>
      <p:sp>
        <p:nvSpPr>
          <p:cNvPr id="11" name="">
            <a:extLst xmlns:a="http://schemas.openxmlformats.org/drawingml/2006/main">
              <a:ext uri="{FF2B5EF4-FFF2-40B4-BE49-F238E27FC236}">
                <a16:creationId xmlns:a16="http://schemas.microsoft.com/office/drawing/2014/main" id="{4ADA8532-D7BE-471B-9F14-6B0958B09E17}"/>
              </a:ext>
            </a:extLst>
          </p:cNvPr>
          <p:cNvSpPr>
            <a:spLocks xmlns:a="http://schemas.openxmlformats.org/drawingml/2006/main" noGrp="1"/>
          </p:cNvSpPr>
          <p:nvPr/>
        </p:nvSpPr>
        <p:spPr>
          <a:xfrm xmlns:a="http://schemas.openxmlformats.org/drawingml/2006/main">
            <a:off x="1911796" y="1676400"/>
            <a:ext cx="1708930" cy="44958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2" name="">
            <a:extLst xmlns:a="http://schemas.openxmlformats.org/drawingml/2006/main">
              <a:ext uri="{FF2B5EF4-FFF2-40B4-BE49-F238E27FC236}">
                <a16:creationId xmlns:a16="http://schemas.microsoft.com/office/drawing/2014/main" id="{6EEFF0DF-8A8F-456A-A24F-C9FE8E7A1E56}"/>
              </a:ext>
            </a:extLst>
          </p:cNvPr>
          <p:cNvSpPr>
            <a:spLocks xmlns:a="http://schemas.openxmlformats.org/drawingml/2006/main" noGrp="1"/>
          </p:cNvSpPr>
          <p:nvPr/>
        </p:nvSpPr>
        <p:spPr>
          <a:xfrm xmlns:a="http://schemas.openxmlformats.org/drawingml/2006/main">
            <a:off x="1949896" y="1704975"/>
            <a:ext cx="163273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1">
                <a:solidFill>
                  <a:srgbClr val="FFFFFF"/>
                </a:solidFill>
              </a:defRPr>
            </a:pPr>
            <a:r>
              <a:rPr sz="570" b="1">
                <a:solidFill>
                  <a:srgbClr val="FFFFFF"/>
                </a:solidFill>
              </a:rPr>
              <a:t>对应问题</a:t>
            </a:r>
          </a:p>
        </p:txBody>
      </p:sp>
      <p:sp>
        <p:nvSpPr>
          <p:cNvPr id="13" name="">
            <a:extLst xmlns:a="http://schemas.openxmlformats.org/drawingml/2006/main">
              <a:ext uri="{FF2B5EF4-FFF2-40B4-BE49-F238E27FC236}">
                <a16:creationId xmlns:a16="http://schemas.microsoft.com/office/drawing/2014/main" id="{0480F5B5-0895-4CC3-8FE3-456A12FE11A1}"/>
              </a:ext>
            </a:extLst>
          </p:cNvPr>
          <p:cNvSpPr>
            <a:spLocks xmlns:a="http://schemas.openxmlformats.org/drawingml/2006/main" noGrp="1"/>
          </p:cNvSpPr>
          <p:nvPr/>
        </p:nvSpPr>
        <p:spPr>
          <a:xfrm xmlns:a="http://schemas.openxmlformats.org/drawingml/2006/main">
            <a:off x="3620725" y="1676400"/>
            <a:ext cx="1446018" cy="44958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4" name="">
            <a:extLst xmlns:a="http://schemas.openxmlformats.org/drawingml/2006/main">
              <a:ext uri="{FF2B5EF4-FFF2-40B4-BE49-F238E27FC236}">
                <a16:creationId xmlns:a16="http://schemas.microsoft.com/office/drawing/2014/main" id="{C29B4558-3DFD-4D3D-8B16-20BF09A67546}"/>
              </a:ext>
            </a:extLst>
          </p:cNvPr>
          <p:cNvSpPr>
            <a:spLocks xmlns:a="http://schemas.openxmlformats.org/drawingml/2006/main" noGrp="1"/>
          </p:cNvSpPr>
          <p:nvPr/>
        </p:nvSpPr>
        <p:spPr>
          <a:xfrm xmlns:a="http://schemas.openxmlformats.org/drawingml/2006/main">
            <a:off x="3658825" y="1704975"/>
            <a:ext cx="1369818"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1">
                <a:solidFill>
                  <a:srgbClr val="FFFFFF"/>
                </a:solidFill>
              </a:defRPr>
            </a:pPr>
            <a:r>
              <a:rPr sz="570" b="1">
                <a:solidFill>
                  <a:srgbClr val="FFFFFF"/>
                </a:solidFill>
              </a:rPr>
              <a:t>牵头</a:t>
            </a:r>
          </a:p>
        </p:txBody>
      </p:sp>
      <p:sp>
        <p:nvSpPr>
          <p:cNvPr id="15" name="">
            <a:extLst xmlns:a="http://schemas.openxmlformats.org/drawingml/2006/main">
              <a:ext uri="{FF2B5EF4-FFF2-40B4-BE49-F238E27FC236}">
                <a16:creationId xmlns:a16="http://schemas.microsoft.com/office/drawing/2014/main" id="{A0790264-97E7-4DBA-9CAE-C7B394AFCD3D}"/>
              </a:ext>
            </a:extLst>
          </p:cNvPr>
          <p:cNvSpPr>
            <a:spLocks xmlns:a="http://schemas.openxmlformats.org/drawingml/2006/main" noGrp="1"/>
          </p:cNvSpPr>
          <p:nvPr/>
        </p:nvSpPr>
        <p:spPr>
          <a:xfrm xmlns:a="http://schemas.openxmlformats.org/drawingml/2006/main">
            <a:off x="5066743" y="1676400"/>
            <a:ext cx="2037570" cy="44958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6" name="">
            <a:extLst xmlns:a="http://schemas.openxmlformats.org/drawingml/2006/main">
              <a:ext uri="{FF2B5EF4-FFF2-40B4-BE49-F238E27FC236}">
                <a16:creationId xmlns:a16="http://schemas.microsoft.com/office/drawing/2014/main" id="{076269C4-D79E-4462-B1EC-1ABEC951E4D3}"/>
              </a:ext>
            </a:extLst>
          </p:cNvPr>
          <p:cNvSpPr>
            <a:spLocks xmlns:a="http://schemas.openxmlformats.org/drawingml/2006/main" noGrp="1"/>
          </p:cNvSpPr>
          <p:nvPr/>
        </p:nvSpPr>
        <p:spPr>
          <a:xfrm xmlns:a="http://schemas.openxmlformats.org/drawingml/2006/main">
            <a:off x="5104843" y="1704975"/>
            <a:ext cx="196137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1">
                <a:solidFill>
                  <a:srgbClr val="FFFFFF"/>
                </a:solidFill>
              </a:defRPr>
            </a:pPr>
            <a:r>
              <a:rPr sz="570" b="1">
                <a:solidFill>
                  <a:srgbClr val="FFFFFF"/>
                </a:solidFill>
              </a:rPr>
              <a:t>参与方</a:t>
            </a:r>
          </a:p>
        </p:txBody>
      </p:sp>
      <p:sp>
        <p:nvSpPr>
          <p:cNvPr id="17" name="">
            <a:extLst xmlns:a="http://schemas.openxmlformats.org/drawingml/2006/main">
              <a:ext uri="{FF2B5EF4-FFF2-40B4-BE49-F238E27FC236}">
                <a16:creationId xmlns:a16="http://schemas.microsoft.com/office/drawing/2014/main" id="{26D83CD4-5535-4B4B-9BBF-172202AC3736}"/>
              </a:ext>
            </a:extLst>
          </p:cNvPr>
          <p:cNvSpPr>
            <a:spLocks xmlns:a="http://schemas.openxmlformats.org/drawingml/2006/main" noGrp="1"/>
          </p:cNvSpPr>
          <p:nvPr/>
        </p:nvSpPr>
        <p:spPr>
          <a:xfrm xmlns:a="http://schemas.openxmlformats.org/drawingml/2006/main">
            <a:off x="7104313" y="1676400"/>
            <a:ext cx="3286404" cy="44958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8" name="">
            <a:extLst xmlns:a="http://schemas.openxmlformats.org/drawingml/2006/main">
              <a:ext uri="{FF2B5EF4-FFF2-40B4-BE49-F238E27FC236}">
                <a16:creationId xmlns:a16="http://schemas.microsoft.com/office/drawing/2014/main" id="{990D20E5-C177-4E65-ABB3-6609D3A8DF95}"/>
              </a:ext>
            </a:extLst>
          </p:cNvPr>
          <p:cNvSpPr>
            <a:spLocks xmlns:a="http://schemas.openxmlformats.org/drawingml/2006/main" noGrp="1"/>
          </p:cNvSpPr>
          <p:nvPr/>
        </p:nvSpPr>
        <p:spPr>
          <a:xfrm xmlns:a="http://schemas.openxmlformats.org/drawingml/2006/main">
            <a:off x="7142413" y="1704975"/>
            <a:ext cx="3210204"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1">
                <a:solidFill>
                  <a:srgbClr val="FFFFFF"/>
                </a:solidFill>
              </a:defRPr>
            </a:pPr>
            <a:r>
              <a:rPr sz="570" b="1">
                <a:solidFill>
                  <a:srgbClr val="FFFFFF"/>
                </a:solidFill>
              </a:rPr>
              <a:t>会前必须输出</a:t>
            </a:r>
          </a:p>
        </p:txBody>
      </p:sp>
      <p:sp>
        <p:nvSpPr>
          <p:cNvPr id="19" name="">
            <a:extLst xmlns:a="http://schemas.openxmlformats.org/drawingml/2006/main">
              <a:ext uri="{FF2B5EF4-FFF2-40B4-BE49-F238E27FC236}">
                <a16:creationId xmlns:a16="http://schemas.microsoft.com/office/drawing/2014/main" id="{4E847391-9A23-4083-B721-84531CE3636C}"/>
              </a:ext>
            </a:extLst>
          </p:cNvPr>
          <p:cNvSpPr>
            <a:spLocks xmlns:a="http://schemas.openxmlformats.org/drawingml/2006/main" noGrp="1"/>
          </p:cNvSpPr>
          <p:nvPr/>
        </p:nvSpPr>
        <p:spPr>
          <a:xfrm xmlns:a="http://schemas.openxmlformats.org/drawingml/2006/main">
            <a:off x="10390717" y="1676400"/>
            <a:ext cx="1248833" cy="44958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20" name="">
            <a:extLst xmlns:a="http://schemas.openxmlformats.org/drawingml/2006/main">
              <a:ext uri="{FF2B5EF4-FFF2-40B4-BE49-F238E27FC236}">
                <a16:creationId xmlns:a16="http://schemas.microsoft.com/office/drawing/2014/main" id="{7C07438B-85BC-4F1C-8C02-FF4B5A963BE4}"/>
              </a:ext>
            </a:extLst>
          </p:cNvPr>
          <p:cNvSpPr>
            <a:spLocks xmlns:a="http://schemas.openxmlformats.org/drawingml/2006/main" noGrp="1"/>
          </p:cNvSpPr>
          <p:nvPr/>
        </p:nvSpPr>
        <p:spPr>
          <a:xfrm xmlns:a="http://schemas.openxmlformats.org/drawingml/2006/main">
            <a:off x="10428817" y="1704975"/>
            <a:ext cx="1172633"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1">
                <a:solidFill>
                  <a:srgbClr val="FFFFFF"/>
                </a:solidFill>
              </a:defRPr>
            </a:pPr>
            <a:r>
              <a:rPr sz="570" b="1">
                <a:solidFill>
                  <a:srgbClr val="FFFFFF"/>
                </a:solidFill>
              </a:rPr>
              <a:t>建议完成时间</a:t>
            </a:r>
          </a:p>
        </p:txBody>
      </p:sp>
      <p:sp>
        <p:nvSpPr>
          <p:cNvPr id="21" name="">
            <a:extLst xmlns:a="http://schemas.openxmlformats.org/drawingml/2006/main">
              <a:ext uri="{FF2B5EF4-FFF2-40B4-BE49-F238E27FC236}">
                <a16:creationId xmlns:a16="http://schemas.microsoft.com/office/drawing/2014/main" id="{AA973AAE-EBD2-47C3-9A87-5991B0196087}"/>
              </a:ext>
            </a:extLst>
          </p:cNvPr>
          <p:cNvSpPr>
            <a:spLocks xmlns:a="http://schemas.openxmlformats.org/drawingml/2006/main" noGrp="1"/>
          </p:cNvSpPr>
          <p:nvPr/>
        </p:nvSpPr>
        <p:spPr>
          <a:xfrm xmlns:a="http://schemas.openxmlformats.org/drawingml/2006/main">
            <a:off x="400050" y="2125980"/>
            <a:ext cx="1511746"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2" name="">
            <a:extLst xmlns:a="http://schemas.openxmlformats.org/drawingml/2006/main">
              <a:ext uri="{FF2B5EF4-FFF2-40B4-BE49-F238E27FC236}">
                <a16:creationId xmlns:a16="http://schemas.microsoft.com/office/drawing/2014/main" id="{75D7E794-76C2-4F4A-BA2A-D069259A5229}"/>
              </a:ext>
            </a:extLst>
          </p:cNvPr>
          <p:cNvSpPr>
            <a:spLocks xmlns:a="http://schemas.openxmlformats.org/drawingml/2006/main" noGrp="1"/>
          </p:cNvSpPr>
          <p:nvPr/>
        </p:nvSpPr>
        <p:spPr>
          <a:xfrm xmlns:a="http://schemas.openxmlformats.org/drawingml/2006/main">
            <a:off x="438150" y="2154555"/>
            <a:ext cx="1435546"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A0 组织职责与MDM输入机制确认</a:t>
            </a:r>
          </a:p>
        </p:txBody>
      </p:sp>
      <p:sp>
        <p:nvSpPr>
          <p:cNvPr id="23" name="">
            <a:extLst xmlns:a="http://schemas.openxmlformats.org/drawingml/2006/main">
              <a:ext uri="{FF2B5EF4-FFF2-40B4-BE49-F238E27FC236}">
                <a16:creationId xmlns:a16="http://schemas.microsoft.com/office/drawing/2014/main" id="{4BADA799-0DCD-4BA4-8FA2-3C114DB10866}"/>
              </a:ext>
            </a:extLst>
          </p:cNvPr>
          <p:cNvSpPr>
            <a:spLocks xmlns:a="http://schemas.openxmlformats.org/drawingml/2006/main" noGrp="1"/>
          </p:cNvSpPr>
          <p:nvPr/>
        </p:nvSpPr>
        <p:spPr>
          <a:xfrm xmlns:a="http://schemas.openxmlformats.org/drawingml/2006/main">
            <a:off x="1911796" y="2125980"/>
            <a:ext cx="1708930"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4" name="">
            <a:extLst xmlns:a="http://schemas.openxmlformats.org/drawingml/2006/main">
              <a:ext uri="{FF2B5EF4-FFF2-40B4-BE49-F238E27FC236}">
                <a16:creationId xmlns:a16="http://schemas.microsoft.com/office/drawing/2014/main" id="{402FF7B3-2C53-4F97-86CB-440EAE219568}"/>
              </a:ext>
            </a:extLst>
          </p:cNvPr>
          <p:cNvSpPr>
            <a:spLocks xmlns:a="http://schemas.openxmlformats.org/drawingml/2006/main" noGrp="1"/>
          </p:cNvSpPr>
          <p:nvPr/>
        </p:nvSpPr>
        <p:spPr>
          <a:xfrm xmlns:a="http://schemas.openxmlformats.org/drawingml/2006/main">
            <a:off x="1949896" y="2154555"/>
            <a:ext cx="163273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主数据与接口工作缺少统一入口</a:t>
            </a:r>
          </a:p>
        </p:txBody>
      </p:sp>
      <p:sp>
        <p:nvSpPr>
          <p:cNvPr id="25" name="">
            <a:extLst xmlns:a="http://schemas.openxmlformats.org/drawingml/2006/main">
              <a:ext uri="{FF2B5EF4-FFF2-40B4-BE49-F238E27FC236}">
                <a16:creationId xmlns:a16="http://schemas.microsoft.com/office/drawing/2014/main" id="{1EBFF3CF-B43F-4CE4-AAD1-93E6C16C30FC}"/>
              </a:ext>
            </a:extLst>
          </p:cNvPr>
          <p:cNvSpPr>
            <a:spLocks xmlns:a="http://schemas.openxmlformats.org/drawingml/2006/main" noGrp="1"/>
          </p:cNvSpPr>
          <p:nvPr/>
        </p:nvSpPr>
        <p:spPr>
          <a:xfrm xmlns:a="http://schemas.openxmlformats.org/drawingml/2006/main">
            <a:off x="3620725" y="2125980"/>
            <a:ext cx="1446018"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6" name="">
            <a:extLst xmlns:a="http://schemas.openxmlformats.org/drawingml/2006/main">
              <a:ext uri="{FF2B5EF4-FFF2-40B4-BE49-F238E27FC236}">
                <a16:creationId xmlns:a16="http://schemas.microsoft.com/office/drawing/2014/main" id="{64D6B8D9-BA10-4DEA-BDF3-AA99FC9D85E3}"/>
              </a:ext>
            </a:extLst>
          </p:cNvPr>
          <p:cNvSpPr>
            <a:spLocks xmlns:a="http://schemas.openxmlformats.org/drawingml/2006/main" noGrp="1"/>
          </p:cNvSpPr>
          <p:nvPr/>
        </p:nvSpPr>
        <p:spPr>
          <a:xfrm xmlns:a="http://schemas.openxmlformats.org/drawingml/2006/main">
            <a:off x="3658825" y="2154555"/>
            <a:ext cx="1369818"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项目管理部</a:t>
            </a:r>
          </a:p>
        </p:txBody>
      </p:sp>
      <p:sp>
        <p:nvSpPr>
          <p:cNvPr id="27" name="">
            <a:extLst xmlns:a="http://schemas.openxmlformats.org/drawingml/2006/main">
              <a:ext uri="{FF2B5EF4-FFF2-40B4-BE49-F238E27FC236}">
                <a16:creationId xmlns:a16="http://schemas.microsoft.com/office/drawing/2014/main" id="{BB89FBF9-A28E-4341-8025-DA48ADFCAAD1}"/>
              </a:ext>
            </a:extLst>
          </p:cNvPr>
          <p:cNvSpPr>
            <a:spLocks xmlns:a="http://schemas.openxmlformats.org/drawingml/2006/main" noGrp="1"/>
          </p:cNvSpPr>
          <p:nvPr/>
        </p:nvSpPr>
        <p:spPr>
          <a:xfrm xmlns:a="http://schemas.openxmlformats.org/drawingml/2006/main">
            <a:off x="5066743" y="2125980"/>
            <a:ext cx="2037570"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8" name="">
            <a:extLst xmlns:a="http://schemas.openxmlformats.org/drawingml/2006/main">
              <a:ext uri="{FF2B5EF4-FFF2-40B4-BE49-F238E27FC236}">
                <a16:creationId xmlns:a16="http://schemas.microsoft.com/office/drawing/2014/main" id="{29C9DA7C-5E0D-4383-9010-43291A39BF7D}"/>
              </a:ext>
            </a:extLst>
          </p:cNvPr>
          <p:cNvSpPr>
            <a:spLocks xmlns:a="http://schemas.openxmlformats.org/drawingml/2006/main" noGrp="1"/>
          </p:cNvSpPr>
          <p:nvPr/>
        </p:nvSpPr>
        <p:spPr>
          <a:xfrm xmlns:a="http://schemas.openxmlformats.org/drawingml/2006/main">
            <a:off x="5104843" y="2154555"/>
            <a:ext cx="196137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行政人事部、工程技术部、质量管理部、物资保障部、复材车间、财务部、各实施方</a:t>
            </a:r>
          </a:p>
        </p:txBody>
      </p:sp>
      <p:sp>
        <p:nvSpPr>
          <p:cNvPr id="29" name="">
            <a:extLst xmlns:a="http://schemas.openxmlformats.org/drawingml/2006/main">
              <a:ext uri="{FF2B5EF4-FFF2-40B4-BE49-F238E27FC236}">
                <a16:creationId xmlns:a16="http://schemas.microsoft.com/office/drawing/2014/main" id="{901317E5-A688-47ED-B10B-A95B48E13137}"/>
              </a:ext>
            </a:extLst>
          </p:cNvPr>
          <p:cNvSpPr>
            <a:spLocks xmlns:a="http://schemas.openxmlformats.org/drawingml/2006/main" noGrp="1"/>
          </p:cNvSpPr>
          <p:nvPr/>
        </p:nvSpPr>
        <p:spPr>
          <a:xfrm xmlns:a="http://schemas.openxmlformats.org/drawingml/2006/main">
            <a:off x="7104313" y="2125980"/>
            <a:ext cx="3286404"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0" name="">
            <a:extLst xmlns:a="http://schemas.openxmlformats.org/drawingml/2006/main">
              <a:ext uri="{FF2B5EF4-FFF2-40B4-BE49-F238E27FC236}">
                <a16:creationId xmlns:a16="http://schemas.microsoft.com/office/drawing/2014/main" id="{DBE5A732-2822-4FD6-8107-DC65D1DECCC7}"/>
              </a:ext>
            </a:extLst>
          </p:cNvPr>
          <p:cNvSpPr>
            <a:spLocks xmlns:a="http://schemas.openxmlformats.org/drawingml/2006/main" noGrp="1"/>
          </p:cNvSpPr>
          <p:nvPr/>
        </p:nvSpPr>
        <p:spPr>
          <a:xfrm xmlns:a="http://schemas.openxmlformats.org/drawingml/2006/main">
            <a:off x="7142413" y="2154555"/>
            <a:ext cx="3210204"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集成预审工作组名单；业务确认人/数据确认人；部门映射表模板；术语治理清单V0.1</a:t>
            </a:r>
          </a:p>
        </p:txBody>
      </p:sp>
      <p:sp>
        <p:nvSpPr>
          <p:cNvPr id="31" name="">
            <a:extLst xmlns:a="http://schemas.openxmlformats.org/drawingml/2006/main">
              <a:ext uri="{FF2B5EF4-FFF2-40B4-BE49-F238E27FC236}">
                <a16:creationId xmlns:a16="http://schemas.microsoft.com/office/drawing/2014/main" id="{6DC42F3D-2536-47C3-9AD0-7F2D85C56414}"/>
              </a:ext>
            </a:extLst>
          </p:cNvPr>
          <p:cNvSpPr>
            <a:spLocks xmlns:a="http://schemas.openxmlformats.org/drawingml/2006/main" noGrp="1"/>
          </p:cNvSpPr>
          <p:nvPr/>
        </p:nvSpPr>
        <p:spPr>
          <a:xfrm xmlns:a="http://schemas.openxmlformats.org/drawingml/2006/main">
            <a:off x="10390717" y="2125980"/>
            <a:ext cx="1248833"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2" name="">
            <a:extLst xmlns:a="http://schemas.openxmlformats.org/drawingml/2006/main">
              <a:ext uri="{FF2B5EF4-FFF2-40B4-BE49-F238E27FC236}">
                <a16:creationId xmlns:a16="http://schemas.microsoft.com/office/drawing/2014/main" id="{DCC3BD29-02AA-45AA-87BF-C132283B43EF}"/>
              </a:ext>
            </a:extLst>
          </p:cNvPr>
          <p:cNvSpPr>
            <a:spLocks xmlns:a="http://schemas.openxmlformats.org/drawingml/2006/main" noGrp="1"/>
          </p:cNvSpPr>
          <p:nvPr/>
        </p:nvSpPr>
        <p:spPr>
          <a:xfrm xmlns:a="http://schemas.openxmlformats.org/drawingml/2006/main">
            <a:off x="10428817" y="2154555"/>
            <a:ext cx="1172633"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2026-05-08</a:t>
            </a:r>
          </a:p>
        </p:txBody>
      </p:sp>
      <p:sp>
        <p:nvSpPr>
          <p:cNvPr id="33" name="">
            <a:extLst xmlns:a="http://schemas.openxmlformats.org/drawingml/2006/main">
              <a:ext uri="{FF2B5EF4-FFF2-40B4-BE49-F238E27FC236}">
                <a16:creationId xmlns:a16="http://schemas.microsoft.com/office/drawing/2014/main" id="{64D315C0-D85B-4979-9C89-C23BD8DFC466}"/>
              </a:ext>
            </a:extLst>
          </p:cNvPr>
          <p:cNvSpPr>
            <a:spLocks xmlns:a="http://schemas.openxmlformats.org/drawingml/2006/main" noGrp="1"/>
          </p:cNvSpPr>
          <p:nvPr/>
        </p:nvSpPr>
        <p:spPr>
          <a:xfrm xmlns:a="http://schemas.openxmlformats.org/drawingml/2006/main">
            <a:off x="400050" y="2575560"/>
            <a:ext cx="1511746"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4" name="">
            <a:extLst xmlns:a="http://schemas.openxmlformats.org/drawingml/2006/main">
              <a:ext uri="{FF2B5EF4-FFF2-40B4-BE49-F238E27FC236}">
                <a16:creationId xmlns:a16="http://schemas.microsoft.com/office/drawing/2014/main" id="{F1F79F46-3490-4528-9F16-2A1CF412FF39}"/>
              </a:ext>
            </a:extLst>
          </p:cNvPr>
          <p:cNvSpPr>
            <a:spLocks xmlns:a="http://schemas.openxmlformats.org/drawingml/2006/main" noGrp="1"/>
          </p:cNvSpPr>
          <p:nvPr/>
        </p:nvSpPr>
        <p:spPr>
          <a:xfrm xmlns:a="http://schemas.openxmlformats.org/drawingml/2006/main">
            <a:off x="438150" y="2604135"/>
            <a:ext cx="1435546"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A1 PLM供应商能力确认</a:t>
            </a:r>
          </a:p>
        </p:txBody>
      </p:sp>
      <p:sp>
        <p:nvSpPr>
          <p:cNvPr id="35" name="">
            <a:extLst xmlns:a="http://schemas.openxmlformats.org/drawingml/2006/main">
              <a:ext uri="{FF2B5EF4-FFF2-40B4-BE49-F238E27FC236}">
                <a16:creationId xmlns:a16="http://schemas.microsoft.com/office/drawing/2014/main" id="{AD4C77CE-6ADA-45F7-9C77-ED0854D177DE}"/>
              </a:ext>
            </a:extLst>
          </p:cNvPr>
          <p:cNvSpPr>
            <a:spLocks xmlns:a="http://schemas.openxmlformats.org/drawingml/2006/main" noGrp="1"/>
          </p:cNvSpPr>
          <p:nvPr/>
        </p:nvSpPr>
        <p:spPr>
          <a:xfrm xmlns:a="http://schemas.openxmlformats.org/drawingml/2006/main">
            <a:off x="1911796" y="2575560"/>
            <a:ext cx="1708930"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6" name="">
            <a:extLst xmlns:a="http://schemas.openxmlformats.org/drawingml/2006/main">
              <a:ext uri="{FF2B5EF4-FFF2-40B4-BE49-F238E27FC236}">
                <a16:creationId xmlns:a16="http://schemas.microsoft.com/office/drawing/2014/main" id="{0829A6C9-E9AC-4612-BF62-A809397161C9}"/>
              </a:ext>
            </a:extLst>
          </p:cNvPr>
          <p:cNvSpPr>
            <a:spLocks xmlns:a="http://schemas.openxmlformats.org/drawingml/2006/main" noGrp="1"/>
          </p:cNvSpPr>
          <p:nvPr/>
        </p:nvSpPr>
        <p:spPr>
          <a:xfrm xmlns:a="http://schemas.openxmlformats.org/drawingml/2006/main">
            <a:off x="1949896" y="2604135"/>
            <a:ext cx="163273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 已完成（翎瑞鸿翔，一期MBOM/ECO/工程项目管理）</a:t>
            </a:r>
          </a:p>
        </p:txBody>
      </p:sp>
      <p:sp>
        <p:nvSpPr>
          <p:cNvPr id="37" name="">
            <a:extLst xmlns:a="http://schemas.openxmlformats.org/drawingml/2006/main">
              <a:ext uri="{FF2B5EF4-FFF2-40B4-BE49-F238E27FC236}">
                <a16:creationId xmlns:a16="http://schemas.microsoft.com/office/drawing/2014/main" id="{0BB10D69-786C-4FFC-B03E-D9E4B8B2711D}"/>
              </a:ext>
            </a:extLst>
          </p:cNvPr>
          <p:cNvSpPr>
            <a:spLocks xmlns:a="http://schemas.openxmlformats.org/drawingml/2006/main" noGrp="1"/>
          </p:cNvSpPr>
          <p:nvPr/>
        </p:nvSpPr>
        <p:spPr>
          <a:xfrm xmlns:a="http://schemas.openxmlformats.org/drawingml/2006/main">
            <a:off x="3620725" y="2575560"/>
            <a:ext cx="1446018"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8" name="">
            <a:extLst xmlns:a="http://schemas.openxmlformats.org/drawingml/2006/main">
              <a:ext uri="{FF2B5EF4-FFF2-40B4-BE49-F238E27FC236}">
                <a16:creationId xmlns:a16="http://schemas.microsoft.com/office/drawing/2014/main" id="{ADCB7664-B0BA-4D69-8EEC-353A19D02806}"/>
              </a:ext>
            </a:extLst>
          </p:cNvPr>
          <p:cNvSpPr>
            <a:spLocks xmlns:a="http://schemas.openxmlformats.org/drawingml/2006/main" noGrp="1"/>
          </p:cNvSpPr>
          <p:nvPr/>
        </p:nvSpPr>
        <p:spPr>
          <a:xfrm xmlns:a="http://schemas.openxmlformats.org/drawingml/2006/main">
            <a:off x="3658825" y="2604135"/>
            <a:ext cx="1369818"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项目管理部 + 工程技术部</a:t>
            </a:r>
          </a:p>
        </p:txBody>
      </p:sp>
      <p:sp>
        <p:nvSpPr>
          <p:cNvPr id="39" name="">
            <a:extLst xmlns:a="http://schemas.openxmlformats.org/drawingml/2006/main">
              <a:ext uri="{FF2B5EF4-FFF2-40B4-BE49-F238E27FC236}">
                <a16:creationId xmlns:a16="http://schemas.microsoft.com/office/drawing/2014/main" id="{5AB0267D-C9CC-47C2-8239-01111B90BC70}"/>
              </a:ext>
            </a:extLst>
          </p:cNvPr>
          <p:cNvSpPr>
            <a:spLocks xmlns:a="http://schemas.openxmlformats.org/drawingml/2006/main" noGrp="1"/>
          </p:cNvSpPr>
          <p:nvPr/>
        </p:nvSpPr>
        <p:spPr>
          <a:xfrm xmlns:a="http://schemas.openxmlformats.org/drawingml/2006/main">
            <a:off x="5066743" y="2575560"/>
            <a:ext cx="2037570"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0" name="">
            <a:extLst xmlns:a="http://schemas.openxmlformats.org/drawingml/2006/main">
              <a:ext uri="{FF2B5EF4-FFF2-40B4-BE49-F238E27FC236}">
                <a16:creationId xmlns:a16="http://schemas.microsoft.com/office/drawing/2014/main" id="{D814E9D9-2C84-4210-A583-9FD30D46D904}"/>
              </a:ext>
            </a:extLst>
          </p:cNvPr>
          <p:cNvSpPr>
            <a:spLocks xmlns:a="http://schemas.openxmlformats.org/drawingml/2006/main" noGrp="1"/>
          </p:cNvSpPr>
          <p:nvPr/>
        </p:nvSpPr>
        <p:spPr>
          <a:xfrm xmlns:a="http://schemas.openxmlformats.org/drawingml/2006/main">
            <a:off x="5104843" y="2604135"/>
            <a:ext cx="196137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翎瑞鸿翔、质量管理部、复材车间、用友U8/MES接口代表</a:t>
            </a:r>
          </a:p>
        </p:txBody>
      </p:sp>
      <p:sp>
        <p:nvSpPr>
          <p:cNvPr id="41" name="">
            <a:extLst xmlns:a="http://schemas.openxmlformats.org/drawingml/2006/main">
              <a:ext uri="{FF2B5EF4-FFF2-40B4-BE49-F238E27FC236}">
                <a16:creationId xmlns:a16="http://schemas.microsoft.com/office/drawing/2014/main" id="{FA813D17-738C-409D-BDCD-9292396A1F85}"/>
              </a:ext>
            </a:extLst>
          </p:cNvPr>
          <p:cNvSpPr>
            <a:spLocks xmlns:a="http://schemas.openxmlformats.org/drawingml/2006/main" noGrp="1"/>
          </p:cNvSpPr>
          <p:nvPr/>
        </p:nvSpPr>
        <p:spPr>
          <a:xfrm xmlns:a="http://schemas.openxmlformats.org/drawingml/2006/main">
            <a:off x="7104313" y="2575560"/>
            <a:ext cx="3286404"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2" name="">
            <a:extLst xmlns:a="http://schemas.openxmlformats.org/drawingml/2006/main">
              <a:ext uri="{FF2B5EF4-FFF2-40B4-BE49-F238E27FC236}">
                <a16:creationId xmlns:a16="http://schemas.microsoft.com/office/drawing/2014/main" id="{4662C0A3-824B-44E0-BB72-89FDB76E9163}"/>
              </a:ext>
            </a:extLst>
          </p:cNvPr>
          <p:cNvSpPr>
            <a:spLocks xmlns:a="http://schemas.openxmlformats.org/drawingml/2006/main" noGrp="1"/>
          </p:cNvSpPr>
          <p:nvPr/>
        </p:nvSpPr>
        <p:spPr>
          <a:xfrm xmlns:a="http://schemas.openxmlformats.org/drawingml/2006/main">
            <a:off x="7142413" y="2604135"/>
            <a:ext cx="3210204"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PLM洽谈结论已归档；《翎瑞鸿翔PLM洽谈结论（2026-05-07）》已纳入5月9日会议材料包</a:t>
            </a:r>
          </a:p>
        </p:txBody>
      </p:sp>
      <p:sp>
        <p:nvSpPr>
          <p:cNvPr id="43" name="">
            <a:extLst xmlns:a="http://schemas.openxmlformats.org/drawingml/2006/main">
              <a:ext uri="{FF2B5EF4-FFF2-40B4-BE49-F238E27FC236}">
                <a16:creationId xmlns:a16="http://schemas.microsoft.com/office/drawing/2014/main" id="{642CBABA-8520-4922-BD52-482067F45287}"/>
              </a:ext>
            </a:extLst>
          </p:cNvPr>
          <p:cNvSpPr>
            <a:spLocks xmlns:a="http://schemas.openxmlformats.org/drawingml/2006/main" noGrp="1"/>
          </p:cNvSpPr>
          <p:nvPr/>
        </p:nvSpPr>
        <p:spPr>
          <a:xfrm xmlns:a="http://schemas.openxmlformats.org/drawingml/2006/main">
            <a:off x="10390717" y="2575560"/>
            <a:ext cx="1248833"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4" name="">
            <a:extLst xmlns:a="http://schemas.openxmlformats.org/drawingml/2006/main">
              <a:ext uri="{FF2B5EF4-FFF2-40B4-BE49-F238E27FC236}">
                <a16:creationId xmlns:a16="http://schemas.microsoft.com/office/drawing/2014/main" id="{25775444-1457-4716-A17E-454F6F698B49}"/>
              </a:ext>
            </a:extLst>
          </p:cNvPr>
          <p:cNvSpPr>
            <a:spLocks xmlns:a="http://schemas.openxmlformats.org/drawingml/2006/main" noGrp="1"/>
          </p:cNvSpPr>
          <p:nvPr/>
        </p:nvSpPr>
        <p:spPr>
          <a:xfrm xmlns:a="http://schemas.openxmlformats.org/drawingml/2006/main">
            <a:off x="10428817" y="2604135"/>
            <a:ext cx="1172633"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2026-05-07 ✅</a:t>
            </a:r>
          </a:p>
        </p:txBody>
      </p:sp>
      <p:sp>
        <p:nvSpPr>
          <p:cNvPr id="45" name="">
            <a:extLst xmlns:a="http://schemas.openxmlformats.org/drawingml/2006/main">
              <a:ext uri="{FF2B5EF4-FFF2-40B4-BE49-F238E27FC236}">
                <a16:creationId xmlns:a16="http://schemas.microsoft.com/office/drawing/2014/main" id="{68327E87-5AD4-40C1-B480-595D0BB92587}"/>
              </a:ext>
            </a:extLst>
          </p:cNvPr>
          <p:cNvSpPr>
            <a:spLocks xmlns:a="http://schemas.openxmlformats.org/drawingml/2006/main" noGrp="1"/>
          </p:cNvSpPr>
          <p:nvPr/>
        </p:nvSpPr>
        <p:spPr>
          <a:xfrm xmlns:a="http://schemas.openxmlformats.org/drawingml/2006/main">
            <a:off x="400050" y="3025140"/>
            <a:ext cx="1511746"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6" name="">
            <a:extLst xmlns:a="http://schemas.openxmlformats.org/drawingml/2006/main">
              <a:ext uri="{FF2B5EF4-FFF2-40B4-BE49-F238E27FC236}">
                <a16:creationId xmlns:a16="http://schemas.microsoft.com/office/drawing/2014/main" id="{F8BCF84D-96A0-4331-97BE-61A169EED971}"/>
              </a:ext>
            </a:extLst>
          </p:cNvPr>
          <p:cNvSpPr>
            <a:spLocks xmlns:a="http://schemas.openxmlformats.org/drawingml/2006/main" noGrp="1"/>
          </p:cNvSpPr>
          <p:nvPr/>
        </p:nvSpPr>
        <p:spPr>
          <a:xfrm xmlns:a="http://schemas.openxmlformats.org/drawingml/2006/main">
            <a:off x="438150" y="3053715"/>
            <a:ext cx="1435546"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A2 EBOM→MBOM转换规则预沟通</a:t>
            </a:r>
          </a:p>
        </p:txBody>
      </p:sp>
      <p:sp>
        <p:nvSpPr>
          <p:cNvPr id="47" name="">
            <a:extLst xmlns:a="http://schemas.openxmlformats.org/drawingml/2006/main">
              <a:ext uri="{FF2B5EF4-FFF2-40B4-BE49-F238E27FC236}">
                <a16:creationId xmlns:a16="http://schemas.microsoft.com/office/drawing/2014/main" id="{1E257D34-7FAE-4D42-AC3F-19E0C97E9C88}"/>
              </a:ext>
            </a:extLst>
          </p:cNvPr>
          <p:cNvSpPr>
            <a:spLocks xmlns:a="http://schemas.openxmlformats.org/drawingml/2006/main" noGrp="1"/>
          </p:cNvSpPr>
          <p:nvPr/>
        </p:nvSpPr>
        <p:spPr>
          <a:xfrm xmlns:a="http://schemas.openxmlformats.org/drawingml/2006/main">
            <a:off x="1911796" y="3025140"/>
            <a:ext cx="1708930"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8" name="">
            <a:extLst xmlns:a="http://schemas.openxmlformats.org/drawingml/2006/main">
              <a:ext uri="{FF2B5EF4-FFF2-40B4-BE49-F238E27FC236}">
                <a16:creationId xmlns:a16="http://schemas.microsoft.com/office/drawing/2014/main" id="{59C6F8A8-59FC-4B7B-A299-0EE3D4613CFA}"/>
              </a:ext>
            </a:extLst>
          </p:cNvPr>
          <p:cNvSpPr>
            <a:spLocks xmlns:a="http://schemas.openxmlformats.org/drawingml/2006/main" noGrp="1"/>
          </p:cNvSpPr>
          <p:nvPr/>
        </p:nvSpPr>
        <p:spPr>
          <a:xfrm xmlns:a="http://schemas.openxmlformats.org/drawingml/2006/main">
            <a:off x="1949896" y="3053715"/>
            <a:ext cx="163273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BOM头风险点已识别，待一期实施阶段细化</a:t>
            </a:r>
          </a:p>
        </p:txBody>
      </p:sp>
      <p:sp>
        <p:nvSpPr>
          <p:cNvPr id="49" name="">
            <a:extLst xmlns:a="http://schemas.openxmlformats.org/drawingml/2006/main">
              <a:ext uri="{FF2B5EF4-FFF2-40B4-BE49-F238E27FC236}">
                <a16:creationId xmlns:a16="http://schemas.microsoft.com/office/drawing/2014/main" id="{C01408C6-C818-4E86-A8A6-05EB591B6D6A}"/>
              </a:ext>
            </a:extLst>
          </p:cNvPr>
          <p:cNvSpPr>
            <a:spLocks xmlns:a="http://schemas.openxmlformats.org/drawingml/2006/main" noGrp="1"/>
          </p:cNvSpPr>
          <p:nvPr/>
        </p:nvSpPr>
        <p:spPr>
          <a:xfrm xmlns:a="http://schemas.openxmlformats.org/drawingml/2006/main">
            <a:off x="3620725" y="3025140"/>
            <a:ext cx="1446018"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0" name="">
            <a:extLst xmlns:a="http://schemas.openxmlformats.org/drawingml/2006/main">
              <a:ext uri="{FF2B5EF4-FFF2-40B4-BE49-F238E27FC236}">
                <a16:creationId xmlns:a16="http://schemas.microsoft.com/office/drawing/2014/main" id="{2D597925-0641-424D-B7CE-43B35EB7EA4C}"/>
              </a:ext>
            </a:extLst>
          </p:cNvPr>
          <p:cNvSpPr>
            <a:spLocks xmlns:a="http://schemas.openxmlformats.org/drawingml/2006/main" noGrp="1"/>
          </p:cNvSpPr>
          <p:nvPr/>
        </p:nvSpPr>
        <p:spPr>
          <a:xfrm xmlns:a="http://schemas.openxmlformats.org/drawingml/2006/main">
            <a:off x="3658825" y="3053715"/>
            <a:ext cx="1369818"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工程技术部 + 复材车间</a:t>
            </a:r>
          </a:p>
        </p:txBody>
      </p:sp>
      <p:sp>
        <p:nvSpPr>
          <p:cNvPr id="51" name="">
            <a:extLst xmlns:a="http://schemas.openxmlformats.org/drawingml/2006/main">
              <a:ext uri="{FF2B5EF4-FFF2-40B4-BE49-F238E27FC236}">
                <a16:creationId xmlns:a16="http://schemas.microsoft.com/office/drawing/2014/main" id="{8800805D-2DE5-4D95-864E-FC3BAACAFE33}"/>
              </a:ext>
            </a:extLst>
          </p:cNvPr>
          <p:cNvSpPr>
            <a:spLocks xmlns:a="http://schemas.openxmlformats.org/drawingml/2006/main" noGrp="1"/>
          </p:cNvSpPr>
          <p:nvPr/>
        </p:nvSpPr>
        <p:spPr>
          <a:xfrm xmlns:a="http://schemas.openxmlformats.org/drawingml/2006/main">
            <a:off x="5066743" y="3025140"/>
            <a:ext cx="2037570"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2" name="">
            <a:extLst xmlns:a="http://schemas.openxmlformats.org/drawingml/2006/main">
              <a:ext uri="{FF2B5EF4-FFF2-40B4-BE49-F238E27FC236}">
                <a16:creationId xmlns:a16="http://schemas.microsoft.com/office/drawing/2014/main" id="{49A7DD07-258F-44B8-87BF-22C0F5AC8947}"/>
              </a:ext>
            </a:extLst>
          </p:cNvPr>
          <p:cNvSpPr>
            <a:spLocks xmlns:a="http://schemas.openxmlformats.org/drawingml/2006/main" noGrp="1"/>
          </p:cNvSpPr>
          <p:nvPr/>
        </p:nvSpPr>
        <p:spPr>
          <a:xfrm xmlns:a="http://schemas.openxmlformats.org/drawingml/2006/main">
            <a:off x="5104843" y="3053715"/>
            <a:ext cx="196137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CAPP/MES/ERP相关实施方、项目管理部</a:t>
            </a:r>
          </a:p>
        </p:txBody>
      </p:sp>
      <p:sp>
        <p:nvSpPr>
          <p:cNvPr id="53" name="">
            <a:extLst xmlns:a="http://schemas.openxmlformats.org/drawingml/2006/main">
              <a:ext uri="{FF2B5EF4-FFF2-40B4-BE49-F238E27FC236}">
                <a16:creationId xmlns:a16="http://schemas.microsoft.com/office/drawing/2014/main" id="{B7CA358B-AD22-4174-B915-69FD6B4416C4}"/>
              </a:ext>
            </a:extLst>
          </p:cNvPr>
          <p:cNvSpPr>
            <a:spLocks xmlns:a="http://schemas.openxmlformats.org/drawingml/2006/main" noGrp="1"/>
          </p:cNvSpPr>
          <p:nvPr/>
        </p:nvSpPr>
        <p:spPr>
          <a:xfrm xmlns:a="http://schemas.openxmlformats.org/drawingml/2006/main">
            <a:off x="7104313" y="3025140"/>
            <a:ext cx="3286404"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4" name="">
            <a:extLst xmlns:a="http://schemas.openxmlformats.org/drawingml/2006/main">
              <a:ext uri="{FF2B5EF4-FFF2-40B4-BE49-F238E27FC236}">
                <a16:creationId xmlns:a16="http://schemas.microsoft.com/office/drawing/2014/main" id="{8AC370E8-A264-4C08-8731-729142598176}"/>
              </a:ext>
            </a:extLst>
          </p:cNvPr>
          <p:cNvSpPr>
            <a:spLocks xmlns:a="http://schemas.openxmlformats.org/drawingml/2006/main" noGrp="1"/>
          </p:cNvSpPr>
          <p:nvPr/>
        </p:nvSpPr>
        <p:spPr>
          <a:xfrm xmlns:a="http://schemas.openxmlformats.org/drawingml/2006/main">
            <a:off x="7142413" y="3053715"/>
            <a:ext cx="3210204"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BOM头风险已并入PLM洽谈结论；一期由人工或临时方案承接，CAPP后续规划</a:t>
            </a:r>
          </a:p>
        </p:txBody>
      </p:sp>
      <p:sp>
        <p:nvSpPr>
          <p:cNvPr id="55" name="">
            <a:extLst xmlns:a="http://schemas.openxmlformats.org/drawingml/2006/main">
              <a:ext uri="{FF2B5EF4-FFF2-40B4-BE49-F238E27FC236}">
                <a16:creationId xmlns:a16="http://schemas.microsoft.com/office/drawing/2014/main" id="{EA0A3597-C26F-4439-A354-B267BFA17461}"/>
              </a:ext>
            </a:extLst>
          </p:cNvPr>
          <p:cNvSpPr>
            <a:spLocks xmlns:a="http://schemas.openxmlformats.org/drawingml/2006/main" noGrp="1"/>
          </p:cNvSpPr>
          <p:nvPr/>
        </p:nvSpPr>
        <p:spPr>
          <a:xfrm xmlns:a="http://schemas.openxmlformats.org/drawingml/2006/main">
            <a:off x="10390717" y="3025140"/>
            <a:ext cx="1248833"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6" name="">
            <a:extLst xmlns:a="http://schemas.openxmlformats.org/drawingml/2006/main">
              <a:ext uri="{FF2B5EF4-FFF2-40B4-BE49-F238E27FC236}">
                <a16:creationId xmlns:a16="http://schemas.microsoft.com/office/drawing/2014/main" id="{3CD2D2AF-AA10-4B65-B7AB-F75BA78A0938}"/>
              </a:ext>
            </a:extLst>
          </p:cNvPr>
          <p:cNvSpPr>
            <a:spLocks xmlns:a="http://schemas.openxmlformats.org/drawingml/2006/main" noGrp="1"/>
          </p:cNvSpPr>
          <p:nvPr/>
        </p:nvSpPr>
        <p:spPr>
          <a:xfrm xmlns:a="http://schemas.openxmlformats.org/drawingml/2006/main">
            <a:off x="10428817" y="3053715"/>
            <a:ext cx="1172633"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2026-05-08</a:t>
            </a:r>
          </a:p>
        </p:txBody>
      </p:sp>
      <p:sp>
        <p:nvSpPr>
          <p:cNvPr id="57" name="">
            <a:extLst xmlns:a="http://schemas.openxmlformats.org/drawingml/2006/main">
              <a:ext uri="{FF2B5EF4-FFF2-40B4-BE49-F238E27FC236}">
                <a16:creationId xmlns:a16="http://schemas.microsoft.com/office/drawing/2014/main" id="{1AB774DC-BDF2-4734-AAF1-649019177E0C}"/>
              </a:ext>
            </a:extLst>
          </p:cNvPr>
          <p:cNvSpPr>
            <a:spLocks xmlns:a="http://schemas.openxmlformats.org/drawingml/2006/main" noGrp="1"/>
          </p:cNvSpPr>
          <p:nvPr/>
        </p:nvSpPr>
        <p:spPr>
          <a:xfrm xmlns:a="http://schemas.openxmlformats.org/drawingml/2006/main">
            <a:off x="400050" y="3474720"/>
            <a:ext cx="1511746"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8" name="">
            <a:extLst xmlns:a="http://schemas.openxmlformats.org/drawingml/2006/main">
              <a:ext uri="{FF2B5EF4-FFF2-40B4-BE49-F238E27FC236}">
                <a16:creationId xmlns:a16="http://schemas.microsoft.com/office/drawing/2014/main" id="{A68E71E9-45B4-4604-8F60-3FA38479AE78}"/>
              </a:ext>
            </a:extLst>
          </p:cNvPr>
          <p:cNvSpPr>
            <a:spLocks xmlns:a="http://schemas.openxmlformats.org/drawingml/2006/main" noGrp="1"/>
          </p:cNvSpPr>
          <p:nvPr/>
        </p:nvSpPr>
        <p:spPr>
          <a:xfrm xmlns:a="http://schemas.openxmlformats.org/drawingml/2006/main">
            <a:off x="438150" y="3503295"/>
            <a:ext cx="1435546"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A3 ECO变更闭环梳理</a:t>
            </a:r>
          </a:p>
        </p:txBody>
      </p:sp>
      <p:sp>
        <p:nvSpPr>
          <p:cNvPr id="59" name="">
            <a:extLst xmlns:a="http://schemas.openxmlformats.org/drawingml/2006/main">
              <a:ext uri="{FF2B5EF4-FFF2-40B4-BE49-F238E27FC236}">
                <a16:creationId xmlns:a16="http://schemas.microsoft.com/office/drawing/2014/main" id="{D8AD265E-555A-4EA1-B387-E37FF499834C}"/>
              </a:ext>
            </a:extLst>
          </p:cNvPr>
          <p:cNvSpPr>
            <a:spLocks xmlns:a="http://schemas.openxmlformats.org/drawingml/2006/main" noGrp="1"/>
          </p:cNvSpPr>
          <p:nvPr/>
        </p:nvSpPr>
        <p:spPr>
          <a:xfrm xmlns:a="http://schemas.openxmlformats.org/drawingml/2006/main">
            <a:off x="1911796" y="3474720"/>
            <a:ext cx="1708930"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0" name="">
            <a:extLst xmlns:a="http://schemas.openxmlformats.org/drawingml/2006/main">
              <a:ext uri="{FF2B5EF4-FFF2-40B4-BE49-F238E27FC236}">
                <a16:creationId xmlns:a16="http://schemas.microsoft.com/office/drawing/2014/main" id="{D0355E90-4435-453F-9B1F-865E3BB8A5AC}"/>
              </a:ext>
            </a:extLst>
          </p:cNvPr>
          <p:cNvSpPr>
            <a:spLocks xmlns:a="http://schemas.openxmlformats.org/drawingml/2006/main" noGrp="1"/>
          </p:cNvSpPr>
          <p:nvPr/>
        </p:nvSpPr>
        <p:spPr>
          <a:xfrm xmlns:a="http://schemas.openxmlformats.org/drawingml/2006/main">
            <a:off x="1949896" y="3503295"/>
            <a:ext cx="163273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 已完成（并入PLM洽谈结论）</a:t>
            </a:r>
          </a:p>
        </p:txBody>
      </p:sp>
      <p:sp>
        <p:nvSpPr>
          <p:cNvPr id="61" name="">
            <a:extLst xmlns:a="http://schemas.openxmlformats.org/drawingml/2006/main">
              <a:ext uri="{FF2B5EF4-FFF2-40B4-BE49-F238E27FC236}">
                <a16:creationId xmlns:a16="http://schemas.microsoft.com/office/drawing/2014/main" id="{BD1EAE13-CE5E-4221-BD85-AC6257643083}"/>
              </a:ext>
            </a:extLst>
          </p:cNvPr>
          <p:cNvSpPr>
            <a:spLocks xmlns:a="http://schemas.openxmlformats.org/drawingml/2006/main" noGrp="1"/>
          </p:cNvSpPr>
          <p:nvPr/>
        </p:nvSpPr>
        <p:spPr>
          <a:xfrm xmlns:a="http://schemas.openxmlformats.org/drawingml/2006/main">
            <a:off x="3620725" y="3474720"/>
            <a:ext cx="1446018"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2" name="">
            <a:extLst xmlns:a="http://schemas.openxmlformats.org/drawingml/2006/main">
              <a:ext uri="{FF2B5EF4-FFF2-40B4-BE49-F238E27FC236}">
                <a16:creationId xmlns:a16="http://schemas.microsoft.com/office/drawing/2014/main" id="{8F3A92A6-DCAA-4B95-90E8-067E7D75DB7A}"/>
              </a:ext>
            </a:extLst>
          </p:cNvPr>
          <p:cNvSpPr>
            <a:spLocks xmlns:a="http://schemas.openxmlformats.org/drawingml/2006/main" noGrp="1"/>
          </p:cNvSpPr>
          <p:nvPr/>
        </p:nvSpPr>
        <p:spPr>
          <a:xfrm xmlns:a="http://schemas.openxmlformats.org/drawingml/2006/main">
            <a:off x="3658825" y="3503295"/>
            <a:ext cx="1369818"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工程技术部</a:t>
            </a:r>
          </a:p>
        </p:txBody>
      </p:sp>
      <p:sp>
        <p:nvSpPr>
          <p:cNvPr id="63" name="">
            <a:extLst xmlns:a="http://schemas.openxmlformats.org/drawingml/2006/main">
              <a:ext uri="{FF2B5EF4-FFF2-40B4-BE49-F238E27FC236}">
                <a16:creationId xmlns:a16="http://schemas.microsoft.com/office/drawing/2014/main" id="{CFF40829-8B95-45B2-8C57-DAB1AE4A10E9}"/>
              </a:ext>
            </a:extLst>
          </p:cNvPr>
          <p:cNvSpPr>
            <a:spLocks xmlns:a="http://schemas.openxmlformats.org/drawingml/2006/main" noGrp="1"/>
          </p:cNvSpPr>
          <p:nvPr/>
        </p:nvSpPr>
        <p:spPr>
          <a:xfrm xmlns:a="http://schemas.openxmlformats.org/drawingml/2006/main">
            <a:off x="5066743" y="3474720"/>
            <a:ext cx="2037570"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4" name="">
            <a:extLst xmlns:a="http://schemas.openxmlformats.org/drawingml/2006/main">
              <a:ext uri="{FF2B5EF4-FFF2-40B4-BE49-F238E27FC236}">
                <a16:creationId xmlns:a16="http://schemas.microsoft.com/office/drawing/2014/main" id="{8616E43F-CDFE-4E1F-ABD6-7774DF1EB023}"/>
              </a:ext>
            </a:extLst>
          </p:cNvPr>
          <p:cNvSpPr>
            <a:spLocks xmlns:a="http://schemas.openxmlformats.org/drawingml/2006/main" noGrp="1"/>
          </p:cNvSpPr>
          <p:nvPr/>
        </p:nvSpPr>
        <p:spPr>
          <a:xfrm xmlns:a="http://schemas.openxmlformats.org/drawingml/2006/main">
            <a:off x="5104843" y="3503295"/>
            <a:ext cx="196137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质量管理部、物资保障部、复材车间、OA、ERP、MES代表</a:t>
            </a:r>
          </a:p>
        </p:txBody>
      </p:sp>
      <p:sp>
        <p:nvSpPr>
          <p:cNvPr id="65" name="">
            <a:extLst xmlns:a="http://schemas.openxmlformats.org/drawingml/2006/main">
              <a:ext uri="{FF2B5EF4-FFF2-40B4-BE49-F238E27FC236}">
                <a16:creationId xmlns:a16="http://schemas.microsoft.com/office/drawing/2014/main" id="{55788AAB-41E6-47D2-8111-B2A9FFA4D102}"/>
              </a:ext>
            </a:extLst>
          </p:cNvPr>
          <p:cNvSpPr>
            <a:spLocks xmlns:a="http://schemas.openxmlformats.org/drawingml/2006/main" noGrp="1"/>
          </p:cNvSpPr>
          <p:nvPr/>
        </p:nvSpPr>
        <p:spPr>
          <a:xfrm xmlns:a="http://schemas.openxmlformats.org/drawingml/2006/main">
            <a:off x="7104313" y="3474720"/>
            <a:ext cx="3286404"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6" name="">
            <a:extLst xmlns:a="http://schemas.openxmlformats.org/drawingml/2006/main">
              <a:ext uri="{FF2B5EF4-FFF2-40B4-BE49-F238E27FC236}">
                <a16:creationId xmlns:a16="http://schemas.microsoft.com/office/drawing/2014/main" id="{AD1FE972-9095-4EC3-AC05-2FA422D8A55A}"/>
              </a:ext>
            </a:extLst>
          </p:cNvPr>
          <p:cNvSpPr>
            <a:spLocks xmlns:a="http://schemas.openxmlformats.org/drawingml/2006/main" noGrp="1"/>
          </p:cNvSpPr>
          <p:nvPr/>
        </p:nvSpPr>
        <p:spPr>
          <a:xfrm xmlns:a="http://schemas.openxmlformats.org/drawingml/2006/main">
            <a:off x="7142413" y="3503295"/>
            <a:ext cx="3210204"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ECO流程已验证，无风险敞口；结论并入《翎瑞鸿翔PLM洽谈结论》</a:t>
            </a:r>
          </a:p>
        </p:txBody>
      </p:sp>
      <p:sp>
        <p:nvSpPr>
          <p:cNvPr id="67" name="">
            <a:extLst xmlns:a="http://schemas.openxmlformats.org/drawingml/2006/main">
              <a:ext uri="{FF2B5EF4-FFF2-40B4-BE49-F238E27FC236}">
                <a16:creationId xmlns:a16="http://schemas.microsoft.com/office/drawing/2014/main" id="{FC3E465A-B5AF-455A-A1FD-D58DEB9EDC4A}"/>
              </a:ext>
            </a:extLst>
          </p:cNvPr>
          <p:cNvSpPr>
            <a:spLocks xmlns:a="http://schemas.openxmlformats.org/drawingml/2006/main" noGrp="1"/>
          </p:cNvSpPr>
          <p:nvPr/>
        </p:nvSpPr>
        <p:spPr>
          <a:xfrm xmlns:a="http://schemas.openxmlformats.org/drawingml/2006/main">
            <a:off x="10390717" y="3474720"/>
            <a:ext cx="1248833"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8" name="">
            <a:extLst xmlns:a="http://schemas.openxmlformats.org/drawingml/2006/main">
              <a:ext uri="{FF2B5EF4-FFF2-40B4-BE49-F238E27FC236}">
                <a16:creationId xmlns:a16="http://schemas.microsoft.com/office/drawing/2014/main" id="{71728DBA-BB62-4C0F-8F55-E5C1C7F49D8B}"/>
              </a:ext>
            </a:extLst>
          </p:cNvPr>
          <p:cNvSpPr>
            <a:spLocks xmlns:a="http://schemas.openxmlformats.org/drawingml/2006/main" noGrp="1"/>
          </p:cNvSpPr>
          <p:nvPr/>
        </p:nvSpPr>
        <p:spPr>
          <a:xfrm xmlns:a="http://schemas.openxmlformats.org/drawingml/2006/main">
            <a:off x="10428817" y="3503295"/>
            <a:ext cx="1172633"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2026-05-07 ✅</a:t>
            </a:r>
          </a:p>
        </p:txBody>
      </p:sp>
      <p:sp>
        <p:nvSpPr>
          <p:cNvPr id="69" name="">
            <a:extLst xmlns:a="http://schemas.openxmlformats.org/drawingml/2006/main">
              <a:ext uri="{FF2B5EF4-FFF2-40B4-BE49-F238E27FC236}">
                <a16:creationId xmlns:a16="http://schemas.microsoft.com/office/drawing/2014/main" id="{203E9EDC-E702-4550-A970-3375F41B5197}"/>
              </a:ext>
            </a:extLst>
          </p:cNvPr>
          <p:cNvSpPr>
            <a:spLocks xmlns:a="http://schemas.openxmlformats.org/drawingml/2006/main" noGrp="1"/>
          </p:cNvSpPr>
          <p:nvPr/>
        </p:nvSpPr>
        <p:spPr>
          <a:xfrm xmlns:a="http://schemas.openxmlformats.org/drawingml/2006/main">
            <a:off x="400050" y="3924300"/>
            <a:ext cx="1511746"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0" name="">
            <a:extLst xmlns:a="http://schemas.openxmlformats.org/drawingml/2006/main">
              <a:ext uri="{FF2B5EF4-FFF2-40B4-BE49-F238E27FC236}">
                <a16:creationId xmlns:a16="http://schemas.microsoft.com/office/drawing/2014/main" id="{89A66501-694B-40A6-9684-A4C3FE6242DC}"/>
              </a:ext>
            </a:extLst>
          </p:cNvPr>
          <p:cNvSpPr>
            <a:spLocks xmlns:a="http://schemas.openxmlformats.org/drawingml/2006/main" noGrp="1"/>
          </p:cNvSpPr>
          <p:nvPr/>
        </p:nvSpPr>
        <p:spPr>
          <a:xfrm xmlns:a="http://schemas.openxmlformats.org/drawingml/2006/main">
            <a:off x="438150" y="3952875"/>
            <a:ext cx="1435546"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A4 SCIM定位预判</a:t>
            </a:r>
          </a:p>
        </p:txBody>
      </p:sp>
      <p:sp>
        <p:nvSpPr>
          <p:cNvPr id="71" name="">
            <a:extLst xmlns:a="http://schemas.openxmlformats.org/drawingml/2006/main">
              <a:ext uri="{FF2B5EF4-FFF2-40B4-BE49-F238E27FC236}">
                <a16:creationId xmlns:a16="http://schemas.microsoft.com/office/drawing/2014/main" id="{D92469E1-E067-475A-9886-5AB05A0C9D06}"/>
              </a:ext>
            </a:extLst>
          </p:cNvPr>
          <p:cNvSpPr>
            <a:spLocks xmlns:a="http://schemas.openxmlformats.org/drawingml/2006/main" noGrp="1"/>
          </p:cNvSpPr>
          <p:nvPr/>
        </p:nvSpPr>
        <p:spPr>
          <a:xfrm xmlns:a="http://schemas.openxmlformats.org/drawingml/2006/main">
            <a:off x="1911796" y="3924300"/>
            <a:ext cx="1708930"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2" name="">
            <a:extLst xmlns:a="http://schemas.openxmlformats.org/drawingml/2006/main">
              <a:ext uri="{FF2B5EF4-FFF2-40B4-BE49-F238E27FC236}">
                <a16:creationId xmlns:a16="http://schemas.microsoft.com/office/drawing/2014/main" id="{616BB532-9F1F-4A70-98AA-544B41008E48}"/>
              </a:ext>
            </a:extLst>
          </p:cNvPr>
          <p:cNvSpPr>
            <a:spLocks xmlns:a="http://schemas.openxmlformats.org/drawingml/2006/main" noGrp="1"/>
          </p:cNvSpPr>
          <p:nvPr/>
        </p:nvSpPr>
        <p:spPr>
          <a:xfrm xmlns:a="http://schemas.openxmlformats.org/drawingml/2006/main">
            <a:off x="1949896" y="3952875"/>
            <a:ext cx="163273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SCIM自研或采购未定</a:t>
            </a:r>
          </a:p>
        </p:txBody>
      </p:sp>
      <p:sp>
        <p:nvSpPr>
          <p:cNvPr id="73" name="">
            <a:extLst xmlns:a="http://schemas.openxmlformats.org/drawingml/2006/main">
              <a:ext uri="{FF2B5EF4-FFF2-40B4-BE49-F238E27FC236}">
                <a16:creationId xmlns:a16="http://schemas.microsoft.com/office/drawing/2014/main" id="{4BEC44E4-3480-455E-A7E1-99409491864E}"/>
              </a:ext>
            </a:extLst>
          </p:cNvPr>
          <p:cNvSpPr>
            <a:spLocks xmlns:a="http://schemas.openxmlformats.org/drawingml/2006/main" noGrp="1"/>
          </p:cNvSpPr>
          <p:nvPr/>
        </p:nvSpPr>
        <p:spPr>
          <a:xfrm xmlns:a="http://schemas.openxmlformats.org/drawingml/2006/main">
            <a:off x="3620725" y="3924300"/>
            <a:ext cx="1446018"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4" name="">
            <a:extLst xmlns:a="http://schemas.openxmlformats.org/drawingml/2006/main">
              <a:ext uri="{FF2B5EF4-FFF2-40B4-BE49-F238E27FC236}">
                <a16:creationId xmlns:a16="http://schemas.microsoft.com/office/drawing/2014/main" id="{1658C5E5-0586-4CC5-B794-CDADF9F80D49}"/>
              </a:ext>
            </a:extLst>
          </p:cNvPr>
          <p:cNvSpPr>
            <a:spLocks xmlns:a="http://schemas.openxmlformats.org/drawingml/2006/main" noGrp="1"/>
          </p:cNvSpPr>
          <p:nvPr/>
        </p:nvSpPr>
        <p:spPr>
          <a:xfrm xmlns:a="http://schemas.openxmlformats.org/drawingml/2006/main">
            <a:off x="3658825" y="3952875"/>
            <a:ext cx="1369818"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物资保障部</a:t>
            </a:r>
          </a:p>
        </p:txBody>
      </p:sp>
      <p:sp>
        <p:nvSpPr>
          <p:cNvPr id="75" name="">
            <a:extLst xmlns:a="http://schemas.openxmlformats.org/drawingml/2006/main">
              <a:ext uri="{FF2B5EF4-FFF2-40B4-BE49-F238E27FC236}">
                <a16:creationId xmlns:a16="http://schemas.microsoft.com/office/drawing/2014/main" id="{64CEC193-481B-4271-9832-BAB2E74DA9BE}"/>
              </a:ext>
            </a:extLst>
          </p:cNvPr>
          <p:cNvSpPr>
            <a:spLocks xmlns:a="http://schemas.openxmlformats.org/drawingml/2006/main" noGrp="1"/>
          </p:cNvSpPr>
          <p:nvPr/>
        </p:nvSpPr>
        <p:spPr>
          <a:xfrm xmlns:a="http://schemas.openxmlformats.org/drawingml/2006/main">
            <a:off x="5066743" y="3924300"/>
            <a:ext cx="2037570"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6" name="">
            <a:extLst xmlns:a="http://schemas.openxmlformats.org/drawingml/2006/main">
              <a:ext uri="{FF2B5EF4-FFF2-40B4-BE49-F238E27FC236}">
                <a16:creationId xmlns:a16="http://schemas.microsoft.com/office/drawing/2014/main" id="{EB9D9145-8D2B-4D49-A0F6-B45B7F75A943}"/>
              </a:ext>
            </a:extLst>
          </p:cNvPr>
          <p:cNvSpPr>
            <a:spLocks xmlns:a="http://schemas.openxmlformats.org/drawingml/2006/main" noGrp="1"/>
          </p:cNvSpPr>
          <p:nvPr/>
        </p:nvSpPr>
        <p:spPr>
          <a:xfrm xmlns:a="http://schemas.openxmlformats.org/drawingml/2006/main">
            <a:off x="5104843" y="3952875"/>
            <a:ext cx="196137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质量管理部、财务部、项目管理部、ERP代表</a:t>
            </a:r>
          </a:p>
        </p:txBody>
      </p:sp>
      <p:sp>
        <p:nvSpPr>
          <p:cNvPr id="77" name="">
            <a:extLst xmlns:a="http://schemas.openxmlformats.org/drawingml/2006/main">
              <a:ext uri="{FF2B5EF4-FFF2-40B4-BE49-F238E27FC236}">
                <a16:creationId xmlns:a16="http://schemas.microsoft.com/office/drawing/2014/main" id="{BC6FC864-5184-4F7E-8088-826075589B62}"/>
              </a:ext>
            </a:extLst>
          </p:cNvPr>
          <p:cNvSpPr>
            <a:spLocks xmlns:a="http://schemas.openxmlformats.org/drawingml/2006/main" noGrp="1"/>
          </p:cNvSpPr>
          <p:nvPr/>
        </p:nvSpPr>
        <p:spPr>
          <a:xfrm xmlns:a="http://schemas.openxmlformats.org/drawingml/2006/main">
            <a:off x="7104313" y="3924300"/>
            <a:ext cx="3286404"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8" name="">
            <a:extLst xmlns:a="http://schemas.openxmlformats.org/drawingml/2006/main">
              <a:ext uri="{FF2B5EF4-FFF2-40B4-BE49-F238E27FC236}">
                <a16:creationId xmlns:a16="http://schemas.microsoft.com/office/drawing/2014/main" id="{59094DB0-F219-4B6E-B046-6801439C80FF}"/>
              </a:ext>
            </a:extLst>
          </p:cNvPr>
          <p:cNvSpPr>
            <a:spLocks xmlns:a="http://schemas.openxmlformats.org/drawingml/2006/main" noGrp="1"/>
          </p:cNvSpPr>
          <p:nvPr/>
        </p:nvSpPr>
        <p:spPr>
          <a:xfrm xmlns:a="http://schemas.openxmlformats.org/drawingml/2006/main">
            <a:off x="7142413" y="3952875"/>
            <a:ext cx="3210204"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供应商协同范围清单：商务、技术、海关/下料、首件检验、不合格品、供应商质量；自研/采购倾向与理由</a:t>
            </a:r>
          </a:p>
        </p:txBody>
      </p:sp>
      <p:sp>
        <p:nvSpPr>
          <p:cNvPr id="79" name="">
            <a:extLst xmlns:a="http://schemas.openxmlformats.org/drawingml/2006/main">
              <a:ext uri="{FF2B5EF4-FFF2-40B4-BE49-F238E27FC236}">
                <a16:creationId xmlns:a16="http://schemas.microsoft.com/office/drawing/2014/main" id="{8BEB7724-6AA7-40CC-B3CF-7172BD95A5BB}"/>
              </a:ext>
            </a:extLst>
          </p:cNvPr>
          <p:cNvSpPr>
            <a:spLocks xmlns:a="http://schemas.openxmlformats.org/drawingml/2006/main" noGrp="1"/>
          </p:cNvSpPr>
          <p:nvPr/>
        </p:nvSpPr>
        <p:spPr>
          <a:xfrm xmlns:a="http://schemas.openxmlformats.org/drawingml/2006/main">
            <a:off x="10390717" y="3924300"/>
            <a:ext cx="1248833"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80" name="">
            <a:extLst xmlns:a="http://schemas.openxmlformats.org/drawingml/2006/main">
              <a:ext uri="{FF2B5EF4-FFF2-40B4-BE49-F238E27FC236}">
                <a16:creationId xmlns:a16="http://schemas.microsoft.com/office/drawing/2014/main" id="{4139BEA2-B835-4F75-A4D0-7DD0AA0D08D2}"/>
              </a:ext>
            </a:extLst>
          </p:cNvPr>
          <p:cNvSpPr>
            <a:spLocks xmlns:a="http://schemas.openxmlformats.org/drawingml/2006/main" noGrp="1"/>
          </p:cNvSpPr>
          <p:nvPr/>
        </p:nvSpPr>
        <p:spPr>
          <a:xfrm xmlns:a="http://schemas.openxmlformats.org/drawingml/2006/main">
            <a:off x="10428817" y="3952875"/>
            <a:ext cx="1172633"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2026-05-08</a:t>
            </a:r>
          </a:p>
        </p:txBody>
      </p:sp>
      <p:sp>
        <p:nvSpPr>
          <p:cNvPr id="81" name="">
            <a:extLst xmlns:a="http://schemas.openxmlformats.org/drawingml/2006/main">
              <a:ext uri="{FF2B5EF4-FFF2-40B4-BE49-F238E27FC236}">
                <a16:creationId xmlns:a16="http://schemas.microsoft.com/office/drawing/2014/main" id="{325939D9-2860-4959-9BF2-695C96E869AE}"/>
              </a:ext>
            </a:extLst>
          </p:cNvPr>
          <p:cNvSpPr>
            <a:spLocks xmlns:a="http://schemas.openxmlformats.org/drawingml/2006/main" noGrp="1"/>
          </p:cNvSpPr>
          <p:nvPr/>
        </p:nvSpPr>
        <p:spPr>
          <a:xfrm xmlns:a="http://schemas.openxmlformats.org/drawingml/2006/main">
            <a:off x="400050" y="4373880"/>
            <a:ext cx="1511746"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82" name="">
            <a:extLst xmlns:a="http://schemas.openxmlformats.org/drawingml/2006/main">
              <a:ext uri="{FF2B5EF4-FFF2-40B4-BE49-F238E27FC236}">
                <a16:creationId xmlns:a16="http://schemas.microsoft.com/office/drawing/2014/main" id="{75F58823-0FF4-4BA3-A8C0-A24702BAF0C3}"/>
              </a:ext>
            </a:extLst>
          </p:cNvPr>
          <p:cNvSpPr>
            <a:spLocks xmlns:a="http://schemas.openxmlformats.org/drawingml/2006/main" noGrp="1"/>
          </p:cNvSpPr>
          <p:nvPr/>
        </p:nvSpPr>
        <p:spPr>
          <a:xfrm xmlns:a="http://schemas.openxmlformats.org/drawingml/2006/main">
            <a:off x="438150" y="4402455"/>
            <a:ext cx="1435546"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A5 数据中台路线预沟通</a:t>
            </a:r>
          </a:p>
        </p:txBody>
      </p:sp>
      <p:sp>
        <p:nvSpPr>
          <p:cNvPr id="83" name="">
            <a:extLst xmlns:a="http://schemas.openxmlformats.org/drawingml/2006/main">
              <a:ext uri="{FF2B5EF4-FFF2-40B4-BE49-F238E27FC236}">
                <a16:creationId xmlns:a16="http://schemas.microsoft.com/office/drawing/2014/main" id="{9C3C774E-EDA5-45DD-BD18-808275319942}"/>
              </a:ext>
            </a:extLst>
          </p:cNvPr>
          <p:cNvSpPr>
            <a:spLocks xmlns:a="http://schemas.openxmlformats.org/drawingml/2006/main" noGrp="1"/>
          </p:cNvSpPr>
          <p:nvPr/>
        </p:nvSpPr>
        <p:spPr>
          <a:xfrm xmlns:a="http://schemas.openxmlformats.org/drawingml/2006/main">
            <a:off x="1911796" y="4373880"/>
            <a:ext cx="1708930"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84" name="">
            <a:extLst xmlns:a="http://schemas.openxmlformats.org/drawingml/2006/main">
              <a:ext uri="{FF2B5EF4-FFF2-40B4-BE49-F238E27FC236}">
                <a16:creationId xmlns:a16="http://schemas.microsoft.com/office/drawing/2014/main" id="{95AFE321-30AE-4491-BE73-9F442106D780}"/>
              </a:ext>
            </a:extLst>
          </p:cNvPr>
          <p:cNvSpPr>
            <a:spLocks xmlns:a="http://schemas.openxmlformats.org/drawingml/2006/main" noGrp="1"/>
          </p:cNvSpPr>
          <p:nvPr/>
        </p:nvSpPr>
        <p:spPr>
          <a:xfrm xmlns:a="http://schemas.openxmlformats.org/drawingml/2006/main">
            <a:off x="1949896" y="4402455"/>
            <a:ext cx="163273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点对点 vs 总线未定</a:t>
            </a:r>
          </a:p>
        </p:txBody>
      </p:sp>
      <p:sp>
        <p:nvSpPr>
          <p:cNvPr id="85" name="">
            <a:extLst xmlns:a="http://schemas.openxmlformats.org/drawingml/2006/main">
              <a:ext uri="{FF2B5EF4-FFF2-40B4-BE49-F238E27FC236}">
                <a16:creationId xmlns:a16="http://schemas.microsoft.com/office/drawing/2014/main" id="{6F529DE8-C415-4BFC-8C54-10FB5697E9EB}"/>
              </a:ext>
            </a:extLst>
          </p:cNvPr>
          <p:cNvSpPr>
            <a:spLocks xmlns:a="http://schemas.openxmlformats.org/drawingml/2006/main" noGrp="1"/>
          </p:cNvSpPr>
          <p:nvPr/>
        </p:nvSpPr>
        <p:spPr>
          <a:xfrm xmlns:a="http://schemas.openxmlformats.org/drawingml/2006/main">
            <a:off x="3620725" y="4373880"/>
            <a:ext cx="1446018"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86" name="">
            <a:extLst xmlns:a="http://schemas.openxmlformats.org/drawingml/2006/main">
              <a:ext uri="{FF2B5EF4-FFF2-40B4-BE49-F238E27FC236}">
                <a16:creationId xmlns:a16="http://schemas.microsoft.com/office/drawing/2014/main" id="{79A0A4E0-8D8A-49F0-B867-2C423A44F7E0}"/>
              </a:ext>
            </a:extLst>
          </p:cNvPr>
          <p:cNvSpPr>
            <a:spLocks xmlns:a="http://schemas.openxmlformats.org/drawingml/2006/main" noGrp="1"/>
          </p:cNvSpPr>
          <p:nvPr/>
        </p:nvSpPr>
        <p:spPr>
          <a:xfrm xmlns:a="http://schemas.openxmlformats.org/drawingml/2006/main">
            <a:off x="3658825" y="4402455"/>
            <a:ext cx="1369818"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项目管理部</a:t>
            </a:r>
          </a:p>
        </p:txBody>
      </p:sp>
      <p:sp>
        <p:nvSpPr>
          <p:cNvPr id="87" name="">
            <a:extLst xmlns:a="http://schemas.openxmlformats.org/drawingml/2006/main">
              <a:ext uri="{FF2B5EF4-FFF2-40B4-BE49-F238E27FC236}">
                <a16:creationId xmlns:a16="http://schemas.microsoft.com/office/drawing/2014/main" id="{6AF34068-38D7-4F72-8B38-4E9BBABA7406}"/>
              </a:ext>
            </a:extLst>
          </p:cNvPr>
          <p:cNvSpPr>
            <a:spLocks xmlns:a="http://schemas.openxmlformats.org/drawingml/2006/main" noGrp="1"/>
          </p:cNvSpPr>
          <p:nvPr/>
        </p:nvSpPr>
        <p:spPr>
          <a:xfrm xmlns:a="http://schemas.openxmlformats.org/drawingml/2006/main">
            <a:off x="5066743" y="4373880"/>
            <a:ext cx="2037570"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88" name="">
            <a:extLst xmlns:a="http://schemas.openxmlformats.org/drawingml/2006/main">
              <a:ext uri="{FF2B5EF4-FFF2-40B4-BE49-F238E27FC236}">
                <a16:creationId xmlns:a16="http://schemas.microsoft.com/office/drawing/2014/main" id="{29497CD4-CE2E-44C8-B131-F6064F2AB141}"/>
              </a:ext>
            </a:extLst>
          </p:cNvPr>
          <p:cNvSpPr>
            <a:spLocks xmlns:a="http://schemas.openxmlformats.org/drawingml/2006/main" noGrp="1"/>
          </p:cNvSpPr>
          <p:nvPr/>
        </p:nvSpPr>
        <p:spPr>
          <a:xfrm xmlns:a="http://schemas.openxmlformats.org/drawingml/2006/main">
            <a:off x="5104843" y="4402455"/>
            <a:ext cx="196137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各系统供应商、工程技术部、质量管理部、物资保障部、复材车间</a:t>
            </a:r>
          </a:p>
        </p:txBody>
      </p:sp>
      <p:sp>
        <p:nvSpPr>
          <p:cNvPr id="89" name="">
            <a:extLst xmlns:a="http://schemas.openxmlformats.org/drawingml/2006/main">
              <a:ext uri="{FF2B5EF4-FFF2-40B4-BE49-F238E27FC236}">
                <a16:creationId xmlns:a16="http://schemas.microsoft.com/office/drawing/2014/main" id="{3534023C-6FB3-4BBB-BAA4-8A401E45801E}"/>
              </a:ext>
            </a:extLst>
          </p:cNvPr>
          <p:cNvSpPr>
            <a:spLocks xmlns:a="http://schemas.openxmlformats.org/drawingml/2006/main" noGrp="1"/>
          </p:cNvSpPr>
          <p:nvPr/>
        </p:nvSpPr>
        <p:spPr>
          <a:xfrm xmlns:a="http://schemas.openxmlformats.org/drawingml/2006/main">
            <a:off x="7104313" y="4373880"/>
            <a:ext cx="3286404"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90" name="">
            <a:extLst xmlns:a="http://schemas.openxmlformats.org/drawingml/2006/main">
              <a:ext uri="{FF2B5EF4-FFF2-40B4-BE49-F238E27FC236}">
                <a16:creationId xmlns:a16="http://schemas.microsoft.com/office/drawing/2014/main" id="{4835346A-C423-4F36-BAB1-04B2C968784A}"/>
              </a:ext>
            </a:extLst>
          </p:cNvPr>
          <p:cNvSpPr>
            <a:spLocks xmlns:a="http://schemas.openxmlformats.org/drawingml/2006/main" noGrp="1"/>
          </p:cNvSpPr>
          <p:nvPr/>
        </p:nvSpPr>
        <p:spPr>
          <a:xfrm xmlns:a="http://schemas.openxmlformats.org/drawingml/2006/main">
            <a:off x="7142413" y="4402455"/>
            <a:ext cx="3210204"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点对点、ESB总线、完整数据中台三种路线的成本、周期、责任边界、追溯能力对比</a:t>
            </a:r>
          </a:p>
        </p:txBody>
      </p:sp>
      <p:sp>
        <p:nvSpPr>
          <p:cNvPr id="91" name="">
            <a:extLst xmlns:a="http://schemas.openxmlformats.org/drawingml/2006/main">
              <a:ext uri="{FF2B5EF4-FFF2-40B4-BE49-F238E27FC236}">
                <a16:creationId xmlns:a16="http://schemas.microsoft.com/office/drawing/2014/main" id="{845FBF02-B9B5-412E-89C8-62F339AD6D86}"/>
              </a:ext>
            </a:extLst>
          </p:cNvPr>
          <p:cNvSpPr>
            <a:spLocks xmlns:a="http://schemas.openxmlformats.org/drawingml/2006/main" noGrp="1"/>
          </p:cNvSpPr>
          <p:nvPr/>
        </p:nvSpPr>
        <p:spPr>
          <a:xfrm xmlns:a="http://schemas.openxmlformats.org/drawingml/2006/main">
            <a:off x="10390717" y="4373880"/>
            <a:ext cx="1248833"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92" name="">
            <a:extLst xmlns:a="http://schemas.openxmlformats.org/drawingml/2006/main">
              <a:ext uri="{FF2B5EF4-FFF2-40B4-BE49-F238E27FC236}">
                <a16:creationId xmlns:a16="http://schemas.microsoft.com/office/drawing/2014/main" id="{B81E6BC8-DBDA-46CE-AD2A-581C6E9BF3FB}"/>
              </a:ext>
            </a:extLst>
          </p:cNvPr>
          <p:cNvSpPr>
            <a:spLocks xmlns:a="http://schemas.openxmlformats.org/drawingml/2006/main" noGrp="1"/>
          </p:cNvSpPr>
          <p:nvPr/>
        </p:nvSpPr>
        <p:spPr>
          <a:xfrm xmlns:a="http://schemas.openxmlformats.org/drawingml/2006/main">
            <a:off x="10428817" y="4402455"/>
            <a:ext cx="1172633"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2026-05-08</a:t>
            </a:r>
          </a:p>
        </p:txBody>
      </p:sp>
      <p:sp>
        <p:nvSpPr>
          <p:cNvPr id="93" name="">
            <a:extLst xmlns:a="http://schemas.openxmlformats.org/drawingml/2006/main">
              <a:ext uri="{FF2B5EF4-FFF2-40B4-BE49-F238E27FC236}">
                <a16:creationId xmlns:a16="http://schemas.microsoft.com/office/drawing/2014/main" id="{3E0A30B2-D608-4E22-85CF-2BFD6396E991}"/>
              </a:ext>
            </a:extLst>
          </p:cNvPr>
          <p:cNvSpPr>
            <a:spLocks xmlns:a="http://schemas.openxmlformats.org/drawingml/2006/main" noGrp="1"/>
          </p:cNvSpPr>
          <p:nvPr/>
        </p:nvSpPr>
        <p:spPr>
          <a:xfrm xmlns:a="http://schemas.openxmlformats.org/drawingml/2006/main">
            <a:off x="400050" y="4823460"/>
            <a:ext cx="1511746"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94" name="">
            <a:extLst xmlns:a="http://schemas.openxmlformats.org/drawingml/2006/main">
              <a:ext uri="{FF2B5EF4-FFF2-40B4-BE49-F238E27FC236}">
                <a16:creationId xmlns:a16="http://schemas.microsoft.com/office/drawing/2014/main" id="{E6DEA2B1-6318-47B3-B82D-41F20DB8F314}"/>
              </a:ext>
            </a:extLst>
          </p:cNvPr>
          <p:cNvSpPr>
            <a:spLocks xmlns:a="http://schemas.openxmlformats.org/drawingml/2006/main" noGrp="1"/>
          </p:cNvSpPr>
          <p:nvPr/>
        </p:nvSpPr>
        <p:spPr>
          <a:xfrm xmlns:a="http://schemas.openxmlformats.org/drawingml/2006/main">
            <a:off x="438150" y="4852035"/>
            <a:ext cx="1435546"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A6 主数据编码技术确认</a:t>
            </a:r>
          </a:p>
        </p:txBody>
      </p:sp>
      <p:sp>
        <p:nvSpPr>
          <p:cNvPr id="95" name="">
            <a:extLst xmlns:a="http://schemas.openxmlformats.org/drawingml/2006/main">
              <a:ext uri="{FF2B5EF4-FFF2-40B4-BE49-F238E27FC236}">
                <a16:creationId xmlns:a16="http://schemas.microsoft.com/office/drawing/2014/main" id="{3361E090-F855-4605-A46A-D49A46F97DC3}"/>
              </a:ext>
            </a:extLst>
          </p:cNvPr>
          <p:cNvSpPr>
            <a:spLocks xmlns:a="http://schemas.openxmlformats.org/drawingml/2006/main" noGrp="1"/>
          </p:cNvSpPr>
          <p:nvPr/>
        </p:nvSpPr>
        <p:spPr>
          <a:xfrm xmlns:a="http://schemas.openxmlformats.org/drawingml/2006/main">
            <a:off x="1911796" y="4823460"/>
            <a:ext cx="1708930"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96" name="">
            <a:extLst xmlns:a="http://schemas.openxmlformats.org/drawingml/2006/main">
              <a:ext uri="{FF2B5EF4-FFF2-40B4-BE49-F238E27FC236}">
                <a16:creationId xmlns:a16="http://schemas.microsoft.com/office/drawing/2014/main" id="{EBE841A4-6505-4E48-9B86-D4D7EF67B049}"/>
              </a:ext>
            </a:extLst>
          </p:cNvPr>
          <p:cNvSpPr>
            <a:spLocks xmlns:a="http://schemas.openxmlformats.org/drawingml/2006/main" noGrp="1"/>
          </p:cNvSpPr>
          <p:nvPr/>
        </p:nvSpPr>
        <p:spPr>
          <a:xfrm xmlns:a="http://schemas.openxmlformats.org/drawingml/2006/main">
            <a:off x="1949896" y="4852035"/>
            <a:ext cx="163273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编码规范未技术确认</a:t>
            </a:r>
          </a:p>
        </p:txBody>
      </p:sp>
      <p:sp>
        <p:nvSpPr>
          <p:cNvPr id="97" name="">
            <a:extLst xmlns:a="http://schemas.openxmlformats.org/drawingml/2006/main">
              <a:ext uri="{FF2B5EF4-FFF2-40B4-BE49-F238E27FC236}">
                <a16:creationId xmlns:a16="http://schemas.microsoft.com/office/drawing/2014/main" id="{000DEC7A-B10E-46D3-B1B7-3487DDD25E77}"/>
              </a:ext>
            </a:extLst>
          </p:cNvPr>
          <p:cNvSpPr>
            <a:spLocks xmlns:a="http://schemas.openxmlformats.org/drawingml/2006/main" noGrp="1"/>
          </p:cNvSpPr>
          <p:nvPr/>
        </p:nvSpPr>
        <p:spPr>
          <a:xfrm xmlns:a="http://schemas.openxmlformats.org/drawingml/2006/main">
            <a:off x="3620725" y="4823460"/>
            <a:ext cx="1446018"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98" name="">
            <a:extLst xmlns:a="http://schemas.openxmlformats.org/drawingml/2006/main">
              <a:ext uri="{FF2B5EF4-FFF2-40B4-BE49-F238E27FC236}">
                <a16:creationId xmlns:a16="http://schemas.microsoft.com/office/drawing/2014/main" id="{B2B10A97-0BB5-4D9A-8014-6413C3713B75}"/>
              </a:ext>
            </a:extLst>
          </p:cNvPr>
          <p:cNvSpPr>
            <a:spLocks xmlns:a="http://schemas.openxmlformats.org/drawingml/2006/main" noGrp="1"/>
          </p:cNvSpPr>
          <p:nvPr/>
        </p:nvSpPr>
        <p:spPr>
          <a:xfrm xmlns:a="http://schemas.openxmlformats.org/drawingml/2006/main">
            <a:off x="3658825" y="4852035"/>
            <a:ext cx="1369818"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工程技术部 + 项目管理部</a:t>
            </a:r>
          </a:p>
        </p:txBody>
      </p:sp>
      <p:sp>
        <p:nvSpPr>
          <p:cNvPr id="99" name="">
            <a:extLst xmlns:a="http://schemas.openxmlformats.org/drawingml/2006/main">
              <a:ext uri="{FF2B5EF4-FFF2-40B4-BE49-F238E27FC236}">
                <a16:creationId xmlns:a16="http://schemas.microsoft.com/office/drawing/2014/main" id="{9977B9DE-D27D-4665-88C5-41B18BDC30F7}"/>
              </a:ext>
            </a:extLst>
          </p:cNvPr>
          <p:cNvSpPr>
            <a:spLocks xmlns:a="http://schemas.openxmlformats.org/drawingml/2006/main" noGrp="1"/>
          </p:cNvSpPr>
          <p:nvPr/>
        </p:nvSpPr>
        <p:spPr>
          <a:xfrm xmlns:a="http://schemas.openxmlformats.org/drawingml/2006/main">
            <a:off x="5066743" y="4823460"/>
            <a:ext cx="2037570"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00" name="">
            <a:extLst xmlns:a="http://schemas.openxmlformats.org/drawingml/2006/main">
              <a:ext uri="{FF2B5EF4-FFF2-40B4-BE49-F238E27FC236}">
                <a16:creationId xmlns:a16="http://schemas.microsoft.com/office/drawing/2014/main" id="{5130CE55-6A37-49D7-AE4B-B1E704D5F6F8}"/>
              </a:ext>
            </a:extLst>
          </p:cNvPr>
          <p:cNvSpPr>
            <a:spLocks xmlns:a="http://schemas.openxmlformats.org/drawingml/2006/main" noGrp="1"/>
          </p:cNvSpPr>
          <p:nvPr/>
        </p:nvSpPr>
        <p:spPr>
          <a:xfrm xmlns:a="http://schemas.openxmlformats.org/drawingml/2006/main">
            <a:off x="5104843" y="4852035"/>
            <a:ext cx="196137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用友U8、北京虎蜥MES、翎瑞鸿翔、PDM/CAPP相关方</a:t>
            </a:r>
          </a:p>
        </p:txBody>
      </p:sp>
      <p:sp>
        <p:nvSpPr>
          <p:cNvPr id="101" name="">
            <a:extLst xmlns:a="http://schemas.openxmlformats.org/drawingml/2006/main">
              <a:ext uri="{FF2B5EF4-FFF2-40B4-BE49-F238E27FC236}">
                <a16:creationId xmlns:a16="http://schemas.microsoft.com/office/drawing/2014/main" id="{932F818F-1CC3-4121-B5BC-966EDCE3F6E4}"/>
              </a:ext>
            </a:extLst>
          </p:cNvPr>
          <p:cNvSpPr>
            <a:spLocks xmlns:a="http://schemas.openxmlformats.org/drawingml/2006/main" noGrp="1"/>
          </p:cNvSpPr>
          <p:nvPr/>
        </p:nvSpPr>
        <p:spPr>
          <a:xfrm xmlns:a="http://schemas.openxmlformats.org/drawingml/2006/main">
            <a:off x="7104313" y="4823460"/>
            <a:ext cx="3286404"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02" name="">
            <a:extLst xmlns:a="http://schemas.openxmlformats.org/drawingml/2006/main">
              <a:ext uri="{FF2B5EF4-FFF2-40B4-BE49-F238E27FC236}">
                <a16:creationId xmlns:a16="http://schemas.microsoft.com/office/drawing/2014/main" id="{5799FE94-31C2-4837-AF66-436BBFC67EF4}"/>
              </a:ext>
            </a:extLst>
          </p:cNvPr>
          <p:cNvSpPr>
            <a:spLocks xmlns:a="http://schemas.openxmlformats.org/drawingml/2006/main" noGrp="1"/>
          </p:cNvSpPr>
          <p:nvPr/>
        </p:nvSpPr>
        <p:spPr>
          <a:xfrm xmlns:a="http://schemas.openxmlformats.org/drawingml/2006/main">
            <a:off x="7142413" y="4852035"/>
            <a:ext cx="3210204"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13位含连字符编码、REV独立字段、字符集、长度、唯一性校验、导入导出限制确认记录</a:t>
            </a:r>
          </a:p>
        </p:txBody>
      </p:sp>
      <p:sp>
        <p:nvSpPr>
          <p:cNvPr id="103" name="">
            <a:extLst xmlns:a="http://schemas.openxmlformats.org/drawingml/2006/main">
              <a:ext uri="{FF2B5EF4-FFF2-40B4-BE49-F238E27FC236}">
                <a16:creationId xmlns:a16="http://schemas.microsoft.com/office/drawing/2014/main" id="{81A69535-2AD1-4F46-B660-D34DF07B4D72}"/>
              </a:ext>
            </a:extLst>
          </p:cNvPr>
          <p:cNvSpPr>
            <a:spLocks xmlns:a="http://schemas.openxmlformats.org/drawingml/2006/main" noGrp="1"/>
          </p:cNvSpPr>
          <p:nvPr/>
        </p:nvSpPr>
        <p:spPr>
          <a:xfrm xmlns:a="http://schemas.openxmlformats.org/drawingml/2006/main">
            <a:off x="10390717" y="4823460"/>
            <a:ext cx="1248833"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04" name="">
            <a:extLst xmlns:a="http://schemas.openxmlformats.org/drawingml/2006/main">
              <a:ext uri="{FF2B5EF4-FFF2-40B4-BE49-F238E27FC236}">
                <a16:creationId xmlns:a16="http://schemas.microsoft.com/office/drawing/2014/main" id="{3E24261D-E77B-4E2C-B26A-F5B6ECF88D48}"/>
              </a:ext>
            </a:extLst>
          </p:cNvPr>
          <p:cNvSpPr>
            <a:spLocks xmlns:a="http://schemas.openxmlformats.org/drawingml/2006/main" noGrp="1"/>
          </p:cNvSpPr>
          <p:nvPr/>
        </p:nvSpPr>
        <p:spPr>
          <a:xfrm xmlns:a="http://schemas.openxmlformats.org/drawingml/2006/main">
            <a:off x="10428817" y="4852035"/>
            <a:ext cx="1172633"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2026-05-08</a:t>
            </a:r>
          </a:p>
        </p:txBody>
      </p:sp>
      <p:sp>
        <p:nvSpPr>
          <p:cNvPr id="105" name="">
            <a:extLst xmlns:a="http://schemas.openxmlformats.org/drawingml/2006/main">
              <a:ext uri="{FF2B5EF4-FFF2-40B4-BE49-F238E27FC236}">
                <a16:creationId xmlns:a16="http://schemas.microsoft.com/office/drawing/2014/main" id="{AE5CE867-046F-4FAB-80E6-260C2B3AC081}"/>
              </a:ext>
            </a:extLst>
          </p:cNvPr>
          <p:cNvSpPr>
            <a:spLocks xmlns:a="http://schemas.openxmlformats.org/drawingml/2006/main" noGrp="1"/>
          </p:cNvSpPr>
          <p:nvPr/>
        </p:nvSpPr>
        <p:spPr>
          <a:xfrm xmlns:a="http://schemas.openxmlformats.org/drawingml/2006/main">
            <a:off x="400050" y="5273040"/>
            <a:ext cx="1511746"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06" name="">
            <a:extLst xmlns:a="http://schemas.openxmlformats.org/drawingml/2006/main">
              <a:ext uri="{FF2B5EF4-FFF2-40B4-BE49-F238E27FC236}">
                <a16:creationId xmlns:a16="http://schemas.microsoft.com/office/drawing/2014/main" id="{D613BE10-6372-4CFB-914C-3CE1EE36EB7D}"/>
              </a:ext>
            </a:extLst>
          </p:cNvPr>
          <p:cNvSpPr>
            <a:spLocks xmlns:a="http://schemas.openxmlformats.org/drawingml/2006/main" noGrp="1"/>
          </p:cNvSpPr>
          <p:nvPr/>
        </p:nvSpPr>
        <p:spPr>
          <a:xfrm xmlns:a="http://schemas.openxmlformats.org/drawingml/2006/main">
            <a:off x="438150" y="5301615"/>
            <a:ext cx="1435546"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A7 接口卡补全</a:t>
            </a:r>
          </a:p>
        </p:txBody>
      </p:sp>
      <p:sp>
        <p:nvSpPr>
          <p:cNvPr id="107" name="">
            <a:extLst xmlns:a="http://schemas.openxmlformats.org/drawingml/2006/main">
              <a:ext uri="{FF2B5EF4-FFF2-40B4-BE49-F238E27FC236}">
                <a16:creationId xmlns:a16="http://schemas.microsoft.com/office/drawing/2014/main" id="{45647987-1FDF-416A-B571-788290F8BFEA}"/>
              </a:ext>
            </a:extLst>
          </p:cNvPr>
          <p:cNvSpPr>
            <a:spLocks xmlns:a="http://schemas.openxmlformats.org/drawingml/2006/main" noGrp="1"/>
          </p:cNvSpPr>
          <p:nvPr/>
        </p:nvSpPr>
        <p:spPr>
          <a:xfrm xmlns:a="http://schemas.openxmlformats.org/drawingml/2006/main">
            <a:off x="1911796" y="5273040"/>
            <a:ext cx="1708930"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08" name="">
            <a:extLst xmlns:a="http://schemas.openxmlformats.org/drawingml/2006/main">
              <a:ext uri="{FF2B5EF4-FFF2-40B4-BE49-F238E27FC236}">
                <a16:creationId xmlns:a16="http://schemas.microsoft.com/office/drawing/2014/main" id="{2CCFD71E-BC2C-4DB2-AC62-C4E1C6DDFEA3}"/>
              </a:ext>
            </a:extLst>
          </p:cNvPr>
          <p:cNvSpPr>
            <a:spLocks xmlns:a="http://schemas.openxmlformats.org/drawingml/2006/main" noGrp="1"/>
          </p:cNvSpPr>
          <p:nvPr/>
        </p:nvSpPr>
        <p:spPr>
          <a:xfrm xmlns:a="http://schemas.openxmlformats.org/drawingml/2006/main">
            <a:off x="1949896" y="5301615"/>
            <a:ext cx="163273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范围调整：PLM相关接口卡降为“一期实施时补齐”，优先完成不依赖PLM的接口卡</a:t>
            </a:r>
          </a:p>
        </p:txBody>
      </p:sp>
      <p:sp>
        <p:nvSpPr>
          <p:cNvPr id="109" name="">
            <a:extLst xmlns:a="http://schemas.openxmlformats.org/drawingml/2006/main">
              <a:ext uri="{FF2B5EF4-FFF2-40B4-BE49-F238E27FC236}">
                <a16:creationId xmlns:a16="http://schemas.microsoft.com/office/drawing/2014/main" id="{6D3B3B81-F388-4ADB-83ED-E869E6EAEA7A}"/>
              </a:ext>
            </a:extLst>
          </p:cNvPr>
          <p:cNvSpPr>
            <a:spLocks xmlns:a="http://schemas.openxmlformats.org/drawingml/2006/main" noGrp="1"/>
          </p:cNvSpPr>
          <p:nvPr/>
        </p:nvSpPr>
        <p:spPr>
          <a:xfrm xmlns:a="http://schemas.openxmlformats.org/drawingml/2006/main">
            <a:off x="3620725" y="5273040"/>
            <a:ext cx="1446018"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10" name="">
            <a:extLst xmlns:a="http://schemas.openxmlformats.org/drawingml/2006/main">
              <a:ext uri="{FF2B5EF4-FFF2-40B4-BE49-F238E27FC236}">
                <a16:creationId xmlns:a16="http://schemas.microsoft.com/office/drawing/2014/main" id="{010A366A-B367-473F-B501-523C41DAD9BB}"/>
              </a:ext>
            </a:extLst>
          </p:cNvPr>
          <p:cNvSpPr>
            <a:spLocks xmlns:a="http://schemas.openxmlformats.org/drawingml/2006/main" noGrp="1"/>
          </p:cNvSpPr>
          <p:nvPr/>
        </p:nvSpPr>
        <p:spPr>
          <a:xfrm xmlns:a="http://schemas.openxmlformats.org/drawingml/2006/main">
            <a:off x="3658825" y="5301615"/>
            <a:ext cx="1369818"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项目管理部</a:t>
            </a:r>
          </a:p>
        </p:txBody>
      </p:sp>
      <p:sp>
        <p:nvSpPr>
          <p:cNvPr id="111" name="">
            <a:extLst xmlns:a="http://schemas.openxmlformats.org/drawingml/2006/main">
              <a:ext uri="{FF2B5EF4-FFF2-40B4-BE49-F238E27FC236}">
                <a16:creationId xmlns:a16="http://schemas.microsoft.com/office/drawing/2014/main" id="{C641F3F3-6C55-4061-9286-51767797F216}"/>
              </a:ext>
            </a:extLst>
          </p:cNvPr>
          <p:cNvSpPr>
            <a:spLocks xmlns:a="http://schemas.openxmlformats.org/drawingml/2006/main" noGrp="1"/>
          </p:cNvSpPr>
          <p:nvPr/>
        </p:nvSpPr>
        <p:spPr>
          <a:xfrm xmlns:a="http://schemas.openxmlformats.org/drawingml/2006/main">
            <a:off x="5066743" y="5273040"/>
            <a:ext cx="2037570"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12" name="">
            <a:extLst xmlns:a="http://schemas.openxmlformats.org/drawingml/2006/main">
              <a:ext uri="{FF2B5EF4-FFF2-40B4-BE49-F238E27FC236}">
                <a16:creationId xmlns:a16="http://schemas.microsoft.com/office/drawing/2014/main" id="{1AF67B84-7856-4B73-9ECD-990B6D84DEDA}"/>
              </a:ext>
            </a:extLst>
          </p:cNvPr>
          <p:cNvSpPr>
            <a:spLocks xmlns:a="http://schemas.openxmlformats.org/drawingml/2006/main" noGrp="1"/>
          </p:cNvSpPr>
          <p:nvPr/>
        </p:nvSpPr>
        <p:spPr>
          <a:xfrm xmlns:a="http://schemas.openxmlformats.org/drawingml/2006/main">
            <a:off x="5104843" y="5301615"/>
            <a:ext cx="196137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ERP/MES/OA/WMS/SCIM各接口负责人；翎瑞鸿翔接口资料待5月9日前提交</a:t>
            </a:r>
          </a:p>
        </p:txBody>
      </p:sp>
      <p:sp>
        <p:nvSpPr>
          <p:cNvPr id="113" name="">
            <a:extLst xmlns:a="http://schemas.openxmlformats.org/drawingml/2006/main">
              <a:ext uri="{FF2B5EF4-FFF2-40B4-BE49-F238E27FC236}">
                <a16:creationId xmlns:a16="http://schemas.microsoft.com/office/drawing/2014/main" id="{9BB6219E-44CA-4BB7-A3B1-FD7B9F75D436}"/>
              </a:ext>
            </a:extLst>
          </p:cNvPr>
          <p:cNvSpPr>
            <a:spLocks xmlns:a="http://schemas.openxmlformats.org/drawingml/2006/main" noGrp="1"/>
          </p:cNvSpPr>
          <p:nvPr/>
        </p:nvSpPr>
        <p:spPr>
          <a:xfrm xmlns:a="http://schemas.openxmlformats.org/drawingml/2006/main">
            <a:off x="7104313" y="5273040"/>
            <a:ext cx="3286404"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14" name="">
            <a:extLst xmlns:a="http://schemas.openxmlformats.org/drawingml/2006/main">
              <a:ext uri="{FF2B5EF4-FFF2-40B4-BE49-F238E27FC236}">
                <a16:creationId xmlns:a16="http://schemas.microsoft.com/office/drawing/2014/main" id="{06909593-0A25-4BB1-9D08-A22D6D1C6A35}"/>
              </a:ext>
            </a:extLst>
          </p:cNvPr>
          <p:cNvSpPr>
            <a:spLocks xmlns:a="http://schemas.openxmlformats.org/drawingml/2006/main" noGrp="1"/>
          </p:cNvSpPr>
          <p:nvPr/>
        </p:nvSpPr>
        <p:spPr>
          <a:xfrm xmlns:a="http://schemas.openxmlformats.org/drawingml/2006/main">
            <a:off x="7142413" y="5301615"/>
            <a:ext cx="3210204"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优先完成不依赖PLM的接口卡（OA↔ERP、ERP↔MES、ERP-MM↔WMS等）；PLM接口卡在一期实施阶段补齐</a:t>
            </a:r>
          </a:p>
        </p:txBody>
      </p:sp>
      <p:sp>
        <p:nvSpPr>
          <p:cNvPr id="115" name="">
            <a:extLst xmlns:a="http://schemas.openxmlformats.org/drawingml/2006/main">
              <a:ext uri="{FF2B5EF4-FFF2-40B4-BE49-F238E27FC236}">
                <a16:creationId xmlns:a16="http://schemas.microsoft.com/office/drawing/2014/main" id="{EC5E3198-B6A7-4E67-BBF7-25F8E42C0EE1}"/>
              </a:ext>
            </a:extLst>
          </p:cNvPr>
          <p:cNvSpPr>
            <a:spLocks xmlns:a="http://schemas.openxmlformats.org/drawingml/2006/main" noGrp="1"/>
          </p:cNvSpPr>
          <p:nvPr/>
        </p:nvSpPr>
        <p:spPr>
          <a:xfrm xmlns:a="http://schemas.openxmlformats.org/drawingml/2006/main">
            <a:off x="10390717" y="5273040"/>
            <a:ext cx="1248833" cy="44958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16" name="">
            <a:extLst xmlns:a="http://schemas.openxmlformats.org/drawingml/2006/main">
              <a:ext uri="{FF2B5EF4-FFF2-40B4-BE49-F238E27FC236}">
                <a16:creationId xmlns:a16="http://schemas.microsoft.com/office/drawing/2014/main" id="{592E61C8-1364-438A-83B5-043D28D5ABB5}"/>
              </a:ext>
            </a:extLst>
          </p:cNvPr>
          <p:cNvSpPr>
            <a:spLocks xmlns:a="http://schemas.openxmlformats.org/drawingml/2006/main" noGrp="1"/>
          </p:cNvSpPr>
          <p:nvPr/>
        </p:nvSpPr>
        <p:spPr>
          <a:xfrm xmlns:a="http://schemas.openxmlformats.org/drawingml/2006/main">
            <a:off x="10428817" y="5301615"/>
            <a:ext cx="1172633"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2026-05-08</a:t>
            </a:r>
          </a:p>
        </p:txBody>
      </p:sp>
      <p:sp>
        <p:nvSpPr>
          <p:cNvPr id="117" name="">
            <a:extLst xmlns:a="http://schemas.openxmlformats.org/drawingml/2006/main">
              <a:ext uri="{FF2B5EF4-FFF2-40B4-BE49-F238E27FC236}">
                <a16:creationId xmlns:a16="http://schemas.microsoft.com/office/drawing/2014/main" id="{46A27118-FF91-43AD-B98D-34BA0C2E4551}"/>
              </a:ext>
            </a:extLst>
          </p:cNvPr>
          <p:cNvSpPr>
            <a:spLocks xmlns:a="http://schemas.openxmlformats.org/drawingml/2006/main" noGrp="1"/>
          </p:cNvSpPr>
          <p:nvPr/>
        </p:nvSpPr>
        <p:spPr>
          <a:xfrm xmlns:a="http://schemas.openxmlformats.org/drawingml/2006/main">
            <a:off x="400050" y="5722620"/>
            <a:ext cx="1511746"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18" name="">
            <a:extLst xmlns:a="http://schemas.openxmlformats.org/drawingml/2006/main">
              <a:ext uri="{FF2B5EF4-FFF2-40B4-BE49-F238E27FC236}">
                <a16:creationId xmlns:a16="http://schemas.microsoft.com/office/drawing/2014/main" id="{5E8EE268-57BD-4DF5-9EE1-9BF9D6AECFB1}"/>
              </a:ext>
            </a:extLst>
          </p:cNvPr>
          <p:cNvSpPr>
            <a:spLocks xmlns:a="http://schemas.openxmlformats.org/drawingml/2006/main" noGrp="1"/>
          </p:cNvSpPr>
          <p:nvPr/>
        </p:nvSpPr>
        <p:spPr>
          <a:xfrm xmlns:a="http://schemas.openxmlformats.org/drawingml/2006/main">
            <a:off x="438150" y="5751195"/>
            <a:ext cx="1435546"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A8 5月9日决策包整理</a:t>
            </a:r>
          </a:p>
        </p:txBody>
      </p:sp>
      <p:sp>
        <p:nvSpPr>
          <p:cNvPr id="119" name="">
            <a:extLst xmlns:a="http://schemas.openxmlformats.org/drawingml/2006/main">
              <a:ext uri="{FF2B5EF4-FFF2-40B4-BE49-F238E27FC236}">
                <a16:creationId xmlns:a16="http://schemas.microsoft.com/office/drawing/2014/main" id="{F4F75D49-A313-4736-A0CD-73D4582F4180}"/>
              </a:ext>
            </a:extLst>
          </p:cNvPr>
          <p:cNvSpPr>
            <a:spLocks xmlns:a="http://schemas.openxmlformats.org/drawingml/2006/main" noGrp="1"/>
          </p:cNvSpPr>
          <p:nvPr/>
        </p:nvSpPr>
        <p:spPr>
          <a:xfrm xmlns:a="http://schemas.openxmlformats.org/drawingml/2006/main">
            <a:off x="1911796" y="5722620"/>
            <a:ext cx="1708930"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20" name="">
            <a:extLst xmlns:a="http://schemas.openxmlformats.org/drawingml/2006/main">
              <a:ext uri="{FF2B5EF4-FFF2-40B4-BE49-F238E27FC236}">
                <a16:creationId xmlns:a16="http://schemas.microsoft.com/office/drawing/2014/main" id="{4D410AD6-620E-44C3-95FA-E7F9214A2EA7}"/>
              </a:ext>
            </a:extLst>
          </p:cNvPr>
          <p:cNvSpPr>
            <a:spLocks xmlns:a="http://schemas.openxmlformats.org/drawingml/2006/main" noGrp="1"/>
          </p:cNvSpPr>
          <p:nvPr/>
        </p:nvSpPr>
        <p:spPr>
          <a:xfrm xmlns:a="http://schemas.openxmlformats.org/drawingml/2006/main">
            <a:off x="1949896" y="5751195"/>
            <a:ext cx="163273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会议无法直接拍板</a:t>
            </a:r>
          </a:p>
        </p:txBody>
      </p:sp>
      <p:sp>
        <p:nvSpPr>
          <p:cNvPr id="121" name="">
            <a:extLst xmlns:a="http://schemas.openxmlformats.org/drawingml/2006/main">
              <a:ext uri="{FF2B5EF4-FFF2-40B4-BE49-F238E27FC236}">
                <a16:creationId xmlns:a16="http://schemas.microsoft.com/office/drawing/2014/main" id="{3FEF4B12-8DA9-4690-9436-7A79AE68DEB9}"/>
              </a:ext>
            </a:extLst>
          </p:cNvPr>
          <p:cNvSpPr>
            <a:spLocks xmlns:a="http://schemas.openxmlformats.org/drawingml/2006/main" noGrp="1"/>
          </p:cNvSpPr>
          <p:nvPr/>
        </p:nvSpPr>
        <p:spPr>
          <a:xfrm xmlns:a="http://schemas.openxmlformats.org/drawingml/2006/main">
            <a:off x="3620725" y="5722620"/>
            <a:ext cx="1446018"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22" name="">
            <a:extLst xmlns:a="http://schemas.openxmlformats.org/drawingml/2006/main">
              <a:ext uri="{FF2B5EF4-FFF2-40B4-BE49-F238E27FC236}">
                <a16:creationId xmlns:a16="http://schemas.microsoft.com/office/drawing/2014/main" id="{99508964-2533-4B63-B58A-CB0001534BD7}"/>
              </a:ext>
            </a:extLst>
          </p:cNvPr>
          <p:cNvSpPr>
            <a:spLocks xmlns:a="http://schemas.openxmlformats.org/drawingml/2006/main" noGrp="1"/>
          </p:cNvSpPr>
          <p:nvPr/>
        </p:nvSpPr>
        <p:spPr>
          <a:xfrm xmlns:a="http://schemas.openxmlformats.org/drawingml/2006/main">
            <a:off x="3658825" y="5751195"/>
            <a:ext cx="1369818"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项目管理部</a:t>
            </a:r>
          </a:p>
        </p:txBody>
      </p:sp>
      <p:sp>
        <p:nvSpPr>
          <p:cNvPr id="123" name="">
            <a:extLst xmlns:a="http://schemas.openxmlformats.org/drawingml/2006/main">
              <a:ext uri="{FF2B5EF4-FFF2-40B4-BE49-F238E27FC236}">
                <a16:creationId xmlns:a16="http://schemas.microsoft.com/office/drawing/2014/main" id="{94BDBED8-7196-4FD1-90BD-A9884C8266E5}"/>
              </a:ext>
            </a:extLst>
          </p:cNvPr>
          <p:cNvSpPr>
            <a:spLocks xmlns:a="http://schemas.openxmlformats.org/drawingml/2006/main" noGrp="1"/>
          </p:cNvSpPr>
          <p:nvPr/>
        </p:nvSpPr>
        <p:spPr>
          <a:xfrm xmlns:a="http://schemas.openxmlformats.org/drawingml/2006/main">
            <a:off x="5066743" y="5722620"/>
            <a:ext cx="2037570"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24" name="">
            <a:extLst xmlns:a="http://schemas.openxmlformats.org/drawingml/2006/main">
              <a:ext uri="{FF2B5EF4-FFF2-40B4-BE49-F238E27FC236}">
                <a16:creationId xmlns:a16="http://schemas.microsoft.com/office/drawing/2014/main" id="{CC041BD3-3194-4565-84F5-E91B5680EE94}"/>
              </a:ext>
            </a:extLst>
          </p:cNvPr>
          <p:cNvSpPr>
            <a:spLocks xmlns:a="http://schemas.openxmlformats.org/drawingml/2006/main" noGrp="1"/>
          </p:cNvSpPr>
          <p:nvPr/>
        </p:nvSpPr>
        <p:spPr>
          <a:xfrm xmlns:a="http://schemas.openxmlformats.org/drawingml/2006/main">
            <a:off x="5104843" y="5751195"/>
            <a:ext cx="196137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各行动项牵头部门</a:t>
            </a:r>
          </a:p>
        </p:txBody>
      </p:sp>
      <p:sp>
        <p:nvSpPr>
          <p:cNvPr id="125" name="">
            <a:extLst xmlns:a="http://schemas.openxmlformats.org/drawingml/2006/main">
              <a:ext uri="{FF2B5EF4-FFF2-40B4-BE49-F238E27FC236}">
                <a16:creationId xmlns:a16="http://schemas.microsoft.com/office/drawing/2014/main" id="{E4EAC7FE-93C0-43CC-A2BB-49D0A9FA7028}"/>
              </a:ext>
            </a:extLst>
          </p:cNvPr>
          <p:cNvSpPr>
            <a:spLocks xmlns:a="http://schemas.openxmlformats.org/drawingml/2006/main" noGrp="1"/>
          </p:cNvSpPr>
          <p:nvPr/>
        </p:nvSpPr>
        <p:spPr>
          <a:xfrm xmlns:a="http://schemas.openxmlformats.org/drawingml/2006/main">
            <a:off x="7104313" y="5722620"/>
            <a:ext cx="3286404"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26" name="">
            <a:extLst xmlns:a="http://schemas.openxmlformats.org/drawingml/2006/main">
              <a:ext uri="{FF2B5EF4-FFF2-40B4-BE49-F238E27FC236}">
                <a16:creationId xmlns:a16="http://schemas.microsoft.com/office/drawing/2014/main" id="{7C22D3CE-C912-424D-81EC-B002912C7841}"/>
              </a:ext>
            </a:extLst>
          </p:cNvPr>
          <p:cNvSpPr>
            <a:spLocks xmlns:a="http://schemas.openxmlformats.org/drawingml/2006/main" noGrp="1"/>
          </p:cNvSpPr>
          <p:nvPr/>
        </p:nvSpPr>
        <p:spPr>
          <a:xfrm xmlns:a="http://schemas.openxmlformats.org/drawingml/2006/main">
            <a:off x="7142413" y="5751195"/>
            <a:ext cx="3210204"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Q1–Q8决策包：每题一页，列明推荐选项、影响范围、未决风险、会上需拍板内容</a:t>
            </a:r>
          </a:p>
        </p:txBody>
      </p:sp>
      <p:sp>
        <p:nvSpPr>
          <p:cNvPr id="127" name="">
            <a:extLst xmlns:a="http://schemas.openxmlformats.org/drawingml/2006/main">
              <a:ext uri="{FF2B5EF4-FFF2-40B4-BE49-F238E27FC236}">
                <a16:creationId xmlns:a16="http://schemas.microsoft.com/office/drawing/2014/main" id="{4EB98B8D-DF93-469B-831C-8C20454D6868}"/>
              </a:ext>
            </a:extLst>
          </p:cNvPr>
          <p:cNvSpPr>
            <a:spLocks xmlns:a="http://schemas.openxmlformats.org/drawingml/2006/main" noGrp="1"/>
          </p:cNvSpPr>
          <p:nvPr/>
        </p:nvSpPr>
        <p:spPr>
          <a:xfrm xmlns:a="http://schemas.openxmlformats.org/drawingml/2006/main">
            <a:off x="10390717" y="5722620"/>
            <a:ext cx="1248833" cy="44958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28" name="">
            <a:extLst xmlns:a="http://schemas.openxmlformats.org/drawingml/2006/main">
              <a:ext uri="{FF2B5EF4-FFF2-40B4-BE49-F238E27FC236}">
                <a16:creationId xmlns:a16="http://schemas.microsoft.com/office/drawing/2014/main" id="{D8CF2872-EEA0-4658-9F44-3F0482AC4C28}"/>
              </a:ext>
            </a:extLst>
          </p:cNvPr>
          <p:cNvSpPr>
            <a:spLocks xmlns:a="http://schemas.openxmlformats.org/drawingml/2006/main" noGrp="1"/>
          </p:cNvSpPr>
          <p:nvPr/>
        </p:nvSpPr>
        <p:spPr>
          <a:xfrm xmlns:a="http://schemas.openxmlformats.org/drawingml/2006/main">
            <a:off x="10428817" y="5751195"/>
            <a:ext cx="1172633"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2026-05-08 晚</a:t>
            </a:r>
          </a:p>
        </p:txBody>
      </p:sp>
      <p:sp>
        <p:nvSpPr>
          <p:cNvPr id="129" name="">
            <a:extLst xmlns:a="http://schemas.openxmlformats.org/drawingml/2006/main">
              <a:ext uri="{FF2B5EF4-FFF2-40B4-BE49-F238E27FC236}">
                <a16:creationId xmlns:a16="http://schemas.microsoft.com/office/drawing/2014/main" id="{2C42834C-C57A-49B7-B1F6-1BA7A6689C8C}"/>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26 / 29</a:t>
            </a:r>
          </a:p>
        </p:txBody>
      </p:sp>
    </p:spTree>
    <p:extLst>
      <p:ext uri="{BB962C8B-B14F-4D97-AF65-F5344CB8AC3E}">
        <p14:creationId xmlns:p14="http://schemas.microsoft.com/office/powerpoint/2010/main" val="1366088626"/>
      </p:ext>
    </p:extLst>
  </p:cSld>
</p:sld>
</file>

<file path=ppt/slides/slide2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F88FD5A9-677B-4FB9-B4B1-1B4EFB04204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49DE284-D7DA-4E87-9C62-6D2A5336AEE4}"/>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64125A9-BE89-4DA7-9C51-83EC4855CDDB}"/>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6F3332B-4B05-482E-AB1E-8046F20D58FE}"/>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05.3 组织分工</a:t>
            </a:r>
          </a:p>
        </p:txBody>
      </p:sp>
      <p:sp>
        <p:nvSpPr>
          <p:cNvPr id="6" name="">
            <a:extLst xmlns:a="http://schemas.openxmlformats.org/drawingml/2006/main">
              <a:ext uri="{FF2B5EF4-FFF2-40B4-BE49-F238E27FC236}">
                <a16:creationId xmlns:a16="http://schemas.microsoft.com/office/drawing/2014/main" id="{07870885-3480-4A02-B7B5-940F83D1FF57}"/>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A77F42A2-3B2D-464A-B37C-17A63B4CCF35}"/>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组织分工</a:t>
            </a:r>
          </a:p>
        </p:txBody>
      </p:sp>
      <p:sp>
        <p:nvSpPr>
          <p:cNvPr id="8" name="">
            <a:extLst xmlns:a="http://schemas.openxmlformats.org/drawingml/2006/main">
              <a:ext uri="{FF2B5EF4-FFF2-40B4-BE49-F238E27FC236}">
                <a16:creationId xmlns:a16="http://schemas.microsoft.com/office/drawing/2014/main" id="{CF6A0CAB-98B5-40B7-976F-6C9363915AD1}"/>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预审工作组 · 业务确认人 · 数据确认人</a:t>
            </a:r>
          </a:p>
        </p:txBody>
      </p:sp>
      <p:sp>
        <p:nvSpPr>
          <p:cNvPr id="9" name="">
            <a:extLst xmlns:a="http://schemas.openxmlformats.org/drawingml/2006/main">
              <a:ext uri="{FF2B5EF4-FFF2-40B4-BE49-F238E27FC236}">
                <a16:creationId xmlns:a16="http://schemas.microsoft.com/office/drawing/2014/main" id="{F11029F8-DE33-4B11-A56C-C23A1D2A8CB8}"/>
              </a:ext>
            </a:extLst>
          </p:cNvPr>
          <p:cNvSpPr>
            <a:spLocks xmlns:a="http://schemas.openxmlformats.org/drawingml/2006/main" noGrp="1"/>
          </p:cNvSpPr>
          <p:nvPr/>
        </p:nvSpPr>
        <p:spPr>
          <a:xfrm xmlns:a="http://schemas.openxmlformats.org/drawingml/2006/main">
            <a:off x="552450" y="1695450"/>
            <a:ext cx="10572750" cy="895350"/>
          </a:xfrm>
          <a:prstGeom xmlns:a="http://schemas.openxmlformats.org/drawingml/2006/main" prst="roundRect">
            <a:avLst>
              <a:gd name="adj" fmla="val 8511"/>
            </a:avLst>
          </a:prstGeom>
          <a:solidFill xmlns:a="http://schemas.openxmlformats.org/drawingml/2006/main">
            <a:srgbClr val="EFF6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E0B4D5C6-EE55-478A-B111-BAC5990051AC}"/>
              </a:ext>
            </a:extLst>
          </p:cNvPr>
          <p:cNvSpPr>
            <a:spLocks xmlns:a="http://schemas.openxmlformats.org/drawingml/2006/main" noGrp="1"/>
          </p:cNvSpPr>
          <p:nvPr/>
        </p:nvSpPr>
        <p:spPr>
          <a:xfrm xmlns:a="http://schemas.openxmlformats.org/drawingml/2006/main">
            <a:off x="552450" y="1695450"/>
            <a:ext cx="57150" cy="89535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BD0DA5C7-0ED7-45F4-AA50-DD30F57C505F}"/>
              </a:ext>
            </a:extLst>
          </p:cNvPr>
          <p:cNvSpPr>
            <a:spLocks xmlns:a="http://schemas.openxmlformats.org/drawingml/2006/main" noGrp="1"/>
          </p:cNvSpPr>
          <p:nvPr/>
        </p:nvSpPr>
        <p:spPr>
          <a:xfrm xmlns:a="http://schemas.openxmlformats.org/drawingml/2006/main">
            <a:off x="723900" y="1809750"/>
            <a:ext cx="10229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125" b="1">
                <a:solidFill>
                  <a:srgbClr val="1A56DB"/>
                </a:solidFill>
              </a:defRPr>
            </a:pPr>
            <a:r>
              <a:rPr sz="1125" b="1">
                <a:solidFill>
                  <a:srgbClr val="1A56DB"/>
                </a:solidFill>
              </a:rPr>
              <a:t>预审组织机制</a:t>
            </a:r>
          </a:p>
        </p:txBody>
      </p:sp>
      <p:sp>
        <p:nvSpPr>
          <p:cNvPr id="12" name="">
            <a:extLst xmlns:a="http://schemas.openxmlformats.org/drawingml/2006/main">
              <a:ext uri="{FF2B5EF4-FFF2-40B4-BE49-F238E27FC236}">
                <a16:creationId xmlns:a16="http://schemas.microsoft.com/office/drawing/2014/main" id="{1F14E1CF-AB31-46C3-B72F-E698B2A8DCF7}"/>
              </a:ext>
            </a:extLst>
          </p:cNvPr>
          <p:cNvSpPr>
            <a:spLocks xmlns:a="http://schemas.openxmlformats.org/drawingml/2006/main" noGrp="1"/>
          </p:cNvSpPr>
          <p:nvPr/>
        </p:nvSpPr>
        <p:spPr>
          <a:xfrm xmlns:a="http://schemas.openxmlformats.org/drawingml/2006/main">
            <a:off x="723900" y="2076450"/>
            <a:ext cx="102298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00" b="0">
                <a:solidFill>
                  <a:srgbClr val="475569"/>
                </a:solidFill>
              </a:defRPr>
            </a:pPr>
            <a:r>
              <a:rPr sz="900" b="0">
                <a:solidFill>
                  <a:srgbClr val="475569"/>
                </a:solidFill>
              </a:rPr>
              <a:t>决策层：总经理、经营副总、生产副总对跨部门冲突、系统路线和重大投入进行拍板。 统筹层：项目管理部统一收口 Q1-Q8 决策包、A0-A8行动项、接口卡、供应商资料和会议纪要。 部门层：每个部门至少指定一名业务确认人和一名数据确认人，分别确认流程真实性和字段/编码/主数据完整性。</a:t>
            </a:r>
          </a:p>
        </p:txBody>
      </p:sp>
      <p:sp>
        <p:nvSpPr>
          <p:cNvPr id="13" name="">
            <a:extLst xmlns:a="http://schemas.openxmlformats.org/drawingml/2006/main">
              <a:ext uri="{FF2B5EF4-FFF2-40B4-BE49-F238E27FC236}">
                <a16:creationId xmlns:a16="http://schemas.microsoft.com/office/drawing/2014/main" id="{FD726741-8C26-42F5-9ABF-E91EAFB4889A}"/>
              </a:ext>
            </a:extLst>
          </p:cNvPr>
          <p:cNvSpPr>
            <a:spLocks xmlns:a="http://schemas.openxmlformats.org/drawingml/2006/main" noGrp="1"/>
          </p:cNvSpPr>
          <p:nvPr/>
        </p:nvSpPr>
        <p:spPr>
          <a:xfrm xmlns:a="http://schemas.openxmlformats.org/drawingml/2006/main">
            <a:off x="476250" y="2895600"/>
            <a:ext cx="2476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C1F34C33-D158-404C-B08A-104414BFE0FF}"/>
              </a:ext>
            </a:extLst>
          </p:cNvPr>
          <p:cNvSpPr>
            <a:spLocks xmlns:a="http://schemas.openxmlformats.org/drawingml/2006/main" noGrp="1"/>
          </p:cNvSpPr>
          <p:nvPr/>
        </p:nvSpPr>
        <p:spPr>
          <a:xfrm xmlns:a="http://schemas.openxmlformats.org/drawingml/2006/main">
            <a:off x="476250" y="2895600"/>
            <a:ext cx="47625" cy="10668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851EE7F3-9CBD-460E-8F31-A72C8F820F12}"/>
              </a:ext>
            </a:extLst>
          </p:cNvPr>
          <p:cNvSpPr>
            <a:spLocks xmlns:a="http://schemas.openxmlformats.org/drawingml/2006/main" noGrp="1"/>
          </p:cNvSpPr>
          <p:nvPr/>
        </p:nvSpPr>
        <p:spPr>
          <a:xfrm xmlns:a="http://schemas.openxmlformats.org/drawingml/2006/main">
            <a:off x="647700" y="302895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行政人事部 + OA实施方</a:t>
            </a:r>
          </a:p>
        </p:txBody>
      </p:sp>
      <p:sp>
        <p:nvSpPr>
          <p:cNvPr id="16" name="">
            <a:extLst xmlns:a="http://schemas.openxmlformats.org/drawingml/2006/main">
              <a:ext uri="{FF2B5EF4-FFF2-40B4-BE49-F238E27FC236}">
                <a16:creationId xmlns:a16="http://schemas.microsoft.com/office/drawing/2014/main" id="{718E9AB8-B101-411A-ADF4-00A8AF7F0B4D}"/>
              </a:ext>
            </a:extLst>
          </p:cNvPr>
          <p:cNvSpPr>
            <a:spLocks xmlns:a="http://schemas.openxmlformats.org/drawingml/2006/main" noGrp="1"/>
          </p:cNvSpPr>
          <p:nvPr/>
        </p:nvSpPr>
        <p:spPr>
          <a:xfrm xmlns:a="http://schemas.openxmlformats.org/drawingml/2006/main">
            <a:off x="647700" y="3371850"/>
            <a:ext cx="2152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69317"/>
          </a:bodyPr>
          <a:lstStyle xmlns:a="http://schemas.openxmlformats.org/drawingml/2006/main"/>
          <a:p xmlns:a="http://schemas.openxmlformats.org/drawingml/2006/main">
            <a:pPr algn="l">
              <a:defRPr sz="975" b="0">
                <a:solidFill>
                  <a:srgbClr val="475569"/>
                </a:solidFill>
              </a:defRPr>
            </a:pPr>
            <a:r>
              <a:rPr sz="975" b="0">
                <a:solidFill>
                  <a:srgbClr val="475569"/>
                </a:solidFill>
              </a:rPr>
              <a:t>组织、人员、岗位、工号权威源</a:t>
            </a:r>
          </a:p>
          <a:p xmlns:a="http://schemas.openxmlformats.org/drawingml/2006/main">
            <a:pPr algn="l">
              <a:defRPr sz="975" b="0">
                <a:solidFill>
                  <a:srgbClr val="475569"/>
                </a:solidFill>
              </a:defRPr>
            </a:pPr>
            <a:r>
              <a:rPr sz="975" b="0">
                <a:solidFill>
                  <a:srgbClr val="475569"/>
                </a:solidFill>
              </a:rPr>
              <a:t>入转调离流程</a:t>
            </a:r>
          </a:p>
          <a:p xmlns:a="http://schemas.openxmlformats.org/drawingml/2006/main">
            <a:pPr algn="l">
              <a:defRPr sz="975" b="0">
                <a:solidFill>
                  <a:srgbClr val="475569"/>
                </a:solidFill>
              </a:defRPr>
            </a:pPr>
            <a:r>
              <a:rPr sz="975" b="0">
                <a:solidFill>
                  <a:srgbClr val="475569"/>
                </a:solidFill>
              </a:rPr>
              <a:t>SSO/认证能力确认</a:t>
            </a:r>
          </a:p>
          <a:p xmlns:a="http://schemas.openxmlformats.org/drawingml/2006/main">
            <a:pPr algn="l">
              <a:defRPr sz="975" b="0">
                <a:solidFill>
                  <a:srgbClr val="475569"/>
                </a:solidFill>
              </a:defRPr>
            </a:pPr>
            <a:r>
              <a:rPr sz="975" b="0">
                <a:solidFill>
                  <a:srgbClr val="475569"/>
                </a:solidFill>
              </a:rPr>
              <a:t>组织同步字段与频率</a:t>
            </a:r>
          </a:p>
        </p:txBody>
      </p:sp>
      <p:sp>
        <p:nvSpPr>
          <p:cNvPr id="17" name="">
            <a:extLst xmlns:a="http://schemas.openxmlformats.org/drawingml/2006/main">
              <a:ext uri="{FF2B5EF4-FFF2-40B4-BE49-F238E27FC236}">
                <a16:creationId xmlns:a16="http://schemas.microsoft.com/office/drawing/2014/main" id="{D241F430-6C1A-4085-81AF-25A49E2C908F}"/>
              </a:ext>
            </a:extLst>
          </p:cNvPr>
          <p:cNvSpPr>
            <a:spLocks xmlns:a="http://schemas.openxmlformats.org/drawingml/2006/main" noGrp="1"/>
          </p:cNvSpPr>
          <p:nvPr/>
        </p:nvSpPr>
        <p:spPr>
          <a:xfrm xmlns:a="http://schemas.openxmlformats.org/drawingml/2006/main">
            <a:off x="3257550" y="2895600"/>
            <a:ext cx="2476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08D2A57F-B8C4-4FA8-9002-DFDDF28DCA89}"/>
              </a:ext>
            </a:extLst>
          </p:cNvPr>
          <p:cNvSpPr>
            <a:spLocks xmlns:a="http://schemas.openxmlformats.org/drawingml/2006/main" noGrp="1"/>
          </p:cNvSpPr>
          <p:nvPr/>
        </p:nvSpPr>
        <p:spPr>
          <a:xfrm xmlns:a="http://schemas.openxmlformats.org/drawingml/2006/main">
            <a:off x="3257550" y="2895600"/>
            <a:ext cx="47625" cy="1066800"/>
          </a:xfrm>
          <a:prstGeom xmlns:a="http://schemas.openxmlformats.org/drawingml/2006/main" prst="rect">
            <a:avLst/>
          </a:prstGeom>
          <a:solidFill xmlns:a="http://schemas.openxmlformats.org/drawingml/2006/main">
            <a:srgbClr val="7C3AED"/>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966F0453-32FD-4890-BD18-2920A5D699EC}"/>
              </a:ext>
            </a:extLst>
          </p:cNvPr>
          <p:cNvSpPr>
            <a:spLocks xmlns:a="http://schemas.openxmlformats.org/drawingml/2006/main" noGrp="1"/>
          </p:cNvSpPr>
          <p:nvPr/>
        </p:nvSpPr>
        <p:spPr>
          <a:xfrm xmlns:a="http://schemas.openxmlformats.org/drawingml/2006/main">
            <a:off x="3429000" y="302895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工程技术部</a:t>
            </a:r>
          </a:p>
        </p:txBody>
      </p:sp>
      <p:sp>
        <p:nvSpPr>
          <p:cNvPr id="20" name="">
            <a:extLst xmlns:a="http://schemas.openxmlformats.org/drawingml/2006/main">
              <a:ext uri="{FF2B5EF4-FFF2-40B4-BE49-F238E27FC236}">
                <a16:creationId xmlns:a16="http://schemas.microsoft.com/office/drawing/2014/main" id="{E8703367-AD3F-429B-87BC-EFB0770B8AD1}"/>
              </a:ext>
            </a:extLst>
          </p:cNvPr>
          <p:cNvSpPr>
            <a:spLocks xmlns:a="http://schemas.openxmlformats.org/drawingml/2006/main" noGrp="1"/>
          </p:cNvSpPr>
          <p:nvPr/>
        </p:nvSpPr>
        <p:spPr>
          <a:xfrm xmlns:a="http://schemas.openxmlformats.org/drawingml/2006/main">
            <a:off x="3429000" y="3371850"/>
            <a:ext cx="2152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69317"/>
          </a:bodyPr>
          <a:lstStyle xmlns:a="http://schemas.openxmlformats.org/drawingml/2006/main"/>
          <a:p xmlns:a="http://schemas.openxmlformats.org/drawingml/2006/main">
            <a:pPr algn="l">
              <a:defRPr sz="975" b="0">
                <a:solidFill>
                  <a:srgbClr val="475569"/>
                </a:solidFill>
              </a:defRPr>
            </a:pPr>
            <a:r>
              <a:rPr sz="975" b="0">
                <a:solidFill>
                  <a:srgbClr val="475569"/>
                </a:solidFill>
              </a:rPr>
              <a:t>PLM能力确认与需求输入</a:t>
            </a:r>
          </a:p>
          <a:p xmlns:a="http://schemas.openxmlformats.org/drawingml/2006/main">
            <a:pPr algn="l">
              <a:defRPr sz="975" b="0">
                <a:solidFill>
                  <a:srgbClr val="475569"/>
                </a:solidFill>
              </a:defRPr>
            </a:pPr>
            <a:r>
              <a:rPr sz="975" b="0">
                <a:solidFill>
                  <a:srgbClr val="475569"/>
                </a:solidFill>
              </a:rPr>
              <a:t>EBOM、MBD、ECO、设计件物料</a:t>
            </a:r>
          </a:p>
          <a:p xmlns:a="http://schemas.openxmlformats.org/drawingml/2006/main">
            <a:pPr algn="l">
              <a:defRPr sz="975" b="0">
                <a:solidFill>
                  <a:srgbClr val="475569"/>
                </a:solidFill>
              </a:defRPr>
            </a:pPr>
            <a:r>
              <a:rPr sz="975" b="0">
                <a:solidFill>
                  <a:srgbClr val="475569"/>
                </a:solidFill>
              </a:rPr>
              <a:t>版次、构型、生效范围</a:t>
            </a:r>
          </a:p>
          <a:p xmlns:a="http://schemas.openxmlformats.org/drawingml/2006/main">
            <a:pPr algn="l">
              <a:defRPr sz="975" b="0">
                <a:solidFill>
                  <a:srgbClr val="475569"/>
                </a:solidFill>
              </a:defRPr>
            </a:pPr>
            <a:r>
              <a:rPr sz="975" b="0">
                <a:solidFill>
                  <a:srgbClr val="475569"/>
                </a:solidFill>
              </a:rPr>
              <a:t>参与 Q5</a:t>
            </a:r>
          </a:p>
        </p:txBody>
      </p:sp>
      <p:sp>
        <p:nvSpPr>
          <p:cNvPr id="21" name="">
            <a:extLst xmlns:a="http://schemas.openxmlformats.org/drawingml/2006/main">
              <a:ext uri="{FF2B5EF4-FFF2-40B4-BE49-F238E27FC236}">
                <a16:creationId xmlns:a16="http://schemas.microsoft.com/office/drawing/2014/main" id="{4FE117F1-C022-4845-9893-89A0F353384F}"/>
              </a:ext>
            </a:extLst>
          </p:cNvPr>
          <p:cNvSpPr>
            <a:spLocks xmlns:a="http://schemas.openxmlformats.org/drawingml/2006/main" noGrp="1"/>
          </p:cNvSpPr>
          <p:nvPr/>
        </p:nvSpPr>
        <p:spPr>
          <a:xfrm xmlns:a="http://schemas.openxmlformats.org/drawingml/2006/main">
            <a:off x="6038850" y="2895600"/>
            <a:ext cx="2476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75178622-0826-46FE-B6A4-33E4A4A5582F}"/>
              </a:ext>
            </a:extLst>
          </p:cNvPr>
          <p:cNvSpPr>
            <a:spLocks xmlns:a="http://schemas.openxmlformats.org/drawingml/2006/main" noGrp="1"/>
          </p:cNvSpPr>
          <p:nvPr/>
        </p:nvSpPr>
        <p:spPr>
          <a:xfrm xmlns:a="http://schemas.openxmlformats.org/drawingml/2006/main">
            <a:off x="6038850" y="2895600"/>
            <a:ext cx="47625" cy="1066800"/>
          </a:xfrm>
          <a:prstGeom xmlns:a="http://schemas.openxmlformats.org/drawingml/2006/main" prst="rect">
            <a:avLst/>
          </a:prstGeom>
          <a:solidFill xmlns:a="http://schemas.openxmlformats.org/drawingml/2006/main">
            <a:srgbClr val="DC2626"/>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6F55D2B6-001D-41F4-AB98-E56FF38ED928}"/>
              </a:ext>
            </a:extLst>
          </p:cNvPr>
          <p:cNvSpPr>
            <a:spLocks xmlns:a="http://schemas.openxmlformats.org/drawingml/2006/main" noGrp="1"/>
          </p:cNvSpPr>
          <p:nvPr/>
        </p:nvSpPr>
        <p:spPr>
          <a:xfrm xmlns:a="http://schemas.openxmlformats.org/drawingml/2006/main">
            <a:off x="6210300" y="302895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质量管理部</a:t>
            </a:r>
          </a:p>
        </p:txBody>
      </p:sp>
      <p:sp>
        <p:nvSpPr>
          <p:cNvPr id="24" name="">
            <a:extLst xmlns:a="http://schemas.openxmlformats.org/drawingml/2006/main">
              <a:ext uri="{FF2B5EF4-FFF2-40B4-BE49-F238E27FC236}">
                <a16:creationId xmlns:a16="http://schemas.microsoft.com/office/drawing/2014/main" id="{7ACFBF0E-8F26-4101-B8AE-BBA4F8BE9C05}"/>
              </a:ext>
            </a:extLst>
          </p:cNvPr>
          <p:cNvSpPr>
            <a:spLocks xmlns:a="http://schemas.openxmlformats.org/drawingml/2006/main" noGrp="1"/>
          </p:cNvSpPr>
          <p:nvPr/>
        </p:nvSpPr>
        <p:spPr>
          <a:xfrm xmlns:a="http://schemas.openxmlformats.org/drawingml/2006/main">
            <a:off x="6210300" y="3371850"/>
            <a:ext cx="2152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69317"/>
          </a:bodyPr>
          <a:lstStyle xmlns:a="http://schemas.openxmlformats.org/drawingml/2006/main"/>
          <a:p xmlns:a="http://schemas.openxmlformats.org/drawingml/2006/main">
            <a:pPr algn="l">
              <a:defRPr sz="975" b="0">
                <a:solidFill>
                  <a:srgbClr val="475569"/>
                </a:solidFill>
              </a:defRPr>
            </a:pPr>
            <a:r>
              <a:rPr sz="975" b="0">
                <a:solidFill>
                  <a:srgbClr val="475569"/>
                </a:solidFill>
              </a:rPr>
              <a:t>质量规范、NDT、偏离/超差</a:t>
            </a:r>
          </a:p>
          <a:p xmlns:a="http://schemas.openxmlformats.org/drawingml/2006/main">
            <a:pPr algn="l">
              <a:defRPr sz="975" b="0">
                <a:solidFill>
                  <a:srgbClr val="475569"/>
                </a:solidFill>
              </a:defRPr>
            </a:pPr>
            <a:r>
              <a:rPr sz="975" b="0">
                <a:solidFill>
                  <a:srgbClr val="475569"/>
                </a:solidFill>
              </a:rPr>
              <a:t>检验授权与适航追溯</a:t>
            </a:r>
          </a:p>
          <a:p xmlns:a="http://schemas.openxmlformats.org/drawingml/2006/main">
            <a:pPr algn="l">
              <a:defRPr sz="975" b="0">
                <a:solidFill>
                  <a:srgbClr val="475569"/>
                </a:solidFill>
              </a:defRPr>
            </a:pPr>
            <a:r>
              <a:rPr sz="975" b="0">
                <a:solidFill>
                  <a:srgbClr val="475569"/>
                </a:solidFill>
              </a:rPr>
              <a:t>质量文件受控归档</a:t>
            </a:r>
          </a:p>
          <a:p xmlns:a="http://schemas.openxmlformats.org/drawingml/2006/main">
            <a:pPr algn="l">
              <a:defRPr sz="975" b="0">
                <a:solidFill>
                  <a:srgbClr val="475569"/>
                </a:solidFill>
              </a:defRPr>
            </a:pPr>
            <a:r>
              <a:rPr sz="975" b="0">
                <a:solidFill>
                  <a:srgbClr val="475569"/>
                </a:solidFill>
              </a:rPr>
              <a:t>参与 Q8</a:t>
            </a:r>
          </a:p>
        </p:txBody>
      </p:sp>
      <p:sp>
        <p:nvSpPr>
          <p:cNvPr id="25" name="">
            <a:extLst xmlns:a="http://schemas.openxmlformats.org/drawingml/2006/main">
              <a:ext uri="{FF2B5EF4-FFF2-40B4-BE49-F238E27FC236}">
                <a16:creationId xmlns:a16="http://schemas.microsoft.com/office/drawing/2014/main" id="{325B06CA-75CF-45E1-874C-902AFE2CD8B9}"/>
              </a:ext>
            </a:extLst>
          </p:cNvPr>
          <p:cNvSpPr>
            <a:spLocks xmlns:a="http://schemas.openxmlformats.org/drawingml/2006/main" noGrp="1"/>
          </p:cNvSpPr>
          <p:nvPr/>
        </p:nvSpPr>
        <p:spPr>
          <a:xfrm xmlns:a="http://schemas.openxmlformats.org/drawingml/2006/main">
            <a:off x="8820150" y="2895600"/>
            <a:ext cx="2476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00163BBB-9B6B-4C13-8F8E-CA1341C4333E}"/>
              </a:ext>
            </a:extLst>
          </p:cNvPr>
          <p:cNvSpPr>
            <a:spLocks xmlns:a="http://schemas.openxmlformats.org/drawingml/2006/main" noGrp="1"/>
          </p:cNvSpPr>
          <p:nvPr/>
        </p:nvSpPr>
        <p:spPr>
          <a:xfrm xmlns:a="http://schemas.openxmlformats.org/drawingml/2006/main">
            <a:off x="8820150" y="2895600"/>
            <a:ext cx="47625" cy="106680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A719A733-1031-4059-AB08-3C015776E7C3}"/>
              </a:ext>
            </a:extLst>
          </p:cNvPr>
          <p:cNvSpPr>
            <a:spLocks xmlns:a="http://schemas.openxmlformats.org/drawingml/2006/main" noGrp="1"/>
          </p:cNvSpPr>
          <p:nvPr/>
        </p:nvSpPr>
        <p:spPr>
          <a:xfrm xmlns:a="http://schemas.openxmlformats.org/drawingml/2006/main">
            <a:off x="8991600" y="302895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物资保障部</a:t>
            </a:r>
          </a:p>
        </p:txBody>
      </p:sp>
      <p:sp>
        <p:nvSpPr>
          <p:cNvPr id="28" name="">
            <a:extLst xmlns:a="http://schemas.openxmlformats.org/drawingml/2006/main">
              <a:ext uri="{FF2B5EF4-FFF2-40B4-BE49-F238E27FC236}">
                <a16:creationId xmlns:a16="http://schemas.microsoft.com/office/drawing/2014/main" id="{12E8135E-F4F8-4CDD-BC1A-B93DDD2C34BA}"/>
              </a:ext>
            </a:extLst>
          </p:cNvPr>
          <p:cNvSpPr>
            <a:spLocks xmlns:a="http://schemas.openxmlformats.org/drawingml/2006/main" noGrp="1"/>
          </p:cNvSpPr>
          <p:nvPr/>
        </p:nvSpPr>
        <p:spPr>
          <a:xfrm xmlns:a="http://schemas.openxmlformats.org/drawingml/2006/main">
            <a:off x="8991600" y="3371850"/>
            <a:ext cx="2152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69317"/>
          </a:bodyPr>
          <a:lstStyle xmlns:a="http://schemas.openxmlformats.org/drawingml/2006/main"/>
          <a:p xmlns:a="http://schemas.openxmlformats.org/drawingml/2006/main">
            <a:pPr algn="l">
              <a:defRPr sz="975" b="0">
                <a:solidFill>
                  <a:srgbClr val="475569"/>
                </a:solidFill>
              </a:defRPr>
            </a:pPr>
            <a:r>
              <a:rPr sz="975" b="0">
                <a:solidFill>
                  <a:srgbClr val="475569"/>
                </a:solidFill>
              </a:rPr>
              <a:t>采购件、供应商、ASL</a:t>
            </a:r>
          </a:p>
          <a:p xmlns:a="http://schemas.openxmlformats.org/drawingml/2006/main">
            <a:pPr algn="l">
              <a:defRPr sz="975" b="0">
                <a:solidFill>
                  <a:srgbClr val="475569"/>
                </a:solidFill>
              </a:defRPr>
            </a:pPr>
            <a:r>
              <a:rPr sz="975" b="0">
                <a:solidFill>
                  <a:srgbClr val="475569"/>
                </a:solidFill>
              </a:rPr>
              <a:t>SCIM定位与供应商协同范围</a:t>
            </a:r>
          </a:p>
          <a:p xmlns:a="http://schemas.openxmlformats.org/drawingml/2006/main">
            <a:pPr algn="l">
              <a:defRPr sz="975" b="0">
                <a:solidFill>
                  <a:srgbClr val="475569"/>
                </a:solidFill>
              </a:defRPr>
            </a:pPr>
            <a:r>
              <a:rPr sz="975" b="0">
                <a:solidFill>
                  <a:srgbClr val="475569"/>
                </a:solidFill>
              </a:rPr>
              <a:t>WMS库存与预浸料有效期</a:t>
            </a:r>
          </a:p>
          <a:p xmlns:a="http://schemas.openxmlformats.org/drawingml/2006/main">
            <a:pPr algn="l">
              <a:defRPr sz="975" b="0">
                <a:solidFill>
                  <a:srgbClr val="475569"/>
                </a:solidFill>
              </a:defRPr>
            </a:pPr>
            <a:r>
              <a:rPr sz="975" b="0">
                <a:solidFill>
                  <a:srgbClr val="475569"/>
                </a:solidFill>
              </a:rPr>
              <a:t>参与 Q2、A4</a:t>
            </a:r>
          </a:p>
        </p:txBody>
      </p:sp>
      <p:sp>
        <p:nvSpPr>
          <p:cNvPr id="29" name="">
            <a:extLst xmlns:a="http://schemas.openxmlformats.org/drawingml/2006/main">
              <a:ext uri="{FF2B5EF4-FFF2-40B4-BE49-F238E27FC236}">
                <a16:creationId xmlns:a16="http://schemas.microsoft.com/office/drawing/2014/main" id="{CB030B68-C47C-4A16-AD3C-6C25467D9B9D}"/>
              </a:ext>
            </a:extLst>
          </p:cNvPr>
          <p:cNvSpPr>
            <a:spLocks xmlns:a="http://schemas.openxmlformats.org/drawingml/2006/main" noGrp="1"/>
          </p:cNvSpPr>
          <p:nvPr/>
        </p:nvSpPr>
        <p:spPr>
          <a:xfrm xmlns:a="http://schemas.openxmlformats.org/drawingml/2006/main">
            <a:off x="476250" y="4248150"/>
            <a:ext cx="2476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FC351541-B6E9-43C4-A9A5-2E4DDCE7CBC9}"/>
              </a:ext>
            </a:extLst>
          </p:cNvPr>
          <p:cNvSpPr>
            <a:spLocks xmlns:a="http://schemas.openxmlformats.org/drawingml/2006/main" noGrp="1"/>
          </p:cNvSpPr>
          <p:nvPr/>
        </p:nvSpPr>
        <p:spPr>
          <a:xfrm xmlns:a="http://schemas.openxmlformats.org/drawingml/2006/main">
            <a:off x="476250" y="4248150"/>
            <a:ext cx="47625" cy="10668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6604AE26-B390-4F53-B1E5-6FDFA64866A7}"/>
              </a:ext>
            </a:extLst>
          </p:cNvPr>
          <p:cNvSpPr>
            <a:spLocks xmlns:a="http://schemas.openxmlformats.org/drawingml/2006/main" noGrp="1"/>
          </p:cNvSpPr>
          <p:nvPr/>
        </p:nvSpPr>
        <p:spPr>
          <a:xfrm xmlns:a="http://schemas.openxmlformats.org/drawingml/2006/main">
            <a:off x="647700" y="43815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项目管理部</a:t>
            </a:r>
          </a:p>
        </p:txBody>
      </p:sp>
      <p:sp>
        <p:nvSpPr>
          <p:cNvPr id="32" name="">
            <a:extLst xmlns:a="http://schemas.openxmlformats.org/drawingml/2006/main">
              <a:ext uri="{FF2B5EF4-FFF2-40B4-BE49-F238E27FC236}">
                <a16:creationId xmlns:a16="http://schemas.microsoft.com/office/drawing/2014/main" id="{4A4D3117-D4D2-4C8D-8F57-97D219768D9F}"/>
              </a:ext>
            </a:extLst>
          </p:cNvPr>
          <p:cNvSpPr>
            <a:spLocks xmlns:a="http://schemas.openxmlformats.org/drawingml/2006/main" noGrp="1"/>
          </p:cNvSpPr>
          <p:nvPr/>
        </p:nvSpPr>
        <p:spPr>
          <a:xfrm xmlns:a="http://schemas.openxmlformats.org/drawingml/2006/main">
            <a:off x="647700" y="4724400"/>
            <a:ext cx="2152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69317"/>
          </a:bodyPr>
          <a:lstStyle xmlns:a="http://schemas.openxmlformats.org/drawingml/2006/main"/>
          <a:p xmlns:a="http://schemas.openxmlformats.org/drawingml/2006/main">
            <a:pPr algn="l">
              <a:defRPr sz="975" b="0">
                <a:solidFill>
                  <a:srgbClr val="475569"/>
                </a:solidFill>
              </a:defRPr>
            </a:pPr>
            <a:r>
              <a:rPr sz="975" b="0">
                <a:solidFill>
                  <a:srgbClr val="475569"/>
                </a:solidFill>
              </a:rPr>
              <a:t>预审工作组统筹</a:t>
            </a:r>
          </a:p>
          <a:p xmlns:a="http://schemas.openxmlformats.org/drawingml/2006/main">
            <a:pPr algn="l">
              <a:defRPr sz="975" b="0">
                <a:solidFill>
                  <a:srgbClr val="475569"/>
                </a:solidFill>
              </a:defRPr>
            </a:pPr>
            <a:r>
              <a:rPr sz="975" b="0">
                <a:solidFill>
                  <a:srgbClr val="475569"/>
                </a:solidFill>
              </a:rPr>
              <a:t>字段台账、术语清单、接口卡版本管理</a:t>
            </a:r>
          </a:p>
          <a:p xmlns:a="http://schemas.openxmlformats.org/drawingml/2006/main">
            <a:pPr algn="l">
              <a:defRPr sz="975" b="0">
                <a:solidFill>
                  <a:srgbClr val="475569"/>
                </a:solidFill>
              </a:defRPr>
            </a:pPr>
            <a:r>
              <a:rPr sz="975" b="0">
                <a:solidFill>
                  <a:srgbClr val="475569"/>
                </a:solidFill>
              </a:rPr>
              <a:t>Q1-Q8决策包整理</a:t>
            </a:r>
          </a:p>
          <a:p xmlns:a="http://schemas.openxmlformats.org/drawingml/2006/main">
            <a:pPr algn="l">
              <a:defRPr sz="975" b="0">
                <a:solidFill>
                  <a:srgbClr val="475569"/>
                </a:solidFill>
              </a:defRPr>
            </a:pPr>
            <a:r>
              <a:rPr sz="975" b="0">
                <a:solidFill>
                  <a:srgbClr val="475569"/>
                </a:solidFill>
              </a:rPr>
              <a:t>参与 Q7</a:t>
            </a:r>
          </a:p>
        </p:txBody>
      </p:sp>
      <p:sp>
        <p:nvSpPr>
          <p:cNvPr id="33" name="">
            <a:extLst xmlns:a="http://schemas.openxmlformats.org/drawingml/2006/main">
              <a:ext uri="{FF2B5EF4-FFF2-40B4-BE49-F238E27FC236}">
                <a16:creationId xmlns:a16="http://schemas.microsoft.com/office/drawing/2014/main" id="{5B28064E-D2C0-4E91-8373-25EEB119A785}"/>
              </a:ext>
            </a:extLst>
          </p:cNvPr>
          <p:cNvSpPr>
            <a:spLocks xmlns:a="http://schemas.openxmlformats.org/drawingml/2006/main" noGrp="1"/>
          </p:cNvSpPr>
          <p:nvPr/>
        </p:nvSpPr>
        <p:spPr>
          <a:xfrm xmlns:a="http://schemas.openxmlformats.org/drawingml/2006/main">
            <a:off x="3257550" y="4248150"/>
            <a:ext cx="2476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BE42596A-A749-4994-AE11-B0241B7841FF}"/>
              </a:ext>
            </a:extLst>
          </p:cNvPr>
          <p:cNvSpPr>
            <a:spLocks xmlns:a="http://schemas.openxmlformats.org/drawingml/2006/main" noGrp="1"/>
          </p:cNvSpPr>
          <p:nvPr/>
        </p:nvSpPr>
        <p:spPr>
          <a:xfrm xmlns:a="http://schemas.openxmlformats.org/drawingml/2006/main">
            <a:off x="3257550" y="4248150"/>
            <a:ext cx="47625" cy="106680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C0D6C7AC-3D98-49EE-9626-519A104E310C}"/>
              </a:ext>
            </a:extLst>
          </p:cNvPr>
          <p:cNvSpPr>
            <a:spLocks xmlns:a="http://schemas.openxmlformats.org/drawingml/2006/main" noGrp="1"/>
          </p:cNvSpPr>
          <p:nvPr/>
        </p:nvSpPr>
        <p:spPr>
          <a:xfrm xmlns:a="http://schemas.openxmlformats.org/drawingml/2006/main">
            <a:off x="3429000" y="43815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复材车间</a:t>
            </a:r>
          </a:p>
        </p:txBody>
      </p:sp>
      <p:sp>
        <p:nvSpPr>
          <p:cNvPr id="36" name="">
            <a:extLst xmlns:a="http://schemas.openxmlformats.org/drawingml/2006/main">
              <a:ext uri="{FF2B5EF4-FFF2-40B4-BE49-F238E27FC236}">
                <a16:creationId xmlns:a16="http://schemas.microsoft.com/office/drawing/2014/main" id="{2E2AAF61-3B35-48C6-A201-F9F7C5668915}"/>
              </a:ext>
            </a:extLst>
          </p:cNvPr>
          <p:cNvSpPr>
            <a:spLocks xmlns:a="http://schemas.openxmlformats.org/drawingml/2006/main" noGrp="1"/>
          </p:cNvSpPr>
          <p:nvPr/>
        </p:nvSpPr>
        <p:spPr>
          <a:xfrm xmlns:a="http://schemas.openxmlformats.org/drawingml/2006/main">
            <a:off x="3429000" y="4724400"/>
            <a:ext cx="2152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69317"/>
          </a:bodyPr>
          <a:lstStyle xmlns:a="http://schemas.openxmlformats.org/drawingml/2006/main"/>
          <a:p xmlns:a="http://schemas.openxmlformats.org/drawingml/2006/main">
            <a:pPr algn="l">
              <a:defRPr sz="975" b="0">
                <a:solidFill>
                  <a:srgbClr val="475569"/>
                </a:solidFill>
              </a:defRPr>
            </a:pPr>
            <a:r>
              <a:rPr sz="975" b="0">
                <a:solidFill>
                  <a:srgbClr val="475569"/>
                </a:solidFill>
              </a:rPr>
              <a:t>MES需求输入与验收</a:t>
            </a:r>
          </a:p>
          <a:p xmlns:a="http://schemas.openxmlformats.org/drawingml/2006/main">
            <a:pPr algn="l">
              <a:defRPr sz="975" b="0">
                <a:solidFill>
                  <a:srgbClr val="475569"/>
                </a:solidFill>
              </a:defRPr>
            </a:pPr>
            <a:r>
              <a:rPr sz="975" b="0">
                <a:solidFill>
                  <a:srgbClr val="475569"/>
                </a:solidFill>
              </a:rPr>
              <a:t>MBOM工序结构、工装、派工</a:t>
            </a:r>
          </a:p>
          <a:p xmlns:a="http://schemas.openxmlformats.org/drawingml/2006/main">
            <a:pPr algn="l">
              <a:defRPr sz="975" b="0">
                <a:solidFill>
                  <a:srgbClr val="475569"/>
                </a:solidFill>
              </a:defRPr>
            </a:pPr>
            <a:r>
              <a:rPr sz="975" b="0">
                <a:solidFill>
                  <a:srgbClr val="475569"/>
                </a:solidFill>
              </a:rPr>
              <a:t>批次消耗和现场追溯数据</a:t>
            </a:r>
          </a:p>
          <a:p xmlns:a="http://schemas.openxmlformats.org/drawingml/2006/main">
            <a:pPr algn="l">
              <a:defRPr sz="975" b="0">
                <a:solidFill>
                  <a:srgbClr val="475569"/>
                </a:solidFill>
              </a:defRPr>
            </a:pPr>
            <a:r>
              <a:rPr sz="975" b="0">
                <a:solidFill>
                  <a:srgbClr val="475569"/>
                </a:solidFill>
              </a:rPr>
              <a:t>参与 Q6</a:t>
            </a:r>
          </a:p>
        </p:txBody>
      </p:sp>
      <p:sp>
        <p:nvSpPr>
          <p:cNvPr id="37" name="">
            <a:extLst xmlns:a="http://schemas.openxmlformats.org/drawingml/2006/main">
              <a:ext uri="{FF2B5EF4-FFF2-40B4-BE49-F238E27FC236}">
                <a16:creationId xmlns:a16="http://schemas.microsoft.com/office/drawing/2014/main" id="{ABB591DF-127D-4F04-AAE9-2955BD3A5629}"/>
              </a:ext>
            </a:extLst>
          </p:cNvPr>
          <p:cNvSpPr>
            <a:spLocks xmlns:a="http://schemas.openxmlformats.org/drawingml/2006/main" noGrp="1"/>
          </p:cNvSpPr>
          <p:nvPr/>
        </p:nvSpPr>
        <p:spPr>
          <a:xfrm xmlns:a="http://schemas.openxmlformats.org/drawingml/2006/main">
            <a:off x="6038850" y="4248150"/>
            <a:ext cx="24765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B83B1A5A-4ECA-434F-8193-8E7CB989E37A}"/>
              </a:ext>
            </a:extLst>
          </p:cNvPr>
          <p:cNvSpPr>
            <a:spLocks xmlns:a="http://schemas.openxmlformats.org/drawingml/2006/main" noGrp="1"/>
          </p:cNvSpPr>
          <p:nvPr/>
        </p:nvSpPr>
        <p:spPr>
          <a:xfrm xmlns:a="http://schemas.openxmlformats.org/drawingml/2006/main">
            <a:off x="6038850" y="4248150"/>
            <a:ext cx="47625" cy="1066800"/>
          </a:xfrm>
          <a:prstGeom xmlns:a="http://schemas.openxmlformats.org/drawingml/2006/main" prst="rect">
            <a:avLst/>
          </a:prstGeom>
          <a:solidFill xmlns:a="http://schemas.openxmlformats.org/drawingml/2006/main">
            <a:srgbClr val="0891B2"/>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325C6C4A-C692-44F5-9002-71C2DB58C1BA}"/>
              </a:ext>
            </a:extLst>
          </p:cNvPr>
          <p:cNvSpPr>
            <a:spLocks xmlns:a="http://schemas.openxmlformats.org/drawingml/2006/main" noGrp="1"/>
          </p:cNvSpPr>
          <p:nvPr/>
        </p:nvSpPr>
        <p:spPr>
          <a:xfrm xmlns:a="http://schemas.openxmlformats.org/drawingml/2006/main">
            <a:off x="6210300" y="43815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275" b="1">
                <a:solidFill>
                  <a:srgbClr val="0F2A5E"/>
                </a:solidFill>
              </a:defRPr>
            </a:pPr>
            <a:r>
              <a:rPr sz="1275" b="1">
                <a:solidFill>
                  <a:srgbClr val="0F2A5E"/>
                </a:solidFill>
              </a:rPr>
              <a:t>财务部</a:t>
            </a:r>
          </a:p>
        </p:txBody>
      </p:sp>
      <p:sp>
        <p:nvSpPr>
          <p:cNvPr id="40" name="">
            <a:extLst xmlns:a="http://schemas.openxmlformats.org/drawingml/2006/main">
              <a:ext uri="{FF2B5EF4-FFF2-40B4-BE49-F238E27FC236}">
                <a16:creationId xmlns:a16="http://schemas.microsoft.com/office/drawing/2014/main" id="{2DEAC4A6-ADA6-41F1-9ED2-CF6558BF1854}"/>
              </a:ext>
            </a:extLst>
          </p:cNvPr>
          <p:cNvSpPr>
            <a:spLocks xmlns:a="http://schemas.openxmlformats.org/drawingml/2006/main" noGrp="1"/>
          </p:cNvSpPr>
          <p:nvPr/>
        </p:nvSpPr>
        <p:spPr>
          <a:xfrm xmlns:a="http://schemas.openxmlformats.org/drawingml/2006/main">
            <a:off x="6210300" y="4724400"/>
            <a:ext cx="2152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92423"/>
          </a:bodyPr>
          <a:lstStyle xmlns:a="http://schemas.openxmlformats.org/drawingml/2006/main"/>
          <a:p xmlns:a="http://schemas.openxmlformats.org/drawingml/2006/main">
            <a:pPr algn="l">
              <a:defRPr sz="975" b="0">
                <a:solidFill>
                  <a:srgbClr val="475569"/>
                </a:solidFill>
              </a:defRPr>
            </a:pPr>
            <a:r>
              <a:rPr sz="975" b="0">
                <a:solidFill>
                  <a:srgbClr val="475569"/>
                </a:solidFill>
              </a:rPr>
              <a:t>ERP-FI/CO需求确认</a:t>
            </a:r>
          </a:p>
          <a:p xmlns:a="http://schemas.openxmlformats.org/drawingml/2006/main">
            <a:pPr algn="l">
              <a:defRPr sz="975" b="0">
                <a:solidFill>
                  <a:srgbClr val="475569"/>
                </a:solidFill>
              </a:defRPr>
            </a:pPr>
            <a:r>
              <a:rPr sz="975" b="0">
                <a:solidFill>
                  <a:srgbClr val="475569"/>
                </a:solidFill>
              </a:rPr>
              <a:t>成本中心、费用、工时、凭证边界</a:t>
            </a:r>
          </a:p>
          <a:p xmlns:a="http://schemas.openxmlformats.org/drawingml/2006/main">
            <a:pPr algn="l">
              <a:defRPr sz="975" b="0">
                <a:solidFill>
                  <a:srgbClr val="475569"/>
                </a:solidFill>
              </a:defRPr>
            </a:pPr>
            <a:r>
              <a:rPr sz="975" b="0">
                <a:solidFill>
                  <a:srgbClr val="475569"/>
                </a:solidFill>
              </a:rPr>
              <a:t>账务库存与实物库存差异处理</a:t>
            </a:r>
          </a:p>
        </p:txBody>
      </p:sp>
      <p:sp>
        <p:nvSpPr>
          <p:cNvPr id="41" name="">
            <a:extLst xmlns:a="http://schemas.openxmlformats.org/drawingml/2006/main">
              <a:ext uri="{FF2B5EF4-FFF2-40B4-BE49-F238E27FC236}">
                <a16:creationId xmlns:a16="http://schemas.microsoft.com/office/drawing/2014/main" id="{871ED956-7B4E-4FC9-927D-B688BC18CB22}"/>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27 / 29</a:t>
            </a:r>
          </a:p>
        </p:txBody>
      </p:sp>
    </p:spTree>
    <p:extLst>
      <p:ext uri="{BB962C8B-B14F-4D97-AF65-F5344CB8AC3E}">
        <p14:creationId xmlns:p14="http://schemas.microsoft.com/office/powerpoint/2010/main" val="900141687"/>
      </p:ext>
    </p:extLst>
  </p:cSld>
</p:sld>
</file>

<file path=ppt/slides/slide2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0271CBC5-32ED-4877-B78A-66ADDCA8CB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C2AD3C6-C5BC-45B3-91AF-9B7ED9F1C2C6}"/>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7F798DE-A217-4683-9B9C-3321F6AE8399}"/>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08F95F5-AF9E-45F7-B43E-64C178A20442}"/>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05.4 Q1-Q8预审</a:t>
            </a:r>
          </a:p>
        </p:txBody>
      </p:sp>
      <p:sp>
        <p:nvSpPr>
          <p:cNvPr id="6" name="">
            <a:extLst xmlns:a="http://schemas.openxmlformats.org/drawingml/2006/main">
              <a:ext uri="{FF2B5EF4-FFF2-40B4-BE49-F238E27FC236}">
                <a16:creationId xmlns:a16="http://schemas.microsoft.com/office/drawing/2014/main" id="{1D082192-FF8E-4F22-B004-81ABCB1F4207}"/>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B14CF1CE-01A5-4D8B-A0FC-406C79B27045}"/>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预审问题、推荐倾向与状态</a:t>
            </a:r>
          </a:p>
        </p:txBody>
      </p:sp>
      <p:sp>
        <p:nvSpPr>
          <p:cNvPr id="8" name="">
            <a:extLst xmlns:a="http://schemas.openxmlformats.org/drawingml/2006/main">
              <a:ext uri="{FF2B5EF4-FFF2-40B4-BE49-F238E27FC236}">
                <a16:creationId xmlns:a16="http://schemas.microsoft.com/office/drawing/2014/main" id="{D6310DAA-9A1C-4126-9B75-7C77F69B040A}"/>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每题形成一页纸：当前结论、待决问题、方案、倾向、影响范围、需补资料</a:t>
            </a:r>
          </a:p>
        </p:txBody>
      </p:sp>
      <p:sp>
        <p:nvSpPr>
          <p:cNvPr id="9" name="">
            <a:extLst xmlns:a="http://schemas.openxmlformats.org/drawingml/2006/main">
              <a:ext uri="{FF2B5EF4-FFF2-40B4-BE49-F238E27FC236}">
                <a16:creationId xmlns:a16="http://schemas.microsoft.com/office/drawing/2014/main" id="{DE63CA96-102D-4471-A5CA-D5E0FC10D3E3}"/>
              </a:ext>
            </a:extLst>
          </p:cNvPr>
          <p:cNvSpPr>
            <a:spLocks xmlns:a="http://schemas.openxmlformats.org/drawingml/2006/main" noGrp="1"/>
          </p:cNvSpPr>
          <p:nvPr/>
        </p:nvSpPr>
        <p:spPr>
          <a:xfrm xmlns:a="http://schemas.openxmlformats.org/drawingml/2006/main">
            <a:off x="381000" y="1676400"/>
            <a:ext cx="737765" cy="497417"/>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0" name="">
            <a:extLst xmlns:a="http://schemas.openxmlformats.org/drawingml/2006/main">
              <a:ext uri="{FF2B5EF4-FFF2-40B4-BE49-F238E27FC236}">
                <a16:creationId xmlns:a16="http://schemas.microsoft.com/office/drawing/2014/main" id="{FCF217EF-9F89-4D58-A192-E68CDC04E1CC}"/>
              </a:ext>
            </a:extLst>
          </p:cNvPr>
          <p:cNvSpPr>
            <a:spLocks xmlns:a="http://schemas.openxmlformats.org/drawingml/2006/main" noGrp="1"/>
          </p:cNvSpPr>
          <p:nvPr/>
        </p:nvSpPr>
        <p:spPr>
          <a:xfrm xmlns:a="http://schemas.openxmlformats.org/drawingml/2006/main">
            <a:off x="419100" y="1704975"/>
            <a:ext cx="66156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1">
                <a:solidFill>
                  <a:srgbClr val="FFFFFF"/>
                </a:solidFill>
              </a:defRPr>
            </a:pPr>
            <a:r>
              <a:rPr sz="570" b="1">
                <a:solidFill>
                  <a:srgbClr val="FFFFFF"/>
                </a:solidFill>
              </a:rPr>
              <a:t>编号</a:t>
            </a:r>
          </a:p>
        </p:txBody>
      </p:sp>
      <p:sp>
        <p:nvSpPr>
          <p:cNvPr id="11" name="">
            <a:extLst xmlns:a="http://schemas.openxmlformats.org/drawingml/2006/main">
              <a:ext uri="{FF2B5EF4-FFF2-40B4-BE49-F238E27FC236}">
                <a16:creationId xmlns:a16="http://schemas.microsoft.com/office/drawing/2014/main" id="{D82C5BF0-D512-4677-B8E4-03D6C9291648}"/>
              </a:ext>
            </a:extLst>
          </p:cNvPr>
          <p:cNvSpPr>
            <a:spLocks xmlns:a="http://schemas.openxmlformats.org/drawingml/2006/main" noGrp="1"/>
          </p:cNvSpPr>
          <p:nvPr/>
        </p:nvSpPr>
        <p:spPr>
          <a:xfrm xmlns:a="http://schemas.openxmlformats.org/drawingml/2006/main">
            <a:off x="1118765" y="1676400"/>
            <a:ext cx="3018129" cy="497417"/>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2" name="">
            <a:extLst xmlns:a="http://schemas.openxmlformats.org/drawingml/2006/main">
              <a:ext uri="{FF2B5EF4-FFF2-40B4-BE49-F238E27FC236}">
                <a16:creationId xmlns:a16="http://schemas.microsoft.com/office/drawing/2014/main" id="{9FBF16DD-B4B8-42ED-99F3-84C43E42479B}"/>
              </a:ext>
            </a:extLst>
          </p:cNvPr>
          <p:cNvSpPr>
            <a:spLocks xmlns:a="http://schemas.openxmlformats.org/drawingml/2006/main" noGrp="1"/>
          </p:cNvSpPr>
          <p:nvPr/>
        </p:nvSpPr>
        <p:spPr>
          <a:xfrm xmlns:a="http://schemas.openxmlformats.org/drawingml/2006/main">
            <a:off x="1156865" y="1704975"/>
            <a:ext cx="294192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1">
                <a:solidFill>
                  <a:srgbClr val="FFFFFF"/>
                </a:solidFill>
              </a:defRPr>
            </a:pPr>
            <a:r>
              <a:rPr sz="570" b="1">
                <a:solidFill>
                  <a:srgbClr val="FFFFFF"/>
                </a:solidFill>
              </a:rPr>
              <a:t>预审问题</a:t>
            </a:r>
          </a:p>
        </p:txBody>
      </p:sp>
      <p:sp>
        <p:nvSpPr>
          <p:cNvPr id="13" name="">
            <a:extLst xmlns:a="http://schemas.openxmlformats.org/drawingml/2006/main">
              <a:ext uri="{FF2B5EF4-FFF2-40B4-BE49-F238E27FC236}">
                <a16:creationId xmlns:a16="http://schemas.microsoft.com/office/drawing/2014/main" id="{30AB6DFB-C2E2-4257-97F4-A29324D86230}"/>
              </a:ext>
            </a:extLst>
          </p:cNvPr>
          <p:cNvSpPr>
            <a:spLocks xmlns:a="http://schemas.openxmlformats.org/drawingml/2006/main" noGrp="1"/>
          </p:cNvSpPr>
          <p:nvPr/>
        </p:nvSpPr>
        <p:spPr>
          <a:xfrm xmlns:a="http://schemas.openxmlformats.org/drawingml/2006/main">
            <a:off x="4136893" y="1676400"/>
            <a:ext cx="3487615" cy="497417"/>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4" name="">
            <a:extLst xmlns:a="http://schemas.openxmlformats.org/drawingml/2006/main">
              <a:ext uri="{FF2B5EF4-FFF2-40B4-BE49-F238E27FC236}">
                <a16:creationId xmlns:a16="http://schemas.microsoft.com/office/drawing/2014/main" id="{70CBCFBA-34F8-4D29-8B73-37FDF68B09E7}"/>
              </a:ext>
            </a:extLst>
          </p:cNvPr>
          <p:cNvSpPr>
            <a:spLocks xmlns:a="http://schemas.openxmlformats.org/drawingml/2006/main" noGrp="1"/>
          </p:cNvSpPr>
          <p:nvPr/>
        </p:nvSpPr>
        <p:spPr>
          <a:xfrm xmlns:a="http://schemas.openxmlformats.org/drawingml/2006/main">
            <a:off x="4174993" y="1704975"/>
            <a:ext cx="341141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1">
                <a:solidFill>
                  <a:srgbClr val="FFFFFF"/>
                </a:solidFill>
              </a:defRPr>
            </a:pPr>
            <a:r>
              <a:rPr sz="570" b="1">
                <a:solidFill>
                  <a:srgbClr val="FFFFFF"/>
                </a:solidFill>
              </a:rPr>
              <a:t>可选方案 / 倾向</a:t>
            </a:r>
          </a:p>
        </p:txBody>
      </p:sp>
      <p:sp>
        <p:nvSpPr>
          <p:cNvPr id="15" name="">
            <a:extLst xmlns:a="http://schemas.openxmlformats.org/drawingml/2006/main">
              <a:ext uri="{FF2B5EF4-FFF2-40B4-BE49-F238E27FC236}">
                <a16:creationId xmlns:a16="http://schemas.microsoft.com/office/drawing/2014/main" id="{C08339B0-F720-40AF-9C5B-01E61665A34A}"/>
              </a:ext>
            </a:extLst>
          </p:cNvPr>
          <p:cNvSpPr>
            <a:spLocks xmlns:a="http://schemas.openxmlformats.org/drawingml/2006/main" noGrp="1"/>
          </p:cNvSpPr>
          <p:nvPr/>
        </p:nvSpPr>
        <p:spPr>
          <a:xfrm xmlns:a="http://schemas.openxmlformats.org/drawingml/2006/main">
            <a:off x="7624509" y="1676400"/>
            <a:ext cx="1609669" cy="497417"/>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6" name="">
            <a:extLst xmlns:a="http://schemas.openxmlformats.org/drawingml/2006/main">
              <a:ext uri="{FF2B5EF4-FFF2-40B4-BE49-F238E27FC236}">
                <a16:creationId xmlns:a16="http://schemas.microsoft.com/office/drawing/2014/main" id="{E229288A-C0D5-4890-8690-803D07A725D6}"/>
              </a:ext>
            </a:extLst>
          </p:cNvPr>
          <p:cNvSpPr>
            <a:spLocks xmlns:a="http://schemas.openxmlformats.org/drawingml/2006/main" noGrp="1"/>
          </p:cNvSpPr>
          <p:nvPr/>
        </p:nvSpPr>
        <p:spPr>
          <a:xfrm xmlns:a="http://schemas.openxmlformats.org/drawingml/2006/main">
            <a:off x="7662609" y="1704975"/>
            <a:ext cx="153346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1">
                <a:solidFill>
                  <a:srgbClr val="FFFFFF"/>
                </a:solidFill>
              </a:defRPr>
            </a:pPr>
            <a:r>
              <a:rPr sz="570" b="1">
                <a:solidFill>
                  <a:srgbClr val="FFFFFF"/>
                </a:solidFill>
              </a:rPr>
              <a:t>责任人</a:t>
            </a:r>
          </a:p>
        </p:txBody>
      </p:sp>
      <p:sp>
        <p:nvSpPr>
          <p:cNvPr id="17" name="">
            <a:extLst xmlns:a="http://schemas.openxmlformats.org/drawingml/2006/main">
              <a:ext uri="{FF2B5EF4-FFF2-40B4-BE49-F238E27FC236}">
                <a16:creationId xmlns:a16="http://schemas.microsoft.com/office/drawing/2014/main" id="{A52DC8F5-3361-46C9-8647-2304EF8F7933}"/>
              </a:ext>
            </a:extLst>
          </p:cNvPr>
          <p:cNvSpPr>
            <a:spLocks xmlns:a="http://schemas.openxmlformats.org/drawingml/2006/main" noGrp="1"/>
          </p:cNvSpPr>
          <p:nvPr/>
        </p:nvSpPr>
        <p:spPr>
          <a:xfrm xmlns:a="http://schemas.openxmlformats.org/drawingml/2006/main">
            <a:off x="9234178" y="1676400"/>
            <a:ext cx="1274321" cy="497417"/>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8" name="">
            <a:extLst xmlns:a="http://schemas.openxmlformats.org/drawingml/2006/main">
              <a:ext uri="{FF2B5EF4-FFF2-40B4-BE49-F238E27FC236}">
                <a16:creationId xmlns:a16="http://schemas.microsoft.com/office/drawing/2014/main" id="{A0E7772B-FA26-4E47-AF02-A1F1550E06C8}"/>
              </a:ext>
            </a:extLst>
          </p:cNvPr>
          <p:cNvSpPr>
            <a:spLocks xmlns:a="http://schemas.openxmlformats.org/drawingml/2006/main" noGrp="1"/>
          </p:cNvSpPr>
          <p:nvPr/>
        </p:nvSpPr>
        <p:spPr>
          <a:xfrm xmlns:a="http://schemas.openxmlformats.org/drawingml/2006/main">
            <a:off x="9272278" y="1704975"/>
            <a:ext cx="119812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1">
                <a:solidFill>
                  <a:srgbClr val="FFFFFF"/>
                </a:solidFill>
              </a:defRPr>
            </a:pPr>
            <a:r>
              <a:rPr sz="570" b="1">
                <a:solidFill>
                  <a:srgbClr val="FFFFFF"/>
                </a:solidFill>
              </a:rPr>
              <a:t>截止日期</a:t>
            </a:r>
          </a:p>
        </p:txBody>
      </p:sp>
      <p:sp>
        <p:nvSpPr>
          <p:cNvPr id="19" name="">
            <a:extLst xmlns:a="http://schemas.openxmlformats.org/drawingml/2006/main">
              <a:ext uri="{FF2B5EF4-FFF2-40B4-BE49-F238E27FC236}">
                <a16:creationId xmlns:a16="http://schemas.microsoft.com/office/drawing/2014/main" id="{529DC0AA-99E2-46E5-B268-A176F03EF5E1}"/>
              </a:ext>
            </a:extLst>
          </p:cNvPr>
          <p:cNvSpPr>
            <a:spLocks xmlns:a="http://schemas.openxmlformats.org/drawingml/2006/main" noGrp="1"/>
          </p:cNvSpPr>
          <p:nvPr/>
        </p:nvSpPr>
        <p:spPr>
          <a:xfrm xmlns:a="http://schemas.openxmlformats.org/drawingml/2006/main">
            <a:off x="10508499" y="1676400"/>
            <a:ext cx="1207251" cy="497417"/>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20" name="">
            <a:extLst xmlns:a="http://schemas.openxmlformats.org/drawingml/2006/main">
              <a:ext uri="{FF2B5EF4-FFF2-40B4-BE49-F238E27FC236}">
                <a16:creationId xmlns:a16="http://schemas.microsoft.com/office/drawing/2014/main" id="{2B032F82-83F5-458D-8D0C-40BE7B95AF1F}"/>
              </a:ext>
            </a:extLst>
          </p:cNvPr>
          <p:cNvSpPr>
            <a:spLocks xmlns:a="http://schemas.openxmlformats.org/drawingml/2006/main" noGrp="1"/>
          </p:cNvSpPr>
          <p:nvPr/>
        </p:nvSpPr>
        <p:spPr>
          <a:xfrm xmlns:a="http://schemas.openxmlformats.org/drawingml/2006/main">
            <a:off x="10546599" y="1704975"/>
            <a:ext cx="113105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1">
                <a:solidFill>
                  <a:srgbClr val="FFFFFF"/>
                </a:solidFill>
              </a:defRPr>
            </a:pPr>
            <a:r>
              <a:rPr sz="570" b="1">
                <a:solidFill>
                  <a:srgbClr val="FFFFFF"/>
                </a:solidFill>
              </a:rPr>
              <a:t>预审状态</a:t>
            </a:r>
          </a:p>
        </p:txBody>
      </p:sp>
      <p:sp>
        <p:nvSpPr>
          <p:cNvPr id="21" name="">
            <a:extLst xmlns:a="http://schemas.openxmlformats.org/drawingml/2006/main">
              <a:ext uri="{FF2B5EF4-FFF2-40B4-BE49-F238E27FC236}">
                <a16:creationId xmlns:a16="http://schemas.microsoft.com/office/drawing/2014/main" id="{C48439C2-C104-4F0E-8A2E-494B639B9929}"/>
              </a:ext>
            </a:extLst>
          </p:cNvPr>
          <p:cNvSpPr>
            <a:spLocks xmlns:a="http://schemas.openxmlformats.org/drawingml/2006/main" noGrp="1"/>
          </p:cNvSpPr>
          <p:nvPr/>
        </p:nvSpPr>
        <p:spPr>
          <a:xfrm xmlns:a="http://schemas.openxmlformats.org/drawingml/2006/main">
            <a:off x="381000" y="2173817"/>
            <a:ext cx="737765"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2" name="">
            <a:extLst xmlns:a="http://schemas.openxmlformats.org/drawingml/2006/main">
              <a:ext uri="{FF2B5EF4-FFF2-40B4-BE49-F238E27FC236}">
                <a16:creationId xmlns:a16="http://schemas.microsoft.com/office/drawing/2014/main" id="{3CAE0178-F56C-44F3-8196-DF667C6D8560}"/>
              </a:ext>
            </a:extLst>
          </p:cNvPr>
          <p:cNvSpPr>
            <a:spLocks xmlns:a="http://schemas.openxmlformats.org/drawingml/2006/main" noGrp="1"/>
          </p:cNvSpPr>
          <p:nvPr/>
        </p:nvSpPr>
        <p:spPr>
          <a:xfrm xmlns:a="http://schemas.openxmlformats.org/drawingml/2006/main">
            <a:off x="419100" y="2202392"/>
            <a:ext cx="66156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Q1</a:t>
            </a:r>
          </a:p>
        </p:txBody>
      </p:sp>
      <p:sp>
        <p:nvSpPr>
          <p:cNvPr id="23" name="">
            <a:extLst xmlns:a="http://schemas.openxmlformats.org/drawingml/2006/main">
              <a:ext uri="{FF2B5EF4-FFF2-40B4-BE49-F238E27FC236}">
                <a16:creationId xmlns:a16="http://schemas.microsoft.com/office/drawing/2014/main" id="{08A8D2C5-F8E8-4EFC-B5EE-1ABA5EF5F752}"/>
              </a:ext>
            </a:extLst>
          </p:cNvPr>
          <p:cNvSpPr>
            <a:spLocks xmlns:a="http://schemas.openxmlformats.org/drawingml/2006/main" noGrp="1"/>
          </p:cNvSpPr>
          <p:nvPr/>
        </p:nvSpPr>
        <p:spPr>
          <a:xfrm xmlns:a="http://schemas.openxmlformats.org/drawingml/2006/main">
            <a:off x="1118765" y="2173817"/>
            <a:ext cx="3018129"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4" name="">
            <a:extLst xmlns:a="http://schemas.openxmlformats.org/drawingml/2006/main">
              <a:ext uri="{FF2B5EF4-FFF2-40B4-BE49-F238E27FC236}">
                <a16:creationId xmlns:a16="http://schemas.microsoft.com/office/drawing/2014/main" id="{4EFEF33F-AEF2-4A9A-8DBC-BF6AEF1D0CA3}"/>
              </a:ext>
            </a:extLst>
          </p:cNvPr>
          <p:cNvSpPr>
            <a:spLocks xmlns:a="http://schemas.openxmlformats.org/drawingml/2006/main" noGrp="1"/>
          </p:cNvSpPr>
          <p:nvPr/>
        </p:nvSpPr>
        <p:spPr>
          <a:xfrm xmlns:a="http://schemas.openxmlformats.org/drawingml/2006/main">
            <a:off x="1156865" y="2202392"/>
            <a:ext cx="294192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SFG（半成品）是否需要细分为“内部半成品”和“外协半成品”？</a:t>
            </a:r>
          </a:p>
        </p:txBody>
      </p:sp>
      <p:sp>
        <p:nvSpPr>
          <p:cNvPr id="25" name="">
            <a:extLst xmlns:a="http://schemas.openxmlformats.org/drawingml/2006/main">
              <a:ext uri="{FF2B5EF4-FFF2-40B4-BE49-F238E27FC236}">
                <a16:creationId xmlns:a16="http://schemas.microsoft.com/office/drawing/2014/main" id="{DEA496BE-67BF-4778-87AD-B9105D054DEB}"/>
              </a:ext>
            </a:extLst>
          </p:cNvPr>
          <p:cNvSpPr>
            <a:spLocks xmlns:a="http://schemas.openxmlformats.org/drawingml/2006/main" noGrp="1"/>
          </p:cNvSpPr>
          <p:nvPr/>
        </p:nvSpPr>
        <p:spPr>
          <a:xfrm xmlns:a="http://schemas.openxmlformats.org/drawingml/2006/main">
            <a:off x="4136893" y="2173817"/>
            <a:ext cx="3487615"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6" name="">
            <a:extLst xmlns:a="http://schemas.openxmlformats.org/drawingml/2006/main">
              <a:ext uri="{FF2B5EF4-FFF2-40B4-BE49-F238E27FC236}">
                <a16:creationId xmlns:a16="http://schemas.microsoft.com/office/drawing/2014/main" id="{B0D0CD2B-B7EF-440C-BEA0-343C588B01F8}"/>
              </a:ext>
            </a:extLst>
          </p:cNvPr>
          <p:cNvSpPr>
            <a:spLocks xmlns:a="http://schemas.openxmlformats.org/drawingml/2006/main" noGrp="1"/>
          </p:cNvSpPr>
          <p:nvPr/>
        </p:nvSpPr>
        <p:spPr>
          <a:xfrm xmlns:a="http://schemas.openxmlformats.org/drawingml/2006/main">
            <a:off x="4174993" y="2202392"/>
            <a:ext cx="341141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是 / 否；需结合采购、WMS、MES消耗场景</a:t>
            </a:r>
          </a:p>
        </p:txBody>
      </p:sp>
      <p:sp>
        <p:nvSpPr>
          <p:cNvPr id="27" name="">
            <a:extLst xmlns:a="http://schemas.openxmlformats.org/drawingml/2006/main">
              <a:ext uri="{FF2B5EF4-FFF2-40B4-BE49-F238E27FC236}">
                <a16:creationId xmlns:a16="http://schemas.microsoft.com/office/drawing/2014/main" id="{0D1B775A-2D71-4DA4-846B-C59E589A4ED1}"/>
              </a:ext>
            </a:extLst>
          </p:cNvPr>
          <p:cNvSpPr>
            <a:spLocks xmlns:a="http://schemas.openxmlformats.org/drawingml/2006/main" noGrp="1"/>
          </p:cNvSpPr>
          <p:nvPr/>
        </p:nvSpPr>
        <p:spPr>
          <a:xfrm xmlns:a="http://schemas.openxmlformats.org/drawingml/2006/main">
            <a:off x="7624509" y="2173817"/>
            <a:ext cx="1609669"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8" name="">
            <a:extLst xmlns:a="http://schemas.openxmlformats.org/drawingml/2006/main">
              <a:ext uri="{FF2B5EF4-FFF2-40B4-BE49-F238E27FC236}">
                <a16:creationId xmlns:a16="http://schemas.microsoft.com/office/drawing/2014/main" id="{B5A84E51-C483-4696-9256-3C07FC162755}"/>
              </a:ext>
            </a:extLst>
          </p:cNvPr>
          <p:cNvSpPr>
            <a:spLocks xmlns:a="http://schemas.openxmlformats.org/drawingml/2006/main" noGrp="1"/>
          </p:cNvSpPr>
          <p:nvPr/>
        </p:nvSpPr>
        <p:spPr>
          <a:xfrm xmlns:a="http://schemas.openxmlformats.org/drawingml/2006/main">
            <a:off x="7662609" y="2202392"/>
            <a:ext cx="153346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工程技术部 + 物资保障部</a:t>
            </a:r>
          </a:p>
        </p:txBody>
      </p:sp>
      <p:sp>
        <p:nvSpPr>
          <p:cNvPr id="29" name="">
            <a:extLst xmlns:a="http://schemas.openxmlformats.org/drawingml/2006/main">
              <a:ext uri="{FF2B5EF4-FFF2-40B4-BE49-F238E27FC236}">
                <a16:creationId xmlns:a16="http://schemas.microsoft.com/office/drawing/2014/main" id="{45418586-DB1F-4539-9746-C42462DC9BF3}"/>
              </a:ext>
            </a:extLst>
          </p:cNvPr>
          <p:cNvSpPr>
            <a:spLocks xmlns:a="http://schemas.openxmlformats.org/drawingml/2006/main" noGrp="1"/>
          </p:cNvSpPr>
          <p:nvPr/>
        </p:nvSpPr>
        <p:spPr>
          <a:xfrm xmlns:a="http://schemas.openxmlformats.org/drawingml/2006/main">
            <a:off x="9234178" y="2173817"/>
            <a:ext cx="1274321"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0" name="">
            <a:extLst xmlns:a="http://schemas.openxmlformats.org/drawingml/2006/main">
              <a:ext uri="{FF2B5EF4-FFF2-40B4-BE49-F238E27FC236}">
                <a16:creationId xmlns:a16="http://schemas.microsoft.com/office/drawing/2014/main" id="{11383785-F15A-44EC-82F6-0B6CF9F9A919}"/>
              </a:ext>
            </a:extLst>
          </p:cNvPr>
          <p:cNvSpPr>
            <a:spLocks xmlns:a="http://schemas.openxmlformats.org/drawingml/2006/main" noGrp="1"/>
          </p:cNvSpPr>
          <p:nvPr/>
        </p:nvSpPr>
        <p:spPr>
          <a:xfrm xmlns:a="http://schemas.openxmlformats.org/drawingml/2006/main">
            <a:off x="9272278" y="2202392"/>
            <a:ext cx="119812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2026-05-09</a:t>
            </a:r>
          </a:p>
        </p:txBody>
      </p:sp>
      <p:sp>
        <p:nvSpPr>
          <p:cNvPr id="31" name="">
            <a:extLst xmlns:a="http://schemas.openxmlformats.org/drawingml/2006/main">
              <a:ext uri="{FF2B5EF4-FFF2-40B4-BE49-F238E27FC236}">
                <a16:creationId xmlns:a16="http://schemas.microsoft.com/office/drawing/2014/main" id="{B99C3BC9-021F-4B10-B4ED-3D889009D81E}"/>
              </a:ext>
            </a:extLst>
          </p:cNvPr>
          <p:cNvSpPr>
            <a:spLocks xmlns:a="http://schemas.openxmlformats.org/drawingml/2006/main" noGrp="1"/>
          </p:cNvSpPr>
          <p:nvPr/>
        </p:nvSpPr>
        <p:spPr>
          <a:xfrm xmlns:a="http://schemas.openxmlformats.org/drawingml/2006/main">
            <a:off x="10508499" y="2173817"/>
            <a:ext cx="1207251"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2" name="">
            <a:extLst xmlns:a="http://schemas.openxmlformats.org/drawingml/2006/main">
              <a:ext uri="{FF2B5EF4-FFF2-40B4-BE49-F238E27FC236}">
                <a16:creationId xmlns:a16="http://schemas.microsoft.com/office/drawing/2014/main" id="{0448DD8B-F8E5-4E7B-B5D2-E3288EE444A5}"/>
              </a:ext>
            </a:extLst>
          </p:cNvPr>
          <p:cNvSpPr>
            <a:spLocks xmlns:a="http://schemas.openxmlformats.org/drawingml/2006/main" noGrp="1"/>
          </p:cNvSpPr>
          <p:nvPr/>
        </p:nvSpPr>
        <p:spPr>
          <a:xfrm xmlns:a="http://schemas.openxmlformats.org/drawingml/2006/main">
            <a:off x="10546599" y="2202392"/>
            <a:ext cx="113105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需预沟通</a:t>
            </a:r>
          </a:p>
        </p:txBody>
      </p:sp>
      <p:sp>
        <p:nvSpPr>
          <p:cNvPr id="33" name="">
            <a:extLst xmlns:a="http://schemas.openxmlformats.org/drawingml/2006/main">
              <a:ext uri="{FF2B5EF4-FFF2-40B4-BE49-F238E27FC236}">
                <a16:creationId xmlns:a16="http://schemas.microsoft.com/office/drawing/2014/main" id="{5A8295BB-77E2-4954-98FC-16AB740E5014}"/>
              </a:ext>
            </a:extLst>
          </p:cNvPr>
          <p:cNvSpPr>
            <a:spLocks xmlns:a="http://schemas.openxmlformats.org/drawingml/2006/main" noGrp="1"/>
          </p:cNvSpPr>
          <p:nvPr/>
        </p:nvSpPr>
        <p:spPr>
          <a:xfrm xmlns:a="http://schemas.openxmlformats.org/drawingml/2006/main">
            <a:off x="381000" y="2671233"/>
            <a:ext cx="737765"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4" name="">
            <a:extLst xmlns:a="http://schemas.openxmlformats.org/drawingml/2006/main">
              <a:ext uri="{FF2B5EF4-FFF2-40B4-BE49-F238E27FC236}">
                <a16:creationId xmlns:a16="http://schemas.microsoft.com/office/drawing/2014/main" id="{9898E67C-4E80-46C0-8DB5-BC6E6C7E9D2C}"/>
              </a:ext>
            </a:extLst>
          </p:cNvPr>
          <p:cNvSpPr>
            <a:spLocks xmlns:a="http://schemas.openxmlformats.org/drawingml/2006/main" noGrp="1"/>
          </p:cNvSpPr>
          <p:nvPr/>
        </p:nvSpPr>
        <p:spPr>
          <a:xfrm xmlns:a="http://schemas.openxmlformats.org/drawingml/2006/main">
            <a:off x="419100" y="2699808"/>
            <a:ext cx="66156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Q2</a:t>
            </a:r>
          </a:p>
        </p:txBody>
      </p:sp>
      <p:sp>
        <p:nvSpPr>
          <p:cNvPr id="35" name="">
            <a:extLst xmlns:a="http://schemas.openxmlformats.org/drawingml/2006/main">
              <a:ext uri="{FF2B5EF4-FFF2-40B4-BE49-F238E27FC236}">
                <a16:creationId xmlns:a16="http://schemas.microsoft.com/office/drawing/2014/main" id="{3575D90B-8EFF-4ADD-AD59-B14C414042D7}"/>
              </a:ext>
            </a:extLst>
          </p:cNvPr>
          <p:cNvSpPr>
            <a:spLocks xmlns:a="http://schemas.openxmlformats.org/drawingml/2006/main" noGrp="1"/>
          </p:cNvSpPr>
          <p:nvPr/>
        </p:nvSpPr>
        <p:spPr>
          <a:xfrm xmlns:a="http://schemas.openxmlformats.org/drawingml/2006/main">
            <a:off x="1118765" y="2671233"/>
            <a:ext cx="3018129"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6" name="">
            <a:extLst xmlns:a="http://schemas.openxmlformats.org/drawingml/2006/main">
              <a:ext uri="{FF2B5EF4-FFF2-40B4-BE49-F238E27FC236}">
                <a16:creationId xmlns:a16="http://schemas.microsoft.com/office/drawing/2014/main" id="{7AD36BE3-6FF4-477D-A6B1-E653D17DE1C8}"/>
              </a:ext>
            </a:extLst>
          </p:cNvPr>
          <p:cNvSpPr>
            <a:spLocks xmlns:a="http://schemas.openxmlformats.org/drawingml/2006/main" noGrp="1"/>
          </p:cNvSpPr>
          <p:nvPr/>
        </p:nvSpPr>
        <p:spPr>
          <a:xfrm xmlns:a="http://schemas.openxmlformats.org/drawingml/2006/main">
            <a:off x="1156865" y="2699808"/>
            <a:ext cx="294192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预浸料有效期管理是否纳入 WMS 批次属性，还是单独建模块？</a:t>
            </a:r>
          </a:p>
        </p:txBody>
      </p:sp>
      <p:sp>
        <p:nvSpPr>
          <p:cNvPr id="37" name="">
            <a:extLst xmlns:a="http://schemas.openxmlformats.org/drawingml/2006/main">
              <a:ext uri="{FF2B5EF4-FFF2-40B4-BE49-F238E27FC236}">
                <a16:creationId xmlns:a16="http://schemas.microsoft.com/office/drawing/2014/main" id="{7AAF0858-DCF9-4153-A97D-86D3413271C4}"/>
              </a:ext>
            </a:extLst>
          </p:cNvPr>
          <p:cNvSpPr>
            <a:spLocks xmlns:a="http://schemas.openxmlformats.org/drawingml/2006/main" noGrp="1"/>
          </p:cNvSpPr>
          <p:nvPr/>
        </p:nvSpPr>
        <p:spPr>
          <a:xfrm xmlns:a="http://schemas.openxmlformats.org/drawingml/2006/main">
            <a:off x="4136893" y="2671233"/>
            <a:ext cx="3487615"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8" name="">
            <a:extLst xmlns:a="http://schemas.openxmlformats.org/drawingml/2006/main">
              <a:ext uri="{FF2B5EF4-FFF2-40B4-BE49-F238E27FC236}">
                <a16:creationId xmlns:a16="http://schemas.microsoft.com/office/drawing/2014/main" id="{E2375183-E199-4B48-8B8E-FC0B6A194DDB}"/>
              </a:ext>
            </a:extLst>
          </p:cNvPr>
          <p:cNvSpPr>
            <a:spLocks xmlns:a="http://schemas.openxmlformats.org/drawingml/2006/main" noGrp="1"/>
          </p:cNvSpPr>
          <p:nvPr/>
        </p:nvSpPr>
        <p:spPr>
          <a:xfrm xmlns:a="http://schemas.openxmlformats.org/drawingml/2006/main">
            <a:off x="4174993" y="2699808"/>
            <a:ext cx="341141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倾向 WMS批次属性 + MES环境暴露记录</a:t>
            </a:r>
          </a:p>
        </p:txBody>
      </p:sp>
      <p:sp>
        <p:nvSpPr>
          <p:cNvPr id="39" name="">
            <a:extLst xmlns:a="http://schemas.openxmlformats.org/drawingml/2006/main">
              <a:ext uri="{FF2B5EF4-FFF2-40B4-BE49-F238E27FC236}">
                <a16:creationId xmlns:a16="http://schemas.microsoft.com/office/drawing/2014/main" id="{ABFAD08F-104B-4A1A-B03F-2F5721A1C731}"/>
              </a:ext>
            </a:extLst>
          </p:cNvPr>
          <p:cNvSpPr>
            <a:spLocks xmlns:a="http://schemas.openxmlformats.org/drawingml/2006/main" noGrp="1"/>
          </p:cNvSpPr>
          <p:nvPr/>
        </p:nvSpPr>
        <p:spPr>
          <a:xfrm xmlns:a="http://schemas.openxmlformats.org/drawingml/2006/main">
            <a:off x="7624509" y="2671233"/>
            <a:ext cx="1609669"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0" name="">
            <a:extLst xmlns:a="http://schemas.openxmlformats.org/drawingml/2006/main">
              <a:ext uri="{FF2B5EF4-FFF2-40B4-BE49-F238E27FC236}">
                <a16:creationId xmlns:a16="http://schemas.microsoft.com/office/drawing/2014/main" id="{CFC53C3D-9048-49FD-843E-99F751F5AD49}"/>
              </a:ext>
            </a:extLst>
          </p:cNvPr>
          <p:cNvSpPr>
            <a:spLocks xmlns:a="http://schemas.openxmlformats.org/drawingml/2006/main" noGrp="1"/>
          </p:cNvSpPr>
          <p:nvPr/>
        </p:nvSpPr>
        <p:spPr>
          <a:xfrm xmlns:a="http://schemas.openxmlformats.org/drawingml/2006/main">
            <a:off x="7662609" y="2699808"/>
            <a:ext cx="153346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物资保障部 + 复材车间</a:t>
            </a:r>
          </a:p>
        </p:txBody>
      </p:sp>
      <p:sp>
        <p:nvSpPr>
          <p:cNvPr id="41" name="">
            <a:extLst xmlns:a="http://schemas.openxmlformats.org/drawingml/2006/main">
              <a:ext uri="{FF2B5EF4-FFF2-40B4-BE49-F238E27FC236}">
                <a16:creationId xmlns:a16="http://schemas.microsoft.com/office/drawing/2014/main" id="{C74C1ECE-B60B-4E5B-AAB9-F8FCFF51DC79}"/>
              </a:ext>
            </a:extLst>
          </p:cNvPr>
          <p:cNvSpPr>
            <a:spLocks xmlns:a="http://schemas.openxmlformats.org/drawingml/2006/main" noGrp="1"/>
          </p:cNvSpPr>
          <p:nvPr/>
        </p:nvSpPr>
        <p:spPr>
          <a:xfrm xmlns:a="http://schemas.openxmlformats.org/drawingml/2006/main">
            <a:off x="9234178" y="2671233"/>
            <a:ext cx="1274321"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2" name="">
            <a:extLst xmlns:a="http://schemas.openxmlformats.org/drawingml/2006/main">
              <a:ext uri="{FF2B5EF4-FFF2-40B4-BE49-F238E27FC236}">
                <a16:creationId xmlns:a16="http://schemas.microsoft.com/office/drawing/2014/main" id="{1ABB9311-9855-45D6-8812-EA45A6B43BF7}"/>
              </a:ext>
            </a:extLst>
          </p:cNvPr>
          <p:cNvSpPr>
            <a:spLocks xmlns:a="http://schemas.openxmlformats.org/drawingml/2006/main" noGrp="1"/>
          </p:cNvSpPr>
          <p:nvPr/>
        </p:nvSpPr>
        <p:spPr>
          <a:xfrm xmlns:a="http://schemas.openxmlformats.org/drawingml/2006/main">
            <a:off x="9272278" y="2699808"/>
            <a:ext cx="119812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2026-05-09</a:t>
            </a:r>
          </a:p>
        </p:txBody>
      </p:sp>
      <p:sp>
        <p:nvSpPr>
          <p:cNvPr id="43" name="">
            <a:extLst xmlns:a="http://schemas.openxmlformats.org/drawingml/2006/main">
              <a:ext uri="{FF2B5EF4-FFF2-40B4-BE49-F238E27FC236}">
                <a16:creationId xmlns:a16="http://schemas.microsoft.com/office/drawing/2014/main" id="{6A66A5A6-8A5A-4C07-8278-1D356856FC35}"/>
              </a:ext>
            </a:extLst>
          </p:cNvPr>
          <p:cNvSpPr>
            <a:spLocks xmlns:a="http://schemas.openxmlformats.org/drawingml/2006/main" noGrp="1"/>
          </p:cNvSpPr>
          <p:nvPr/>
        </p:nvSpPr>
        <p:spPr>
          <a:xfrm xmlns:a="http://schemas.openxmlformats.org/drawingml/2006/main">
            <a:off x="10508499" y="2671233"/>
            <a:ext cx="1207251"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4" name="">
            <a:extLst xmlns:a="http://schemas.openxmlformats.org/drawingml/2006/main">
              <a:ext uri="{FF2B5EF4-FFF2-40B4-BE49-F238E27FC236}">
                <a16:creationId xmlns:a16="http://schemas.microsoft.com/office/drawing/2014/main" id="{5D8D1DC1-3E82-4037-BDA6-32B59100179E}"/>
              </a:ext>
            </a:extLst>
          </p:cNvPr>
          <p:cNvSpPr>
            <a:spLocks xmlns:a="http://schemas.openxmlformats.org/drawingml/2006/main" noGrp="1"/>
          </p:cNvSpPr>
          <p:nvPr/>
        </p:nvSpPr>
        <p:spPr>
          <a:xfrm xmlns:a="http://schemas.openxmlformats.org/drawingml/2006/main">
            <a:off x="10546599" y="2699808"/>
            <a:ext cx="113105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需补字段</a:t>
            </a:r>
          </a:p>
        </p:txBody>
      </p:sp>
      <p:sp>
        <p:nvSpPr>
          <p:cNvPr id="45" name="">
            <a:extLst xmlns:a="http://schemas.openxmlformats.org/drawingml/2006/main">
              <a:ext uri="{FF2B5EF4-FFF2-40B4-BE49-F238E27FC236}">
                <a16:creationId xmlns:a16="http://schemas.microsoft.com/office/drawing/2014/main" id="{F3C20232-D974-438C-9564-9AD2422FE46A}"/>
              </a:ext>
            </a:extLst>
          </p:cNvPr>
          <p:cNvSpPr>
            <a:spLocks xmlns:a="http://schemas.openxmlformats.org/drawingml/2006/main" noGrp="1"/>
          </p:cNvSpPr>
          <p:nvPr/>
        </p:nvSpPr>
        <p:spPr>
          <a:xfrm xmlns:a="http://schemas.openxmlformats.org/drawingml/2006/main">
            <a:off x="381000" y="3168650"/>
            <a:ext cx="737765"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6" name="">
            <a:extLst xmlns:a="http://schemas.openxmlformats.org/drawingml/2006/main">
              <a:ext uri="{FF2B5EF4-FFF2-40B4-BE49-F238E27FC236}">
                <a16:creationId xmlns:a16="http://schemas.microsoft.com/office/drawing/2014/main" id="{10253DB0-95AC-42F5-A1E4-70F960A68C5F}"/>
              </a:ext>
            </a:extLst>
          </p:cNvPr>
          <p:cNvSpPr>
            <a:spLocks xmlns:a="http://schemas.openxmlformats.org/drawingml/2006/main" noGrp="1"/>
          </p:cNvSpPr>
          <p:nvPr/>
        </p:nvSpPr>
        <p:spPr>
          <a:xfrm xmlns:a="http://schemas.openxmlformats.org/drawingml/2006/main">
            <a:off x="419100" y="3197225"/>
            <a:ext cx="66156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Q3</a:t>
            </a:r>
          </a:p>
        </p:txBody>
      </p:sp>
      <p:sp>
        <p:nvSpPr>
          <p:cNvPr id="47" name="">
            <a:extLst xmlns:a="http://schemas.openxmlformats.org/drawingml/2006/main">
              <a:ext uri="{FF2B5EF4-FFF2-40B4-BE49-F238E27FC236}">
                <a16:creationId xmlns:a16="http://schemas.microsoft.com/office/drawing/2014/main" id="{343E0B54-85E9-4FA8-BF3F-FBC0CA5E2541}"/>
              </a:ext>
            </a:extLst>
          </p:cNvPr>
          <p:cNvSpPr>
            <a:spLocks xmlns:a="http://schemas.openxmlformats.org/drawingml/2006/main" noGrp="1"/>
          </p:cNvSpPr>
          <p:nvPr/>
        </p:nvSpPr>
        <p:spPr>
          <a:xfrm xmlns:a="http://schemas.openxmlformats.org/drawingml/2006/main">
            <a:off x="1118765" y="3168650"/>
            <a:ext cx="3018129"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8" name="">
            <a:extLst xmlns:a="http://schemas.openxmlformats.org/drawingml/2006/main">
              <a:ext uri="{FF2B5EF4-FFF2-40B4-BE49-F238E27FC236}">
                <a16:creationId xmlns:a16="http://schemas.microsoft.com/office/drawing/2014/main" id="{505962E0-B420-4BEF-8018-E4FCFC34D4FC}"/>
              </a:ext>
            </a:extLst>
          </p:cNvPr>
          <p:cNvSpPr>
            <a:spLocks xmlns:a="http://schemas.openxmlformats.org/drawingml/2006/main" noGrp="1"/>
          </p:cNvSpPr>
          <p:nvPr/>
        </p:nvSpPr>
        <p:spPr>
          <a:xfrm xmlns:a="http://schemas.openxmlformats.org/drawingml/2006/main">
            <a:off x="1156865" y="3197225"/>
            <a:ext cx="294192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物料编码结构最终采用哪版？（大类+小类+流水）</a:t>
            </a:r>
          </a:p>
        </p:txBody>
      </p:sp>
      <p:sp>
        <p:nvSpPr>
          <p:cNvPr id="49" name="">
            <a:extLst xmlns:a="http://schemas.openxmlformats.org/drawingml/2006/main">
              <a:ext uri="{FF2B5EF4-FFF2-40B4-BE49-F238E27FC236}">
                <a16:creationId xmlns:a16="http://schemas.microsoft.com/office/drawing/2014/main" id="{F3D8571C-6646-4862-90CB-9D3634A64361}"/>
              </a:ext>
            </a:extLst>
          </p:cNvPr>
          <p:cNvSpPr>
            <a:spLocks xmlns:a="http://schemas.openxmlformats.org/drawingml/2006/main" noGrp="1"/>
          </p:cNvSpPr>
          <p:nvPr/>
        </p:nvSpPr>
        <p:spPr>
          <a:xfrm xmlns:a="http://schemas.openxmlformats.org/drawingml/2006/main">
            <a:off x="4136893" y="3168650"/>
            <a:ext cx="3487615"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0" name="">
            <a:extLst xmlns:a="http://schemas.openxmlformats.org/drawingml/2006/main">
              <a:ext uri="{FF2B5EF4-FFF2-40B4-BE49-F238E27FC236}">
                <a16:creationId xmlns:a16="http://schemas.microsoft.com/office/drawing/2014/main" id="{A6C0B55E-8D49-483D-ACE7-5F5AB8AB1019}"/>
              </a:ext>
            </a:extLst>
          </p:cNvPr>
          <p:cNvSpPr>
            <a:spLocks xmlns:a="http://schemas.openxmlformats.org/drawingml/2006/main" noGrp="1"/>
          </p:cNvSpPr>
          <p:nvPr/>
        </p:nvSpPr>
        <p:spPr>
          <a:xfrm xmlns:a="http://schemas.openxmlformats.org/drawingml/2006/main">
            <a:off x="4174993" y="3197225"/>
            <a:ext cx="341141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13位含连字符方案需供应商确认字段长度、字符集和唯一性校验</a:t>
            </a:r>
          </a:p>
        </p:txBody>
      </p:sp>
      <p:sp>
        <p:nvSpPr>
          <p:cNvPr id="51" name="">
            <a:extLst xmlns:a="http://schemas.openxmlformats.org/drawingml/2006/main">
              <a:ext uri="{FF2B5EF4-FFF2-40B4-BE49-F238E27FC236}">
                <a16:creationId xmlns:a16="http://schemas.microsoft.com/office/drawing/2014/main" id="{2FD31122-FBDE-405E-9663-DADFA5BBBC5C}"/>
              </a:ext>
            </a:extLst>
          </p:cNvPr>
          <p:cNvSpPr>
            <a:spLocks xmlns:a="http://schemas.openxmlformats.org/drawingml/2006/main" noGrp="1"/>
          </p:cNvSpPr>
          <p:nvPr/>
        </p:nvSpPr>
        <p:spPr>
          <a:xfrm xmlns:a="http://schemas.openxmlformats.org/drawingml/2006/main">
            <a:off x="7624509" y="3168650"/>
            <a:ext cx="1609669"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2" name="">
            <a:extLst xmlns:a="http://schemas.openxmlformats.org/drawingml/2006/main">
              <a:ext uri="{FF2B5EF4-FFF2-40B4-BE49-F238E27FC236}">
                <a16:creationId xmlns:a16="http://schemas.microsoft.com/office/drawing/2014/main" id="{E87D553B-B3AC-472D-ADF6-97E3C971C9BD}"/>
              </a:ext>
            </a:extLst>
          </p:cNvPr>
          <p:cNvSpPr>
            <a:spLocks xmlns:a="http://schemas.openxmlformats.org/drawingml/2006/main" noGrp="1"/>
          </p:cNvSpPr>
          <p:nvPr/>
        </p:nvSpPr>
        <p:spPr>
          <a:xfrm xmlns:a="http://schemas.openxmlformats.org/drawingml/2006/main">
            <a:off x="7662609" y="3197225"/>
            <a:ext cx="153346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工程技术部 + 各系统供应商</a:t>
            </a:r>
          </a:p>
        </p:txBody>
      </p:sp>
      <p:sp>
        <p:nvSpPr>
          <p:cNvPr id="53" name="">
            <a:extLst xmlns:a="http://schemas.openxmlformats.org/drawingml/2006/main">
              <a:ext uri="{FF2B5EF4-FFF2-40B4-BE49-F238E27FC236}">
                <a16:creationId xmlns:a16="http://schemas.microsoft.com/office/drawing/2014/main" id="{BAAC8A6B-1D6A-4593-9A81-8099DF365E37}"/>
              </a:ext>
            </a:extLst>
          </p:cNvPr>
          <p:cNvSpPr>
            <a:spLocks xmlns:a="http://schemas.openxmlformats.org/drawingml/2006/main" noGrp="1"/>
          </p:cNvSpPr>
          <p:nvPr/>
        </p:nvSpPr>
        <p:spPr>
          <a:xfrm xmlns:a="http://schemas.openxmlformats.org/drawingml/2006/main">
            <a:off x="9234178" y="3168650"/>
            <a:ext cx="1274321"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4" name="">
            <a:extLst xmlns:a="http://schemas.openxmlformats.org/drawingml/2006/main">
              <a:ext uri="{FF2B5EF4-FFF2-40B4-BE49-F238E27FC236}">
                <a16:creationId xmlns:a16="http://schemas.microsoft.com/office/drawing/2014/main" id="{9C38DE62-FB05-4ED3-9544-BD7C769BC6FD}"/>
              </a:ext>
            </a:extLst>
          </p:cNvPr>
          <p:cNvSpPr>
            <a:spLocks xmlns:a="http://schemas.openxmlformats.org/drawingml/2006/main" noGrp="1"/>
          </p:cNvSpPr>
          <p:nvPr/>
        </p:nvSpPr>
        <p:spPr>
          <a:xfrm xmlns:a="http://schemas.openxmlformats.org/drawingml/2006/main">
            <a:off x="9272278" y="3197225"/>
            <a:ext cx="119812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2026-05-09</a:t>
            </a:r>
          </a:p>
        </p:txBody>
      </p:sp>
      <p:sp>
        <p:nvSpPr>
          <p:cNvPr id="55" name="">
            <a:extLst xmlns:a="http://schemas.openxmlformats.org/drawingml/2006/main">
              <a:ext uri="{FF2B5EF4-FFF2-40B4-BE49-F238E27FC236}">
                <a16:creationId xmlns:a16="http://schemas.microsoft.com/office/drawing/2014/main" id="{F4BA255B-9855-4A02-AB67-9E4FABCB6684}"/>
              </a:ext>
            </a:extLst>
          </p:cNvPr>
          <p:cNvSpPr>
            <a:spLocks xmlns:a="http://schemas.openxmlformats.org/drawingml/2006/main" noGrp="1"/>
          </p:cNvSpPr>
          <p:nvPr/>
        </p:nvSpPr>
        <p:spPr>
          <a:xfrm xmlns:a="http://schemas.openxmlformats.org/drawingml/2006/main">
            <a:off x="10508499" y="3168650"/>
            <a:ext cx="1207251"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6" name="">
            <a:extLst xmlns:a="http://schemas.openxmlformats.org/drawingml/2006/main">
              <a:ext uri="{FF2B5EF4-FFF2-40B4-BE49-F238E27FC236}">
                <a16:creationId xmlns:a16="http://schemas.microsoft.com/office/drawing/2014/main" id="{5B60AEAB-6526-4524-91C7-A15A42B5B1C3}"/>
              </a:ext>
            </a:extLst>
          </p:cNvPr>
          <p:cNvSpPr>
            <a:spLocks xmlns:a="http://schemas.openxmlformats.org/drawingml/2006/main" noGrp="1"/>
          </p:cNvSpPr>
          <p:nvPr/>
        </p:nvSpPr>
        <p:spPr>
          <a:xfrm xmlns:a="http://schemas.openxmlformats.org/drawingml/2006/main">
            <a:off x="10546599" y="3197225"/>
            <a:ext cx="113105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待技术确认</a:t>
            </a:r>
          </a:p>
        </p:txBody>
      </p:sp>
      <p:sp>
        <p:nvSpPr>
          <p:cNvPr id="57" name="">
            <a:extLst xmlns:a="http://schemas.openxmlformats.org/drawingml/2006/main">
              <a:ext uri="{FF2B5EF4-FFF2-40B4-BE49-F238E27FC236}">
                <a16:creationId xmlns:a16="http://schemas.microsoft.com/office/drawing/2014/main" id="{2826115A-3F9A-43E5-89B5-8F76837B9F10}"/>
              </a:ext>
            </a:extLst>
          </p:cNvPr>
          <p:cNvSpPr>
            <a:spLocks xmlns:a="http://schemas.openxmlformats.org/drawingml/2006/main" noGrp="1"/>
          </p:cNvSpPr>
          <p:nvPr/>
        </p:nvSpPr>
        <p:spPr>
          <a:xfrm xmlns:a="http://schemas.openxmlformats.org/drawingml/2006/main">
            <a:off x="381000" y="3666067"/>
            <a:ext cx="737765"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8" name="">
            <a:extLst xmlns:a="http://schemas.openxmlformats.org/drawingml/2006/main">
              <a:ext uri="{FF2B5EF4-FFF2-40B4-BE49-F238E27FC236}">
                <a16:creationId xmlns:a16="http://schemas.microsoft.com/office/drawing/2014/main" id="{1E0A29BE-D9B1-44D8-9A80-FDB9C3D9883E}"/>
              </a:ext>
            </a:extLst>
          </p:cNvPr>
          <p:cNvSpPr>
            <a:spLocks xmlns:a="http://schemas.openxmlformats.org/drawingml/2006/main" noGrp="1"/>
          </p:cNvSpPr>
          <p:nvPr/>
        </p:nvSpPr>
        <p:spPr>
          <a:xfrm xmlns:a="http://schemas.openxmlformats.org/drawingml/2006/main">
            <a:off x="419100" y="3694642"/>
            <a:ext cx="66156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Q4</a:t>
            </a:r>
          </a:p>
        </p:txBody>
      </p:sp>
      <p:sp>
        <p:nvSpPr>
          <p:cNvPr id="59" name="">
            <a:extLst xmlns:a="http://schemas.openxmlformats.org/drawingml/2006/main">
              <a:ext uri="{FF2B5EF4-FFF2-40B4-BE49-F238E27FC236}">
                <a16:creationId xmlns:a16="http://schemas.microsoft.com/office/drawing/2014/main" id="{E0A8B4AE-2648-4B7B-964B-E41DD14781C1}"/>
              </a:ext>
            </a:extLst>
          </p:cNvPr>
          <p:cNvSpPr>
            <a:spLocks xmlns:a="http://schemas.openxmlformats.org/drawingml/2006/main" noGrp="1"/>
          </p:cNvSpPr>
          <p:nvPr/>
        </p:nvSpPr>
        <p:spPr>
          <a:xfrm xmlns:a="http://schemas.openxmlformats.org/drawingml/2006/main">
            <a:off x="1118765" y="3666067"/>
            <a:ext cx="3018129"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0" name="">
            <a:extLst xmlns:a="http://schemas.openxmlformats.org/drawingml/2006/main">
              <a:ext uri="{FF2B5EF4-FFF2-40B4-BE49-F238E27FC236}">
                <a16:creationId xmlns:a16="http://schemas.microsoft.com/office/drawing/2014/main" id="{89354127-4429-414F-B001-EFE266D4B853}"/>
              </a:ext>
            </a:extLst>
          </p:cNvPr>
          <p:cNvSpPr>
            <a:spLocks xmlns:a="http://schemas.openxmlformats.org/drawingml/2006/main" noGrp="1"/>
          </p:cNvSpPr>
          <p:nvPr/>
        </p:nvSpPr>
        <p:spPr>
          <a:xfrm xmlns:a="http://schemas.openxmlformats.org/drawingml/2006/main">
            <a:off x="1156865" y="3694642"/>
            <a:ext cx="294192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编码是否需要校验位（MOD11算法）？</a:t>
            </a:r>
          </a:p>
        </p:txBody>
      </p:sp>
      <p:sp>
        <p:nvSpPr>
          <p:cNvPr id="61" name="">
            <a:extLst xmlns:a="http://schemas.openxmlformats.org/drawingml/2006/main">
              <a:ext uri="{FF2B5EF4-FFF2-40B4-BE49-F238E27FC236}">
                <a16:creationId xmlns:a16="http://schemas.microsoft.com/office/drawing/2014/main" id="{F9F226E1-1855-42C8-B162-29878DE55F82}"/>
              </a:ext>
            </a:extLst>
          </p:cNvPr>
          <p:cNvSpPr>
            <a:spLocks xmlns:a="http://schemas.openxmlformats.org/drawingml/2006/main" noGrp="1"/>
          </p:cNvSpPr>
          <p:nvPr/>
        </p:nvSpPr>
        <p:spPr>
          <a:xfrm xmlns:a="http://schemas.openxmlformats.org/drawingml/2006/main">
            <a:off x="4136893" y="3666067"/>
            <a:ext cx="3487615"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2" name="">
            <a:extLst xmlns:a="http://schemas.openxmlformats.org/drawingml/2006/main">
              <a:ext uri="{FF2B5EF4-FFF2-40B4-BE49-F238E27FC236}">
                <a16:creationId xmlns:a16="http://schemas.microsoft.com/office/drawing/2014/main" id="{4BB6521F-B931-4584-B575-6210497BC6EE}"/>
              </a:ext>
            </a:extLst>
          </p:cNvPr>
          <p:cNvSpPr>
            <a:spLocks xmlns:a="http://schemas.openxmlformats.org/drawingml/2006/main" noGrp="1"/>
          </p:cNvSpPr>
          <p:nvPr/>
        </p:nvSpPr>
        <p:spPr>
          <a:xfrm xmlns:a="http://schemas.openxmlformats.org/drawingml/2006/main">
            <a:off x="4174993" y="3694642"/>
            <a:ext cx="341141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需要 / 不需要；需评估系统录入、导入导出和人工识别成本</a:t>
            </a:r>
          </a:p>
        </p:txBody>
      </p:sp>
      <p:sp>
        <p:nvSpPr>
          <p:cNvPr id="63" name="">
            <a:extLst xmlns:a="http://schemas.openxmlformats.org/drawingml/2006/main">
              <a:ext uri="{FF2B5EF4-FFF2-40B4-BE49-F238E27FC236}">
                <a16:creationId xmlns:a16="http://schemas.microsoft.com/office/drawing/2014/main" id="{26E28B37-44FA-4E7C-A0E5-498315F86312}"/>
              </a:ext>
            </a:extLst>
          </p:cNvPr>
          <p:cNvSpPr>
            <a:spLocks xmlns:a="http://schemas.openxmlformats.org/drawingml/2006/main" noGrp="1"/>
          </p:cNvSpPr>
          <p:nvPr/>
        </p:nvSpPr>
        <p:spPr>
          <a:xfrm xmlns:a="http://schemas.openxmlformats.org/drawingml/2006/main">
            <a:off x="7624509" y="3666067"/>
            <a:ext cx="1609669"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4" name="">
            <a:extLst xmlns:a="http://schemas.openxmlformats.org/drawingml/2006/main">
              <a:ext uri="{FF2B5EF4-FFF2-40B4-BE49-F238E27FC236}">
                <a16:creationId xmlns:a16="http://schemas.microsoft.com/office/drawing/2014/main" id="{F0621296-17A1-41BC-92F2-ECE58CEF1311}"/>
              </a:ext>
            </a:extLst>
          </p:cNvPr>
          <p:cNvSpPr>
            <a:spLocks xmlns:a="http://schemas.openxmlformats.org/drawingml/2006/main" noGrp="1"/>
          </p:cNvSpPr>
          <p:nvPr/>
        </p:nvSpPr>
        <p:spPr>
          <a:xfrm xmlns:a="http://schemas.openxmlformats.org/drawingml/2006/main">
            <a:off x="7662609" y="3694642"/>
            <a:ext cx="153346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工程技术部 + 各系统供应商</a:t>
            </a:r>
          </a:p>
        </p:txBody>
      </p:sp>
      <p:sp>
        <p:nvSpPr>
          <p:cNvPr id="65" name="">
            <a:extLst xmlns:a="http://schemas.openxmlformats.org/drawingml/2006/main">
              <a:ext uri="{FF2B5EF4-FFF2-40B4-BE49-F238E27FC236}">
                <a16:creationId xmlns:a16="http://schemas.microsoft.com/office/drawing/2014/main" id="{DB1A8EF0-09D1-4AEC-8F46-EA368308B883}"/>
              </a:ext>
            </a:extLst>
          </p:cNvPr>
          <p:cNvSpPr>
            <a:spLocks xmlns:a="http://schemas.openxmlformats.org/drawingml/2006/main" noGrp="1"/>
          </p:cNvSpPr>
          <p:nvPr/>
        </p:nvSpPr>
        <p:spPr>
          <a:xfrm xmlns:a="http://schemas.openxmlformats.org/drawingml/2006/main">
            <a:off x="9234178" y="3666067"/>
            <a:ext cx="1274321"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6" name="">
            <a:extLst xmlns:a="http://schemas.openxmlformats.org/drawingml/2006/main">
              <a:ext uri="{FF2B5EF4-FFF2-40B4-BE49-F238E27FC236}">
                <a16:creationId xmlns:a16="http://schemas.microsoft.com/office/drawing/2014/main" id="{9E6D51BB-1ECB-4647-BE7E-D12721F71F1C}"/>
              </a:ext>
            </a:extLst>
          </p:cNvPr>
          <p:cNvSpPr>
            <a:spLocks xmlns:a="http://schemas.openxmlformats.org/drawingml/2006/main" noGrp="1"/>
          </p:cNvSpPr>
          <p:nvPr/>
        </p:nvSpPr>
        <p:spPr>
          <a:xfrm xmlns:a="http://schemas.openxmlformats.org/drawingml/2006/main">
            <a:off x="9272278" y="3694642"/>
            <a:ext cx="119812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2026-05-09</a:t>
            </a:r>
          </a:p>
        </p:txBody>
      </p:sp>
      <p:sp>
        <p:nvSpPr>
          <p:cNvPr id="67" name="">
            <a:extLst xmlns:a="http://schemas.openxmlformats.org/drawingml/2006/main">
              <a:ext uri="{FF2B5EF4-FFF2-40B4-BE49-F238E27FC236}">
                <a16:creationId xmlns:a16="http://schemas.microsoft.com/office/drawing/2014/main" id="{5ABAB47D-34C7-4D05-B410-360569BB3F7F}"/>
              </a:ext>
            </a:extLst>
          </p:cNvPr>
          <p:cNvSpPr>
            <a:spLocks xmlns:a="http://schemas.openxmlformats.org/drawingml/2006/main" noGrp="1"/>
          </p:cNvSpPr>
          <p:nvPr/>
        </p:nvSpPr>
        <p:spPr>
          <a:xfrm xmlns:a="http://schemas.openxmlformats.org/drawingml/2006/main">
            <a:off x="10508499" y="3666067"/>
            <a:ext cx="1207251"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8" name="">
            <a:extLst xmlns:a="http://schemas.openxmlformats.org/drawingml/2006/main">
              <a:ext uri="{FF2B5EF4-FFF2-40B4-BE49-F238E27FC236}">
                <a16:creationId xmlns:a16="http://schemas.microsoft.com/office/drawing/2014/main" id="{67275452-8C27-4ED1-A508-238255C7B23B}"/>
              </a:ext>
            </a:extLst>
          </p:cNvPr>
          <p:cNvSpPr>
            <a:spLocks xmlns:a="http://schemas.openxmlformats.org/drawingml/2006/main" noGrp="1"/>
          </p:cNvSpPr>
          <p:nvPr/>
        </p:nvSpPr>
        <p:spPr>
          <a:xfrm xmlns:a="http://schemas.openxmlformats.org/drawingml/2006/main">
            <a:off x="10546599" y="3694642"/>
            <a:ext cx="113105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待技术确认</a:t>
            </a:r>
          </a:p>
        </p:txBody>
      </p:sp>
      <p:sp>
        <p:nvSpPr>
          <p:cNvPr id="69" name="">
            <a:extLst xmlns:a="http://schemas.openxmlformats.org/drawingml/2006/main">
              <a:ext uri="{FF2B5EF4-FFF2-40B4-BE49-F238E27FC236}">
                <a16:creationId xmlns:a16="http://schemas.microsoft.com/office/drawing/2014/main" id="{2DDF8372-1D15-4083-A092-081AFA4DF9E8}"/>
              </a:ext>
            </a:extLst>
          </p:cNvPr>
          <p:cNvSpPr>
            <a:spLocks xmlns:a="http://schemas.openxmlformats.org/drawingml/2006/main" noGrp="1"/>
          </p:cNvSpPr>
          <p:nvPr/>
        </p:nvSpPr>
        <p:spPr>
          <a:xfrm xmlns:a="http://schemas.openxmlformats.org/drawingml/2006/main">
            <a:off x="381000" y="4163483"/>
            <a:ext cx="737765"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0" name="">
            <a:extLst xmlns:a="http://schemas.openxmlformats.org/drawingml/2006/main">
              <a:ext uri="{FF2B5EF4-FFF2-40B4-BE49-F238E27FC236}">
                <a16:creationId xmlns:a16="http://schemas.microsoft.com/office/drawing/2014/main" id="{066B1F72-05F6-425C-A98C-8DA2DCF60360}"/>
              </a:ext>
            </a:extLst>
          </p:cNvPr>
          <p:cNvSpPr>
            <a:spLocks xmlns:a="http://schemas.openxmlformats.org/drawingml/2006/main" noGrp="1"/>
          </p:cNvSpPr>
          <p:nvPr/>
        </p:nvSpPr>
        <p:spPr>
          <a:xfrm xmlns:a="http://schemas.openxmlformats.org/drawingml/2006/main">
            <a:off x="419100" y="4192058"/>
            <a:ext cx="66156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Q5</a:t>
            </a:r>
          </a:p>
        </p:txBody>
      </p:sp>
      <p:sp>
        <p:nvSpPr>
          <p:cNvPr id="71" name="">
            <a:extLst xmlns:a="http://schemas.openxmlformats.org/drawingml/2006/main">
              <a:ext uri="{FF2B5EF4-FFF2-40B4-BE49-F238E27FC236}">
                <a16:creationId xmlns:a16="http://schemas.microsoft.com/office/drawing/2014/main" id="{82231A59-E82C-4C2D-A7BF-7CEE6DFCBE57}"/>
              </a:ext>
            </a:extLst>
          </p:cNvPr>
          <p:cNvSpPr>
            <a:spLocks xmlns:a="http://schemas.openxmlformats.org/drawingml/2006/main" noGrp="1"/>
          </p:cNvSpPr>
          <p:nvPr/>
        </p:nvSpPr>
        <p:spPr>
          <a:xfrm xmlns:a="http://schemas.openxmlformats.org/drawingml/2006/main">
            <a:off x="1118765" y="4163483"/>
            <a:ext cx="3018129"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2" name="">
            <a:extLst xmlns:a="http://schemas.openxmlformats.org/drawingml/2006/main">
              <a:ext uri="{FF2B5EF4-FFF2-40B4-BE49-F238E27FC236}">
                <a16:creationId xmlns:a16="http://schemas.microsoft.com/office/drawing/2014/main" id="{733FDD2A-6799-4BBE-BA6A-A962CBFAE0E8}"/>
              </a:ext>
            </a:extLst>
          </p:cNvPr>
          <p:cNvSpPr>
            <a:spLocks xmlns:a="http://schemas.openxmlformats.org/drawingml/2006/main" noGrp="1"/>
          </p:cNvSpPr>
          <p:nvPr/>
        </p:nvSpPr>
        <p:spPr>
          <a:xfrm xmlns:a="http://schemas.openxmlformats.org/drawingml/2006/main">
            <a:off x="1156865" y="4192058"/>
            <a:ext cx="294192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设计件物料主数据黄金源是 PLM 还是 ERP？</a:t>
            </a:r>
          </a:p>
        </p:txBody>
      </p:sp>
      <p:sp>
        <p:nvSpPr>
          <p:cNvPr id="73" name="">
            <a:extLst xmlns:a="http://schemas.openxmlformats.org/drawingml/2006/main">
              <a:ext uri="{FF2B5EF4-FFF2-40B4-BE49-F238E27FC236}">
                <a16:creationId xmlns:a16="http://schemas.microsoft.com/office/drawing/2014/main" id="{BE81DCA4-C81B-4553-AF84-9EFD74B145DD}"/>
              </a:ext>
            </a:extLst>
          </p:cNvPr>
          <p:cNvSpPr>
            <a:spLocks xmlns:a="http://schemas.openxmlformats.org/drawingml/2006/main" noGrp="1"/>
          </p:cNvSpPr>
          <p:nvPr/>
        </p:nvSpPr>
        <p:spPr>
          <a:xfrm xmlns:a="http://schemas.openxmlformats.org/drawingml/2006/main">
            <a:off x="4136893" y="4163483"/>
            <a:ext cx="3487615"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4" name="">
            <a:extLst xmlns:a="http://schemas.openxmlformats.org/drawingml/2006/main">
              <a:ext uri="{FF2B5EF4-FFF2-40B4-BE49-F238E27FC236}">
                <a16:creationId xmlns:a16="http://schemas.microsoft.com/office/drawing/2014/main" id="{399F29E2-ACC1-402C-B8B4-1B48E859D4D3}"/>
              </a:ext>
            </a:extLst>
          </p:cNvPr>
          <p:cNvSpPr>
            <a:spLocks xmlns:a="http://schemas.openxmlformats.org/drawingml/2006/main" noGrp="1"/>
          </p:cNvSpPr>
          <p:nvPr/>
        </p:nvSpPr>
        <p:spPr>
          <a:xfrm xmlns:a="http://schemas.openxmlformats.org/drawingml/2006/main">
            <a:off x="4174993" y="4192058"/>
            <a:ext cx="341141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翎瑞鸿翔PLM（一期）为设计件黄金源；CAPP暂不在一期，MBOM工序展开暂由人工或临时方案</a:t>
            </a:r>
          </a:p>
        </p:txBody>
      </p:sp>
      <p:sp>
        <p:nvSpPr>
          <p:cNvPr id="75" name="">
            <a:extLst xmlns:a="http://schemas.openxmlformats.org/drawingml/2006/main">
              <a:ext uri="{FF2B5EF4-FFF2-40B4-BE49-F238E27FC236}">
                <a16:creationId xmlns:a16="http://schemas.microsoft.com/office/drawing/2014/main" id="{5EEC236F-2A9C-4A0A-9B74-04B298A68999}"/>
              </a:ext>
            </a:extLst>
          </p:cNvPr>
          <p:cNvSpPr>
            <a:spLocks xmlns:a="http://schemas.openxmlformats.org/drawingml/2006/main" noGrp="1"/>
          </p:cNvSpPr>
          <p:nvPr/>
        </p:nvSpPr>
        <p:spPr>
          <a:xfrm xmlns:a="http://schemas.openxmlformats.org/drawingml/2006/main">
            <a:off x="7624509" y="4163483"/>
            <a:ext cx="1609669"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6" name="">
            <a:extLst xmlns:a="http://schemas.openxmlformats.org/drawingml/2006/main">
              <a:ext uri="{FF2B5EF4-FFF2-40B4-BE49-F238E27FC236}">
                <a16:creationId xmlns:a16="http://schemas.microsoft.com/office/drawing/2014/main" id="{493CDC1B-52C6-4F6B-B951-5CEC767F7731}"/>
              </a:ext>
            </a:extLst>
          </p:cNvPr>
          <p:cNvSpPr>
            <a:spLocks xmlns:a="http://schemas.openxmlformats.org/drawingml/2006/main" noGrp="1"/>
          </p:cNvSpPr>
          <p:nvPr/>
        </p:nvSpPr>
        <p:spPr>
          <a:xfrm xmlns:a="http://schemas.openxmlformats.org/drawingml/2006/main">
            <a:off x="7662609" y="4192058"/>
            <a:ext cx="153346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工程技术部</a:t>
            </a:r>
          </a:p>
        </p:txBody>
      </p:sp>
      <p:sp>
        <p:nvSpPr>
          <p:cNvPr id="77" name="">
            <a:extLst xmlns:a="http://schemas.openxmlformats.org/drawingml/2006/main">
              <a:ext uri="{FF2B5EF4-FFF2-40B4-BE49-F238E27FC236}">
                <a16:creationId xmlns:a16="http://schemas.microsoft.com/office/drawing/2014/main" id="{2DB936D6-94B3-4C4B-8D66-B7291C6980A3}"/>
              </a:ext>
            </a:extLst>
          </p:cNvPr>
          <p:cNvSpPr>
            <a:spLocks xmlns:a="http://schemas.openxmlformats.org/drawingml/2006/main" noGrp="1"/>
          </p:cNvSpPr>
          <p:nvPr/>
        </p:nvSpPr>
        <p:spPr>
          <a:xfrm xmlns:a="http://schemas.openxmlformats.org/drawingml/2006/main">
            <a:off x="9234178" y="4163483"/>
            <a:ext cx="1274321"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8" name="">
            <a:extLst xmlns:a="http://schemas.openxmlformats.org/drawingml/2006/main">
              <a:ext uri="{FF2B5EF4-FFF2-40B4-BE49-F238E27FC236}">
                <a16:creationId xmlns:a16="http://schemas.microsoft.com/office/drawing/2014/main" id="{8788887E-350B-405C-8A5D-65CA0AEE2BD2}"/>
              </a:ext>
            </a:extLst>
          </p:cNvPr>
          <p:cNvSpPr>
            <a:spLocks xmlns:a="http://schemas.openxmlformats.org/drawingml/2006/main" noGrp="1"/>
          </p:cNvSpPr>
          <p:nvPr/>
        </p:nvSpPr>
        <p:spPr>
          <a:xfrm xmlns:a="http://schemas.openxmlformats.org/drawingml/2006/main">
            <a:off x="9272278" y="4192058"/>
            <a:ext cx="119812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2026-05-09</a:t>
            </a:r>
          </a:p>
        </p:txBody>
      </p:sp>
      <p:sp>
        <p:nvSpPr>
          <p:cNvPr id="79" name="">
            <a:extLst xmlns:a="http://schemas.openxmlformats.org/drawingml/2006/main">
              <a:ext uri="{FF2B5EF4-FFF2-40B4-BE49-F238E27FC236}">
                <a16:creationId xmlns:a16="http://schemas.microsoft.com/office/drawing/2014/main" id="{E8FCE1C6-40AC-47C8-8A3A-C41490C7D9A9}"/>
              </a:ext>
            </a:extLst>
          </p:cNvPr>
          <p:cNvSpPr>
            <a:spLocks xmlns:a="http://schemas.openxmlformats.org/drawingml/2006/main" noGrp="1"/>
          </p:cNvSpPr>
          <p:nvPr/>
        </p:nvSpPr>
        <p:spPr>
          <a:xfrm xmlns:a="http://schemas.openxmlformats.org/drawingml/2006/main">
            <a:off x="10508499" y="4163483"/>
            <a:ext cx="1207251"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80" name="">
            <a:extLst xmlns:a="http://schemas.openxmlformats.org/drawingml/2006/main">
              <a:ext uri="{FF2B5EF4-FFF2-40B4-BE49-F238E27FC236}">
                <a16:creationId xmlns:a16="http://schemas.microsoft.com/office/drawing/2014/main" id="{9463145D-C3A5-4E53-B661-712B2B9E670B}"/>
              </a:ext>
            </a:extLst>
          </p:cNvPr>
          <p:cNvSpPr>
            <a:spLocks xmlns:a="http://schemas.openxmlformats.org/drawingml/2006/main" noGrp="1"/>
          </p:cNvSpPr>
          <p:nvPr/>
        </p:nvSpPr>
        <p:spPr>
          <a:xfrm xmlns:a="http://schemas.openxmlformats.org/drawingml/2006/main">
            <a:off x="10546599" y="4192058"/>
            <a:ext cx="113105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 已解决</a:t>
            </a:r>
          </a:p>
        </p:txBody>
      </p:sp>
      <p:sp>
        <p:nvSpPr>
          <p:cNvPr id="81" name="">
            <a:extLst xmlns:a="http://schemas.openxmlformats.org/drawingml/2006/main">
              <a:ext uri="{FF2B5EF4-FFF2-40B4-BE49-F238E27FC236}">
                <a16:creationId xmlns:a16="http://schemas.microsoft.com/office/drawing/2014/main" id="{2B82DE75-A969-4E87-91C1-8ED08D555A18}"/>
              </a:ext>
            </a:extLst>
          </p:cNvPr>
          <p:cNvSpPr>
            <a:spLocks xmlns:a="http://schemas.openxmlformats.org/drawingml/2006/main" noGrp="1"/>
          </p:cNvSpPr>
          <p:nvPr/>
        </p:nvSpPr>
        <p:spPr>
          <a:xfrm xmlns:a="http://schemas.openxmlformats.org/drawingml/2006/main">
            <a:off x="381000" y="4660900"/>
            <a:ext cx="737765"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82" name="">
            <a:extLst xmlns:a="http://schemas.openxmlformats.org/drawingml/2006/main">
              <a:ext uri="{FF2B5EF4-FFF2-40B4-BE49-F238E27FC236}">
                <a16:creationId xmlns:a16="http://schemas.microsoft.com/office/drawing/2014/main" id="{5809E0E6-BC69-4BE5-8A9B-D83CAA9698C0}"/>
              </a:ext>
            </a:extLst>
          </p:cNvPr>
          <p:cNvSpPr>
            <a:spLocks xmlns:a="http://schemas.openxmlformats.org/drawingml/2006/main" noGrp="1"/>
          </p:cNvSpPr>
          <p:nvPr/>
        </p:nvSpPr>
        <p:spPr>
          <a:xfrm xmlns:a="http://schemas.openxmlformats.org/drawingml/2006/main">
            <a:off x="419100" y="4689475"/>
            <a:ext cx="66156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Q6</a:t>
            </a:r>
          </a:p>
        </p:txBody>
      </p:sp>
      <p:sp>
        <p:nvSpPr>
          <p:cNvPr id="83" name="">
            <a:extLst xmlns:a="http://schemas.openxmlformats.org/drawingml/2006/main">
              <a:ext uri="{FF2B5EF4-FFF2-40B4-BE49-F238E27FC236}">
                <a16:creationId xmlns:a16="http://schemas.microsoft.com/office/drawing/2014/main" id="{25DBA3D4-BC87-46F0-8E36-995EDF5D3B91}"/>
              </a:ext>
            </a:extLst>
          </p:cNvPr>
          <p:cNvSpPr>
            <a:spLocks xmlns:a="http://schemas.openxmlformats.org/drawingml/2006/main" noGrp="1"/>
          </p:cNvSpPr>
          <p:nvPr/>
        </p:nvSpPr>
        <p:spPr>
          <a:xfrm xmlns:a="http://schemas.openxmlformats.org/drawingml/2006/main">
            <a:off x="1118765" y="4660900"/>
            <a:ext cx="3018129"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84" name="">
            <a:extLst xmlns:a="http://schemas.openxmlformats.org/drawingml/2006/main">
              <a:ext uri="{FF2B5EF4-FFF2-40B4-BE49-F238E27FC236}">
                <a16:creationId xmlns:a16="http://schemas.microsoft.com/office/drawing/2014/main" id="{8F241849-6DD9-4FBF-B9F4-C898AD5237C0}"/>
              </a:ext>
            </a:extLst>
          </p:cNvPr>
          <p:cNvSpPr>
            <a:spLocks xmlns:a="http://schemas.openxmlformats.org/drawingml/2006/main" noGrp="1"/>
          </p:cNvSpPr>
          <p:nvPr/>
        </p:nvSpPr>
        <p:spPr>
          <a:xfrm xmlns:a="http://schemas.openxmlformats.org/drawingml/2006/main">
            <a:off x="1156865" y="4689475"/>
            <a:ext cx="294192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MBOM黄金源是 CAPP 还是 ERP-PP？</a:t>
            </a:r>
          </a:p>
        </p:txBody>
      </p:sp>
      <p:sp>
        <p:nvSpPr>
          <p:cNvPr id="85" name="">
            <a:extLst xmlns:a="http://schemas.openxmlformats.org/drawingml/2006/main">
              <a:ext uri="{FF2B5EF4-FFF2-40B4-BE49-F238E27FC236}">
                <a16:creationId xmlns:a16="http://schemas.microsoft.com/office/drawing/2014/main" id="{D1B879D5-AF96-446A-95B0-D4237A3340BF}"/>
              </a:ext>
            </a:extLst>
          </p:cNvPr>
          <p:cNvSpPr>
            <a:spLocks xmlns:a="http://schemas.openxmlformats.org/drawingml/2006/main" noGrp="1"/>
          </p:cNvSpPr>
          <p:nvPr/>
        </p:nvSpPr>
        <p:spPr>
          <a:xfrm xmlns:a="http://schemas.openxmlformats.org/drawingml/2006/main">
            <a:off x="4136893" y="4660900"/>
            <a:ext cx="3487615"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86" name="">
            <a:extLst xmlns:a="http://schemas.openxmlformats.org/drawingml/2006/main">
              <a:ext uri="{FF2B5EF4-FFF2-40B4-BE49-F238E27FC236}">
                <a16:creationId xmlns:a16="http://schemas.microsoft.com/office/drawing/2014/main" id="{62312EB4-2E1F-4403-9239-427A08C8288C}"/>
              </a:ext>
            </a:extLst>
          </p:cNvPr>
          <p:cNvSpPr>
            <a:spLocks xmlns:a="http://schemas.openxmlformats.org/drawingml/2006/main" noGrp="1"/>
          </p:cNvSpPr>
          <p:nvPr/>
        </p:nvSpPr>
        <p:spPr>
          <a:xfrm xmlns:a="http://schemas.openxmlformats.org/drawingml/2006/main">
            <a:off x="4174993" y="4689475"/>
            <a:ext cx="341141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一期由人工或临时方案；CAPP后续规划</a:t>
            </a:r>
          </a:p>
        </p:txBody>
      </p:sp>
      <p:sp>
        <p:nvSpPr>
          <p:cNvPr id="87" name="">
            <a:extLst xmlns:a="http://schemas.openxmlformats.org/drawingml/2006/main">
              <a:ext uri="{FF2B5EF4-FFF2-40B4-BE49-F238E27FC236}">
                <a16:creationId xmlns:a16="http://schemas.microsoft.com/office/drawing/2014/main" id="{B40F1E8F-0154-4F23-AFD0-9A585B320E02}"/>
              </a:ext>
            </a:extLst>
          </p:cNvPr>
          <p:cNvSpPr>
            <a:spLocks xmlns:a="http://schemas.openxmlformats.org/drawingml/2006/main" noGrp="1"/>
          </p:cNvSpPr>
          <p:nvPr/>
        </p:nvSpPr>
        <p:spPr>
          <a:xfrm xmlns:a="http://schemas.openxmlformats.org/drawingml/2006/main">
            <a:off x="7624509" y="4660900"/>
            <a:ext cx="1609669"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88" name="">
            <a:extLst xmlns:a="http://schemas.openxmlformats.org/drawingml/2006/main">
              <a:ext uri="{FF2B5EF4-FFF2-40B4-BE49-F238E27FC236}">
                <a16:creationId xmlns:a16="http://schemas.microsoft.com/office/drawing/2014/main" id="{4618B47E-2314-4FC1-9746-85E94793CC34}"/>
              </a:ext>
            </a:extLst>
          </p:cNvPr>
          <p:cNvSpPr>
            <a:spLocks xmlns:a="http://schemas.openxmlformats.org/drawingml/2006/main" noGrp="1"/>
          </p:cNvSpPr>
          <p:nvPr/>
        </p:nvSpPr>
        <p:spPr>
          <a:xfrm xmlns:a="http://schemas.openxmlformats.org/drawingml/2006/main">
            <a:off x="7662609" y="4689475"/>
            <a:ext cx="153346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复材车间 + 工程技术部</a:t>
            </a:r>
          </a:p>
        </p:txBody>
      </p:sp>
      <p:sp>
        <p:nvSpPr>
          <p:cNvPr id="89" name="">
            <a:extLst xmlns:a="http://schemas.openxmlformats.org/drawingml/2006/main">
              <a:ext uri="{FF2B5EF4-FFF2-40B4-BE49-F238E27FC236}">
                <a16:creationId xmlns:a16="http://schemas.microsoft.com/office/drawing/2014/main" id="{1404F084-6BDC-48BA-9B65-B6C06404F806}"/>
              </a:ext>
            </a:extLst>
          </p:cNvPr>
          <p:cNvSpPr>
            <a:spLocks xmlns:a="http://schemas.openxmlformats.org/drawingml/2006/main" noGrp="1"/>
          </p:cNvSpPr>
          <p:nvPr/>
        </p:nvSpPr>
        <p:spPr>
          <a:xfrm xmlns:a="http://schemas.openxmlformats.org/drawingml/2006/main">
            <a:off x="9234178" y="4660900"/>
            <a:ext cx="1274321"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90" name="">
            <a:extLst xmlns:a="http://schemas.openxmlformats.org/drawingml/2006/main">
              <a:ext uri="{FF2B5EF4-FFF2-40B4-BE49-F238E27FC236}">
                <a16:creationId xmlns:a16="http://schemas.microsoft.com/office/drawing/2014/main" id="{FBE8367A-2836-47F2-8C85-C0E967BF31B2}"/>
              </a:ext>
            </a:extLst>
          </p:cNvPr>
          <p:cNvSpPr>
            <a:spLocks xmlns:a="http://schemas.openxmlformats.org/drawingml/2006/main" noGrp="1"/>
          </p:cNvSpPr>
          <p:nvPr/>
        </p:nvSpPr>
        <p:spPr>
          <a:xfrm xmlns:a="http://schemas.openxmlformats.org/drawingml/2006/main">
            <a:off x="9272278" y="4689475"/>
            <a:ext cx="119812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2026-05-09</a:t>
            </a:r>
          </a:p>
        </p:txBody>
      </p:sp>
      <p:sp>
        <p:nvSpPr>
          <p:cNvPr id="91" name="">
            <a:extLst xmlns:a="http://schemas.openxmlformats.org/drawingml/2006/main">
              <a:ext uri="{FF2B5EF4-FFF2-40B4-BE49-F238E27FC236}">
                <a16:creationId xmlns:a16="http://schemas.microsoft.com/office/drawing/2014/main" id="{15EEFE32-2B75-43DE-9D89-4F03D54DBF88}"/>
              </a:ext>
            </a:extLst>
          </p:cNvPr>
          <p:cNvSpPr>
            <a:spLocks xmlns:a="http://schemas.openxmlformats.org/drawingml/2006/main" noGrp="1"/>
          </p:cNvSpPr>
          <p:nvPr/>
        </p:nvSpPr>
        <p:spPr>
          <a:xfrm xmlns:a="http://schemas.openxmlformats.org/drawingml/2006/main">
            <a:off x="10508499" y="4660900"/>
            <a:ext cx="1207251"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92" name="">
            <a:extLst xmlns:a="http://schemas.openxmlformats.org/drawingml/2006/main">
              <a:ext uri="{FF2B5EF4-FFF2-40B4-BE49-F238E27FC236}">
                <a16:creationId xmlns:a16="http://schemas.microsoft.com/office/drawing/2014/main" id="{1EA7FE18-1733-465C-9CCA-EEF5985DB98E}"/>
              </a:ext>
            </a:extLst>
          </p:cNvPr>
          <p:cNvSpPr>
            <a:spLocks xmlns:a="http://schemas.openxmlformats.org/drawingml/2006/main" noGrp="1"/>
          </p:cNvSpPr>
          <p:nvPr/>
        </p:nvSpPr>
        <p:spPr>
          <a:xfrm xmlns:a="http://schemas.openxmlformats.org/drawingml/2006/main">
            <a:off x="10546599" y="4689475"/>
            <a:ext cx="113105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条件性决策</a:t>
            </a:r>
          </a:p>
        </p:txBody>
      </p:sp>
      <p:sp>
        <p:nvSpPr>
          <p:cNvPr id="93" name="">
            <a:extLst xmlns:a="http://schemas.openxmlformats.org/drawingml/2006/main">
              <a:ext uri="{FF2B5EF4-FFF2-40B4-BE49-F238E27FC236}">
                <a16:creationId xmlns:a16="http://schemas.microsoft.com/office/drawing/2014/main" id="{216F9CF5-F39D-4CC1-8B9F-B4D22C73D575}"/>
              </a:ext>
            </a:extLst>
          </p:cNvPr>
          <p:cNvSpPr>
            <a:spLocks xmlns:a="http://schemas.openxmlformats.org/drawingml/2006/main" noGrp="1"/>
          </p:cNvSpPr>
          <p:nvPr/>
        </p:nvSpPr>
        <p:spPr>
          <a:xfrm xmlns:a="http://schemas.openxmlformats.org/drawingml/2006/main">
            <a:off x="381000" y="5158317"/>
            <a:ext cx="737765"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94" name="">
            <a:extLst xmlns:a="http://schemas.openxmlformats.org/drawingml/2006/main">
              <a:ext uri="{FF2B5EF4-FFF2-40B4-BE49-F238E27FC236}">
                <a16:creationId xmlns:a16="http://schemas.microsoft.com/office/drawing/2014/main" id="{52A2EF84-9E65-45D5-82F6-6B3BC9E33D59}"/>
              </a:ext>
            </a:extLst>
          </p:cNvPr>
          <p:cNvSpPr>
            <a:spLocks xmlns:a="http://schemas.openxmlformats.org/drawingml/2006/main" noGrp="1"/>
          </p:cNvSpPr>
          <p:nvPr/>
        </p:nvSpPr>
        <p:spPr>
          <a:xfrm xmlns:a="http://schemas.openxmlformats.org/drawingml/2006/main">
            <a:off x="419100" y="5186892"/>
            <a:ext cx="66156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Q7</a:t>
            </a:r>
          </a:p>
        </p:txBody>
      </p:sp>
      <p:sp>
        <p:nvSpPr>
          <p:cNvPr id="95" name="">
            <a:extLst xmlns:a="http://schemas.openxmlformats.org/drawingml/2006/main">
              <a:ext uri="{FF2B5EF4-FFF2-40B4-BE49-F238E27FC236}">
                <a16:creationId xmlns:a16="http://schemas.microsoft.com/office/drawing/2014/main" id="{307A1A15-800F-4FD8-9E22-A5AC39B5C061}"/>
              </a:ext>
            </a:extLst>
          </p:cNvPr>
          <p:cNvSpPr>
            <a:spLocks xmlns:a="http://schemas.openxmlformats.org/drawingml/2006/main" noGrp="1"/>
          </p:cNvSpPr>
          <p:nvPr/>
        </p:nvSpPr>
        <p:spPr>
          <a:xfrm xmlns:a="http://schemas.openxmlformats.org/drawingml/2006/main">
            <a:off x="1118765" y="5158317"/>
            <a:ext cx="3018129"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96" name="">
            <a:extLst xmlns:a="http://schemas.openxmlformats.org/drawingml/2006/main">
              <a:ext uri="{FF2B5EF4-FFF2-40B4-BE49-F238E27FC236}">
                <a16:creationId xmlns:a16="http://schemas.microsoft.com/office/drawing/2014/main" id="{0B44A193-A3FD-434B-A78C-4BF97B773A6D}"/>
              </a:ext>
            </a:extLst>
          </p:cNvPr>
          <p:cNvSpPr>
            <a:spLocks xmlns:a="http://schemas.openxmlformats.org/drawingml/2006/main" noGrp="1"/>
          </p:cNvSpPr>
          <p:nvPr/>
        </p:nvSpPr>
        <p:spPr>
          <a:xfrm xmlns:a="http://schemas.openxmlformats.org/drawingml/2006/main">
            <a:off x="1156865" y="5186892"/>
            <a:ext cx="294192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是否建设数据中台/集成总线？</a:t>
            </a:r>
          </a:p>
        </p:txBody>
      </p:sp>
      <p:sp>
        <p:nvSpPr>
          <p:cNvPr id="97" name="">
            <a:extLst xmlns:a="http://schemas.openxmlformats.org/drawingml/2006/main">
              <a:ext uri="{FF2B5EF4-FFF2-40B4-BE49-F238E27FC236}">
                <a16:creationId xmlns:a16="http://schemas.microsoft.com/office/drawing/2014/main" id="{E320802B-5719-4BFB-B169-C6F4342C5562}"/>
              </a:ext>
            </a:extLst>
          </p:cNvPr>
          <p:cNvSpPr>
            <a:spLocks xmlns:a="http://schemas.openxmlformats.org/drawingml/2006/main" noGrp="1"/>
          </p:cNvSpPr>
          <p:nvPr/>
        </p:nvSpPr>
        <p:spPr>
          <a:xfrm xmlns:a="http://schemas.openxmlformats.org/drawingml/2006/main">
            <a:off x="4136893" y="5158317"/>
            <a:ext cx="3487615"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98" name="">
            <a:extLst xmlns:a="http://schemas.openxmlformats.org/drawingml/2006/main">
              <a:ext uri="{FF2B5EF4-FFF2-40B4-BE49-F238E27FC236}">
                <a16:creationId xmlns:a16="http://schemas.microsoft.com/office/drawing/2014/main" id="{996591D4-13F2-44AB-8800-005E2DD02C9C}"/>
              </a:ext>
            </a:extLst>
          </p:cNvPr>
          <p:cNvSpPr>
            <a:spLocks xmlns:a="http://schemas.openxmlformats.org/drawingml/2006/main" noGrp="1"/>
          </p:cNvSpPr>
          <p:nvPr/>
        </p:nvSpPr>
        <p:spPr>
          <a:xfrm xmlns:a="http://schemas.openxmlformats.org/drawingml/2006/main">
            <a:off x="4174993" y="5186892"/>
            <a:ext cx="341141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不直接拍最终架构；先确认关键接口不再裸奔，后续比较点对点/ESB/数据中台</a:t>
            </a:r>
          </a:p>
        </p:txBody>
      </p:sp>
      <p:sp>
        <p:nvSpPr>
          <p:cNvPr id="99" name="">
            <a:extLst xmlns:a="http://schemas.openxmlformats.org/drawingml/2006/main">
              <a:ext uri="{FF2B5EF4-FFF2-40B4-BE49-F238E27FC236}">
                <a16:creationId xmlns:a16="http://schemas.microsoft.com/office/drawing/2014/main" id="{7A0E06EA-77CD-4D73-A869-8C436D392783}"/>
              </a:ext>
            </a:extLst>
          </p:cNvPr>
          <p:cNvSpPr>
            <a:spLocks xmlns:a="http://schemas.openxmlformats.org/drawingml/2006/main" noGrp="1"/>
          </p:cNvSpPr>
          <p:nvPr/>
        </p:nvSpPr>
        <p:spPr>
          <a:xfrm xmlns:a="http://schemas.openxmlformats.org/drawingml/2006/main">
            <a:off x="7624509" y="5158317"/>
            <a:ext cx="1609669"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00" name="">
            <a:extLst xmlns:a="http://schemas.openxmlformats.org/drawingml/2006/main">
              <a:ext uri="{FF2B5EF4-FFF2-40B4-BE49-F238E27FC236}">
                <a16:creationId xmlns:a16="http://schemas.microsoft.com/office/drawing/2014/main" id="{F3BFC767-7ADF-4C51-91F3-BBF5DBBBC01C}"/>
              </a:ext>
            </a:extLst>
          </p:cNvPr>
          <p:cNvSpPr>
            <a:spLocks xmlns:a="http://schemas.openxmlformats.org/drawingml/2006/main" noGrp="1"/>
          </p:cNvSpPr>
          <p:nvPr/>
        </p:nvSpPr>
        <p:spPr>
          <a:xfrm xmlns:a="http://schemas.openxmlformats.org/drawingml/2006/main">
            <a:off x="7662609" y="5186892"/>
            <a:ext cx="153346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项目管理部 + 总经理</a:t>
            </a:r>
          </a:p>
        </p:txBody>
      </p:sp>
      <p:sp>
        <p:nvSpPr>
          <p:cNvPr id="101" name="">
            <a:extLst xmlns:a="http://schemas.openxmlformats.org/drawingml/2006/main">
              <a:ext uri="{FF2B5EF4-FFF2-40B4-BE49-F238E27FC236}">
                <a16:creationId xmlns:a16="http://schemas.microsoft.com/office/drawing/2014/main" id="{0B66C779-3655-4303-8387-EE6E49C51D68}"/>
              </a:ext>
            </a:extLst>
          </p:cNvPr>
          <p:cNvSpPr>
            <a:spLocks xmlns:a="http://schemas.openxmlformats.org/drawingml/2006/main" noGrp="1"/>
          </p:cNvSpPr>
          <p:nvPr/>
        </p:nvSpPr>
        <p:spPr>
          <a:xfrm xmlns:a="http://schemas.openxmlformats.org/drawingml/2006/main">
            <a:off x="9234178" y="5158317"/>
            <a:ext cx="1274321"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02" name="">
            <a:extLst xmlns:a="http://schemas.openxmlformats.org/drawingml/2006/main">
              <a:ext uri="{FF2B5EF4-FFF2-40B4-BE49-F238E27FC236}">
                <a16:creationId xmlns:a16="http://schemas.microsoft.com/office/drawing/2014/main" id="{F112475A-8139-4BBB-B953-A21AE17ECF0B}"/>
              </a:ext>
            </a:extLst>
          </p:cNvPr>
          <p:cNvSpPr>
            <a:spLocks xmlns:a="http://schemas.openxmlformats.org/drawingml/2006/main" noGrp="1"/>
          </p:cNvSpPr>
          <p:nvPr/>
        </p:nvSpPr>
        <p:spPr>
          <a:xfrm xmlns:a="http://schemas.openxmlformats.org/drawingml/2006/main">
            <a:off x="9272278" y="5186892"/>
            <a:ext cx="119812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2026-05-09</a:t>
            </a:r>
          </a:p>
        </p:txBody>
      </p:sp>
      <p:sp>
        <p:nvSpPr>
          <p:cNvPr id="103" name="">
            <a:extLst xmlns:a="http://schemas.openxmlformats.org/drawingml/2006/main">
              <a:ext uri="{FF2B5EF4-FFF2-40B4-BE49-F238E27FC236}">
                <a16:creationId xmlns:a16="http://schemas.microsoft.com/office/drawing/2014/main" id="{AEA2B17F-6A78-4E44-A258-DA25C8B20A85}"/>
              </a:ext>
            </a:extLst>
          </p:cNvPr>
          <p:cNvSpPr>
            <a:spLocks xmlns:a="http://schemas.openxmlformats.org/drawingml/2006/main" noGrp="1"/>
          </p:cNvSpPr>
          <p:nvPr/>
        </p:nvSpPr>
        <p:spPr>
          <a:xfrm xmlns:a="http://schemas.openxmlformats.org/drawingml/2006/main">
            <a:off x="10508499" y="5158317"/>
            <a:ext cx="1207251" cy="497417"/>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04" name="">
            <a:extLst xmlns:a="http://schemas.openxmlformats.org/drawingml/2006/main">
              <a:ext uri="{FF2B5EF4-FFF2-40B4-BE49-F238E27FC236}">
                <a16:creationId xmlns:a16="http://schemas.microsoft.com/office/drawing/2014/main" id="{FCC42C85-F4FC-4B05-BC35-CAF948AEF9D0}"/>
              </a:ext>
            </a:extLst>
          </p:cNvPr>
          <p:cNvSpPr>
            <a:spLocks xmlns:a="http://schemas.openxmlformats.org/drawingml/2006/main" noGrp="1"/>
          </p:cNvSpPr>
          <p:nvPr/>
        </p:nvSpPr>
        <p:spPr>
          <a:xfrm xmlns:a="http://schemas.openxmlformats.org/drawingml/2006/main">
            <a:off x="10546599" y="5186892"/>
            <a:ext cx="113105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条件性决策</a:t>
            </a:r>
          </a:p>
        </p:txBody>
      </p:sp>
      <p:sp>
        <p:nvSpPr>
          <p:cNvPr id="105" name="">
            <a:extLst xmlns:a="http://schemas.openxmlformats.org/drawingml/2006/main">
              <a:ext uri="{FF2B5EF4-FFF2-40B4-BE49-F238E27FC236}">
                <a16:creationId xmlns:a16="http://schemas.microsoft.com/office/drawing/2014/main" id="{B31E8A93-16D8-4363-93B5-35B0152E54DA}"/>
              </a:ext>
            </a:extLst>
          </p:cNvPr>
          <p:cNvSpPr>
            <a:spLocks xmlns:a="http://schemas.openxmlformats.org/drawingml/2006/main" noGrp="1"/>
          </p:cNvSpPr>
          <p:nvPr/>
        </p:nvSpPr>
        <p:spPr>
          <a:xfrm xmlns:a="http://schemas.openxmlformats.org/drawingml/2006/main">
            <a:off x="381000" y="5655733"/>
            <a:ext cx="737765"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06" name="">
            <a:extLst xmlns:a="http://schemas.openxmlformats.org/drawingml/2006/main">
              <a:ext uri="{FF2B5EF4-FFF2-40B4-BE49-F238E27FC236}">
                <a16:creationId xmlns:a16="http://schemas.microsoft.com/office/drawing/2014/main" id="{9A4C7AB9-4C85-49B4-BB49-1E1D48F210D0}"/>
              </a:ext>
            </a:extLst>
          </p:cNvPr>
          <p:cNvSpPr>
            <a:spLocks xmlns:a="http://schemas.openxmlformats.org/drawingml/2006/main" noGrp="1"/>
          </p:cNvSpPr>
          <p:nvPr/>
        </p:nvSpPr>
        <p:spPr>
          <a:xfrm xmlns:a="http://schemas.openxmlformats.org/drawingml/2006/main">
            <a:off x="419100" y="5684308"/>
            <a:ext cx="66156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Q8</a:t>
            </a:r>
          </a:p>
        </p:txBody>
      </p:sp>
      <p:sp>
        <p:nvSpPr>
          <p:cNvPr id="107" name="">
            <a:extLst xmlns:a="http://schemas.openxmlformats.org/drawingml/2006/main">
              <a:ext uri="{FF2B5EF4-FFF2-40B4-BE49-F238E27FC236}">
                <a16:creationId xmlns:a16="http://schemas.microsoft.com/office/drawing/2014/main" id="{9E4947C9-12C3-41B9-BD47-D65343904A4E}"/>
              </a:ext>
            </a:extLst>
          </p:cNvPr>
          <p:cNvSpPr>
            <a:spLocks xmlns:a="http://schemas.openxmlformats.org/drawingml/2006/main" noGrp="1"/>
          </p:cNvSpPr>
          <p:nvPr/>
        </p:nvSpPr>
        <p:spPr>
          <a:xfrm xmlns:a="http://schemas.openxmlformats.org/drawingml/2006/main">
            <a:off x="1118765" y="5655733"/>
            <a:ext cx="3018129"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08" name="">
            <a:extLst xmlns:a="http://schemas.openxmlformats.org/drawingml/2006/main">
              <a:ext uri="{FF2B5EF4-FFF2-40B4-BE49-F238E27FC236}">
                <a16:creationId xmlns:a16="http://schemas.microsoft.com/office/drawing/2014/main" id="{D13AD299-773B-49C4-BF54-C9BF6DED28B1}"/>
              </a:ext>
            </a:extLst>
          </p:cNvPr>
          <p:cNvSpPr>
            <a:spLocks xmlns:a="http://schemas.openxmlformats.org/drawingml/2006/main" noGrp="1"/>
          </p:cNvSpPr>
          <p:nvPr/>
        </p:nvSpPr>
        <p:spPr>
          <a:xfrm xmlns:a="http://schemas.openxmlformats.org/drawingml/2006/main">
            <a:off x="1156865" y="5684308"/>
            <a:ext cx="294192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适航追溯数据的存储和查询方案？</a:t>
            </a:r>
          </a:p>
        </p:txBody>
      </p:sp>
      <p:sp>
        <p:nvSpPr>
          <p:cNvPr id="109" name="">
            <a:extLst xmlns:a="http://schemas.openxmlformats.org/drawingml/2006/main">
              <a:ext uri="{FF2B5EF4-FFF2-40B4-BE49-F238E27FC236}">
                <a16:creationId xmlns:a16="http://schemas.microsoft.com/office/drawing/2014/main" id="{43253E36-0CEF-4FE6-8F9E-54A5157DD727}"/>
              </a:ext>
            </a:extLst>
          </p:cNvPr>
          <p:cNvSpPr>
            <a:spLocks xmlns:a="http://schemas.openxmlformats.org/drawingml/2006/main" noGrp="1"/>
          </p:cNvSpPr>
          <p:nvPr/>
        </p:nvSpPr>
        <p:spPr>
          <a:xfrm xmlns:a="http://schemas.openxmlformats.org/drawingml/2006/main">
            <a:off x="4136893" y="5655733"/>
            <a:ext cx="3487615"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10" name="">
            <a:extLst xmlns:a="http://schemas.openxmlformats.org/drawingml/2006/main">
              <a:ext uri="{FF2B5EF4-FFF2-40B4-BE49-F238E27FC236}">
                <a16:creationId xmlns:a16="http://schemas.microsoft.com/office/drawing/2014/main" id="{A85F054C-D4AE-4195-9858-CBB78E73D1AC}"/>
              </a:ext>
            </a:extLst>
          </p:cNvPr>
          <p:cNvSpPr>
            <a:spLocks xmlns:a="http://schemas.openxmlformats.org/drawingml/2006/main" noGrp="1"/>
          </p:cNvSpPr>
          <p:nvPr/>
        </p:nvSpPr>
        <p:spPr>
          <a:xfrm xmlns:a="http://schemas.openxmlformats.org/drawingml/2006/main">
            <a:off x="4174993" y="5684308"/>
            <a:ext cx="3411415"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倾向统一追溯链；需确认质量记录、构型、偏离/超差和批次数据归属</a:t>
            </a:r>
          </a:p>
        </p:txBody>
      </p:sp>
      <p:sp>
        <p:nvSpPr>
          <p:cNvPr id="111" name="">
            <a:extLst xmlns:a="http://schemas.openxmlformats.org/drawingml/2006/main">
              <a:ext uri="{FF2B5EF4-FFF2-40B4-BE49-F238E27FC236}">
                <a16:creationId xmlns:a16="http://schemas.microsoft.com/office/drawing/2014/main" id="{D3C451C3-06F2-4BFB-A409-88DBC6E01C2A}"/>
              </a:ext>
            </a:extLst>
          </p:cNvPr>
          <p:cNvSpPr>
            <a:spLocks xmlns:a="http://schemas.openxmlformats.org/drawingml/2006/main" noGrp="1"/>
          </p:cNvSpPr>
          <p:nvPr/>
        </p:nvSpPr>
        <p:spPr>
          <a:xfrm xmlns:a="http://schemas.openxmlformats.org/drawingml/2006/main">
            <a:off x="7624509" y="5655733"/>
            <a:ext cx="1609669"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12" name="">
            <a:extLst xmlns:a="http://schemas.openxmlformats.org/drawingml/2006/main">
              <a:ext uri="{FF2B5EF4-FFF2-40B4-BE49-F238E27FC236}">
                <a16:creationId xmlns:a16="http://schemas.microsoft.com/office/drawing/2014/main" id="{F1235619-17B4-4A0D-BE88-A93E390FC61C}"/>
              </a:ext>
            </a:extLst>
          </p:cNvPr>
          <p:cNvSpPr>
            <a:spLocks xmlns:a="http://schemas.openxmlformats.org/drawingml/2006/main" noGrp="1"/>
          </p:cNvSpPr>
          <p:nvPr/>
        </p:nvSpPr>
        <p:spPr>
          <a:xfrm xmlns:a="http://schemas.openxmlformats.org/drawingml/2006/main">
            <a:off x="7662609" y="5684308"/>
            <a:ext cx="1533469"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质量管理部 + 项目管理部</a:t>
            </a:r>
          </a:p>
        </p:txBody>
      </p:sp>
      <p:sp>
        <p:nvSpPr>
          <p:cNvPr id="113" name="">
            <a:extLst xmlns:a="http://schemas.openxmlformats.org/drawingml/2006/main">
              <a:ext uri="{FF2B5EF4-FFF2-40B4-BE49-F238E27FC236}">
                <a16:creationId xmlns:a16="http://schemas.microsoft.com/office/drawing/2014/main" id="{20471DF3-29D6-4CDB-B522-48BCD1AD5EB9}"/>
              </a:ext>
            </a:extLst>
          </p:cNvPr>
          <p:cNvSpPr>
            <a:spLocks xmlns:a="http://schemas.openxmlformats.org/drawingml/2006/main" noGrp="1"/>
          </p:cNvSpPr>
          <p:nvPr/>
        </p:nvSpPr>
        <p:spPr>
          <a:xfrm xmlns:a="http://schemas.openxmlformats.org/drawingml/2006/main">
            <a:off x="9234178" y="5655733"/>
            <a:ext cx="1274321"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14" name="">
            <a:extLst xmlns:a="http://schemas.openxmlformats.org/drawingml/2006/main">
              <a:ext uri="{FF2B5EF4-FFF2-40B4-BE49-F238E27FC236}">
                <a16:creationId xmlns:a16="http://schemas.microsoft.com/office/drawing/2014/main" id="{D2839E3E-C0A0-403A-A06A-17EEDB0FD685}"/>
              </a:ext>
            </a:extLst>
          </p:cNvPr>
          <p:cNvSpPr>
            <a:spLocks xmlns:a="http://schemas.openxmlformats.org/drawingml/2006/main" noGrp="1"/>
          </p:cNvSpPr>
          <p:nvPr/>
        </p:nvSpPr>
        <p:spPr>
          <a:xfrm xmlns:a="http://schemas.openxmlformats.org/drawingml/2006/main">
            <a:off x="9272278" y="5684308"/>
            <a:ext cx="119812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2026-05-09</a:t>
            </a:r>
          </a:p>
        </p:txBody>
      </p:sp>
      <p:sp>
        <p:nvSpPr>
          <p:cNvPr id="115" name="">
            <a:extLst xmlns:a="http://schemas.openxmlformats.org/drawingml/2006/main">
              <a:ext uri="{FF2B5EF4-FFF2-40B4-BE49-F238E27FC236}">
                <a16:creationId xmlns:a16="http://schemas.microsoft.com/office/drawing/2014/main" id="{34592D93-9DE9-46CA-BEF2-4ADA84671E18}"/>
              </a:ext>
            </a:extLst>
          </p:cNvPr>
          <p:cNvSpPr>
            <a:spLocks xmlns:a="http://schemas.openxmlformats.org/drawingml/2006/main" noGrp="1"/>
          </p:cNvSpPr>
          <p:nvPr/>
        </p:nvSpPr>
        <p:spPr>
          <a:xfrm xmlns:a="http://schemas.openxmlformats.org/drawingml/2006/main">
            <a:off x="10508499" y="5655733"/>
            <a:ext cx="1207251" cy="497417"/>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116" name="">
            <a:extLst xmlns:a="http://schemas.openxmlformats.org/drawingml/2006/main">
              <a:ext uri="{FF2B5EF4-FFF2-40B4-BE49-F238E27FC236}">
                <a16:creationId xmlns:a16="http://schemas.microsoft.com/office/drawing/2014/main" id="{FDDAD65D-55F6-4F5D-BB21-14FB23DF139E}"/>
              </a:ext>
            </a:extLst>
          </p:cNvPr>
          <p:cNvSpPr>
            <a:spLocks xmlns:a="http://schemas.openxmlformats.org/drawingml/2006/main" noGrp="1"/>
          </p:cNvSpPr>
          <p:nvPr/>
        </p:nvSpPr>
        <p:spPr>
          <a:xfrm xmlns:a="http://schemas.openxmlformats.org/drawingml/2006/main">
            <a:off x="10546599" y="5684308"/>
            <a:ext cx="1131051" cy="44026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570" b="0">
                <a:solidFill>
                  <a:srgbClr val="475569"/>
                </a:solidFill>
              </a:defRPr>
            </a:pPr>
            <a:r>
              <a:rPr sz="570" b="0">
                <a:solidFill>
                  <a:srgbClr val="475569"/>
                </a:solidFill>
              </a:rPr>
              <a:t>需补资料</a:t>
            </a:r>
          </a:p>
        </p:txBody>
      </p:sp>
      <p:sp>
        <p:nvSpPr>
          <p:cNvPr id="117" name="">
            <a:extLst xmlns:a="http://schemas.openxmlformats.org/drawingml/2006/main">
              <a:ext uri="{FF2B5EF4-FFF2-40B4-BE49-F238E27FC236}">
                <a16:creationId xmlns:a16="http://schemas.microsoft.com/office/drawing/2014/main" id="{A4C82485-688C-446C-9D7B-E4E47DD16B40}"/>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28 / 29</a:t>
            </a:r>
          </a:p>
        </p:txBody>
      </p:sp>
    </p:spTree>
    <p:extLst>
      <p:ext uri="{BB962C8B-B14F-4D97-AF65-F5344CB8AC3E}">
        <p14:creationId xmlns:p14="http://schemas.microsoft.com/office/powerpoint/2010/main" val="1931932718"/>
      </p:ext>
    </p:extLst>
  </p:cSld>
</p:sld>
</file>

<file path=ppt/slides/slide2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24DEB74-A7C7-4D33-BC84-196B1C0AAFF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8B4569B4-680A-4EA7-AAB8-4AA6EC8CACA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19EF70F-EB27-4D0C-B0FC-6D344C2DB0A4}"/>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F2A5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65F17ED-056B-44D9-9C69-E7655336BF6D}"/>
              </a:ext>
            </a:extLst>
          </p:cNvPr>
          <p:cNvSpPr>
            <a:spLocks xmlns:a="http://schemas.openxmlformats.org/drawingml/2006/main" noGrp="1"/>
          </p:cNvSpPr>
          <p:nvPr/>
        </p:nvSpPr>
        <p:spPr>
          <a:xfrm xmlns:a="http://schemas.openxmlformats.org/drawingml/2006/main">
            <a:off x="0" y="609600"/>
            <a:ext cx="12192000" cy="3810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BE5A84C-1646-4744-A356-88440EDC2623}"/>
              </a:ext>
            </a:extLst>
          </p:cNvPr>
          <p:cNvSpPr>
            <a:spLocks xmlns:a="http://schemas.openxmlformats.org/drawingml/2006/main" noGrp="1"/>
          </p:cNvSpPr>
          <p:nvPr/>
        </p:nvSpPr>
        <p:spPr>
          <a:xfrm xmlns:a="http://schemas.openxmlformats.org/drawingml/2006/main">
            <a:off x="495300" y="1333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1350" b="1">
                <a:solidFill>
                  <a:srgbClr val="FFFFFF"/>
                </a:solidFill>
              </a:defRPr>
            </a:pPr>
            <a:r>
              <a:rPr sz="1350" b="1">
                <a:solidFill>
                  <a:srgbClr val="FFFFFF"/>
                </a:solidFill>
              </a:rPr>
              <a:t>附录 文档版本</a:t>
            </a:r>
          </a:p>
        </p:txBody>
      </p:sp>
      <p:sp>
        <p:nvSpPr>
          <p:cNvPr id="6" name="">
            <a:extLst xmlns:a="http://schemas.openxmlformats.org/drawingml/2006/main">
              <a:ext uri="{FF2B5EF4-FFF2-40B4-BE49-F238E27FC236}">
                <a16:creationId xmlns:a16="http://schemas.microsoft.com/office/drawing/2014/main" id="{33FA289C-EE4C-4006-8ECE-092FAC675025}"/>
              </a:ext>
            </a:extLst>
          </p:cNvPr>
          <p:cNvSpPr>
            <a:spLocks xmlns:a="http://schemas.openxmlformats.org/drawingml/2006/main" noGrp="1"/>
          </p:cNvSpPr>
          <p:nvPr/>
        </p:nvSpPr>
        <p:spPr>
          <a:xfrm xmlns:a="http://schemas.openxmlformats.org/drawingml/2006/main">
            <a:off x="8362950" y="1905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DBEAFE"/>
                </a:solidFill>
              </a:defRPr>
            </a:pPr>
            <a:r>
              <a:rPr sz="900" b="0">
                <a:solidFill>
                  <a:srgbClr val="DBEAFE"/>
                </a:solidFill>
              </a:rPr>
              <a:t>昌兴复材 · 系统集成方案预审会 V2.3</a:t>
            </a:r>
          </a:p>
        </p:txBody>
      </p:sp>
      <p:sp>
        <p:nvSpPr>
          <p:cNvPr id="7" name="">
            <a:extLst xmlns:a="http://schemas.openxmlformats.org/drawingml/2006/main">
              <a:ext uri="{FF2B5EF4-FFF2-40B4-BE49-F238E27FC236}">
                <a16:creationId xmlns:a16="http://schemas.microsoft.com/office/drawing/2014/main" id="{30F8317C-9FF8-474C-B64E-06A76A4BB782}"/>
              </a:ext>
            </a:extLst>
          </p:cNvPr>
          <p:cNvSpPr>
            <a:spLocks xmlns:a="http://schemas.openxmlformats.org/drawingml/2006/main" noGrp="1"/>
          </p:cNvSpPr>
          <p:nvPr/>
        </p:nvSpPr>
        <p:spPr>
          <a:xfrm xmlns:a="http://schemas.openxmlformats.org/drawingml/2006/main">
            <a:off x="552450" y="87630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2250" b="1">
                <a:solidFill>
                  <a:srgbClr val="0F2A5E"/>
                </a:solidFill>
              </a:defRPr>
            </a:pPr>
            <a:r>
              <a:rPr sz="2250" b="1">
                <a:solidFill>
                  <a:srgbClr val="0F2A5E"/>
                </a:solidFill>
              </a:rPr>
              <a:t>文档版本说明</a:t>
            </a:r>
          </a:p>
        </p:txBody>
      </p:sp>
      <p:sp>
        <p:nvSpPr>
          <p:cNvPr id="8" name="">
            <a:extLst xmlns:a="http://schemas.openxmlformats.org/drawingml/2006/main">
              <a:ext uri="{FF2B5EF4-FFF2-40B4-BE49-F238E27FC236}">
                <a16:creationId xmlns:a16="http://schemas.microsoft.com/office/drawing/2014/main" id="{61295B50-04C2-44D5-AAE3-197A35AA3DE1}"/>
              </a:ext>
            </a:extLst>
          </p:cNvPr>
          <p:cNvSpPr>
            <a:spLocks xmlns:a="http://schemas.openxmlformats.org/drawingml/2006/main" noGrp="1"/>
          </p:cNvSpPr>
          <p:nvPr/>
        </p:nvSpPr>
        <p:spPr>
          <a:xfrm xmlns:a="http://schemas.openxmlformats.org/drawingml/2006/main">
            <a:off x="590550" y="1285875"/>
            <a:ext cx="781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050" b="0">
                <a:solidFill>
                  <a:srgbClr val="64748B"/>
                </a:solidFill>
              </a:defRPr>
            </a:pPr>
            <a:r>
              <a:rPr sz="1050" b="0">
                <a:solidFill>
                  <a:srgbClr val="64748B"/>
                </a:solidFill>
              </a:rPr>
              <a:t>来源文档与状态</a:t>
            </a:r>
          </a:p>
        </p:txBody>
      </p:sp>
      <p:sp>
        <p:nvSpPr>
          <p:cNvPr id="9" name="">
            <a:extLst xmlns:a="http://schemas.openxmlformats.org/drawingml/2006/main">
              <a:ext uri="{FF2B5EF4-FFF2-40B4-BE49-F238E27FC236}">
                <a16:creationId xmlns:a16="http://schemas.microsoft.com/office/drawing/2014/main" id="{23E9DE31-7A5F-468B-8975-393D0BAA1267}"/>
              </a:ext>
            </a:extLst>
          </p:cNvPr>
          <p:cNvSpPr>
            <a:spLocks xmlns:a="http://schemas.openxmlformats.org/drawingml/2006/main" noGrp="1"/>
          </p:cNvSpPr>
          <p:nvPr/>
        </p:nvSpPr>
        <p:spPr>
          <a:xfrm xmlns:a="http://schemas.openxmlformats.org/drawingml/2006/main">
            <a:off x="1181100" y="1809750"/>
            <a:ext cx="3945610" cy="3873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0" name="">
            <a:extLst xmlns:a="http://schemas.openxmlformats.org/drawingml/2006/main">
              <a:ext uri="{FF2B5EF4-FFF2-40B4-BE49-F238E27FC236}">
                <a16:creationId xmlns:a16="http://schemas.microsoft.com/office/drawing/2014/main" id="{3532D22F-35E9-434A-B78D-CA669EE5FE32}"/>
              </a:ext>
            </a:extLst>
          </p:cNvPr>
          <p:cNvSpPr>
            <a:spLocks xmlns:a="http://schemas.openxmlformats.org/drawingml/2006/main" noGrp="1"/>
          </p:cNvSpPr>
          <p:nvPr/>
        </p:nvSpPr>
        <p:spPr>
          <a:xfrm xmlns:a="http://schemas.openxmlformats.org/drawingml/2006/main">
            <a:off x="1219200" y="1838325"/>
            <a:ext cx="3869410"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1">
                <a:solidFill>
                  <a:srgbClr val="FFFFFF"/>
                </a:solidFill>
              </a:defRPr>
            </a:pPr>
            <a:r>
              <a:rPr sz="750" b="1">
                <a:solidFill>
                  <a:srgbClr val="FFFFFF"/>
                </a:solidFill>
              </a:rPr>
              <a:t>文档名称</a:t>
            </a:r>
          </a:p>
        </p:txBody>
      </p:sp>
      <p:sp>
        <p:nvSpPr>
          <p:cNvPr id="11" name="">
            <a:extLst xmlns:a="http://schemas.openxmlformats.org/drawingml/2006/main">
              <a:ext uri="{FF2B5EF4-FFF2-40B4-BE49-F238E27FC236}">
                <a16:creationId xmlns:a16="http://schemas.microsoft.com/office/drawing/2014/main" id="{D0EB1270-5500-4637-A7E3-0340CCE3D209}"/>
              </a:ext>
            </a:extLst>
          </p:cNvPr>
          <p:cNvSpPr>
            <a:spLocks xmlns:a="http://schemas.openxmlformats.org/drawingml/2006/main" noGrp="1"/>
          </p:cNvSpPr>
          <p:nvPr/>
        </p:nvSpPr>
        <p:spPr>
          <a:xfrm xmlns:a="http://schemas.openxmlformats.org/drawingml/2006/main">
            <a:off x="5126710" y="1809750"/>
            <a:ext cx="1214034" cy="3873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2" name="">
            <a:extLst xmlns:a="http://schemas.openxmlformats.org/drawingml/2006/main">
              <a:ext uri="{FF2B5EF4-FFF2-40B4-BE49-F238E27FC236}">
                <a16:creationId xmlns:a16="http://schemas.microsoft.com/office/drawing/2014/main" id="{0E8E72CB-AE7F-4F7F-859C-8200D101DDF2}"/>
              </a:ext>
            </a:extLst>
          </p:cNvPr>
          <p:cNvSpPr>
            <a:spLocks xmlns:a="http://schemas.openxmlformats.org/drawingml/2006/main" noGrp="1"/>
          </p:cNvSpPr>
          <p:nvPr/>
        </p:nvSpPr>
        <p:spPr>
          <a:xfrm xmlns:a="http://schemas.openxmlformats.org/drawingml/2006/main">
            <a:off x="5164810" y="1838325"/>
            <a:ext cx="113783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1">
                <a:solidFill>
                  <a:srgbClr val="FFFFFF"/>
                </a:solidFill>
              </a:defRPr>
            </a:pPr>
            <a:r>
              <a:rPr sz="750" b="1">
                <a:solidFill>
                  <a:srgbClr val="FFFFFF"/>
                </a:solidFill>
              </a:rPr>
              <a:t>版本</a:t>
            </a:r>
          </a:p>
        </p:txBody>
      </p:sp>
      <p:sp>
        <p:nvSpPr>
          <p:cNvPr id="13" name="">
            <a:extLst xmlns:a="http://schemas.openxmlformats.org/drawingml/2006/main">
              <a:ext uri="{FF2B5EF4-FFF2-40B4-BE49-F238E27FC236}">
                <a16:creationId xmlns:a16="http://schemas.microsoft.com/office/drawing/2014/main" id="{D927A6A5-79E5-4804-8A0E-F438123B9E46}"/>
              </a:ext>
            </a:extLst>
          </p:cNvPr>
          <p:cNvSpPr>
            <a:spLocks xmlns:a="http://schemas.openxmlformats.org/drawingml/2006/main" noGrp="1"/>
          </p:cNvSpPr>
          <p:nvPr/>
        </p:nvSpPr>
        <p:spPr>
          <a:xfrm xmlns:a="http://schemas.openxmlformats.org/drawingml/2006/main">
            <a:off x="6340744" y="1809750"/>
            <a:ext cx="1517542" cy="3873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4" name="">
            <a:extLst xmlns:a="http://schemas.openxmlformats.org/drawingml/2006/main">
              <a:ext uri="{FF2B5EF4-FFF2-40B4-BE49-F238E27FC236}">
                <a16:creationId xmlns:a16="http://schemas.microsoft.com/office/drawing/2014/main" id="{63A6B7B3-989E-4ED0-BBF1-6FFF8A8E9752}"/>
              </a:ext>
            </a:extLst>
          </p:cNvPr>
          <p:cNvSpPr>
            <a:spLocks xmlns:a="http://schemas.openxmlformats.org/drawingml/2006/main" noGrp="1"/>
          </p:cNvSpPr>
          <p:nvPr/>
        </p:nvSpPr>
        <p:spPr>
          <a:xfrm xmlns:a="http://schemas.openxmlformats.org/drawingml/2006/main">
            <a:off x="6378844" y="1838325"/>
            <a:ext cx="1441342"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1">
                <a:solidFill>
                  <a:srgbClr val="FFFFFF"/>
                </a:solidFill>
              </a:defRPr>
            </a:pPr>
            <a:r>
              <a:rPr sz="750" b="1">
                <a:solidFill>
                  <a:srgbClr val="FFFFFF"/>
                </a:solidFill>
              </a:rPr>
              <a:t>日期</a:t>
            </a:r>
          </a:p>
        </p:txBody>
      </p:sp>
      <p:sp>
        <p:nvSpPr>
          <p:cNvPr id="15" name="">
            <a:extLst xmlns:a="http://schemas.openxmlformats.org/drawingml/2006/main">
              <a:ext uri="{FF2B5EF4-FFF2-40B4-BE49-F238E27FC236}">
                <a16:creationId xmlns:a16="http://schemas.microsoft.com/office/drawing/2014/main" id="{0A6BF11B-9CBB-4C4C-9340-47230A7B6CDB}"/>
              </a:ext>
            </a:extLst>
          </p:cNvPr>
          <p:cNvSpPr>
            <a:spLocks xmlns:a="http://schemas.openxmlformats.org/drawingml/2006/main" noGrp="1"/>
          </p:cNvSpPr>
          <p:nvPr/>
        </p:nvSpPr>
        <p:spPr>
          <a:xfrm xmlns:a="http://schemas.openxmlformats.org/drawingml/2006/main">
            <a:off x="7858286" y="1809750"/>
            <a:ext cx="2276314" cy="387350"/>
          </a:xfrm>
          <a:prstGeom xmlns:a="http://schemas.openxmlformats.org/drawingml/2006/main" prst="rect">
            <a:avLst/>
          </a:prstGeom>
          <a:solidFill xmlns:a="http://schemas.openxmlformats.org/drawingml/2006/main">
            <a:srgbClr val="0F2A5E"/>
          </a:solidFill>
          <a:ln xmlns:a="http://schemas.openxmlformats.org/drawingml/2006/main" w="7620">
            <a:solidFill>
              <a:srgbClr val="E2E8F0"/>
            </a:solidFill>
            <a:prstDash val="solid"/>
          </a:ln>
        </p:spPr>
      </p:sp>
      <p:sp>
        <p:nvSpPr>
          <p:cNvPr id="16" name="">
            <a:extLst xmlns:a="http://schemas.openxmlformats.org/drawingml/2006/main">
              <a:ext uri="{FF2B5EF4-FFF2-40B4-BE49-F238E27FC236}">
                <a16:creationId xmlns:a16="http://schemas.microsoft.com/office/drawing/2014/main" id="{71FF78C0-7F08-4A34-B482-FB355CA910A6}"/>
              </a:ext>
            </a:extLst>
          </p:cNvPr>
          <p:cNvSpPr>
            <a:spLocks xmlns:a="http://schemas.openxmlformats.org/drawingml/2006/main" noGrp="1"/>
          </p:cNvSpPr>
          <p:nvPr/>
        </p:nvSpPr>
        <p:spPr>
          <a:xfrm xmlns:a="http://schemas.openxmlformats.org/drawingml/2006/main">
            <a:off x="7896386" y="1838325"/>
            <a:ext cx="220011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1">
                <a:solidFill>
                  <a:srgbClr val="FFFFFF"/>
                </a:solidFill>
              </a:defRPr>
            </a:pPr>
            <a:r>
              <a:rPr sz="750" b="1">
                <a:solidFill>
                  <a:srgbClr val="FFFFFF"/>
                </a:solidFill>
              </a:rPr>
              <a:t>状态</a:t>
            </a:r>
          </a:p>
        </p:txBody>
      </p:sp>
      <p:sp>
        <p:nvSpPr>
          <p:cNvPr id="17" name="">
            <a:extLst xmlns:a="http://schemas.openxmlformats.org/drawingml/2006/main">
              <a:ext uri="{FF2B5EF4-FFF2-40B4-BE49-F238E27FC236}">
                <a16:creationId xmlns:a16="http://schemas.microsoft.com/office/drawing/2014/main" id="{D1A8E36E-F345-469B-9554-68709FF83166}"/>
              </a:ext>
            </a:extLst>
          </p:cNvPr>
          <p:cNvSpPr>
            <a:spLocks xmlns:a="http://schemas.openxmlformats.org/drawingml/2006/main" noGrp="1"/>
          </p:cNvSpPr>
          <p:nvPr/>
        </p:nvSpPr>
        <p:spPr>
          <a:xfrm xmlns:a="http://schemas.openxmlformats.org/drawingml/2006/main">
            <a:off x="1181100" y="2197100"/>
            <a:ext cx="3945610"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18" name="">
            <a:extLst xmlns:a="http://schemas.openxmlformats.org/drawingml/2006/main">
              <a:ext uri="{FF2B5EF4-FFF2-40B4-BE49-F238E27FC236}">
                <a16:creationId xmlns:a16="http://schemas.microsoft.com/office/drawing/2014/main" id="{62CD6A23-14E5-455A-BCBE-3E0B38F49ED2}"/>
              </a:ext>
            </a:extLst>
          </p:cNvPr>
          <p:cNvSpPr>
            <a:spLocks xmlns:a="http://schemas.openxmlformats.org/drawingml/2006/main" noGrp="1"/>
          </p:cNvSpPr>
          <p:nvPr/>
        </p:nvSpPr>
        <p:spPr>
          <a:xfrm xmlns:a="http://schemas.openxmlformats.org/drawingml/2006/main">
            <a:off x="1219200" y="2225675"/>
            <a:ext cx="3869410"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系统集成关系说明</a:t>
            </a:r>
          </a:p>
        </p:txBody>
      </p:sp>
      <p:sp>
        <p:nvSpPr>
          <p:cNvPr id="19" name="">
            <a:extLst xmlns:a="http://schemas.openxmlformats.org/drawingml/2006/main">
              <a:ext uri="{FF2B5EF4-FFF2-40B4-BE49-F238E27FC236}">
                <a16:creationId xmlns:a16="http://schemas.microsoft.com/office/drawing/2014/main" id="{5B6A5AC2-27E7-4FEA-A6C5-203E87037E56}"/>
              </a:ext>
            </a:extLst>
          </p:cNvPr>
          <p:cNvSpPr>
            <a:spLocks xmlns:a="http://schemas.openxmlformats.org/drawingml/2006/main" noGrp="1"/>
          </p:cNvSpPr>
          <p:nvPr/>
        </p:nvSpPr>
        <p:spPr>
          <a:xfrm xmlns:a="http://schemas.openxmlformats.org/drawingml/2006/main">
            <a:off x="5126710" y="2197100"/>
            <a:ext cx="1214034"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0" name="">
            <a:extLst xmlns:a="http://schemas.openxmlformats.org/drawingml/2006/main">
              <a:ext uri="{FF2B5EF4-FFF2-40B4-BE49-F238E27FC236}">
                <a16:creationId xmlns:a16="http://schemas.microsoft.com/office/drawing/2014/main" id="{CDD09C3B-C7DC-47C5-BDE5-F227990CA53C}"/>
              </a:ext>
            </a:extLst>
          </p:cNvPr>
          <p:cNvSpPr>
            <a:spLocks xmlns:a="http://schemas.openxmlformats.org/drawingml/2006/main" noGrp="1"/>
          </p:cNvSpPr>
          <p:nvPr/>
        </p:nvSpPr>
        <p:spPr>
          <a:xfrm xmlns:a="http://schemas.openxmlformats.org/drawingml/2006/main">
            <a:off x="5164810" y="2225675"/>
            <a:ext cx="113783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V2.1</a:t>
            </a:r>
          </a:p>
        </p:txBody>
      </p:sp>
      <p:sp>
        <p:nvSpPr>
          <p:cNvPr id="21" name="">
            <a:extLst xmlns:a="http://schemas.openxmlformats.org/drawingml/2006/main">
              <a:ext uri="{FF2B5EF4-FFF2-40B4-BE49-F238E27FC236}">
                <a16:creationId xmlns:a16="http://schemas.microsoft.com/office/drawing/2014/main" id="{4B54DF2A-F36E-4F52-A221-0DB76FDCC9CF}"/>
              </a:ext>
            </a:extLst>
          </p:cNvPr>
          <p:cNvSpPr>
            <a:spLocks xmlns:a="http://schemas.openxmlformats.org/drawingml/2006/main" noGrp="1"/>
          </p:cNvSpPr>
          <p:nvPr/>
        </p:nvSpPr>
        <p:spPr>
          <a:xfrm xmlns:a="http://schemas.openxmlformats.org/drawingml/2006/main">
            <a:off x="6340744" y="2197100"/>
            <a:ext cx="1517542"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2" name="">
            <a:extLst xmlns:a="http://schemas.openxmlformats.org/drawingml/2006/main">
              <a:ext uri="{FF2B5EF4-FFF2-40B4-BE49-F238E27FC236}">
                <a16:creationId xmlns:a16="http://schemas.microsoft.com/office/drawing/2014/main" id="{4DCC5EA1-518C-453D-8056-E76C45A89C36}"/>
              </a:ext>
            </a:extLst>
          </p:cNvPr>
          <p:cNvSpPr>
            <a:spLocks xmlns:a="http://schemas.openxmlformats.org/drawingml/2006/main" noGrp="1"/>
          </p:cNvSpPr>
          <p:nvPr/>
        </p:nvSpPr>
        <p:spPr>
          <a:xfrm xmlns:a="http://schemas.openxmlformats.org/drawingml/2006/main">
            <a:off x="6378844" y="2225675"/>
            <a:ext cx="1441342"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2026-04-30</a:t>
            </a:r>
          </a:p>
        </p:txBody>
      </p:sp>
      <p:sp>
        <p:nvSpPr>
          <p:cNvPr id="23" name="">
            <a:extLst xmlns:a="http://schemas.openxmlformats.org/drawingml/2006/main">
              <a:ext uri="{FF2B5EF4-FFF2-40B4-BE49-F238E27FC236}">
                <a16:creationId xmlns:a16="http://schemas.microsoft.com/office/drawing/2014/main" id="{9F472D3B-5BA8-4B2C-BC6E-ABE0BFD83220}"/>
              </a:ext>
            </a:extLst>
          </p:cNvPr>
          <p:cNvSpPr>
            <a:spLocks xmlns:a="http://schemas.openxmlformats.org/drawingml/2006/main" noGrp="1"/>
          </p:cNvSpPr>
          <p:nvPr/>
        </p:nvSpPr>
        <p:spPr>
          <a:xfrm xmlns:a="http://schemas.openxmlformats.org/drawingml/2006/main">
            <a:off x="7858286" y="2197100"/>
            <a:ext cx="2276314"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24" name="">
            <a:extLst xmlns:a="http://schemas.openxmlformats.org/drawingml/2006/main">
              <a:ext uri="{FF2B5EF4-FFF2-40B4-BE49-F238E27FC236}">
                <a16:creationId xmlns:a16="http://schemas.microsoft.com/office/drawing/2014/main" id="{6D6815B8-B1D8-441A-8313-12B141DE7B9C}"/>
              </a:ext>
            </a:extLst>
          </p:cNvPr>
          <p:cNvSpPr>
            <a:spLocks xmlns:a="http://schemas.openxmlformats.org/drawingml/2006/main" noGrp="1"/>
          </p:cNvSpPr>
          <p:nvPr/>
        </p:nvSpPr>
        <p:spPr>
          <a:xfrm xmlns:a="http://schemas.openxmlformats.org/drawingml/2006/main">
            <a:off x="7896386" y="2225675"/>
            <a:ext cx="220011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正式版</a:t>
            </a:r>
          </a:p>
        </p:txBody>
      </p:sp>
      <p:sp>
        <p:nvSpPr>
          <p:cNvPr id="25" name="">
            <a:extLst xmlns:a="http://schemas.openxmlformats.org/drawingml/2006/main">
              <a:ext uri="{FF2B5EF4-FFF2-40B4-BE49-F238E27FC236}">
                <a16:creationId xmlns:a16="http://schemas.microsoft.com/office/drawing/2014/main" id="{581C66E0-8790-47EA-8F11-39BDF4DB93B4}"/>
              </a:ext>
            </a:extLst>
          </p:cNvPr>
          <p:cNvSpPr>
            <a:spLocks xmlns:a="http://schemas.openxmlformats.org/drawingml/2006/main" noGrp="1"/>
          </p:cNvSpPr>
          <p:nvPr/>
        </p:nvSpPr>
        <p:spPr>
          <a:xfrm xmlns:a="http://schemas.openxmlformats.org/drawingml/2006/main">
            <a:off x="1181100" y="2584450"/>
            <a:ext cx="3945610"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26" name="">
            <a:extLst xmlns:a="http://schemas.openxmlformats.org/drawingml/2006/main">
              <a:ext uri="{FF2B5EF4-FFF2-40B4-BE49-F238E27FC236}">
                <a16:creationId xmlns:a16="http://schemas.microsoft.com/office/drawing/2014/main" id="{876602CF-DD12-409A-9ECD-2D98E91DDDF3}"/>
              </a:ext>
            </a:extLst>
          </p:cNvPr>
          <p:cNvSpPr>
            <a:spLocks xmlns:a="http://schemas.openxmlformats.org/drawingml/2006/main" noGrp="1"/>
          </p:cNvSpPr>
          <p:nvPr/>
        </p:nvSpPr>
        <p:spPr>
          <a:xfrm xmlns:a="http://schemas.openxmlformats.org/drawingml/2006/main">
            <a:off x="1219200" y="2613025"/>
            <a:ext cx="3869410"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物料主数据编码规范草案</a:t>
            </a:r>
          </a:p>
        </p:txBody>
      </p:sp>
      <p:sp>
        <p:nvSpPr>
          <p:cNvPr id="27" name="">
            <a:extLst xmlns:a="http://schemas.openxmlformats.org/drawingml/2006/main">
              <a:ext uri="{FF2B5EF4-FFF2-40B4-BE49-F238E27FC236}">
                <a16:creationId xmlns:a16="http://schemas.microsoft.com/office/drawing/2014/main" id="{AAA03ECE-BF9F-4BA6-8050-002BDEDBF452}"/>
              </a:ext>
            </a:extLst>
          </p:cNvPr>
          <p:cNvSpPr>
            <a:spLocks xmlns:a="http://schemas.openxmlformats.org/drawingml/2006/main" noGrp="1"/>
          </p:cNvSpPr>
          <p:nvPr/>
        </p:nvSpPr>
        <p:spPr>
          <a:xfrm xmlns:a="http://schemas.openxmlformats.org/drawingml/2006/main">
            <a:off x="5126710" y="2584450"/>
            <a:ext cx="1214034"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28" name="">
            <a:extLst xmlns:a="http://schemas.openxmlformats.org/drawingml/2006/main">
              <a:ext uri="{FF2B5EF4-FFF2-40B4-BE49-F238E27FC236}">
                <a16:creationId xmlns:a16="http://schemas.microsoft.com/office/drawing/2014/main" id="{4D6BB221-E031-47F6-9256-25350D0D027B}"/>
              </a:ext>
            </a:extLst>
          </p:cNvPr>
          <p:cNvSpPr>
            <a:spLocks xmlns:a="http://schemas.openxmlformats.org/drawingml/2006/main" noGrp="1"/>
          </p:cNvSpPr>
          <p:nvPr/>
        </p:nvSpPr>
        <p:spPr>
          <a:xfrm xmlns:a="http://schemas.openxmlformats.org/drawingml/2006/main">
            <a:off x="5164810" y="2613025"/>
            <a:ext cx="113783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V0.1</a:t>
            </a:r>
          </a:p>
        </p:txBody>
      </p:sp>
      <p:sp>
        <p:nvSpPr>
          <p:cNvPr id="29" name="">
            <a:extLst xmlns:a="http://schemas.openxmlformats.org/drawingml/2006/main">
              <a:ext uri="{FF2B5EF4-FFF2-40B4-BE49-F238E27FC236}">
                <a16:creationId xmlns:a16="http://schemas.microsoft.com/office/drawing/2014/main" id="{8722F8CF-F0ED-4447-BDE1-201C268E5BF4}"/>
              </a:ext>
            </a:extLst>
          </p:cNvPr>
          <p:cNvSpPr>
            <a:spLocks xmlns:a="http://schemas.openxmlformats.org/drawingml/2006/main" noGrp="1"/>
          </p:cNvSpPr>
          <p:nvPr/>
        </p:nvSpPr>
        <p:spPr>
          <a:xfrm xmlns:a="http://schemas.openxmlformats.org/drawingml/2006/main">
            <a:off x="6340744" y="2584450"/>
            <a:ext cx="1517542"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0" name="">
            <a:extLst xmlns:a="http://schemas.openxmlformats.org/drawingml/2006/main">
              <a:ext uri="{FF2B5EF4-FFF2-40B4-BE49-F238E27FC236}">
                <a16:creationId xmlns:a16="http://schemas.microsoft.com/office/drawing/2014/main" id="{86D53266-AF29-43BA-AB62-E1843F18FBC5}"/>
              </a:ext>
            </a:extLst>
          </p:cNvPr>
          <p:cNvSpPr>
            <a:spLocks xmlns:a="http://schemas.openxmlformats.org/drawingml/2006/main" noGrp="1"/>
          </p:cNvSpPr>
          <p:nvPr/>
        </p:nvSpPr>
        <p:spPr>
          <a:xfrm xmlns:a="http://schemas.openxmlformats.org/drawingml/2006/main">
            <a:off x="6378844" y="2613025"/>
            <a:ext cx="1441342"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2026-05-01</a:t>
            </a:r>
          </a:p>
        </p:txBody>
      </p:sp>
      <p:sp>
        <p:nvSpPr>
          <p:cNvPr id="31" name="">
            <a:extLst xmlns:a="http://schemas.openxmlformats.org/drawingml/2006/main">
              <a:ext uri="{FF2B5EF4-FFF2-40B4-BE49-F238E27FC236}">
                <a16:creationId xmlns:a16="http://schemas.microsoft.com/office/drawing/2014/main" id="{D4927151-D9C4-4211-A38A-2B98EAF5F1AA}"/>
              </a:ext>
            </a:extLst>
          </p:cNvPr>
          <p:cNvSpPr>
            <a:spLocks xmlns:a="http://schemas.openxmlformats.org/drawingml/2006/main" noGrp="1"/>
          </p:cNvSpPr>
          <p:nvPr/>
        </p:nvSpPr>
        <p:spPr>
          <a:xfrm xmlns:a="http://schemas.openxmlformats.org/drawingml/2006/main">
            <a:off x="7858286" y="2584450"/>
            <a:ext cx="2276314"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32" name="">
            <a:extLst xmlns:a="http://schemas.openxmlformats.org/drawingml/2006/main">
              <a:ext uri="{FF2B5EF4-FFF2-40B4-BE49-F238E27FC236}">
                <a16:creationId xmlns:a16="http://schemas.microsoft.com/office/drawing/2014/main" id="{AE3C6AC8-82BB-445B-B00D-C69A35592D0B}"/>
              </a:ext>
            </a:extLst>
          </p:cNvPr>
          <p:cNvSpPr>
            <a:spLocks xmlns:a="http://schemas.openxmlformats.org/drawingml/2006/main" noGrp="1"/>
          </p:cNvSpPr>
          <p:nvPr/>
        </p:nvSpPr>
        <p:spPr>
          <a:xfrm xmlns:a="http://schemas.openxmlformats.org/drawingml/2006/main">
            <a:off x="7896386" y="2613025"/>
            <a:ext cx="220011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草案（编码结构以会议纪要为准）</a:t>
            </a:r>
          </a:p>
        </p:txBody>
      </p:sp>
      <p:sp>
        <p:nvSpPr>
          <p:cNvPr id="33" name="">
            <a:extLst xmlns:a="http://schemas.openxmlformats.org/drawingml/2006/main">
              <a:ext uri="{FF2B5EF4-FFF2-40B4-BE49-F238E27FC236}">
                <a16:creationId xmlns:a16="http://schemas.microsoft.com/office/drawing/2014/main" id="{D1373A54-F19F-4B48-9363-156CD09EB18F}"/>
              </a:ext>
            </a:extLst>
          </p:cNvPr>
          <p:cNvSpPr>
            <a:spLocks xmlns:a="http://schemas.openxmlformats.org/drawingml/2006/main" noGrp="1"/>
          </p:cNvSpPr>
          <p:nvPr/>
        </p:nvSpPr>
        <p:spPr>
          <a:xfrm xmlns:a="http://schemas.openxmlformats.org/drawingml/2006/main">
            <a:off x="1181100" y="2971800"/>
            <a:ext cx="3945610"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4" name="">
            <a:extLst xmlns:a="http://schemas.openxmlformats.org/drawingml/2006/main">
              <a:ext uri="{FF2B5EF4-FFF2-40B4-BE49-F238E27FC236}">
                <a16:creationId xmlns:a16="http://schemas.microsoft.com/office/drawing/2014/main" id="{21E865B9-B511-427C-8AAB-1D2073D99B8F}"/>
              </a:ext>
            </a:extLst>
          </p:cNvPr>
          <p:cNvSpPr>
            <a:spLocks xmlns:a="http://schemas.openxmlformats.org/drawingml/2006/main" noGrp="1"/>
          </p:cNvSpPr>
          <p:nvPr/>
        </p:nvSpPr>
        <p:spPr>
          <a:xfrm xmlns:a="http://schemas.openxmlformats.org/drawingml/2006/main">
            <a:off x="1219200" y="3000375"/>
            <a:ext cx="3869410"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接口设计卡模板</a:t>
            </a:r>
          </a:p>
        </p:txBody>
      </p:sp>
      <p:sp>
        <p:nvSpPr>
          <p:cNvPr id="35" name="">
            <a:extLst xmlns:a="http://schemas.openxmlformats.org/drawingml/2006/main">
              <a:ext uri="{FF2B5EF4-FFF2-40B4-BE49-F238E27FC236}">
                <a16:creationId xmlns:a16="http://schemas.microsoft.com/office/drawing/2014/main" id="{600137F4-D00F-4B24-AEF9-A9447666D604}"/>
              </a:ext>
            </a:extLst>
          </p:cNvPr>
          <p:cNvSpPr>
            <a:spLocks xmlns:a="http://schemas.openxmlformats.org/drawingml/2006/main" noGrp="1"/>
          </p:cNvSpPr>
          <p:nvPr/>
        </p:nvSpPr>
        <p:spPr>
          <a:xfrm xmlns:a="http://schemas.openxmlformats.org/drawingml/2006/main">
            <a:off x="5126710" y="2971800"/>
            <a:ext cx="1214034"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6" name="">
            <a:extLst xmlns:a="http://schemas.openxmlformats.org/drawingml/2006/main">
              <a:ext uri="{FF2B5EF4-FFF2-40B4-BE49-F238E27FC236}">
                <a16:creationId xmlns:a16="http://schemas.microsoft.com/office/drawing/2014/main" id="{288E1F0E-B9F1-41A3-B28C-18765334D6FD}"/>
              </a:ext>
            </a:extLst>
          </p:cNvPr>
          <p:cNvSpPr>
            <a:spLocks xmlns:a="http://schemas.openxmlformats.org/drawingml/2006/main" noGrp="1"/>
          </p:cNvSpPr>
          <p:nvPr/>
        </p:nvSpPr>
        <p:spPr>
          <a:xfrm xmlns:a="http://schemas.openxmlformats.org/drawingml/2006/main">
            <a:off x="5164810" y="3000375"/>
            <a:ext cx="113783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V1.0</a:t>
            </a:r>
          </a:p>
        </p:txBody>
      </p:sp>
      <p:sp>
        <p:nvSpPr>
          <p:cNvPr id="37" name="">
            <a:extLst xmlns:a="http://schemas.openxmlformats.org/drawingml/2006/main">
              <a:ext uri="{FF2B5EF4-FFF2-40B4-BE49-F238E27FC236}">
                <a16:creationId xmlns:a16="http://schemas.microsoft.com/office/drawing/2014/main" id="{234DDCF2-C754-440F-AF45-F5C8E636600C}"/>
              </a:ext>
            </a:extLst>
          </p:cNvPr>
          <p:cNvSpPr>
            <a:spLocks xmlns:a="http://schemas.openxmlformats.org/drawingml/2006/main" noGrp="1"/>
          </p:cNvSpPr>
          <p:nvPr/>
        </p:nvSpPr>
        <p:spPr>
          <a:xfrm xmlns:a="http://schemas.openxmlformats.org/drawingml/2006/main">
            <a:off x="6340744" y="2971800"/>
            <a:ext cx="1517542"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38" name="">
            <a:extLst xmlns:a="http://schemas.openxmlformats.org/drawingml/2006/main">
              <a:ext uri="{FF2B5EF4-FFF2-40B4-BE49-F238E27FC236}">
                <a16:creationId xmlns:a16="http://schemas.microsoft.com/office/drawing/2014/main" id="{39A6F839-14B6-4616-80AD-D6C9357CCDEA}"/>
              </a:ext>
            </a:extLst>
          </p:cNvPr>
          <p:cNvSpPr>
            <a:spLocks xmlns:a="http://schemas.openxmlformats.org/drawingml/2006/main" noGrp="1"/>
          </p:cNvSpPr>
          <p:nvPr/>
        </p:nvSpPr>
        <p:spPr>
          <a:xfrm xmlns:a="http://schemas.openxmlformats.org/drawingml/2006/main">
            <a:off x="6378844" y="3000375"/>
            <a:ext cx="1441342"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2026-05-01</a:t>
            </a:r>
          </a:p>
        </p:txBody>
      </p:sp>
      <p:sp>
        <p:nvSpPr>
          <p:cNvPr id="39" name="">
            <a:extLst xmlns:a="http://schemas.openxmlformats.org/drawingml/2006/main">
              <a:ext uri="{FF2B5EF4-FFF2-40B4-BE49-F238E27FC236}">
                <a16:creationId xmlns:a16="http://schemas.microsoft.com/office/drawing/2014/main" id="{619CE5AF-8E3C-43DC-A9A7-230EFFFAFC58}"/>
              </a:ext>
            </a:extLst>
          </p:cNvPr>
          <p:cNvSpPr>
            <a:spLocks xmlns:a="http://schemas.openxmlformats.org/drawingml/2006/main" noGrp="1"/>
          </p:cNvSpPr>
          <p:nvPr/>
        </p:nvSpPr>
        <p:spPr>
          <a:xfrm xmlns:a="http://schemas.openxmlformats.org/drawingml/2006/main">
            <a:off x="7858286" y="2971800"/>
            <a:ext cx="2276314"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40" name="">
            <a:extLst xmlns:a="http://schemas.openxmlformats.org/drawingml/2006/main">
              <a:ext uri="{FF2B5EF4-FFF2-40B4-BE49-F238E27FC236}">
                <a16:creationId xmlns:a16="http://schemas.microsoft.com/office/drawing/2014/main" id="{8A2408B9-B159-4606-AE09-FBFB8A95E990}"/>
              </a:ext>
            </a:extLst>
          </p:cNvPr>
          <p:cNvSpPr>
            <a:spLocks xmlns:a="http://schemas.openxmlformats.org/drawingml/2006/main" noGrp="1"/>
          </p:cNvSpPr>
          <p:nvPr/>
        </p:nvSpPr>
        <p:spPr>
          <a:xfrm xmlns:a="http://schemas.openxmlformats.org/drawingml/2006/main">
            <a:off x="7896386" y="3000375"/>
            <a:ext cx="220011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模板版</a:t>
            </a:r>
          </a:p>
        </p:txBody>
      </p:sp>
      <p:sp>
        <p:nvSpPr>
          <p:cNvPr id="41" name="">
            <a:extLst xmlns:a="http://schemas.openxmlformats.org/drawingml/2006/main">
              <a:ext uri="{FF2B5EF4-FFF2-40B4-BE49-F238E27FC236}">
                <a16:creationId xmlns:a16="http://schemas.microsoft.com/office/drawing/2014/main" id="{0D343387-595A-40AF-AE25-D3078E41E8C2}"/>
              </a:ext>
            </a:extLst>
          </p:cNvPr>
          <p:cNvSpPr>
            <a:spLocks xmlns:a="http://schemas.openxmlformats.org/drawingml/2006/main" noGrp="1"/>
          </p:cNvSpPr>
          <p:nvPr/>
        </p:nvSpPr>
        <p:spPr>
          <a:xfrm xmlns:a="http://schemas.openxmlformats.org/drawingml/2006/main">
            <a:off x="1181100" y="3359150"/>
            <a:ext cx="3945610"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2" name="">
            <a:extLst xmlns:a="http://schemas.openxmlformats.org/drawingml/2006/main">
              <a:ext uri="{FF2B5EF4-FFF2-40B4-BE49-F238E27FC236}">
                <a16:creationId xmlns:a16="http://schemas.microsoft.com/office/drawing/2014/main" id="{1ABF91A3-810C-4FFC-806E-33F3338B6570}"/>
              </a:ext>
            </a:extLst>
          </p:cNvPr>
          <p:cNvSpPr>
            <a:spLocks xmlns:a="http://schemas.openxmlformats.org/drawingml/2006/main" noGrp="1"/>
          </p:cNvSpPr>
          <p:nvPr/>
        </p:nvSpPr>
        <p:spPr>
          <a:xfrm xmlns:a="http://schemas.openxmlformats.org/drawingml/2006/main">
            <a:off x="1219200" y="3387725"/>
            <a:ext cx="3869410"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系统集成前需要解决的问题</a:t>
            </a:r>
          </a:p>
        </p:txBody>
      </p:sp>
      <p:sp>
        <p:nvSpPr>
          <p:cNvPr id="43" name="">
            <a:extLst xmlns:a="http://schemas.openxmlformats.org/drawingml/2006/main">
              <a:ext uri="{FF2B5EF4-FFF2-40B4-BE49-F238E27FC236}">
                <a16:creationId xmlns:a16="http://schemas.microsoft.com/office/drawing/2014/main" id="{AE86C553-B725-44F6-8F97-0520393E30E9}"/>
              </a:ext>
            </a:extLst>
          </p:cNvPr>
          <p:cNvSpPr>
            <a:spLocks xmlns:a="http://schemas.openxmlformats.org/drawingml/2006/main" noGrp="1"/>
          </p:cNvSpPr>
          <p:nvPr/>
        </p:nvSpPr>
        <p:spPr>
          <a:xfrm xmlns:a="http://schemas.openxmlformats.org/drawingml/2006/main">
            <a:off x="5126710" y="3359150"/>
            <a:ext cx="1214034"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4" name="">
            <a:extLst xmlns:a="http://schemas.openxmlformats.org/drawingml/2006/main">
              <a:ext uri="{FF2B5EF4-FFF2-40B4-BE49-F238E27FC236}">
                <a16:creationId xmlns:a16="http://schemas.microsoft.com/office/drawing/2014/main" id="{5A20F147-7FC0-44D8-97E7-648BBDB2BFD1}"/>
              </a:ext>
            </a:extLst>
          </p:cNvPr>
          <p:cNvSpPr>
            <a:spLocks xmlns:a="http://schemas.openxmlformats.org/drawingml/2006/main" noGrp="1"/>
          </p:cNvSpPr>
          <p:nvPr/>
        </p:nvSpPr>
        <p:spPr>
          <a:xfrm xmlns:a="http://schemas.openxmlformats.org/drawingml/2006/main">
            <a:off x="5164810" y="3387725"/>
            <a:ext cx="113783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a:t>
            </a:r>
          </a:p>
        </p:txBody>
      </p:sp>
      <p:sp>
        <p:nvSpPr>
          <p:cNvPr id="45" name="">
            <a:extLst xmlns:a="http://schemas.openxmlformats.org/drawingml/2006/main">
              <a:ext uri="{FF2B5EF4-FFF2-40B4-BE49-F238E27FC236}">
                <a16:creationId xmlns:a16="http://schemas.microsoft.com/office/drawing/2014/main" id="{57F2699F-C67B-4E08-8A61-8CB4BA2159E2}"/>
              </a:ext>
            </a:extLst>
          </p:cNvPr>
          <p:cNvSpPr>
            <a:spLocks xmlns:a="http://schemas.openxmlformats.org/drawingml/2006/main" noGrp="1"/>
          </p:cNvSpPr>
          <p:nvPr/>
        </p:nvSpPr>
        <p:spPr>
          <a:xfrm xmlns:a="http://schemas.openxmlformats.org/drawingml/2006/main">
            <a:off x="6340744" y="3359150"/>
            <a:ext cx="1517542"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6" name="">
            <a:extLst xmlns:a="http://schemas.openxmlformats.org/drawingml/2006/main">
              <a:ext uri="{FF2B5EF4-FFF2-40B4-BE49-F238E27FC236}">
                <a16:creationId xmlns:a16="http://schemas.microsoft.com/office/drawing/2014/main" id="{4CF05B39-1146-4206-9F2D-B8ABC8BE3853}"/>
              </a:ext>
            </a:extLst>
          </p:cNvPr>
          <p:cNvSpPr>
            <a:spLocks xmlns:a="http://schemas.openxmlformats.org/drawingml/2006/main" noGrp="1"/>
          </p:cNvSpPr>
          <p:nvPr/>
        </p:nvSpPr>
        <p:spPr>
          <a:xfrm xmlns:a="http://schemas.openxmlformats.org/drawingml/2006/main">
            <a:off x="6378844" y="3387725"/>
            <a:ext cx="1441342"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a:t>
            </a:r>
          </a:p>
        </p:txBody>
      </p:sp>
      <p:sp>
        <p:nvSpPr>
          <p:cNvPr id="47" name="">
            <a:extLst xmlns:a="http://schemas.openxmlformats.org/drawingml/2006/main">
              <a:ext uri="{FF2B5EF4-FFF2-40B4-BE49-F238E27FC236}">
                <a16:creationId xmlns:a16="http://schemas.microsoft.com/office/drawing/2014/main" id="{E0CDFCB8-A3A3-4387-8AD5-4034D02D9EF2}"/>
              </a:ext>
            </a:extLst>
          </p:cNvPr>
          <p:cNvSpPr>
            <a:spLocks xmlns:a="http://schemas.openxmlformats.org/drawingml/2006/main" noGrp="1"/>
          </p:cNvSpPr>
          <p:nvPr/>
        </p:nvSpPr>
        <p:spPr>
          <a:xfrm xmlns:a="http://schemas.openxmlformats.org/drawingml/2006/main">
            <a:off x="7858286" y="3359150"/>
            <a:ext cx="2276314"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48" name="">
            <a:extLst xmlns:a="http://schemas.openxmlformats.org/drawingml/2006/main">
              <a:ext uri="{FF2B5EF4-FFF2-40B4-BE49-F238E27FC236}">
                <a16:creationId xmlns:a16="http://schemas.microsoft.com/office/drawing/2014/main" id="{21D55C71-1572-4E3D-A23C-64C46978F208}"/>
              </a:ext>
            </a:extLst>
          </p:cNvPr>
          <p:cNvSpPr>
            <a:spLocks xmlns:a="http://schemas.openxmlformats.org/drawingml/2006/main" noGrp="1"/>
          </p:cNvSpPr>
          <p:nvPr/>
        </p:nvSpPr>
        <p:spPr>
          <a:xfrm xmlns:a="http://schemas.openxmlformats.org/drawingml/2006/main">
            <a:off x="7896386" y="3387725"/>
            <a:ext cx="220011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评审意见</a:t>
            </a:r>
          </a:p>
        </p:txBody>
      </p:sp>
      <p:sp>
        <p:nvSpPr>
          <p:cNvPr id="49" name="">
            <a:extLst xmlns:a="http://schemas.openxmlformats.org/drawingml/2006/main">
              <a:ext uri="{FF2B5EF4-FFF2-40B4-BE49-F238E27FC236}">
                <a16:creationId xmlns:a16="http://schemas.microsoft.com/office/drawing/2014/main" id="{8BD0EA20-19DF-4BFA-910D-BD22DBECD587}"/>
              </a:ext>
            </a:extLst>
          </p:cNvPr>
          <p:cNvSpPr>
            <a:spLocks xmlns:a="http://schemas.openxmlformats.org/drawingml/2006/main" noGrp="1"/>
          </p:cNvSpPr>
          <p:nvPr/>
        </p:nvSpPr>
        <p:spPr>
          <a:xfrm xmlns:a="http://schemas.openxmlformats.org/drawingml/2006/main">
            <a:off x="1181100" y="3746500"/>
            <a:ext cx="3945610"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0" name="">
            <a:extLst xmlns:a="http://schemas.openxmlformats.org/drawingml/2006/main">
              <a:ext uri="{FF2B5EF4-FFF2-40B4-BE49-F238E27FC236}">
                <a16:creationId xmlns:a16="http://schemas.microsoft.com/office/drawing/2014/main" id="{3394FC68-1071-40C8-8B49-8D03406AB697}"/>
              </a:ext>
            </a:extLst>
          </p:cNvPr>
          <p:cNvSpPr>
            <a:spLocks xmlns:a="http://schemas.openxmlformats.org/drawingml/2006/main" noGrp="1"/>
          </p:cNvSpPr>
          <p:nvPr/>
        </p:nvSpPr>
        <p:spPr>
          <a:xfrm xmlns:a="http://schemas.openxmlformats.org/drawingml/2006/main">
            <a:off x="1219200" y="3775075"/>
            <a:ext cx="3869410"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5月9日集成方案预审会_未决问题与解决方案</a:t>
            </a:r>
          </a:p>
        </p:txBody>
      </p:sp>
      <p:sp>
        <p:nvSpPr>
          <p:cNvPr id="51" name="">
            <a:extLst xmlns:a="http://schemas.openxmlformats.org/drawingml/2006/main">
              <a:ext uri="{FF2B5EF4-FFF2-40B4-BE49-F238E27FC236}">
                <a16:creationId xmlns:a16="http://schemas.microsoft.com/office/drawing/2014/main" id="{99139C4D-C3A9-4E6D-BD4A-B26419B8BCC9}"/>
              </a:ext>
            </a:extLst>
          </p:cNvPr>
          <p:cNvSpPr>
            <a:spLocks xmlns:a="http://schemas.openxmlformats.org/drawingml/2006/main" noGrp="1"/>
          </p:cNvSpPr>
          <p:nvPr/>
        </p:nvSpPr>
        <p:spPr>
          <a:xfrm xmlns:a="http://schemas.openxmlformats.org/drawingml/2006/main">
            <a:off x="5126710" y="3746500"/>
            <a:ext cx="1214034"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2" name="">
            <a:extLst xmlns:a="http://schemas.openxmlformats.org/drawingml/2006/main">
              <a:ext uri="{FF2B5EF4-FFF2-40B4-BE49-F238E27FC236}">
                <a16:creationId xmlns:a16="http://schemas.microsoft.com/office/drawing/2014/main" id="{6A8DF4FA-7030-43F8-B811-4A6A1A5ECB02}"/>
              </a:ext>
            </a:extLst>
          </p:cNvPr>
          <p:cNvSpPr>
            <a:spLocks xmlns:a="http://schemas.openxmlformats.org/drawingml/2006/main" noGrp="1"/>
          </p:cNvSpPr>
          <p:nvPr/>
        </p:nvSpPr>
        <p:spPr>
          <a:xfrm xmlns:a="http://schemas.openxmlformats.org/drawingml/2006/main">
            <a:off x="5164810" y="3775075"/>
            <a:ext cx="113783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V0.1</a:t>
            </a:r>
          </a:p>
        </p:txBody>
      </p:sp>
      <p:sp>
        <p:nvSpPr>
          <p:cNvPr id="53" name="">
            <a:extLst xmlns:a="http://schemas.openxmlformats.org/drawingml/2006/main">
              <a:ext uri="{FF2B5EF4-FFF2-40B4-BE49-F238E27FC236}">
                <a16:creationId xmlns:a16="http://schemas.microsoft.com/office/drawing/2014/main" id="{AB528612-971C-4264-A6CD-DBD9B5520C04}"/>
              </a:ext>
            </a:extLst>
          </p:cNvPr>
          <p:cNvSpPr>
            <a:spLocks xmlns:a="http://schemas.openxmlformats.org/drawingml/2006/main" noGrp="1"/>
          </p:cNvSpPr>
          <p:nvPr/>
        </p:nvSpPr>
        <p:spPr>
          <a:xfrm xmlns:a="http://schemas.openxmlformats.org/drawingml/2006/main">
            <a:off x="6340744" y="3746500"/>
            <a:ext cx="1517542"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4" name="">
            <a:extLst xmlns:a="http://schemas.openxmlformats.org/drawingml/2006/main">
              <a:ext uri="{FF2B5EF4-FFF2-40B4-BE49-F238E27FC236}">
                <a16:creationId xmlns:a16="http://schemas.microsoft.com/office/drawing/2014/main" id="{677EC169-6C60-4E77-80D3-BAC9B641702E}"/>
              </a:ext>
            </a:extLst>
          </p:cNvPr>
          <p:cNvSpPr>
            <a:spLocks xmlns:a="http://schemas.openxmlformats.org/drawingml/2006/main" noGrp="1"/>
          </p:cNvSpPr>
          <p:nvPr/>
        </p:nvSpPr>
        <p:spPr>
          <a:xfrm xmlns:a="http://schemas.openxmlformats.org/drawingml/2006/main">
            <a:off x="6378844" y="3775075"/>
            <a:ext cx="1441342"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2026-05-06</a:t>
            </a:r>
          </a:p>
        </p:txBody>
      </p:sp>
      <p:sp>
        <p:nvSpPr>
          <p:cNvPr id="55" name="">
            <a:extLst xmlns:a="http://schemas.openxmlformats.org/drawingml/2006/main">
              <a:ext uri="{FF2B5EF4-FFF2-40B4-BE49-F238E27FC236}">
                <a16:creationId xmlns:a16="http://schemas.microsoft.com/office/drawing/2014/main" id="{E8B5E0DD-E1C1-4CF3-8459-51A6AE54BB4B}"/>
              </a:ext>
            </a:extLst>
          </p:cNvPr>
          <p:cNvSpPr>
            <a:spLocks xmlns:a="http://schemas.openxmlformats.org/drawingml/2006/main" noGrp="1"/>
          </p:cNvSpPr>
          <p:nvPr/>
        </p:nvSpPr>
        <p:spPr>
          <a:xfrm xmlns:a="http://schemas.openxmlformats.org/drawingml/2006/main">
            <a:off x="7858286" y="3746500"/>
            <a:ext cx="2276314"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56" name="">
            <a:extLst xmlns:a="http://schemas.openxmlformats.org/drawingml/2006/main">
              <a:ext uri="{FF2B5EF4-FFF2-40B4-BE49-F238E27FC236}">
                <a16:creationId xmlns:a16="http://schemas.microsoft.com/office/drawing/2014/main" id="{1F25021B-02CA-43BC-A023-BDC32AD0FEC6}"/>
              </a:ext>
            </a:extLst>
          </p:cNvPr>
          <p:cNvSpPr>
            <a:spLocks xmlns:a="http://schemas.openxmlformats.org/drawingml/2006/main" noGrp="1"/>
          </p:cNvSpPr>
          <p:nvPr/>
        </p:nvSpPr>
        <p:spPr>
          <a:xfrm xmlns:a="http://schemas.openxmlformats.org/drawingml/2006/main">
            <a:off x="7896386" y="3775075"/>
            <a:ext cx="220011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已融合至预审口径</a:t>
            </a:r>
          </a:p>
        </p:txBody>
      </p:sp>
      <p:sp>
        <p:nvSpPr>
          <p:cNvPr id="57" name="">
            <a:extLst xmlns:a="http://schemas.openxmlformats.org/drawingml/2006/main">
              <a:ext uri="{FF2B5EF4-FFF2-40B4-BE49-F238E27FC236}">
                <a16:creationId xmlns:a16="http://schemas.microsoft.com/office/drawing/2014/main" id="{4A8AC396-AE75-44EE-97A3-CFB598FFB6F0}"/>
              </a:ext>
            </a:extLst>
          </p:cNvPr>
          <p:cNvSpPr>
            <a:spLocks xmlns:a="http://schemas.openxmlformats.org/drawingml/2006/main" noGrp="1"/>
          </p:cNvSpPr>
          <p:nvPr/>
        </p:nvSpPr>
        <p:spPr>
          <a:xfrm xmlns:a="http://schemas.openxmlformats.org/drawingml/2006/main">
            <a:off x="1181100" y="4133850"/>
            <a:ext cx="3945610"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58" name="">
            <a:extLst xmlns:a="http://schemas.openxmlformats.org/drawingml/2006/main">
              <a:ext uri="{FF2B5EF4-FFF2-40B4-BE49-F238E27FC236}">
                <a16:creationId xmlns:a16="http://schemas.microsoft.com/office/drawing/2014/main" id="{2268D559-5253-4B7A-99C7-3177234F6672}"/>
              </a:ext>
            </a:extLst>
          </p:cNvPr>
          <p:cNvSpPr>
            <a:spLocks xmlns:a="http://schemas.openxmlformats.org/drawingml/2006/main" noGrp="1"/>
          </p:cNvSpPr>
          <p:nvPr/>
        </p:nvSpPr>
        <p:spPr>
          <a:xfrm xmlns:a="http://schemas.openxmlformats.org/drawingml/2006/main">
            <a:off x="1219200" y="4162425"/>
            <a:ext cx="3869410"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MDM主数据治理解决方案</a:t>
            </a:r>
          </a:p>
        </p:txBody>
      </p:sp>
      <p:sp>
        <p:nvSpPr>
          <p:cNvPr id="59" name="">
            <a:extLst xmlns:a="http://schemas.openxmlformats.org/drawingml/2006/main">
              <a:ext uri="{FF2B5EF4-FFF2-40B4-BE49-F238E27FC236}">
                <a16:creationId xmlns:a16="http://schemas.microsoft.com/office/drawing/2014/main" id="{1D1E422A-71E8-430A-9C92-405E8EAB9FB2}"/>
              </a:ext>
            </a:extLst>
          </p:cNvPr>
          <p:cNvSpPr>
            <a:spLocks xmlns:a="http://schemas.openxmlformats.org/drawingml/2006/main" noGrp="1"/>
          </p:cNvSpPr>
          <p:nvPr/>
        </p:nvSpPr>
        <p:spPr>
          <a:xfrm xmlns:a="http://schemas.openxmlformats.org/drawingml/2006/main">
            <a:off x="5126710" y="4133850"/>
            <a:ext cx="1214034"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0" name="">
            <a:extLst xmlns:a="http://schemas.openxmlformats.org/drawingml/2006/main">
              <a:ext uri="{FF2B5EF4-FFF2-40B4-BE49-F238E27FC236}">
                <a16:creationId xmlns:a16="http://schemas.microsoft.com/office/drawing/2014/main" id="{CBAABE0D-3083-4D19-9613-6B3AD83A91B2}"/>
              </a:ext>
            </a:extLst>
          </p:cNvPr>
          <p:cNvSpPr>
            <a:spLocks xmlns:a="http://schemas.openxmlformats.org/drawingml/2006/main" noGrp="1"/>
          </p:cNvSpPr>
          <p:nvPr/>
        </p:nvSpPr>
        <p:spPr>
          <a:xfrm xmlns:a="http://schemas.openxmlformats.org/drawingml/2006/main">
            <a:off x="5164810" y="4162425"/>
            <a:ext cx="113783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V0.1</a:t>
            </a:r>
          </a:p>
        </p:txBody>
      </p:sp>
      <p:sp>
        <p:nvSpPr>
          <p:cNvPr id="61" name="">
            <a:extLst xmlns:a="http://schemas.openxmlformats.org/drawingml/2006/main">
              <a:ext uri="{FF2B5EF4-FFF2-40B4-BE49-F238E27FC236}">
                <a16:creationId xmlns:a16="http://schemas.microsoft.com/office/drawing/2014/main" id="{FEF4CC44-33EA-4145-A9E6-D1110F8A2C35}"/>
              </a:ext>
            </a:extLst>
          </p:cNvPr>
          <p:cNvSpPr>
            <a:spLocks xmlns:a="http://schemas.openxmlformats.org/drawingml/2006/main" noGrp="1"/>
          </p:cNvSpPr>
          <p:nvPr/>
        </p:nvSpPr>
        <p:spPr>
          <a:xfrm xmlns:a="http://schemas.openxmlformats.org/drawingml/2006/main">
            <a:off x="6340744" y="4133850"/>
            <a:ext cx="1517542"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2" name="">
            <a:extLst xmlns:a="http://schemas.openxmlformats.org/drawingml/2006/main">
              <a:ext uri="{FF2B5EF4-FFF2-40B4-BE49-F238E27FC236}">
                <a16:creationId xmlns:a16="http://schemas.microsoft.com/office/drawing/2014/main" id="{1D4D6468-B89F-4215-B8F0-8805F57716C9}"/>
              </a:ext>
            </a:extLst>
          </p:cNvPr>
          <p:cNvSpPr>
            <a:spLocks xmlns:a="http://schemas.openxmlformats.org/drawingml/2006/main" noGrp="1"/>
          </p:cNvSpPr>
          <p:nvPr/>
        </p:nvSpPr>
        <p:spPr>
          <a:xfrm xmlns:a="http://schemas.openxmlformats.org/drawingml/2006/main">
            <a:off x="6378844" y="4162425"/>
            <a:ext cx="1441342"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2026-05-06</a:t>
            </a:r>
          </a:p>
        </p:txBody>
      </p:sp>
      <p:sp>
        <p:nvSpPr>
          <p:cNvPr id="63" name="">
            <a:extLst xmlns:a="http://schemas.openxmlformats.org/drawingml/2006/main">
              <a:ext uri="{FF2B5EF4-FFF2-40B4-BE49-F238E27FC236}">
                <a16:creationId xmlns:a16="http://schemas.microsoft.com/office/drawing/2014/main" id="{37307643-D513-468F-84F7-2C81D6210035}"/>
              </a:ext>
            </a:extLst>
          </p:cNvPr>
          <p:cNvSpPr>
            <a:spLocks xmlns:a="http://schemas.openxmlformats.org/drawingml/2006/main" noGrp="1"/>
          </p:cNvSpPr>
          <p:nvPr/>
        </p:nvSpPr>
        <p:spPr>
          <a:xfrm xmlns:a="http://schemas.openxmlformats.org/drawingml/2006/main">
            <a:off x="7858286" y="4133850"/>
            <a:ext cx="2276314"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64" name="">
            <a:extLst xmlns:a="http://schemas.openxmlformats.org/drawingml/2006/main">
              <a:ext uri="{FF2B5EF4-FFF2-40B4-BE49-F238E27FC236}">
                <a16:creationId xmlns:a16="http://schemas.microsoft.com/office/drawing/2014/main" id="{E522E0CE-76E6-4BC7-AA78-2EFAF42DD125}"/>
              </a:ext>
            </a:extLst>
          </p:cNvPr>
          <p:cNvSpPr>
            <a:spLocks xmlns:a="http://schemas.openxmlformats.org/drawingml/2006/main" noGrp="1"/>
          </p:cNvSpPr>
          <p:nvPr/>
        </p:nvSpPr>
        <p:spPr>
          <a:xfrm xmlns:a="http://schemas.openxmlformats.org/drawingml/2006/main">
            <a:off x="7896386" y="4162425"/>
            <a:ext cx="220011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已融合至MDM基石章节</a:t>
            </a:r>
          </a:p>
        </p:txBody>
      </p:sp>
      <p:sp>
        <p:nvSpPr>
          <p:cNvPr id="65" name="">
            <a:extLst xmlns:a="http://schemas.openxmlformats.org/drawingml/2006/main">
              <a:ext uri="{FF2B5EF4-FFF2-40B4-BE49-F238E27FC236}">
                <a16:creationId xmlns:a16="http://schemas.microsoft.com/office/drawing/2014/main" id="{FF6A70CB-7410-44D2-9859-15B532BA036A}"/>
              </a:ext>
            </a:extLst>
          </p:cNvPr>
          <p:cNvSpPr>
            <a:spLocks xmlns:a="http://schemas.openxmlformats.org/drawingml/2006/main" noGrp="1"/>
          </p:cNvSpPr>
          <p:nvPr/>
        </p:nvSpPr>
        <p:spPr>
          <a:xfrm xmlns:a="http://schemas.openxmlformats.org/drawingml/2006/main">
            <a:off x="1181100" y="4521200"/>
            <a:ext cx="3945610"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6" name="">
            <a:extLst xmlns:a="http://schemas.openxmlformats.org/drawingml/2006/main">
              <a:ext uri="{FF2B5EF4-FFF2-40B4-BE49-F238E27FC236}">
                <a16:creationId xmlns:a16="http://schemas.microsoft.com/office/drawing/2014/main" id="{7D9FE18B-2350-471B-BE23-6D8DC5999A9F}"/>
              </a:ext>
            </a:extLst>
          </p:cNvPr>
          <p:cNvSpPr>
            <a:spLocks xmlns:a="http://schemas.openxmlformats.org/drawingml/2006/main" noGrp="1"/>
          </p:cNvSpPr>
          <p:nvPr/>
        </p:nvSpPr>
        <p:spPr>
          <a:xfrm xmlns:a="http://schemas.openxmlformats.org/drawingml/2006/main">
            <a:off x="1219200" y="4549775"/>
            <a:ext cx="3869410"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组织架构和部门职责</a:t>
            </a:r>
          </a:p>
        </p:txBody>
      </p:sp>
      <p:sp>
        <p:nvSpPr>
          <p:cNvPr id="67" name="">
            <a:extLst xmlns:a="http://schemas.openxmlformats.org/drawingml/2006/main">
              <a:ext uri="{FF2B5EF4-FFF2-40B4-BE49-F238E27FC236}">
                <a16:creationId xmlns:a16="http://schemas.microsoft.com/office/drawing/2014/main" id="{6902F65D-8C7F-45A7-9C95-D372FD76AADC}"/>
              </a:ext>
            </a:extLst>
          </p:cNvPr>
          <p:cNvSpPr>
            <a:spLocks xmlns:a="http://schemas.openxmlformats.org/drawingml/2006/main" noGrp="1"/>
          </p:cNvSpPr>
          <p:nvPr/>
        </p:nvSpPr>
        <p:spPr>
          <a:xfrm xmlns:a="http://schemas.openxmlformats.org/drawingml/2006/main">
            <a:off x="5126710" y="4521200"/>
            <a:ext cx="1214034"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68" name="">
            <a:extLst xmlns:a="http://schemas.openxmlformats.org/drawingml/2006/main">
              <a:ext uri="{FF2B5EF4-FFF2-40B4-BE49-F238E27FC236}">
                <a16:creationId xmlns:a16="http://schemas.microsoft.com/office/drawing/2014/main" id="{318A291B-2C33-4D0F-9D60-D17EE6766CC3}"/>
              </a:ext>
            </a:extLst>
          </p:cNvPr>
          <p:cNvSpPr>
            <a:spLocks xmlns:a="http://schemas.openxmlformats.org/drawingml/2006/main" noGrp="1"/>
          </p:cNvSpPr>
          <p:nvPr/>
        </p:nvSpPr>
        <p:spPr>
          <a:xfrm xmlns:a="http://schemas.openxmlformats.org/drawingml/2006/main">
            <a:off x="5164810" y="4549775"/>
            <a:ext cx="113783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a:t>
            </a:r>
          </a:p>
        </p:txBody>
      </p:sp>
      <p:sp>
        <p:nvSpPr>
          <p:cNvPr id="69" name="">
            <a:extLst xmlns:a="http://schemas.openxmlformats.org/drawingml/2006/main">
              <a:ext uri="{FF2B5EF4-FFF2-40B4-BE49-F238E27FC236}">
                <a16:creationId xmlns:a16="http://schemas.microsoft.com/office/drawing/2014/main" id="{7B0AED8B-E16E-4761-98F2-902F49C01401}"/>
              </a:ext>
            </a:extLst>
          </p:cNvPr>
          <p:cNvSpPr>
            <a:spLocks xmlns:a="http://schemas.openxmlformats.org/drawingml/2006/main" noGrp="1"/>
          </p:cNvSpPr>
          <p:nvPr/>
        </p:nvSpPr>
        <p:spPr>
          <a:xfrm xmlns:a="http://schemas.openxmlformats.org/drawingml/2006/main">
            <a:off x="6340744" y="4521200"/>
            <a:ext cx="1517542"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0" name="">
            <a:extLst xmlns:a="http://schemas.openxmlformats.org/drawingml/2006/main">
              <a:ext uri="{FF2B5EF4-FFF2-40B4-BE49-F238E27FC236}">
                <a16:creationId xmlns:a16="http://schemas.microsoft.com/office/drawing/2014/main" id="{89AE5179-D135-4836-A8D2-55C6921E1901}"/>
              </a:ext>
            </a:extLst>
          </p:cNvPr>
          <p:cNvSpPr>
            <a:spLocks xmlns:a="http://schemas.openxmlformats.org/drawingml/2006/main" noGrp="1"/>
          </p:cNvSpPr>
          <p:nvPr/>
        </p:nvSpPr>
        <p:spPr>
          <a:xfrm xmlns:a="http://schemas.openxmlformats.org/drawingml/2006/main">
            <a:off x="6378844" y="4549775"/>
            <a:ext cx="1441342"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a:t>
            </a:r>
          </a:p>
        </p:txBody>
      </p:sp>
      <p:sp>
        <p:nvSpPr>
          <p:cNvPr id="71" name="">
            <a:extLst xmlns:a="http://schemas.openxmlformats.org/drawingml/2006/main">
              <a:ext uri="{FF2B5EF4-FFF2-40B4-BE49-F238E27FC236}">
                <a16:creationId xmlns:a16="http://schemas.microsoft.com/office/drawing/2014/main" id="{82A63785-4C6E-403F-B32E-7CB4F99C5EB8}"/>
              </a:ext>
            </a:extLst>
          </p:cNvPr>
          <p:cNvSpPr>
            <a:spLocks xmlns:a="http://schemas.openxmlformats.org/drawingml/2006/main" noGrp="1"/>
          </p:cNvSpPr>
          <p:nvPr/>
        </p:nvSpPr>
        <p:spPr>
          <a:xfrm xmlns:a="http://schemas.openxmlformats.org/drawingml/2006/main">
            <a:off x="7858286" y="4521200"/>
            <a:ext cx="2276314" cy="387350"/>
          </a:xfrm>
          <a:prstGeom xmlns:a="http://schemas.openxmlformats.org/drawingml/2006/main" prst="rect">
            <a:avLst/>
          </a:prstGeom>
          <a:solidFill xmlns:a="http://schemas.openxmlformats.org/drawingml/2006/main">
            <a:srgbClr val="FFFFFF"/>
          </a:solidFill>
          <a:ln xmlns:a="http://schemas.openxmlformats.org/drawingml/2006/main" w="7620">
            <a:solidFill>
              <a:srgbClr val="E2E8F0"/>
            </a:solidFill>
            <a:prstDash val="solid"/>
          </a:ln>
        </p:spPr>
      </p:sp>
      <p:sp>
        <p:nvSpPr>
          <p:cNvPr id="72" name="">
            <a:extLst xmlns:a="http://schemas.openxmlformats.org/drawingml/2006/main">
              <a:ext uri="{FF2B5EF4-FFF2-40B4-BE49-F238E27FC236}">
                <a16:creationId xmlns:a16="http://schemas.microsoft.com/office/drawing/2014/main" id="{1D736DBC-C61C-4E4A-A11C-C883CB7913F0}"/>
              </a:ext>
            </a:extLst>
          </p:cNvPr>
          <p:cNvSpPr>
            <a:spLocks xmlns:a="http://schemas.openxmlformats.org/drawingml/2006/main" noGrp="1"/>
          </p:cNvSpPr>
          <p:nvPr/>
        </p:nvSpPr>
        <p:spPr>
          <a:xfrm xmlns:a="http://schemas.openxmlformats.org/drawingml/2006/main">
            <a:off x="7896386" y="4549775"/>
            <a:ext cx="220011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参考文档</a:t>
            </a:r>
          </a:p>
        </p:txBody>
      </p:sp>
      <p:sp>
        <p:nvSpPr>
          <p:cNvPr id="73" name="">
            <a:extLst xmlns:a="http://schemas.openxmlformats.org/drawingml/2006/main">
              <a:ext uri="{FF2B5EF4-FFF2-40B4-BE49-F238E27FC236}">
                <a16:creationId xmlns:a16="http://schemas.microsoft.com/office/drawing/2014/main" id="{7F592C5B-AD0B-45F9-89EE-46C0DBD59FB4}"/>
              </a:ext>
            </a:extLst>
          </p:cNvPr>
          <p:cNvSpPr>
            <a:spLocks xmlns:a="http://schemas.openxmlformats.org/drawingml/2006/main" noGrp="1"/>
          </p:cNvSpPr>
          <p:nvPr/>
        </p:nvSpPr>
        <p:spPr>
          <a:xfrm xmlns:a="http://schemas.openxmlformats.org/drawingml/2006/main">
            <a:off x="1181100" y="4908550"/>
            <a:ext cx="3945610"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74" name="">
            <a:extLst xmlns:a="http://schemas.openxmlformats.org/drawingml/2006/main">
              <a:ext uri="{FF2B5EF4-FFF2-40B4-BE49-F238E27FC236}">
                <a16:creationId xmlns:a16="http://schemas.microsoft.com/office/drawing/2014/main" id="{E2EF18EE-F851-45E4-AEBD-4C95EDECC576}"/>
              </a:ext>
            </a:extLst>
          </p:cNvPr>
          <p:cNvSpPr>
            <a:spLocks xmlns:a="http://schemas.openxmlformats.org/drawingml/2006/main" noGrp="1"/>
          </p:cNvSpPr>
          <p:nvPr/>
        </p:nvSpPr>
        <p:spPr>
          <a:xfrm xmlns:a="http://schemas.openxmlformats.org/drawingml/2006/main">
            <a:off x="1219200" y="4937125"/>
            <a:ext cx="3869410"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系统集成架构专题会</a:t>
            </a:r>
          </a:p>
        </p:txBody>
      </p:sp>
      <p:sp>
        <p:nvSpPr>
          <p:cNvPr id="75" name="">
            <a:extLst xmlns:a="http://schemas.openxmlformats.org/drawingml/2006/main">
              <a:ext uri="{FF2B5EF4-FFF2-40B4-BE49-F238E27FC236}">
                <a16:creationId xmlns:a16="http://schemas.microsoft.com/office/drawing/2014/main" id="{45BAC16E-463F-4840-9937-E699B821E214}"/>
              </a:ext>
            </a:extLst>
          </p:cNvPr>
          <p:cNvSpPr>
            <a:spLocks xmlns:a="http://schemas.openxmlformats.org/drawingml/2006/main" noGrp="1"/>
          </p:cNvSpPr>
          <p:nvPr/>
        </p:nvSpPr>
        <p:spPr>
          <a:xfrm xmlns:a="http://schemas.openxmlformats.org/drawingml/2006/main">
            <a:off x="5126710" y="4908550"/>
            <a:ext cx="1214034"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76" name="">
            <a:extLst xmlns:a="http://schemas.openxmlformats.org/drawingml/2006/main">
              <a:ext uri="{FF2B5EF4-FFF2-40B4-BE49-F238E27FC236}">
                <a16:creationId xmlns:a16="http://schemas.microsoft.com/office/drawing/2014/main" id="{1BA6458B-0BE4-467D-9AA8-E14E2996BF4C}"/>
              </a:ext>
            </a:extLst>
          </p:cNvPr>
          <p:cNvSpPr>
            <a:spLocks xmlns:a="http://schemas.openxmlformats.org/drawingml/2006/main" noGrp="1"/>
          </p:cNvSpPr>
          <p:nvPr/>
        </p:nvSpPr>
        <p:spPr>
          <a:xfrm xmlns:a="http://schemas.openxmlformats.org/drawingml/2006/main">
            <a:off x="5164810" y="4937125"/>
            <a:ext cx="113783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V0.1</a:t>
            </a:r>
          </a:p>
        </p:txBody>
      </p:sp>
      <p:sp>
        <p:nvSpPr>
          <p:cNvPr id="77" name="">
            <a:extLst xmlns:a="http://schemas.openxmlformats.org/drawingml/2006/main">
              <a:ext uri="{FF2B5EF4-FFF2-40B4-BE49-F238E27FC236}">
                <a16:creationId xmlns:a16="http://schemas.microsoft.com/office/drawing/2014/main" id="{CB909292-6725-43BE-A69B-456D03109B36}"/>
              </a:ext>
            </a:extLst>
          </p:cNvPr>
          <p:cNvSpPr>
            <a:spLocks xmlns:a="http://schemas.openxmlformats.org/drawingml/2006/main" noGrp="1"/>
          </p:cNvSpPr>
          <p:nvPr/>
        </p:nvSpPr>
        <p:spPr>
          <a:xfrm xmlns:a="http://schemas.openxmlformats.org/drawingml/2006/main">
            <a:off x="6340744" y="4908550"/>
            <a:ext cx="1517542"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78" name="">
            <a:extLst xmlns:a="http://schemas.openxmlformats.org/drawingml/2006/main">
              <a:ext uri="{FF2B5EF4-FFF2-40B4-BE49-F238E27FC236}">
                <a16:creationId xmlns:a16="http://schemas.microsoft.com/office/drawing/2014/main" id="{10EBA3AB-C671-4C63-A2A1-DECD76BAD1FA}"/>
              </a:ext>
            </a:extLst>
          </p:cNvPr>
          <p:cNvSpPr>
            <a:spLocks xmlns:a="http://schemas.openxmlformats.org/drawingml/2006/main" noGrp="1"/>
          </p:cNvSpPr>
          <p:nvPr/>
        </p:nvSpPr>
        <p:spPr>
          <a:xfrm xmlns:a="http://schemas.openxmlformats.org/drawingml/2006/main">
            <a:off x="6378844" y="4937125"/>
            <a:ext cx="1441342"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2026-05-09</a:t>
            </a:r>
          </a:p>
        </p:txBody>
      </p:sp>
      <p:sp>
        <p:nvSpPr>
          <p:cNvPr id="79" name="">
            <a:extLst xmlns:a="http://schemas.openxmlformats.org/drawingml/2006/main">
              <a:ext uri="{FF2B5EF4-FFF2-40B4-BE49-F238E27FC236}">
                <a16:creationId xmlns:a16="http://schemas.microsoft.com/office/drawing/2014/main" id="{724A2366-0202-4A38-8207-86C4AE7AC11F}"/>
              </a:ext>
            </a:extLst>
          </p:cNvPr>
          <p:cNvSpPr>
            <a:spLocks xmlns:a="http://schemas.openxmlformats.org/drawingml/2006/main" noGrp="1"/>
          </p:cNvSpPr>
          <p:nvPr/>
        </p:nvSpPr>
        <p:spPr>
          <a:xfrm xmlns:a="http://schemas.openxmlformats.org/drawingml/2006/main">
            <a:off x="7858286" y="4908550"/>
            <a:ext cx="2276314" cy="387350"/>
          </a:xfrm>
          <a:prstGeom xmlns:a="http://schemas.openxmlformats.org/drawingml/2006/main" prst="rect">
            <a:avLst/>
          </a:prstGeom>
          <a:solidFill xmlns:a="http://schemas.openxmlformats.org/drawingml/2006/main">
            <a:srgbClr val="F1F5F9"/>
          </a:solidFill>
          <a:ln xmlns:a="http://schemas.openxmlformats.org/drawingml/2006/main" w="7620">
            <a:solidFill>
              <a:srgbClr val="E2E8F0"/>
            </a:solidFill>
            <a:prstDash val="solid"/>
          </a:ln>
        </p:spPr>
      </p:sp>
      <p:sp>
        <p:nvSpPr>
          <p:cNvPr id="80" name="">
            <a:extLst xmlns:a="http://schemas.openxmlformats.org/drawingml/2006/main">
              <a:ext uri="{FF2B5EF4-FFF2-40B4-BE49-F238E27FC236}">
                <a16:creationId xmlns:a16="http://schemas.microsoft.com/office/drawing/2014/main" id="{E7A84B5F-B292-4C7E-93D1-5AE8F2713C3C}"/>
              </a:ext>
            </a:extLst>
          </p:cNvPr>
          <p:cNvSpPr>
            <a:spLocks xmlns:a="http://schemas.openxmlformats.org/drawingml/2006/main" noGrp="1"/>
          </p:cNvSpPr>
          <p:nvPr/>
        </p:nvSpPr>
        <p:spPr>
          <a:xfrm xmlns:a="http://schemas.openxmlformats.org/drawingml/2006/main">
            <a:off x="7896386" y="4937125"/>
            <a:ext cx="2200114" cy="33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l">
              <a:defRPr sz="750" b="0">
                <a:solidFill>
                  <a:srgbClr val="475569"/>
                </a:solidFill>
              </a:defRPr>
            </a:pPr>
            <a:r>
              <a:rPr sz="750" b="0">
                <a:solidFill>
                  <a:srgbClr val="475569"/>
                </a:solidFill>
              </a:rPr>
              <a:t>草案</a:t>
            </a:r>
          </a:p>
        </p:txBody>
      </p:sp>
      <p:sp>
        <p:nvSpPr>
          <p:cNvPr id="81" name="">
            <a:extLst xmlns:a="http://schemas.openxmlformats.org/drawingml/2006/main">
              <a:ext uri="{FF2B5EF4-FFF2-40B4-BE49-F238E27FC236}">
                <a16:creationId xmlns:a16="http://schemas.microsoft.com/office/drawing/2014/main" id="{3D385A56-CEB9-4D6D-B494-3670EE883B28}"/>
              </a:ext>
            </a:extLst>
          </p:cNvPr>
          <p:cNvSpPr>
            <a:spLocks xmlns:a="http://schemas.openxmlformats.org/drawingml/2006/main" noGrp="1"/>
          </p:cNvSpPr>
          <p:nvPr/>
        </p:nvSpPr>
        <p:spPr>
          <a:xfrm xmlns:a="http://schemas.openxmlformats.org/drawingml/2006/main">
            <a:off x="1524000" y="5543550"/>
            <a:ext cx="8248650" cy="781050"/>
          </a:xfrm>
          <a:prstGeom xmlns:a="http://schemas.openxmlformats.org/drawingml/2006/main" prst="roundRect">
            <a:avLst>
              <a:gd name="adj" fmla="val 9756"/>
            </a:avLst>
          </a:prstGeom>
          <a:solidFill xmlns:a="http://schemas.openxmlformats.org/drawingml/2006/main">
            <a:srgbClr val="EFF6FF"/>
          </a:solidFill>
          <a:ln xmlns:a="http://schemas.openxmlformats.org/drawingml/2006/main" w="9525">
            <a:solidFill>
              <a:srgbClr val="E2E8F0"/>
            </a:solidFill>
            <a:prstDash val="solid"/>
          </a:ln>
        </p:spPr>
      </p:sp>
      <p:sp>
        <p:nvSpPr>
          <p:cNvPr id="82" name="">
            <a:extLst xmlns:a="http://schemas.openxmlformats.org/drawingml/2006/main">
              <a:ext uri="{FF2B5EF4-FFF2-40B4-BE49-F238E27FC236}">
                <a16:creationId xmlns:a16="http://schemas.microsoft.com/office/drawing/2014/main" id="{C9493979-0966-44A4-8544-1B0B1000DA97}"/>
              </a:ext>
            </a:extLst>
          </p:cNvPr>
          <p:cNvSpPr>
            <a:spLocks xmlns:a="http://schemas.openxmlformats.org/drawingml/2006/main" noGrp="1"/>
          </p:cNvSpPr>
          <p:nvPr/>
        </p:nvSpPr>
        <p:spPr>
          <a:xfrm xmlns:a="http://schemas.openxmlformats.org/drawingml/2006/main">
            <a:off x="1524000" y="5543550"/>
            <a:ext cx="57150" cy="781050"/>
          </a:xfrm>
          <a:prstGeom xmlns:a="http://schemas.openxmlformats.org/drawingml/2006/main" prst="rect">
            <a:avLst/>
          </a:prstGeom>
          <a:solidFill xmlns:a="http://schemas.openxmlformats.org/drawingml/2006/main">
            <a:srgbClr val="1A56DB"/>
          </a:solidFill>
          <a:ln xmlns:a="http://schemas.openxmlformats.org/drawingml/2006/main" w="0">
            <a:solidFill>
              <a:srgbClr val="000000">
                <a:alpha val="0"/>
              </a:srgbClr>
            </a:solidFill>
            <a:prstDash val="solid"/>
          </a:ln>
        </p:spPr>
      </p:sp>
      <p:sp>
        <p:nvSpPr>
          <p:cNvPr id="83" name="">
            <a:extLst xmlns:a="http://schemas.openxmlformats.org/drawingml/2006/main">
              <a:ext uri="{FF2B5EF4-FFF2-40B4-BE49-F238E27FC236}">
                <a16:creationId xmlns:a16="http://schemas.microsoft.com/office/drawing/2014/main" id="{0B03B534-F0DD-487B-8524-ED78A56B3E8A}"/>
              </a:ext>
            </a:extLst>
          </p:cNvPr>
          <p:cNvSpPr>
            <a:spLocks xmlns:a="http://schemas.openxmlformats.org/drawingml/2006/main" noGrp="1"/>
          </p:cNvSpPr>
          <p:nvPr/>
        </p:nvSpPr>
        <p:spPr>
          <a:xfrm xmlns:a="http://schemas.openxmlformats.org/drawingml/2006/main">
            <a:off x="1695450" y="5657850"/>
            <a:ext cx="7905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1125" b="1">
                <a:solidFill>
                  <a:srgbClr val="1A56DB"/>
                </a:solidFill>
              </a:defRPr>
            </a:pPr>
            <a:r>
              <a:rPr sz="1125" b="1">
                <a:solidFill>
                  <a:srgbClr val="1A56DB"/>
                </a:solidFill>
              </a:rPr>
              <a:t>来源</a:t>
            </a:r>
          </a:p>
        </p:txBody>
      </p:sp>
      <p:sp>
        <p:nvSpPr>
          <p:cNvPr id="84" name="">
            <a:extLst xmlns:a="http://schemas.openxmlformats.org/drawingml/2006/main">
              <a:ext uri="{FF2B5EF4-FFF2-40B4-BE49-F238E27FC236}">
                <a16:creationId xmlns:a16="http://schemas.microsoft.com/office/drawing/2014/main" id="{D89322E7-1043-4E8B-824B-997079A1133F}"/>
              </a:ext>
            </a:extLst>
          </p:cNvPr>
          <p:cNvSpPr>
            <a:spLocks xmlns:a="http://schemas.openxmlformats.org/drawingml/2006/main" noGrp="1"/>
          </p:cNvSpPr>
          <p:nvPr/>
        </p:nvSpPr>
        <p:spPr>
          <a:xfrm xmlns:a="http://schemas.openxmlformats.org/drawingml/2006/main">
            <a:off x="1695450" y="5924550"/>
            <a:ext cx="7905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l">
              <a:defRPr sz="900" b="0">
                <a:solidFill>
                  <a:srgbClr val="475569"/>
                </a:solidFill>
              </a:defRPr>
            </a:pPr>
            <a:r>
              <a:rPr sz="900" b="0">
                <a:solidFill>
                  <a:srgbClr val="475569"/>
                </a:solidFill>
              </a:rPr>
              <a:t>本 PPT 以 docs\Demo\系统集成说明H5（完整版）.html 为基础，沿用其背景色、标题色、字体与 section 内容。</a:t>
            </a:r>
          </a:p>
        </p:txBody>
      </p:sp>
      <p:sp>
        <p:nvSpPr>
          <p:cNvPr id="85" name="">
            <a:extLst xmlns:a="http://schemas.openxmlformats.org/drawingml/2006/main">
              <a:ext uri="{FF2B5EF4-FFF2-40B4-BE49-F238E27FC236}">
                <a16:creationId xmlns:a16="http://schemas.microsoft.com/office/drawing/2014/main" id="{D0B8A7CF-2ECF-4049-97E1-D26C433A6BA7}"/>
              </a:ext>
            </a:extLst>
          </p:cNvPr>
          <p:cNvSpPr>
            <a:spLocks xmlns:a="http://schemas.openxmlformats.org/drawingml/2006/main" noGrp="1"/>
          </p:cNvSpPr>
          <p:nvPr/>
        </p:nvSpPr>
        <p:spPr>
          <a:xfrm xmlns:a="http://schemas.openxmlformats.org/drawingml/2006/main">
            <a:off x="10572750" y="6400800"/>
            <a:ext cx="1047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57150" tIns="28575" rIns="57150" bIns="28575" anchor="t">
            <a:normAutofit fontScale="100000"/>
          </a:bodyPr>
          <a:lstStyle xmlns:a="http://schemas.openxmlformats.org/drawingml/2006/main"/>
          <a:p xmlns:a="http://schemas.openxmlformats.org/drawingml/2006/main">
            <a:pPr algn="r">
              <a:defRPr sz="900" b="0">
                <a:solidFill>
                  <a:srgbClr val="64748B"/>
                </a:solidFill>
              </a:defRPr>
            </a:pPr>
            <a:r>
              <a:rPr sz="900" b="0">
                <a:solidFill>
                  <a:srgbClr val="64748B"/>
                </a:solidFill>
              </a:rPr>
              <a:t>29 / 29</a:t>
            </a:r>
          </a:p>
        </p:txBody>
      </p:sp>
    </p:spTree>
    <p:extLst>
      <p:ext uri="{BB962C8B-B14F-4D97-AF65-F5344CB8AC3E}">
        <p14:creationId xmlns:p14="http://schemas.microsoft.com/office/powerpoint/2010/main" val="8257599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2026-05-07T06:39:24.5140000Z</dcterms:created>
  <dcterms:modified xsi:type="dcterms:W3CDTF">2026-05-07T06:39:24.5140000Z</dcterms:modified>
</coreProperties>
</file>