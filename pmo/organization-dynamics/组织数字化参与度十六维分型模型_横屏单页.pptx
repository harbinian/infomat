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a1174208e4c35" /><Relationship Type="http://schemas.openxmlformats.org/officeDocument/2006/relationships/extended-properties" Target="/docProps/app.xml" Id="R9dc85fb39e964d0d" /><Relationship Type="http://schemas.openxmlformats.org/officeDocument/2006/relationships/officeDocument" Target="/ppt/presentation.xml" Id="R92055a3d5c3c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0afd8918b749f0"/>
  </p:sldMasterIdLst>
  <p:notesMasterIdLst>
    <p:notesMasterId xmlns:r="http://schemas.openxmlformats.org/officeDocument/2006/relationships" r:id="R3bd7cc1f489e46b3"/>
  </p:notesMasterIdLst>
  <p:sldIdLst>
    <p:sldId xmlns:r="http://schemas.openxmlformats.org/officeDocument/2006/relationships" id="256" r:id="Re02755f75577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f03630f9a14598" /><Relationship Type="http://schemas.openxmlformats.org/officeDocument/2006/relationships/slideMaster" Target="/ppt/slideMasters/slideMaster1.xml" Id="R7e0afd8918b749f0" /><Relationship Type="http://schemas.openxmlformats.org/officeDocument/2006/relationships/notesMaster" Target="/ppt/notesMasters/notesMaster1.xml" Id="R3bd7cc1f489e46b3" /><Relationship Type="http://schemas.openxmlformats.org/officeDocument/2006/relationships/presProps" Target="/ppt/presProps.xml" Id="R00f1f8e516744121" /><Relationship Type="http://schemas.openxmlformats.org/officeDocument/2006/relationships/tableStyles" Target="/ppt/tableStyles.xml" Id="R60aca64985ff4a34" /><Relationship Type="http://schemas.openxmlformats.org/officeDocument/2006/relationships/slide" Target="/ppt/slides/slide1.xml" Id="Re02755f75577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c51f6b3fcf46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343a49eb14bb1" /><Relationship Type="http://schemas.openxmlformats.org/officeDocument/2006/relationships/notesMaster" Target="/ppt/notesMasters/notesMaster1.xml" Id="R11896bb1811e47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E:/CA001/Infomat/pmo/organization-dynamics/组织数字化参与度十六维分型模型.md（模型内容真源）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c5403422942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c85d64045f455a" /><Relationship Type="http://schemas.openxmlformats.org/officeDocument/2006/relationships/slideLayout" Target="/ppt/slideLayouts/slideLayout1.xml" Id="R44b325d34aa8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b325d34aa8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d45a5e2854e17" /><Relationship Type="http://schemas.openxmlformats.org/officeDocument/2006/relationships/notesSlide" Target="/ppt/notesSlides/notesSlide1.xml" Id="R1ee184961eed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5EFDA3-8F1C-42F8-81EB-5EC5FC6C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组织数字化参与度十六维分型模型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925BA2-3996-47FB-B0D0-BE5F44F3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334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二维四阶｜横轴：结构化认知能力（A1—A4）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纵轴：组织参与意愿（B1—B4）</a:t>
            </a:r>
          </a:p>
        </p:txBody>
      </p:sp>
      <p:sp>
        <p:nvSpPr>
          <p:cNvPr id="3" name="purpose-surface">
            <a:extLst xmlns:a="http://schemas.openxmlformats.org/drawingml/2006/main">
              <a:ext uri="{FF2B5EF4-FFF2-40B4-BE49-F238E27FC236}">
                <a16:creationId xmlns:a16="http://schemas.microsoft.com/office/drawing/2014/main" id="{0CD97B81-FAC2-46CA-BC2C-04B30C24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"/>
            <a:ext cx="419100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4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BA72A95C-1272-4B81-A85A-59AF0EE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9550"/>
            <a:ext cx="3848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核心用途与边界</a:t>
            </a:r>
          </a:p>
        </p:txBody>
      </p:sp>
      <p:sp>
        <p:nvSpPr>
          <p:cNvPr id="5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D23C7D0B-698E-4555-B06F-624C0FB1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7675"/>
            <a:ext cx="3848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rPr>
              <a:t>观察部门面对结构化、透明化和责任明确化时</a:t>
            </a:r>
          </a:p>
          <a:p xmlns:a="http://schemas.openxmlformats.org/drawingml/2006/main">
            <a:pPr algn="l">
              <a:def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rPr>
              <a:t>的行为变化，指导PMO采取差异化治理策略。</a:t>
            </a:r>
          </a:p>
          <a:p xmlns:a="http://schemas.openxmlformats.org/drawingml/2006/main">
            <a:pPr algn="l">
              <a:def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EF4F8"/>
                </a:solidFill>
                <a:latin typeface="Microsoft YaHei"/>
                <a:ea typeface="Microsoft YaHei"/>
                <a:cs typeface="Microsoft YaHei"/>
              </a:rPr>
              <a:t>阶段性观察｜不作为永久标签或个人绩效结论</a:t>
            </a:r>
          </a:p>
        </p:txBody>
      </p:sp>
      <p:sp>
        <p:nvSpPr>
          <p:cNvPr id="6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9B768E9C-7676-4039-9146-DC1C866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70104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matrix-corner">
            <a:extLst xmlns:a="http://schemas.openxmlformats.org/drawingml/2006/main">
              <a:ext uri="{FF2B5EF4-FFF2-40B4-BE49-F238E27FC236}">
                <a16:creationId xmlns:a16="http://schemas.microsoft.com/office/drawing/2014/main" id="{5B52D67D-AF05-486B-8527-4A3AC538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95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matrix-corner-label">
            <a:extLst xmlns:a="http://schemas.openxmlformats.org/drawingml/2006/main">
              <a:ext uri="{FF2B5EF4-FFF2-40B4-BE49-F238E27FC236}">
                <a16:creationId xmlns:a16="http://schemas.microsoft.com/office/drawing/2014/main" id="{ACDD1C4A-7045-4844-BEA0-A95459E6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纵轴 B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横轴 A</a:t>
            </a:r>
          </a:p>
        </p:txBody>
      </p:sp>
      <p:sp>
        <p:nvSpPr>
          <p:cNvPr id="9" name="column-A1-header">
            <a:extLst xmlns:a="http://schemas.openxmlformats.org/drawingml/2006/main">
              <a:ext uri="{FF2B5EF4-FFF2-40B4-BE49-F238E27FC236}">
                <a16:creationId xmlns:a16="http://schemas.microsoft.com/office/drawing/2014/main" id="{1073F4E9-5306-40FD-B1D4-492104A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43000"/>
            <a:ext cx="15287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AAC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column-A1-label">
            <a:extLst xmlns:a="http://schemas.openxmlformats.org/drawingml/2006/main">
              <a:ext uri="{FF2B5EF4-FFF2-40B4-BE49-F238E27FC236}">
                <a16:creationId xmlns:a16="http://schemas.microsoft.com/office/drawing/2014/main" id="{2A2F01B6-11C6-4AED-BEC5-FC38623D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90625"/>
            <a:ext cx="14144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A1  未理解</a:t>
            </a:r>
          </a:p>
        </p:txBody>
      </p:sp>
      <p:sp>
        <p:nvSpPr>
          <p:cNvPr id="11" name="column-A2-header">
            <a:extLst xmlns:a="http://schemas.openxmlformats.org/drawingml/2006/main">
              <a:ext uri="{FF2B5EF4-FFF2-40B4-BE49-F238E27FC236}">
                <a16:creationId xmlns:a16="http://schemas.microsoft.com/office/drawing/2014/main" id="{77205620-166E-4E5A-AE9B-63692A95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1143000"/>
            <a:ext cx="15287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4B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column-A2-label">
            <a:extLst xmlns:a="http://schemas.openxmlformats.org/drawingml/2006/main">
              <a:ext uri="{FF2B5EF4-FFF2-40B4-BE49-F238E27FC236}">
                <a16:creationId xmlns:a16="http://schemas.microsoft.com/office/drawing/2014/main" id="{455511FB-3241-4D3F-B989-171C5AF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263" y="1190625"/>
            <a:ext cx="14144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A2  初步理解</a:t>
            </a:r>
          </a:p>
        </p:txBody>
      </p:sp>
      <p:sp>
        <p:nvSpPr>
          <p:cNvPr id="13" name="column-A3-header">
            <a:extLst xmlns:a="http://schemas.openxmlformats.org/drawingml/2006/main">
              <a:ext uri="{FF2B5EF4-FFF2-40B4-BE49-F238E27FC236}">
                <a16:creationId xmlns:a16="http://schemas.microsoft.com/office/drawing/2014/main" id="{1EEDF440-4F98-4AC0-8B13-DA389E7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43000"/>
            <a:ext cx="15287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7FA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column-A3-label">
            <a:extLst xmlns:a="http://schemas.openxmlformats.org/drawingml/2006/main">
              <a:ext uri="{FF2B5EF4-FFF2-40B4-BE49-F238E27FC236}">
                <a16:creationId xmlns:a16="http://schemas.microsoft.com/office/drawing/2014/main" id="{B0983BAE-5C5D-418E-BACB-B6C7ABDB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190625"/>
            <a:ext cx="14144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A3  基本掌握</a:t>
            </a:r>
          </a:p>
        </p:txBody>
      </p:sp>
      <p:sp>
        <p:nvSpPr>
          <p:cNvPr id="15" name="column-A4-header">
            <a:extLst xmlns:a="http://schemas.openxmlformats.org/drawingml/2006/main">
              <a:ext uri="{FF2B5EF4-FFF2-40B4-BE49-F238E27FC236}">
                <a16:creationId xmlns:a16="http://schemas.microsoft.com/office/drawing/2014/main" id="{DBD872DA-4E5F-4F1A-AE79-639E91A9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1143000"/>
            <a:ext cx="1528763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column-A4-label">
            <a:extLst xmlns:a="http://schemas.openxmlformats.org/drawingml/2006/main">
              <a:ext uri="{FF2B5EF4-FFF2-40B4-BE49-F238E27FC236}">
                <a16:creationId xmlns:a16="http://schemas.microsoft.com/office/drawing/2014/main" id="{7115CF3B-70C3-4326-BE82-376740F1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8" y="1190625"/>
            <a:ext cx="1414463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A4  系统理解</a:t>
            </a:r>
          </a:p>
        </p:txBody>
      </p:sp>
      <p:sp>
        <p:nvSpPr>
          <p:cNvPr id="17" name="row-B4-header">
            <a:extLst xmlns:a="http://schemas.openxmlformats.org/drawingml/2006/main">
              <a:ext uri="{FF2B5EF4-FFF2-40B4-BE49-F238E27FC236}">
                <a16:creationId xmlns:a16="http://schemas.microsoft.com/office/drawing/2014/main" id="{B4DDDAA1-9440-42D1-B017-FAFD772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81150"/>
            <a:ext cx="895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row-B4-label">
            <a:extLst xmlns:a="http://schemas.openxmlformats.org/drawingml/2006/main">
              <a:ext uri="{FF2B5EF4-FFF2-40B4-BE49-F238E27FC236}">
                <a16:creationId xmlns:a16="http://schemas.microsoft.com/office/drawing/2014/main" id="{B769B460-2032-40E5-95B2-BD3DEC48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742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B4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主动共建</a:t>
            </a:r>
          </a:p>
        </p:txBody>
      </p:sp>
      <p:sp>
        <p:nvSpPr>
          <p:cNvPr id="19" name="cell-A1-B4-background">
            <a:extLst xmlns:a="http://schemas.openxmlformats.org/drawingml/2006/main">
              <a:ext uri="{FF2B5EF4-FFF2-40B4-BE49-F238E27FC236}">
                <a16:creationId xmlns:a16="http://schemas.microsoft.com/office/drawing/2014/main" id="{E1F1F044-16EF-46F6-89D2-3FD0B11F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20" name="cell-A1-B4-participation">
            <a:extLst xmlns:a="http://schemas.openxmlformats.org/drawingml/2006/main">
              <a:ext uri="{FF2B5EF4-FFF2-40B4-BE49-F238E27FC236}">
                <a16:creationId xmlns:a16="http://schemas.microsoft.com/office/drawing/2014/main" id="{F0C204DF-C50C-435F-8F63-7F971866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ell-A1-B4-title">
            <a:extLst xmlns:a="http://schemas.openxmlformats.org/drawingml/2006/main">
              <a:ext uri="{FF2B5EF4-FFF2-40B4-BE49-F238E27FC236}">
                <a16:creationId xmlns:a16="http://schemas.microsoft.com/office/drawing/2014/main" id="{9915B93C-234D-4063-B252-B48A6EF5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764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④ 潜力骨干型</a:t>
            </a:r>
          </a:p>
        </p:txBody>
      </p:sp>
      <p:sp>
        <p:nvSpPr>
          <p:cNvPr id="22" name="cell-A1-B4-feature">
            <a:extLst xmlns:a="http://schemas.openxmlformats.org/drawingml/2006/main">
              <a:ext uri="{FF2B5EF4-FFF2-40B4-BE49-F238E27FC236}">
                <a16:creationId xmlns:a16="http://schemas.microsoft.com/office/drawing/2014/main" id="{03AB4C03-8C30-4AE4-8488-9A69E3D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621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不了解方法，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但有组织视角，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愿意投入</a:t>
            </a:r>
          </a:p>
        </p:txBody>
      </p:sp>
      <p:sp>
        <p:nvSpPr>
          <p:cNvPr id="23" name="cell-A2-B4-background">
            <a:extLst xmlns:a="http://schemas.openxmlformats.org/drawingml/2006/main">
              <a:ext uri="{FF2B5EF4-FFF2-40B4-BE49-F238E27FC236}">
                <a16:creationId xmlns:a16="http://schemas.microsoft.com/office/drawing/2014/main" id="{C6EF50D8-5B2F-4232-A497-1C2CC8BD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15811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24" name="cell-A2-B4-participation">
            <a:extLst xmlns:a="http://schemas.openxmlformats.org/drawingml/2006/main">
              <a:ext uri="{FF2B5EF4-FFF2-40B4-BE49-F238E27FC236}">
                <a16:creationId xmlns:a16="http://schemas.microsoft.com/office/drawing/2014/main" id="{80AE6D22-EFD4-4378-9218-42BE39CE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1581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ell-A2-B4-title">
            <a:extLst xmlns:a="http://schemas.openxmlformats.org/drawingml/2006/main">
              <a:ext uri="{FF2B5EF4-FFF2-40B4-BE49-F238E27FC236}">
                <a16:creationId xmlns:a16="http://schemas.microsoft.com/office/drawing/2014/main" id="{6949207A-6BD7-4250-AF3A-BFFE1D57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16764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⑧ 转型推动型</a:t>
            </a:r>
          </a:p>
        </p:txBody>
      </p:sp>
      <p:sp>
        <p:nvSpPr>
          <p:cNvPr id="26" name="cell-A2-B4-feature">
            <a:extLst xmlns:a="http://schemas.openxmlformats.org/drawingml/2006/main">
              <a:ext uri="{FF2B5EF4-FFF2-40B4-BE49-F238E27FC236}">
                <a16:creationId xmlns:a16="http://schemas.microsoft.com/office/drawing/2014/main" id="{DCE38F0C-2B4E-4391-810A-C3161FB1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19621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业务理解强，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有改革意愿</a:t>
            </a:r>
          </a:p>
        </p:txBody>
      </p:sp>
      <p:sp>
        <p:nvSpPr>
          <p:cNvPr id="27" name="cell-A3-B4-background">
            <a:extLst xmlns:a="http://schemas.openxmlformats.org/drawingml/2006/main">
              <a:ext uri="{FF2B5EF4-FFF2-40B4-BE49-F238E27FC236}">
                <a16:creationId xmlns:a16="http://schemas.microsoft.com/office/drawing/2014/main" id="{6A6BDB1C-5D64-43BC-98E9-85C41AEB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28" name="cell-A3-B4-participation">
            <a:extLst xmlns:a="http://schemas.openxmlformats.org/drawingml/2006/main">
              <a:ext uri="{FF2B5EF4-FFF2-40B4-BE49-F238E27FC236}">
                <a16:creationId xmlns:a16="http://schemas.microsoft.com/office/drawing/2014/main" id="{A9BE7C49-9678-4554-9BCC-A9B21309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ell-A3-B4-title">
            <a:extLst xmlns:a="http://schemas.openxmlformats.org/drawingml/2006/main">
              <a:ext uri="{FF2B5EF4-FFF2-40B4-BE49-F238E27FC236}">
                <a16:creationId xmlns:a16="http://schemas.microsoft.com/office/drawing/2014/main" id="{1E96252A-ADE1-4C97-80EF-4357132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764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⑫ 数字化先锋型</a:t>
            </a:r>
          </a:p>
        </p:txBody>
      </p:sp>
      <p:sp>
        <p:nvSpPr>
          <p:cNvPr id="30" name="cell-A3-B4-feature">
            <a:extLst xmlns:a="http://schemas.openxmlformats.org/drawingml/2006/main">
              <a:ext uri="{FF2B5EF4-FFF2-40B4-BE49-F238E27FC236}">
                <a16:creationId xmlns:a16="http://schemas.microsoft.com/office/drawing/2014/main" id="{245F7F93-319B-4146-B815-12BA2733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621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能力成熟，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愿意推动落地</a:t>
            </a:r>
          </a:p>
        </p:txBody>
      </p:sp>
      <p:sp>
        <p:nvSpPr>
          <p:cNvPr id="31" name="cell-A4-B4-background">
            <a:extLst xmlns:a="http://schemas.openxmlformats.org/drawingml/2006/main">
              <a:ext uri="{FF2B5EF4-FFF2-40B4-BE49-F238E27FC236}">
                <a16:creationId xmlns:a16="http://schemas.microsoft.com/office/drawing/2014/main" id="{F9FC33D4-2BC8-49C8-A9F2-33F7C1C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15811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6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32" name="cell-A4-B4-participation">
            <a:extLst xmlns:a="http://schemas.openxmlformats.org/drawingml/2006/main">
              <a:ext uri="{FF2B5EF4-FFF2-40B4-BE49-F238E27FC236}">
                <a16:creationId xmlns:a16="http://schemas.microsoft.com/office/drawing/2014/main" id="{459111BF-3E17-452E-BABC-E57CDD17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1581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ell-A4-B4-title">
            <a:extLst xmlns:a="http://schemas.openxmlformats.org/drawingml/2006/main">
              <a:ext uri="{FF2B5EF4-FFF2-40B4-BE49-F238E27FC236}">
                <a16:creationId xmlns:a16="http://schemas.microsoft.com/office/drawing/2014/main" id="{8D9BCC4B-0350-45D7-9AA2-0E222FFB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6764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⑯ 组织变革型</a:t>
            </a:r>
          </a:p>
        </p:txBody>
      </p:sp>
      <p:sp>
        <p:nvSpPr>
          <p:cNvPr id="34" name="cell-A4-B4-feature">
            <a:extLst xmlns:a="http://schemas.openxmlformats.org/drawingml/2006/main">
              <a:ext uri="{FF2B5EF4-FFF2-40B4-BE49-F238E27FC236}">
                <a16:creationId xmlns:a16="http://schemas.microsoft.com/office/drawing/2014/main" id="{0AA52AA6-938C-478F-9684-61C728EE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19621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理解流程是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组织能力，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主动推动改革</a:t>
            </a:r>
          </a:p>
        </p:txBody>
      </p:sp>
      <p:sp>
        <p:nvSpPr>
          <p:cNvPr id="35" name="row-B3-header">
            <a:extLst xmlns:a="http://schemas.openxmlformats.org/drawingml/2006/main">
              <a:ext uri="{FF2B5EF4-FFF2-40B4-BE49-F238E27FC236}">
                <a16:creationId xmlns:a16="http://schemas.microsoft.com/office/drawing/2014/main" id="{699BF376-E3FD-4F6F-96C0-9BE60A54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47950"/>
            <a:ext cx="895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87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row-B3-label">
            <a:extLst xmlns:a="http://schemas.openxmlformats.org/drawingml/2006/main">
              <a:ext uri="{FF2B5EF4-FFF2-40B4-BE49-F238E27FC236}">
                <a16:creationId xmlns:a16="http://schemas.microsoft.com/office/drawing/2014/main" id="{BCAC33B9-BC91-4132-92FE-01D3A62D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742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B3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合作参与</a:t>
            </a:r>
          </a:p>
        </p:txBody>
      </p:sp>
      <p:sp>
        <p:nvSpPr>
          <p:cNvPr id="37" name="cell-A1-B3-background">
            <a:extLst xmlns:a="http://schemas.openxmlformats.org/drawingml/2006/main">
              <a:ext uri="{FF2B5EF4-FFF2-40B4-BE49-F238E27FC236}">
                <a16:creationId xmlns:a16="http://schemas.microsoft.com/office/drawing/2014/main" id="{B0FE6D2A-AED7-404D-B573-31EFEC86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38" name="cell-A1-B3-participation">
            <a:extLst xmlns:a="http://schemas.openxmlformats.org/drawingml/2006/main">
              <a:ext uri="{FF2B5EF4-FFF2-40B4-BE49-F238E27FC236}">
                <a16:creationId xmlns:a16="http://schemas.microsoft.com/office/drawing/2014/main" id="{174A5F13-2CA6-4B6B-A42A-294132D5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ell-A1-B3-title">
            <a:extLst xmlns:a="http://schemas.openxmlformats.org/drawingml/2006/main">
              <a:ext uri="{FF2B5EF4-FFF2-40B4-BE49-F238E27FC236}">
                <a16:creationId xmlns:a16="http://schemas.microsoft.com/office/drawing/2014/main" id="{2004C2A2-21BD-45E8-9A5A-C9B62EC1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③ 学习成长型</a:t>
            </a:r>
          </a:p>
        </p:txBody>
      </p:sp>
      <p:sp>
        <p:nvSpPr>
          <p:cNvPr id="40" name="cell-A1-B3-feature">
            <a:extLst xmlns:a="http://schemas.openxmlformats.org/drawingml/2006/main">
              <a:ext uri="{FF2B5EF4-FFF2-40B4-BE49-F238E27FC236}">
                <a16:creationId xmlns:a16="http://schemas.microsoft.com/office/drawing/2014/main" id="{CC468F27-D7F3-4C20-8285-5DDB1E4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不会但愿意学习，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积极投入</a:t>
            </a:r>
          </a:p>
        </p:txBody>
      </p:sp>
      <p:sp>
        <p:nvSpPr>
          <p:cNvPr id="41" name="cell-A2-B3-background">
            <a:extLst xmlns:a="http://schemas.openxmlformats.org/drawingml/2006/main">
              <a:ext uri="{FF2B5EF4-FFF2-40B4-BE49-F238E27FC236}">
                <a16:creationId xmlns:a16="http://schemas.microsoft.com/office/drawing/2014/main" id="{54FB9F81-C48A-436D-8427-FE19CC95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26479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2" name="cell-A2-B3-participation">
            <a:extLst xmlns:a="http://schemas.openxmlformats.org/drawingml/2006/main">
              <a:ext uri="{FF2B5EF4-FFF2-40B4-BE49-F238E27FC236}">
                <a16:creationId xmlns:a16="http://schemas.microsoft.com/office/drawing/2014/main" id="{4483F3B5-D9EE-4DAD-9970-8EB526D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2647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ell-A2-B3-title">
            <a:extLst xmlns:a="http://schemas.openxmlformats.org/drawingml/2006/main">
              <a:ext uri="{FF2B5EF4-FFF2-40B4-BE49-F238E27FC236}">
                <a16:creationId xmlns:a16="http://schemas.microsoft.com/office/drawing/2014/main" id="{7E4E3935-BA26-449F-8B45-B7CC304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27432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⑦ 业务协同型</a:t>
            </a:r>
          </a:p>
        </p:txBody>
      </p:sp>
      <p:sp>
        <p:nvSpPr>
          <p:cNvPr id="44" name="cell-A2-B3-feature">
            <a:extLst xmlns:a="http://schemas.openxmlformats.org/drawingml/2006/main">
              <a:ext uri="{FF2B5EF4-FFF2-40B4-BE49-F238E27FC236}">
                <a16:creationId xmlns:a16="http://schemas.microsoft.com/office/drawing/2014/main" id="{BE31A9FF-C5A8-4D31-8B85-BD9669C5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30289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可以合作，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需要引导</a:t>
            </a:r>
          </a:p>
        </p:txBody>
      </p:sp>
      <p:sp>
        <p:nvSpPr>
          <p:cNvPr id="45" name="cell-A3-B3-background">
            <a:extLst xmlns:a="http://schemas.openxmlformats.org/drawingml/2006/main">
              <a:ext uri="{FF2B5EF4-FFF2-40B4-BE49-F238E27FC236}">
                <a16:creationId xmlns:a16="http://schemas.microsoft.com/office/drawing/2014/main" id="{0EA18D9C-6856-405F-8115-9B07FC4F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6" name="cell-A3-B3-participation">
            <a:extLst xmlns:a="http://schemas.openxmlformats.org/drawingml/2006/main">
              <a:ext uri="{FF2B5EF4-FFF2-40B4-BE49-F238E27FC236}">
                <a16:creationId xmlns:a16="http://schemas.microsoft.com/office/drawing/2014/main" id="{A257A3FF-2A5D-4F61-BA3F-9CCA3532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47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ell-A3-B3-title">
            <a:extLst xmlns:a="http://schemas.openxmlformats.org/drawingml/2006/main">
              <a:ext uri="{FF2B5EF4-FFF2-40B4-BE49-F238E27FC236}">
                <a16:creationId xmlns:a16="http://schemas.microsoft.com/office/drawing/2014/main" id="{C03F56D9-1FA6-4215-B5D9-5115DA66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432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⑪ 业务伙伴型</a:t>
            </a:r>
          </a:p>
        </p:txBody>
      </p:sp>
      <p:sp>
        <p:nvSpPr>
          <p:cNvPr id="48" name="cell-A3-B3-feature">
            <a:extLst xmlns:a="http://schemas.openxmlformats.org/drawingml/2006/main">
              <a:ext uri="{FF2B5EF4-FFF2-40B4-BE49-F238E27FC236}">
                <a16:creationId xmlns:a16="http://schemas.microsoft.com/office/drawing/2014/main" id="{6EC6C830-BCED-4F85-B926-6CB08291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289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理解业务与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系统连接</a:t>
            </a:r>
          </a:p>
        </p:txBody>
      </p:sp>
      <p:sp>
        <p:nvSpPr>
          <p:cNvPr id="49" name="cell-A4-B3-background">
            <a:extLst xmlns:a="http://schemas.openxmlformats.org/drawingml/2006/main">
              <a:ext uri="{FF2B5EF4-FFF2-40B4-BE49-F238E27FC236}">
                <a16:creationId xmlns:a16="http://schemas.microsoft.com/office/drawing/2014/main" id="{3AACD3F2-9BAD-4D11-B860-7464A18D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26479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6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50" name="cell-A4-B3-participation">
            <a:extLst xmlns:a="http://schemas.openxmlformats.org/drawingml/2006/main">
              <a:ext uri="{FF2B5EF4-FFF2-40B4-BE49-F238E27FC236}">
                <a16:creationId xmlns:a16="http://schemas.microsoft.com/office/drawing/2014/main" id="{2B2CAFBF-7B5A-4125-A63D-C0D25857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2647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8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ell-A4-B3-title">
            <a:extLst xmlns:a="http://schemas.openxmlformats.org/drawingml/2006/main">
              <a:ext uri="{FF2B5EF4-FFF2-40B4-BE49-F238E27FC236}">
                <a16:creationId xmlns:a16="http://schemas.microsoft.com/office/drawing/2014/main" id="{8A1BDBD2-80DB-495E-9D44-6F26487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27432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⑮ 架构协同型</a:t>
            </a:r>
          </a:p>
        </p:txBody>
      </p:sp>
      <p:sp>
        <p:nvSpPr>
          <p:cNvPr id="52" name="cell-A4-B3-feature">
            <a:extLst xmlns:a="http://schemas.openxmlformats.org/drawingml/2006/main">
              <a:ext uri="{FF2B5EF4-FFF2-40B4-BE49-F238E27FC236}">
                <a16:creationId xmlns:a16="http://schemas.microsoft.com/office/drawing/2014/main" id="{C1A383AD-2D85-43A3-B448-DBD36240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0289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理解全局协同，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参与治理</a:t>
            </a:r>
          </a:p>
        </p:txBody>
      </p:sp>
      <p:sp>
        <p:nvSpPr>
          <p:cNvPr id="53" name="row-B2-header">
            <a:extLst xmlns:a="http://schemas.openxmlformats.org/drawingml/2006/main">
              <a:ext uri="{FF2B5EF4-FFF2-40B4-BE49-F238E27FC236}">
                <a16:creationId xmlns:a16="http://schemas.microsoft.com/office/drawing/2014/main" id="{F8932D2B-2906-47FE-B060-4FC4BBF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14750"/>
            <a:ext cx="895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row-B2-label">
            <a:extLst xmlns:a="http://schemas.openxmlformats.org/drawingml/2006/main">
              <a:ext uri="{FF2B5EF4-FFF2-40B4-BE49-F238E27FC236}">
                <a16:creationId xmlns:a16="http://schemas.microsoft.com/office/drawing/2014/main" id="{20C09E24-E09D-452C-9B6E-DB88BE3A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742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B2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被动接受</a:t>
            </a:r>
          </a:p>
        </p:txBody>
      </p:sp>
      <p:sp>
        <p:nvSpPr>
          <p:cNvPr id="55" name="cell-A1-B2-background">
            <a:extLst xmlns:a="http://schemas.openxmlformats.org/drawingml/2006/main">
              <a:ext uri="{FF2B5EF4-FFF2-40B4-BE49-F238E27FC236}">
                <a16:creationId xmlns:a16="http://schemas.microsoft.com/office/drawing/2014/main" id="{F63E2153-3761-47AE-875B-C667E41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56" name="cell-A1-B2-participation">
            <a:extLst xmlns:a="http://schemas.openxmlformats.org/drawingml/2006/main">
              <a:ext uri="{FF2B5EF4-FFF2-40B4-BE49-F238E27FC236}">
                <a16:creationId xmlns:a16="http://schemas.microsoft.com/office/drawing/2014/main" id="{BA644431-144F-478A-85FD-88993493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ell-A1-B2-title">
            <a:extLst xmlns:a="http://schemas.openxmlformats.org/drawingml/2006/main">
              <a:ext uri="{FF2B5EF4-FFF2-40B4-BE49-F238E27FC236}">
                <a16:creationId xmlns:a16="http://schemas.microsoft.com/office/drawing/2014/main" id="{174FE586-719C-4F26-B6A6-36AB7685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② 机械执行型</a:t>
            </a:r>
          </a:p>
        </p:txBody>
      </p:sp>
      <p:sp>
        <p:nvSpPr>
          <p:cNvPr id="58" name="cell-A1-B2-feature">
            <a:extLst xmlns:a="http://schemas.openxmlformats.org/drawingml/2006/main">
              <a:ext uri="{FF2B5EF4-FFF2-40B4-BE49-F238E27FC236}">
                <a16:creationId xmlns:a16="http://schemas.microsoft.com/office/drawing/2014/main" id="{BDCDA921-DB14-487F-A505-84E974E6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957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愿意执行，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但不知道原因</a:t>
            </a:r>
          </a:p>
        </p:txBody>
      </p:sp>
      <p:sp>
        <p:nvSpPr>
          <p:cNvPr id="59" name="cell-A2-B2-background">
            <a:extLst xmlns:a="http://schemas.openxmlformats.org/drawingml/2006/main">
              <a:ext uri="{FF2B5EF4-FFF2-40B4-BE49-F238E27FC236}">
                <a16:creationId xmlns:a16="http://schemas.microsoft.com/office/drawing/2014/main" id="{B01A420E-5D4F-411F-AB8C-5049ADB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37147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60" name="cell-A2-B2-participation">
            <a:extLst xmlns:a="http://schemas.openxmlformats.org/drawingml/2006/main">
              <a:ext uri="{FF2B5EF4-FFF2-40B4-BE49-F238E27FC236}">
                <a16:creationId xmlns:a16="http://schemas.microsoft.com/office/drawing/2014/main" id="{DDB9D8B7-D92D-4C6D-B146-B3AB9954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cell-A2-B2-title">
            <a:extLst xmlns:a="http://schemas.openxmlformats.org/drawingml/2006/main">
              <a:ext uri="{FF2B5EF4-FFF2-40B4-BE49-F238E27FC236}">
                <a16:creationId xmlns:a16="http://schemas.microsoft.com/office/drawing/2014/main" id="{9621FA0B-21AC-4EDF-BE86-8F07FF81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38100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⑥ 任务完成型</a:t>
            </a:r>
          </a:p>
        </p:txBody>
      </p:sp>
      <p:sp>
        <p:nvSpPr>
          <p:cNvPr id="62" name="cell-A2-B2-feature">
            <a:extLst xmlns:a="http://schemas.openxmlformats.org/drawingml/2006/main">
              <a:ext uri="{FF2B5EF4-FFF2-40B4-BE49-F238E27FC236}">
                <a16:creationId xmlns:a16="http://schemas.microsoft.com/office/drawing/2014/main" id="{F55CD2D8-BC61-41D6-B297-5C370E5B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40957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按要求完成，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关注自身任务</a:t>
            </a:r>
          </a:p>
        </p:txBody>
      </p:sp>
      <p:sp>
        <p:nvSpPr>
          <p:cNvPr id="63" name="cell-A3-B2-background">
            <a:extLst xmlns:a="http://schemas.openxmlformats.org/drawingml/2006/main">
              <a:ext uri="{FF2B5EF4-FFF2-40B4-BE49-F238E27FC236}">
                <a16:creationId xmlns:a16="http://schemas.microsoft.com/office/drawing/2014/main" id="{3758F4EB-D846-406E-90DC-AC35687A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64" name="cell-A3-B2-participation">
            <a:extLst xmlns:a="http://schemas.openxmlformats.org/drawingml/2006/main">
              <a:ext uri="{FF2B5EF4-FFF2-40B4-BE49-F238E27FC236}">
                <a16:creationId xmlns:a16="http://schemas.microsoft.com/office/drawing/2014/main" id="{0C23AFEE-BAEE-422C-9829-7C9FBD79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cell-A3-B2-title">
            <a:extLst xmlns:a="http://schemas.openxmlformats.org/drawingml/2006/main">
              <a:ext uri="{FF2B5EF4-FFF2-40B4-BE49-F238E27FC236}">
                <a16:creationId xmlns:a16="http://schemas.microsoft.com/office/drawing/2014/main" id="{EC2E7D56-4D34-4DB4-BFF0-09DB54E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100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⑩ 流程执行型</a:t>
            </a:r>
          </a:p>
        </p:txBody>
      </p:sp>
      <p:sp>
        <p:nvSpPr>
          <p:cNvPr id="66" name="cell-A3-B2-feature">
            <a:extLst xmlns:a="http://schemas.openxmlformats.org/drawingml/2006/main">
              <a:ext uri="{FF2B5EF4-FFF2-40B4-BE49-F238E27FC236}">
                <a16:creationId xmlns:a16="http://schemas.microsoft.com/office/drawing/2014/main" id="{CEDC59A1-E9F2-4C04-8DE0-EA06CAEF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957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能力具备，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但缺少主动性</a:t>
            </a:r>
          </a:p>
        </p:txBody>
      </p:sp>
      <p:sp>
        <p:nvSpPr>
          <p:cNvPr id="67" name="cell-A4-B2-background">
            <a:extLst xmlns:a="http://schemas.openxmlformats.org/drawingml/2006/main">
              <a:ext uri="{FF2B5EF4-FFF2-40B4-BE49-F238E27FC236}">
                <a16:creationId xmlns:a16="http://schemas.microsoft.com/office/drawing/2014/main" id="{6803A8E1-2B16-4505-911F-AEF11C0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37147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6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68" name="cell-A4-B2-participation">
            <a:extLst xmlns:a="http://schemas.openxmlformats.org/drawingml/2006/main">
              <a:ext uri="{FF2B5EF4-FFF2-40B4-BE49-F238E27FC236}">
                <a16:creationId xmlns:a16="http://schemas.microsoft.com/office/drawing/2014/main" id="{5DE99406-F62E-4052-8FE9-8E31F75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3714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87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ell-A4-B2-title">
            <a:extLst xmlns:a="http://schemas.openxmlformats.org/drawingml/2006/main">
              <a:ext uri="{FF2B5EF4-FFF2-40B4-BE49-F238E27FC236}">
                <a16:creationId xmlns:a16="http://schemas.microsoft.com/office/drawing/2014/main" id="{4BD598EA-B5BB-4CE7-B79C-B4B9C099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38100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⑭ 资源等待型</a:t>
            </a:r>
          </a:p>
        </p:txBody>
      </p:sp>
      <p:sp>
        <p:nvSpPr>
          <p:cNvPr id="70" name="cell-A4-B2-feature">
            <a:extLst xmlns:a="http://schemas.openxmlformats.org/drawingml/2006/main">
              <a:ext uri="{FF2B5EF4-FFF2-40B4-BE49-F238E27FC236}">
                <a16:creationId xmlns:a16="http://schemas.microsoft.com/office/drawing/2014/main" id="{02DC97A1-C430-4654-B84B-8007EB7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40957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认可方向，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但等待资源和时机</a:t>
            </a:r>
          </a:p>
        </p:txBody>
      </p:sp>
      <p:sp>
        <p:nvSpPr>
          <p:cNvPr id="71" name="row-B1-header">
            <a:extLst xmlns:a="http://schemas.openxmlformats.org/drawingml/2006/main">
              <a:ext uri="{FF2B5EF4-FFF2-40B4-BE49-F238E27FC236}">
                <a16:creationId xmlns:a16="http://schemas.microsoft.com/office/drawing/2014/main" id="{7912A764-2800-450B-9638-7B1CAD66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81550"/>
            <a:ext cx="895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row-B1-label">
            <a:extLst xmlns:a="http://schemas.openxmlformats.org/drawingml/2006/main">
              <a:ext uri="{FF2B5EF4-FFF2-40B4-BE49-F238E27FC236}">
                <a16:creationId xmlns:a16="http://schemas.microsoft.com/office/drawing/2014/main" id="{54477E8B-28EB-4B3B-BC1C-913290C4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742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抵触防御</a:t>
            </a:r>
          </a:p>
        </p:txBody>
      </p:sp>
      <p:sp>
        <p:nvSpPr>
          <p:cNvPr id="73" name="cell-A1-B1-background">
            <a:extLst xmlns:a="http://schemas.openxmlformats.org/drawingml/2006/main">
              <a:ext uri="{FF2B5EF4-FFF2-40B4-BE49-F238E27FC236}">
                <a16:creationId xmlns:a16="http://schemas.microsoft.com/office/drawing/2014/main" id="{056975AB-53AE-4924-843B-D3F91886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815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4" name="cell-A1-B1-participation">
            <a:extLst xmlns:a="http://schemas.openxmlformats.org/drawingml/2006/main">
              <a:ext uri="{FF2B5EF4-FFF2-40B4-BE49-F238E27FC236}">
                <a16:creationId xmlns:a16="http://schemas.microsoft.com/office/drawing/2014/main" id="{DB081744-31BE-40F1-852D-F3953E93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81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ell-A1-B1-title">
            <a:extLst xmlns:a="http://schemas.openxmlformats.org/drawingml/2006/main">
              <a:ext uri="{FF2B5EF4-FFF2-40B4-BE49-F238E27FC236}">
                <a16:creationId xmlns:a16="http://schemas.microsoft.com/office/drawing/2014/main" id="{B6411D30-85A4-4902-9F68-847B238E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① 迷雾防御型</a:t>
            </a:r>
          </a:p>
        </p:txBody>
      </p:sp>
      <p:sp>
        <p:nvSpPr>
          <p:cNvPr id="76" name="cell-A1-B1-feature">
            <a:extLst xmlns:a="http://schemas.openxmlformats.org/drawingml/2006/main">
              <a:ext uri="{FF2B5EF4-FFF2-40B4-BE49-F238E27FC236}">
                <a16:creationId xmlns:a16="http://schemas.microsoft.com/office/drawing/2014/main" id="{EB1AC795-A0AE-4121-9EE3-8B12FDC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不知道，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也不愿进入新方式</a:t>
            </a:r>
          </a:p>
        </p:txBody>
      </p:sp>
      <p:sp>
        <p:nvSpPr>
          <p:cNvPr id="77" name="cell-A2-B1-background">
            <a:extLst xmlns:a="http://schemas.openxmlformats.org/drawingml/2006/main">
              <a:ext uri="{FF2B5EF4-FFF2-40B4-BE49-F238E27FC236}">
                <a16:creationId xmlns:a16="http://schemas.microsoft.com/office/drawing/2014/main" id="{665999CF-CCA2-43C4-939D-B1106EA2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47815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8" name="cell-A2-B1-participation">
            <a:extLst xmlns:a="http://schemas.openxmlformats.org/drawingml/2006/main">
              <a:ext uri="{FF2B5EF4-FFF2-40B4-BE49-F238E27FC236}">
                <a16:creationId xmlns:a16="http://schemas.microsoft.com/office/drawing/2014/main" id="{73920EC9-031D-4D25-B58B-836A7F85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4781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ell-A2-B1-title">
            <a:extLst xmlns:a="http://schemas.openxmlformats.org/drawingml/2006/main">
              <a:ext uri="{FF2B5EF4-FFF2-40B4-BE49-F238E27FC236}">
                <a16:creationId xmlns:a16="http://schemas.microsoft.com/office/drawing/2014/main" id="{566E80FB-EDC2-40AA-A391-68D2C9C0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4876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⑤ 经验守护型</a:t>
            </a:r>
          </a:p>
        </p:txBody>
      </p:sp>
      <p:sp>
        <p:nvSpPr>
          <p:cNvPr id="80" name="cell-A2-B1-feature">
            <a:extLst xmlns:a="http://schemas.openxmlformats.org/drawingml/2006/main">
              <a:ext uri="{FF2B5EF4-FFF2-40B4-BE49-F238E27FC236}">
                <a16:creationId xmlns:a16="http://schemas.microsoft.com/office/drawing/2014/main" id="{8548219F-0A9E-4A4C-8096-469AB62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51625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知道业务，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但维护历史经验</a:t>
            </a:r>
          </a:p>
        </p:txBody>
      </p:sp>
      <p:sp>
        <p:nvSpPr>
          <p:cNvPr id="81" name="cell-A3-B1-background">
            <a:extLst xmlns:a="http://schemas.openxmlformats.org/drawingml/2006/main">
              <a:ext uri="{FF2B5EF4-FFF2-40B4-BE49-F238E27FC236}">
                <a16:creationId xmlns:a16="http://schemas.microsoft.com/office/drawing/2014/main" id="{464A3294-ABF8-4BB2-98D8-08A3AAA9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815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2" name="cell-A3-B1-participation">
            <a:extLst xmlns:a="http://schemas.openxmlformats.org/drawingml/2006/main">
              <a:ext uri="{FF2B5EF4-FFF2-40B4-BE49-F238E27FC236}">
                <a16:creationId xmlns:a16="http://schemas.microsoft.com/office/drawing/2014/main" id="{39A55DCA-E828-44BB-BA2F-2A74102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781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ell-A3-B1-title">
            <a:extLst xmlns:a="http://schemas.openxmlformats.org/drawingml/2006/main">
              <a:ext uri="{FF2B5EF4-FFF2-40B4-BE49-F238E27FC236}">
                <a16:creationId xmlns:a16="http://schemas.microsoft.com/office/drawing/2014/main" id="{16A358EB-7F5B-4D12-9E9B-8A1F779C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76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⑨ 边界博弈型</a:t>
            </a:r>
          </a:p>
        </p:txBody>
      </p:sp>
      <p:sp>
        <p:nvSpPr>
          <p:cNvPr id="84" name="cell-A3-B1-feature">
            <a:extLst xmlns:a="http://schemas.openxmlformats.org/drawingml/2006/main">
              <a:ext uri="{FF2B5EF4-FFF2-40B4-BE49-F238E27FC236}">
                <a16:creationId xmlns:a16="http://schemas.microsoft.com/office/drawing/2014/main" id="{6DD3FF87-7157-4788-B81D-4D3C35CA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1625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看得懂规则，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但关注责任边界</a:t>
            </a:r>
          </a:p>
        </p:txBody>
      </p:sp>
      <p:sp>
        <p:nvSpPr>
          <p:cNvPr id="85" name="cell-A4-B1-background">
            <a:extLst xmlns:a="http://schemas.openxmlformats.org/drawingml/2006/main">
              <a:ext uri="{FF2B5EF4-FFF2-40B4-BE49-F238E27FC236}">
                <a16:creationId xmlns:a16="http://schemas.microsoft.com/office/drawing/2014/main" id="{85593346-A55A-4001-8B91-1009A513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781550"/>
            <a:ext cx="1528763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F6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6" name="cell-A4-B1-participation">
            <a:extLst xmlns:a="http://schemas.openxmlformats.org/drawingml/2006/main">
              <a:ext uri="{FF2B5EF4-FFF2-40B4-BE49-F238E27FC236}">
                <a16:creationId xmlns:a16="http://schemas.microsoft.com/office/drawing/2014/main" id="{9F77D797-97B6-472D-8296-EF6C587B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638" y="47815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ell-A4-B1-title">
            <a:extLst xmlns:a="http://schemas.openxmlformats.org/drawingml/2006/main">
              <a:ext uri="{FF2B5EF4-FFF2-40B4-BE49-F238E27FC236}">
                <a16:creationId xmlns:a16="http://schemas.microsoft.com/office/drawing/2014/main" id="{8E2B2DEE-956D-4C3C-B7B7-8EB5BE15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4876800"/>
            <a:ext cx="13382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⑬ 战略防守型</a:t>
            </a:r>
          </a:p>
        </p:txBody>
      </p:sp>
      <p:sp>
        <p:nvSpPr>
          <p:cNvPr id="88" name="cell-A4-B1-feature">
            <a:extLst xmlns:a="http://schemas.openxmlformats.org/drawingml/2006/main">
              <a:ext uri="{FF2B5EF4-FFF2-40B4-BE49-F238E27FC236}">
                <a16:creationId xmlns:a16="http://schemas.microsoft.com/office/drawing/2014/main" id="{CF82D439-C28D-4BED-BD2A-B6D9206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938" y="5162550"/>
            <a:ext cx="1338263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理解影响，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并利用规则保护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权力边界</a:t>
            </a:r>
          </a:p>
        </p:txBody>
      </p:sp>
      <p:sp>
        <p:nvSpPr>
          <p:cNvPr id="89" name="growth-surface">
            <a:extLst xmlns:a="http://schemas.openxmlformats.org/drawingml/2006/main">
              <a:ext uri="{FF2B5EF4-FFF2-40B4-BE49-F238E27FC236}">
                <a16:creationId xmlns:a16="http://schemas.microsoft.com/office/drawing/2014/main" id="{C71377A2-C6F4-4D70-A701-33243050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4191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0" name="growth-accent">
            <a:extLst xmlns:a="http://schemas.openxmlformats.org/drawingml/2006/main">
              <a:ext uri="{FF2B5EF4-FFF2-40B4-BE49-F238E27FC236}">
                <a16:creationId xmlns:a16="http://schemas.microsoft.com/office/drawing/2014/main" id="{09098C0F-EC93-4FFE-A416-370A38FC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growth-title">
            <a:extLst xmlns:a="http://schemas.openxmlformats.org/drawingml/2006/main">
              <a:ext uri="{FF2B5EF4-FFF2-40B4-BE49-F238E27FC236}">
                <a16:creationId xmlns:a16="http://schemas.microsoft.com/office/drawing/2014/main" id="{B56B5056-2EAA-4774-A00A-A94C9474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4777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成长路径（理想演化方向）</a:t>
            </a:r>
          </a:p>
        </p:txBody>
      </p:sp>
      <p:sp>
        <p:nvSpPr>
          <p:cNvPr id="92" name="growth-path">
            <a:extLst xmlns:a="http://schemas.openxmlformats.org/drawingml/2006/main">
              <a:ext uri="{FF2B5EF4-FFF2-40B4-BE49-F238E27FC236}">
                <a16:creationId xmlns:a16="http://schemas.microsoft.com/office/drawing/2014/main" id="{0EA26E15-11A3-4075-88BD-2DE6999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6685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迷雾防御型 → 机械执行型 → 任务完成型</a:t>
            </a:r>
          </a:p>
          <a:p xmlns:a="http://schemas.openxmlformats.org/drawingml/2006/main">
            <a:pPr algn="l">
              <a:defRPr sz="1275" b="1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→ 业务伙伴型 → 架构协同型 → 组织变革型</a:t>
            </a:r>
          </a:p>
        </p:txBody>
      </p:sp>
      <p:sp>
        <p:nvSpPr>
          <p:cNvPr id="93" name="growth-factors">
            <a:extLst xmlns:a="http://schemas.openxmlformats.org/drawingml/2006/main">
              <a:ext uri="{FF2B5EF4-FFF2-40B4-BE49-F238E27FC236}">
                <a16:creationId xmlns:a16="http://schemas.microsoft.com/office/drawing/2014/main" id="{08242F51-F979-4B20-A0A5-8FA15495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关键：清晰目标｜简单方法｜正向反馈</a:t>
            </a:r>
          </a:p>
          <a:p xmlns:a="http://schemas.openxmlformats.org/drawingml/2006/main">
            <a:pPr algn="l">
              <a:defRPr sz="1200" b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价值体现｜组织激励</a:t>
            </a:r>
          </a:p>
        </p:txBody>
      </p:sp>
      <p:sp>
        <p:nvSpPr>
          <p:cNvPr id="94" name="degradation-surface">
            <a:extLst xmlns:a="http://schemas.openxmlformats.org/drawingml/2006/main">
              <a:ext uri="{FF2B5EF4-FFF2-40B4-BE49-F238E27FC236}">
                <a16:creationId xmlns:a16="http://schemas.microsoft.com/office/drawing/2014/main" id="{20B901FB-E69F-40BF-8D15-F98B4AD3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41910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BEFEE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5" name="degradation-accent">
            <a:extLst xmlns:a="http://schemas.openxmlformats.org/drawingml/2006/main">
              <a:ext uri="{FF2B5EF4-FFF2-40B4-BE49-F238E27FC236}">
                <a16:creationId xmlns:a16="http://schemas.microsoft.com/office/drawing/2014/main" id="{5031C112-D8C7-4AB5-B7FA-3A808CE3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egradation-title">
            <a:extLst xmlns:a="http://schemas.openxmlformats.org/drawingml/2006/main">
              <a:ext uri="{FF2B5EF4-FFF2-40B4-BE49-F238E27FC236}">
                <a16:creationId xmlns:a16="http://schemas.microsoft.com/office/drawing/2014/main" id="{FA1C06D3-1934-48ED-9ADE-84E5069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2887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84B46"/>
                </a:solidFill>
                <a:latin typeface="Microsoft YaHei"/>
                <a:ea typeface="Microsoft YaHei"/>
                <a:cs typeface="Microsoft YaHei"/>
              </a:rPr>
              <a:t>退化路径（组织常见倒退）</a:t>
            </a:r>
          </a:p>
        </p:txBody>
      </p:sp>
      <p:sp>
        <p:nvSpPr>
          <p:cNvPr id="97" name="degradation-ability">
            <a:extLst xmlns:a="http://schemas.openxmlformats.org/drawingml/2006/main">
              <a:ext uri="{FF2B5EF4-FFF2-40B4-BE49-F238E27FC236}">
                <a16:creationId xmlns:a16="http://schemas.microsoft.com/office/drawing/2014/main" id="{A853F24A-C79B-43C2-A5BF-01472CF3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3867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能力  A4 → A3 → A2 → A1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人员流失｜知识未沉淀｜工具替代思考｜模型复杂度过高</a:t>
            </a:r>
          </a:p>
        </p:txBody>
      </p:sp>
      <p:sp>
        <p:nvSpPr>
          <p:cNvPr id="98" name="degradation-willingness">
            <a:extLst xmlns:a="http://schemas.openxmlformats.org/drawingml/2006/main">
              <a:ext uri="{FF2B5EF4-FFF2-40B4-BE49-F238E27FC236}">
                <a16:creationId xmlns:a16="http://schemas.microsoft.com/office/drawing/2014/main" id="{E058B3ED-D5AC-4413-8788-C780562A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86100"/>
            <a:ext cx="3867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意愿  B4 → B3 → B2 → B1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利益受损｜责任暴露｜权力强化｜收益不可见</a:t>
            </a:r>
          </a:p>
        </p:txBody>
      </p:sp>
      <p:sp>
        <p:nvSpPr>
          <p:cNvPr id="99" name="degradation-double">
            <a:extLst xmlns:a="http://schemas.openxmlformats.org/drawingml/2006/main">
              <a:ext uri="{FF2B5EF4-FFF2-40B4-BE49-F238E27FC236}">
                <a16:creationId xmlns:a16="http://schemas.microsoft.com/office/drawing/2014/main" id="{1C264FD9-E8D9-402B-AB46-48C9E49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86150"/>
            <a:ext cx="386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双重  A4+B4 → A3+B2 → A2+B1 → A1+B1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项目失去可信度｜高层信号变化｜长期没有收益反馈</a:t>
            </a:r>
          </a:p>
        </p:txBody>
      </p:sp>
      <p:sp>
        <p:nvSpPr>
          <p:cNvPr id="100" name="governance-surface">
            <a:extLst xmlns:a="http://schemas.openxmlformats.org/drawingml/2006/main">
              <a:ext uri="{FF2B5EF4-FFF2-40B4-BE49-F238E27FC236}">
                <a16:creationId xmlns:a16="http://schemas.microsoft.com/office/drawing/2014/main" id="{AE916ABC-082C-4877-B62E-2E47F9EC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4191000" cy="18669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1" name="governance-accent">
            <a:extLst xmlns:a="http://schemas.openxmlformats.org/drawingml/2006/main">
              <a:ext uri="{FF2B5EF4-FFF2-40B4-BE49-F238E27FC236}">
                <a16:creationId xmlns:a16="http://schemas.microsoft.com/office/drawing/2014/main" id="{8CE26345-7C81-414E-B611-F192EA82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6667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governance-title">
            <a:extLst xmlns:a="http://schemas.openxmlformats.org/drawingml/2006/main">
              <a:ext uri="{FF2B5EF4-FFF2-40B4-BE49-F238E27FC236}">
                <a16:creationId xmlns:a16="http://schemas.microsoft.com/office/drawing/2014/main" id="{DFDB5353-5C34-42BE-B6B4-A0C84301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3886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分层治理策略</a:t>
            </a:r>
          </a:p>
        </p:txBody>
      </p:sp>
      <p:sp>
        <p:nvSpPr>
          <p:cNvPr id="103" name="governance-B1-label">
            <a:extLst xmlns:a="http://schemas.openxmlformats.org/drawingml/2006/main">
              <a:ext uri="{FF2B5EF4-FFF2-40B4-BE49-F238E27FC236}">
                <a16:creationId xmlns:a16="http://schemas.microsoft.com/office/drawing/2014/main" id="{915B7D52-F0DF-46D8-849F-04C208A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434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B46"/>
                </a:solidFill>
                <a:latin typeface="Microsoft YaHei"/>
                <a:ea typeface="Microsoft YaHei"/>
                <a:cs typeface="Microsoft YaHei"/>
              </a:rPr>
              <a:t>B1 防御型</a:t>
            </a:r>
          </a:p>
        </p:txBody>
      </p:sp>
      <p:sp>
        <p:nvSpPr>
          <p:cNvPr id="104" name="governance-B1-strategy">
            <a:extLst xmlns:a="http://schemas.openxmlformats.org/drawingml/2006/main">
              <a:ext uri="{FF2B5EF4-FFF2-40B4-BE49-F238E27FC236}">
                <a16:creationId xmlns:a16="http://schemas.microsoft.com/office/drawing/2014/main" id="{5031CE61-8481-4D05-B214-69F4AD3B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降低风险感知｜建立信任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明确边界｜高层治理介入</a:t>
            </a:r>
          </a:p>
        </p:txBody>
      </p:sp>
      <p:sp>
        <p:nvSpPr>
          <p:cNvPr id="105" name="governance-B2-label">
            <a:extLst xmlns:a="http://schemas.openxmlformats.org/drawingml/2006/main">
              <a:ext uri="{FF2B5EF4-FFF2-40B4-BE49-F238E27FC236}">
                <a16:creationId xmlns:a16="http://schemas.microsoft.com/office/drawing/2014/main" id="{E66575B1-BAF6-434B-9E1A-524DE2CD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053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A8794"/>
                </a:solidFill>
                <a:latin typeface="Microsoft YaHei"/>
                <a:ea typeface="Microsoft YaHei"/>
                <a:cs typeface="Microsoft YaHei"/>
              </a:rPr>
              <a:t>B2 被动型</a:t>
            </a:r>
          </a:p>
        </p:txBody>
      </p:sp>
      <p:sp>
        <p:nvSpPr>
          <p:cNvPr id="106" name="governance-B2-strategy">
            <a:extLst xmlns:a="http://schemas.openxmlformats.org/drawingml/2006/main">
              <a:ext uri="{FF2B5EF4-FFF2-40B4-BE49-F238E27FC236}">
                <a16:creationId xmlns:a16="http://schemas.microsoft.com/office/drawing/2014/main" id="{43296E68-B742-480A-9F5B-564CE876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053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简化工具｜明确目标</a:t>
            </a:r>
          </a:p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分阶段交付｜快速反馈</a:t>
            </a:r>
          </a:p>
        </p:txBody>
      </p:sp>
      <p:sp>
        <p:nvSpPr>
          <p:cNvPr id="107" name="governance-B3-label">
            <a:extLst xmlns:a="http://schemas.openxmlformats.org/drawingml/2006/main">
              <a:ext uri="{FF2B5EF4-FFF2-40B4-BE49-F238E27FC236}">
                <a16:creationId xmlns:a16="http://schemas.microsoft.com/office/drawing/2014/main" id="{ECE8AB51-7E8F-491F-964D-5DB9D817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67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8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E887D"/>
                </a:solidFill>
                <a:latin typeface="Microsoft YaHei"/>
                <a:ea typeface="Microsoft YaHei"/>
                <a:cs typeface="Microsoft YaHei"/>
              </a:rPr>
              <a:t>B3 合作型</a:t>
            </a:r>
          </a:p>
        </p:txBody>
      </p:sp>
      <p:sp>
        <p:nvSpPr>
          <p:cNvPr id="108" name="governance-B3-strategy">
            <a:extLst xmlns:a="http://schemas.openxmlformats.org/drawingml/2006/main">
              <a:ext uri="{FF2B5EF4-FFF2-40B4-BE49-F238E27FC236}">
                <a16:creationId xmlns:a16="http://schemas.microsoft.com/office/drawing/2014/main" id="{D6446FED-5D42-487C-95BA-6FE70946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673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能力培养｜跨部门协同｜共建流程</a:t>
            </a:r>
          </a:p>
        </p:txBody>
      </p:sp>
      <p:sp>
        <p:nvSpPr>
          <p:cNvPr id="109" name="governance-B4-label">
            <a:extLst xmlns:a="http://schemas.openxmlformats.org/drawingml/2006/main">
              <a:ext uri="{FF2B5EF4-FFF2-40B4-BE49-F238E27FC236}">
                <a16:creationId xmlns:a16="http://schemas.microsoft.com/office/drawing/2014/main" id="{50C81538-5B1C-4635-A664-F9F6B567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2925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5A"/>
                </a:solidFill>
                <a:latin typeface="Microsoft YaHei"/>
                <a:ea typeface="Microsoft YaHei"/>
                <a:cs typeface="Microsoft YaHei"/>
              </a:rPr>
              <a:t>B4 共建型</a:t>
            </a:r>
          </a:p>
        </p:txBody>
      </p:sp>
      <p:sp>
        <p:nvSpPr>
          <p:cNvPr id="110" name="governance-B4-strategy">
            <a:extLst xmlns:a="http://schemas.openxmlformats.org/drawingml/2006/main">
              <a:ext uri="{FF2B5EF4-FFF2-40B4-BE49-F238E27FC236}">
                <a16:creationId xmlns:a16="http://schemas.microsoft.com/office/drawing/2014/main" id="{3E5D7CE4-7E0F-4F63-9674-AE4438B6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292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2939"/>
                </a:solidFill>
                <a:latin typeface="Microsoft YaHei"/>
                <a:ea typeface="Microsoft YaHei"/>
                <a:cs typeface="Microsoft YaHei"/>
              </a:rPr>
              <a:t>授权赋能｜打造示范｜参与企业级治理</a:t>
            </a:r>
          </a:p>
        </p:txBody>
      </p:sp>
      <p:sp>
        <p:nvSpPr>
          <p:cNvPr id="111" name="causes-surface">
            <a:extLst xmlns:a="http://schemas.openxmlformats.org/drawingml/2006/main">
              <a:ext uri="{FF2B5EF4-FFF2-40B4-BE49-F238E27FC236}">
                <a16:creationId xmlns:a16="http://schemas.microsoft.com/office/drawing/2014/main" id="{35F022B2-7A44-4756-9373-D42E997E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81700"/>
            <a:ext cx="11430000" cy="685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12" name="cause-1-title">
            <a:extLst xmlns:a="http://schemas.openxmlformats.org/drawingml/2006/main">
              <a:ext uri="{FF2B5EF4-FFF2-40B4-BE49-F238E27FC236}">
                <a16:creationId xmlns:a16="http://schemas.microsoft.com/office/drawing/2014/main" id="{0B7B1DAB-2F85-4D0A-A544-C1EDC84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人员与组织因素</a:t>
            </a:r>
          </a:p>
        </p:txBody>
      </p:sp>
      <p:sp>
        <p:nvSpPr>
          <p:cNvPr id="113" name="cause-1-description">
            <a:extLst xmlns:a="http://schemas.openxmlformats.org/drawingml/2006/main">
              <a:ext uri="{FF2B5EF4-FFF2-40B4-BE49-F238E27FC236}">
                <a16:creationId xmlns:a16="http://schemas.microsoft.com/office/drawing/2014/main" id="{E14B765E-88B1-47EA-8648-315B8BF9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人员流失导致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知识重新隐性化。</a:t>
            </a:r>
          </a:p>
        </p:txBody>
      </p:sp>
      <p:sp>
        <p:nvSpPr>
          <p:cNvPr id="114" name="cause-divider-1">
            <a:extLst xmlns:a="http://schemas.openxmlformats.org/drawingml/2006/main">
              <a:ext uri="{FF2B5EF4-FFF2-40B4-BE49-F238E27FC236}">
                <a16:creationId xmlns:a16="http://schemas.microsoft.com/office/drawing/2014/main" id="{13D99AFF-8AE4-4946-B06A-55102724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864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cause-2-title">
            <a:extLst xmlns:a="http://schemas.openxmlformats.org/drawingml/2006/main">
              <a:ext uri="{FF2B5EF4-FFF2-40B4-BE49-F238E27FC236}">
                <a16:creationId xmlns:a16="http://schemas.microsoft.com/office/drawing/2014/main" id="{D6A1FB39-D1AE-4FD9-8385-8B15B49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057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利益与权力因素</a:t>
            </a:r>
          </a:p>
        </p:txBody>
      </p:sp>
      <p:sp>
        <p:nvSpPr>
          <p:cNvPr id="116" name="cause-2-description">
            <a:extLst xmlns:a="http://schemas.openxmlformats.org/drawingml/2006/main">
              <a:ext uri="{FF2B5EF4-FFF2-40B4-BE49-F238E27FC236}">
                <a16:creationId xmlns:a16="http://schemas.microsoft.com/office/drawing/2014/main" id="{40A5F8BD-6CB2-4472-A730-5F7E0EA1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286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透明化改变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既有利益结构。</a:t>
            </a:r>
          </a:p>
        </p:txBody>
      </p:sp>
      <p:sp>
        <p:nvSpPr>
          <p:cNvPr id="117" name="cause-divider-2">
            <a:extLst xmlns:a="http://schemas.openxmlformats.org/drawingml/2006/main">
              <a:ext uri="{FF2B5EF4-FFF2-40B4-BE49-F238E27FC236}">
                <a16:creationId xmlns:a16="http://schemas.microsoft.com/office/drawing/2014/main" id="{95463D7D-2C09-43AF-BCB0-5DE05EE5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864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cause-3-title">
            <a:extLst xmlns:a="http://schemas.openxmlformats.org/drawingml/2006/main">
              <a:ext uri="{FF2B5EF4-FFF2-40B4-BE49-F238E27FC236}">
                <a16:creationId xmlns:a16="http://schemas.microsoft.com/office/drawing/2014/main" id="{E5E39426-A3B3-4853-9BD3-822D60EA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57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项目与管理因素</a:t>
            </a:r>
          </a:p>
        </p:txBody>
      </p:sp>
      <p:sp>
        <p:nvSpPr>
          <p:cNvPr id="119" name="cause-3-description">
            <a:extLst xmlns:a="http://schemas.openxmlformats.org/drawingml/2006/main">
              <a:ext uri="{FF2B5EF4-FFF2-40B4-BE49-F238E27FC236}">
                <a16:creationId xmlns:a16="http://schemas.microsoft.com/office/drawing/2014/main" id="{E97FE509-6F15-4535-BAED-D407773A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286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目标变化、资源不足、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推进失衡。</a:t>
            </a:r>
          </a:p>
        </p:txBody>
      </p:sp>
      <p:sp>
        <p:nvSpPr>
          <p:cNvPr id="120" name="cause-divider-3">
            <a:extLst xmlns:a="http://schemas.openxmlformats.org/drawingml/2006/main">
              <a:ext uri="{FF2B5EF4-FFF2-40B4-BE49-F238E27FC236}">
                <a16:creationId xmlns:a16="http://schemas.microsoft.com/office/drawing/2014/main" id="{56DC52BB-6257-4B30-9928-1BF3E209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864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cause-4-title">
            <a:extLst xmlns:a="http://schemas.openxmlformats.org/drawingml/2006/main">
              <a:ext uri="{FF2B5EF4-FFF2-40B4-BE49-F238E27FC236}">
                <a16:creationId xmlns:a16="http://schemas.microsoft.com/office/drawing/2014/main" id="{57DF4D63-2AF4-454D-9293-658EBBDD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057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方法与工具因素</a:t>
            </a:r>
          </a:p>
        </p:txBody>
      </p:sp>
      <p:sp>
        <p:nvSpPr>
          <p:cNvPr id="122" name="cause-4-description">
            <a:extLst xmlns:a="http://schemas.openxmlformats.org/drawingml/2006/main">
              <a:ext uri="{FF2B5EF4-FFF2-40B4-BE49-F238E27FC236}">
                <a16:creationId xmlns:a16="http://schemas.microsoft.com/office/drawing/2014/main" id="{BC752852-D319-48BD-A174-B2CE87C7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286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工具复杂超过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组织承载能力。</a:t>
            </a:r>
          </a:p>
        </p:txBody>
      </p:sp>
      <p:sp>
        <p:nvSpPr>
          <p:cNvPr id="123" name="cause-divider-4">
            <a:extLst xmlns:a="http://schemas.openxmlformats.org/drawingml/2006/main">
              <a:ext uri="{FF2B5EF4-FFF2-40B4-BE49-F238E27FC236}">
                <a16:creationId xmlns:a16="http://schemas.microsoft.com/office/drawing/2014/main" id="{61619A0E-A096-4B30-9986-77C3A18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864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cause-5-title">
            <a:extLst xmlns:a="http://schemas.openxmlformats.org/drawingml/2006/main">
              <a:ext uri="{FF2B5EF4-FFF2-40B4-BE49-F238E27FC236}">
                <a16:creationId xmlns:a16="http://schemas.microsoft.com/office/drawing/2014/main" id="{1155E046-F4A9-4567-8A38-2E333306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579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环境与战略因素</a:t>
            </a:r>
          </a:p>
        </p:txBody>
      </p:sp>
      <p:sp>
        <p:nvSpPr>
          <p:cNvPr id="125" name="cause-5-description">
            <a:extLst xmlns:a="http://schemas.openxmlformats.org/drawingml/2006/main">
              <a:ext uri="{FF2B5EF4-FFF2-40B4-BE49-F238E27FC236}">
                <a16:creationId xmlns:a16="http://schemas.microsoft.com/office/drawing/2014/main" id="{606AA191-A548-423E-AA08-04649478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86500"/>
            <a:ext cx="201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战略调整导致</a:t>
            </a:r>
          </a:p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优先级下降。</a:t>
            </a:r>
          </a:p>
        </p:txBody>
      </p:sp>
    </p:spTree>
    <p:extLst>
      <p:ext uri="{BB962C8B-B14F-4D97-AF65-F5344CB8AC3E}">
        <p14:creationId xmlns:p14="http://schemas.microsoft.com/office/powerpoint/2010/main" val="1205386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2026-07-29T02:11:27.9610000Z</dcterms:created>
  <dcterms:modified xsi:type="dcterms:W3CDTF">2026-07-29T02:11:27.9610000Z</dcterms:modified>
</coreProperties>
</file>