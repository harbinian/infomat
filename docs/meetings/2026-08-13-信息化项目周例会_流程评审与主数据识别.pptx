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4e90265ed4e78" /><Relationship Type="http://schemas.openxmlformats.org/officeDocument/2006/relationships/extended-properties" Target="/docProps/app.xml" Id="R26d8664dc9b2453f" /><Relationship Type="http://schemas.openxmlformats.org/officeDocument/2006/relationships/officeDocument" Target="/ppt/presentation.xml" Id="R39da0fdfa7d4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4e60b42fe4071"/>
  </p:sldMasterIdLst>
  <p:notesMasterIdLst>
    <p:notesMasterId xmlns:r="http://schemas.openxmlformats.org/officeDocument/2006/relationships" r:id="Reb14bee0b4a34d1a"/>
  </p:notesMasterIdLst>
  <p:sldIdLst>
    <p:sldId xmlns:r="http://schemas.openxmlformats.org/officeDocument/2006/relationships" id="256" r:id="R3cd0a19dcd2e4532"/>
    <p:sldId xmlns:r="http://schemas.openxmlformats.org/officeDocument/2006/relationships" id="257" r:id="R8546764d5fe044a4"/>
    <p:sldId xmlns:r="http://schemas.openxmlformats.org/officeDocument/2006/relationships" id="258" r:id="R7ac4f238c5514f86"/>
    <p:sldId xmlns:r="http://schemas.openxmlformats.org/officeDocument/2006/relationships" id="259" r:id="Rcc9442ec0b2e4b64"/>
    <p:sldId xmlns:r="http://schemas.openxmlformats.org/officeDocument/2006/relationships" id="260" r:id="R84afdeefd6c14f61"/>
    <p:sldId xmlns:r="http://schemas.openxmlformats.org/officeDocument/2006/relationships" id="261" r:id="Rfe8b1187ac4143f6"/>
    <p:sldId xmlns:r="http://schemas.openxmlformats.org/officeDocument/2006/relationships" id="262" r:id="R4ebb69e53e5a49e0"/>
    <p:sldId xmlns:r="http://schemas.openxmlformats.org/officeDocument/2006/relationships" id="263" r:id="R5b05c8482709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ab92633dc4841" /><Relationship Type="http://schemas.openxmlformats.org/officeDocument/2006/relationships/slideMaster" Target="/ppt/slideMasters/slideMaster1.xml" Id="R23e4e60b42fe4071" /><Relationship Type="http://schemas.openxmlformats.org/officeDocument/2006/relationships/notesMaster" Target="/ppt/notesMasters/notesMaster1.xml" Id="Reb14bee0b4a34d1a" /><Relationship Type="http://schemas.openxmlformats.org/officeDocument/2006/relationships/presProps" Target="/ppt/presProps.xml" Id="R123f19b5fdd24cfd" /><Relationship Type="http://schemas.openxmlformats.org/officeDocument/2006/relationships/viewProps" Target="/ppt/viewProps.xml" Id="Ra5fc2e45e27f4d62" /><Relationship Type="http://schemas.openxmlformats.org/officeDocument/2006/relationships/tableStyles" Target="/ppt/tableStyles.xml" Id="Rd92c6e309d754c7f" /><Relationship Type="http://schemas.openxmlformats.org/officeDocument/2006/relationships/slide" Target="/ppt/slides/slide1.xml" Id="R3cd0a19dcd2e4532" /><Relationship Type="http://schemas.openxmlformats.org/officeDocument/2006/relationships/slide" Target="/ppt/slides/slide2.xml" Id="R8546764d5fe044a4" /><Relationship Type="http://schemas.openxmlformats.org/officeDocument/2006/relationships/slide" Target="/ppt/slides/slide3.xml" Id="R7ac4f238c5514f86" /><Relationship Type="http://schemas.openxmlformats.org/officeDocument/2006/relationships/slide" Target="/ppt/slides/slide4.xml" Id="Rcc9442ec0b2e4b64" /><Relationship Type="http://schemas.openxmlformats.org/officeDocument/2006/relationships/slide" Target="/ppt/slides/slide5.xml" Id="R84afdeefd6c14f61" /><Relationship Type="http://schemas.openxmlformats.org/officeDocument/2006/relationships/slide" Target="/ppt/slides/slide6.xml" Id="Rfe8b1187ac4143f6" /><Relationship Type="http://schemas.openxmlformats.org/officeDocument/2006/relationships/slide" Target="/ppt/slides/slide7.xml" Id="R4ebb69e53e5a49e0" /><Relationship Type="http://schemas.openxmlformats.org/officeDocument/2006/relationships/slide" Target="/ppt/slides/slide8.xml" Id="R5b05c8482709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d3fd6f4f5e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1cb3467fe94159" /><Relationship Type="http://schemas.openxmlformats.org/officeDocument/2006/relationships/notesMaster" Target="/ppt/notesMasters/notesMaster1.xml" Id="R5bbe4ac8cea8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ed90978afd4316" /><Relationship Type="http://schemas.openxmlformats.org/officeDocument/2006/relationships/notesMaster" Target="/ppt/notesMasters/notesMaster1.xml" Id="R71860a0946f640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7eb110925e47d1" /><Relationship Type="http://schemas.openxmlformats.org/officeDocument/2006/relationships/notesMaster" Target="/ppt/notesMasters/notesMaster1.xml" Id="R59f0b1be1eb6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3388f7d0314115" /><Relationship Type="http://schemas.openxmlformats.org/officeDocument/2006/relationships/notesMaster" Target="/ppt/notesMasters/notesMaster1.xml" Id="R6c019231c60a48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2dc93dcba485c" /><Relationship Type="http://schemas.openxmlformats.org/officeDocument/2006/relationships/notesMaster" Target="/ppt/notesMasters/notesMaster1.xml" Id="R5bcb680f2bc149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28fbb280e445cd" /><Relationship Type="http://schemas.openxmlformats.org/officeDocument/2006/relationships/notesMaster" Target="/ppt/notesMasters/notesMaster1.xml" Id="R3d4b65b38ee7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068af595174534" /><Relationship Type="http://schemas.openxmlformats.org/officeDocument/2006/relationships/notesMaster" Target="/ppt/notesMasters/notesMaster1.xml" Id="Rd7fe56d2f2b743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2848e418de4559" /><Relationship Type="http://schemas.openxmlformats.org/officeDocument/2006/relationships/notesMaster" Target="/ppt/notesMasters/notesMaster1.xml" Id="R284bdb2dcdef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E:\CA001\Infomat\docs\architecture\data-governance-operating-rules.md</a:t>
            </a:r>
          </a:p>
          <a:p xmlns:a="http://schemas.openxmlformats.org/drawingml/2006/main">
            <a:r>
              <a:t>- E:\CA001\Infomat\docs\plans\2026-08-12-3001-process-authoring-rollout-execution-plan.md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E:\CA001\Infomat\docs\reports\2026-08-12-3001-rollout-readiness-record.md</a:t>
            </a:r>
          </a:p>
          <a:p xmlns:a="http://schemas.openxmlformats.org/drawingml/2006/main">
            <a:r>
              <a:t>- E:\CA001\Infomat\docs\plans\2026-08-12-3001-pilot-action-register.md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E:\CA001\Infomat\docs\architecture\data-governance-operating-rules.md</a:t>
            </a:r>
          </a:p>
          <a:p xmlns:a="http://schemas.openxmlformats.org/drawingml/2006/main">
            <a:r>
              <a:t>- E:\CA001\Infomat\docs\meetings\2026-08-13-信息化项目周例会_流程评审与主数据识别.md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E:\CA001\Infomat\docs\plans\2026-08-12-3001-process-authoring-rollout-execution-plan.md</a:t>
            </a:r>
          </a:p>
          <a:p xmlns:a="http://schemas.openxmlformats.org/drawingml/2006/main">
            <a:r>
              <a:t>- E:\CA001\Infomat\docs\architecture\data-governance-operating-rules.md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E:\CA001\Infomat\docs\architecture\data-governance-operating-rules.md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E:\CA001\Infomat\docs\reports\2026-08-12-3001-rollout-readiness-record.md</a:t>
            </a:r>
          </a:p>
          <a:p xmlns:a="http://schemas.openxmlformats.org/drawingml/2006/main">
            <a:r>
              <a:t>- E:\CA001\Infomat\docs\plans\2026-08-12-3001-process-authoring-rollout-execution-plan.md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E:\CA001\Infomat\docs\architecture\data-governance-operating-rules.md</a:t>
            </a:r>
          </a:p>
          <a:p xmlns:a="http://schemas.openxmlformats.org/drawingml/2006/main">
            <a:r>
              <a:t>- E:\CA001\Infomat\pmo\信息化项目_协同工作规则.md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E:\CA001\Infomat\docs\plans\2026-08-12-3001-pilot-action-register.md</a:t>
            </a:r>
          </a:p>
          <a:p xmlns:a="http://schemas.openxmlformats.org/drawingml/2006/main">
            <a:r>
              <a:t>- E:\CA001\Infomat\pmo\信息化项目_协同工作规则.md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24cc2d8bf43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1ef5d96a4453a" /><Relationship Type="http://schemas.openxmlformats.org/officeDocument/2006/relationships/slideLayout" Target="/ppt/slideLayouts/slideLayout1.xml" Id="R6b1d53728529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d53728529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4fa86ccc54b2b" /><Relationship Type="http://schemas.openxmlformats.org/officeDocument/2006/relationships/notesSlide" Target="/ppt/notesSlides/notesSlide1.xml" Id="R7f081d361d77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2c633f6cd44b6" /><Relationship Type="http://schemas.openxmlformats.org/officeDocument/2006/relationships/notesSlide" Target="/ppt/notesSlides/notesSlide2.xml" Id="R8cb29ed03b28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9c68d44b44457" /><Relationship Type="http://schemas.openxmlformats.org/officeDocument/2006/relationships/notesSlide" Target="/ppt/notesSlides/notesSlide3.xml" Id="R374e080b43fa4c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d681e320b43fb" /><Relationship Type="http://schemas.openxmlformats.org/officeDocument/2006/relationships/notesSlide" Target="/ppt/notesSlides/notesSlide4.xml" Id="R445ae3382932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64e804a704201" /><Relationship Type="http://schemas.openxmlformats.org/officeDocument/2006/relationships/notesSlide" Target="/ppt/notesSlides/notesSlide5.xml" Id="R2e3bdc8b7d5c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76a8436b546f4" /><Relationship Type="http://schemas.openxmlformats.org/officeDocument/2006/relationships/notesSlide" Target="/ppt/notesSlides/notesSlide6.xml" Id="R437987d2fcc4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3df8e27744fd3" /><Relationship Type="http://schemas.openxmlformats.org/officeDocument/2006/relationships/notesSlide" Target="/ppt/notesSlides/notesSlide7.xml" Id="R285b84bbefbe43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e411db0d47ef" /><Relationship Type="http://schemas.openxmlformats.org/officeDocument/2006/relationships/notesSlide" Target="/ppt/notesSlides/notesSlide8.xml" Id="Ra256b35b08a3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1F43AD7-019C-4BA0-87F0-77323F4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信息化周例会 · 2026年8月13日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E07680F-673B-4ADF-BC47-A2B46EA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4780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5B2D06-1EE3-47DF-B5E2-4A2648C5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流程先评清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主数据再识别</a:t>
            </a:r>
            <a:endParaRPr sz="5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730155A-DBD5-42AC-8D91-45BB50A0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从两条样板流程确认业务事实、责任边界和数据对象。</a:t>
            </a:r>
            <a:endParaRPr sz="2400" b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56D093B7-C8D4-4184-8B6F-116CE61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流程评审 · 主数据识别 · 3001首轮启动门槛</a:t>
            </a:r>
          </a:p>
        </p:txBody>
      </p:sp>
    </p:spTree>
    <p:extLst>
      <p:ext uri="{BB962C8B-B14F-4D97-AF65-F5344CB8AC3E}">
        <p14:creationId xmlns:p14="http://schemas.microsoft.com/office/powerpoint/2010/main" val="960643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本周先判断能否启动，不把准备写成评审通过</a:t>
            </a:r>
          </a:p>
        </p:txBody>
      </p:sp>
      <p:sp>
        <p:nvSpPr>
          <p:cNvPr id="2" name="s10-lead">
            <a:extLst xmlns:a="http://schemas.openxmlformats.org/drawingml/2006/main"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推广材料和技术验证已具备；人员授权、资料版本和正式运行版本仍待确认。</a:t>
            </a:r>
          </a:p>
        </p:txBody>
      </p:sp>
      <p:sp>
        <p:nvSpPr>
          <p:cNvPr id="3" name="s10-left">
            <a:extLst xmlns:a="http://schemas.openxmlformats.org/drawingml/2006/main"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0-right">
            <a:extLst xmlns:a="http://schemas.openxmlformats.org/drawingml/2006/main"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left-tag">
            <a:extLst xmlns:a="http://schemas.openxmlformats.org/drawingml/2006/main"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s10-left-title">
            <a:extLst xmlns:a="http://schemas.openxmlformats.org/drawingml/2006/main"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可进入会前准备</a:t>
            </a:r>
            <a:endParaRPr sz="2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两条样板流程和输入资料已定位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操作路线、核对模板、教学样例已建立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3001/3000聚焦测试与烟测通过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启动门槛已进入PMO行动台账</a:t>
            </a:r>
          </a:p>
        </p:txBody>
      </p:sp>
      <p:sp>
        <p:nvSpPr>
          <p:cNvPr id="8" name="s10-right-tag">
            <a:extLst xmlns:a="http://schemas.openxmlformats.org/drawingml/2006/main"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必须关闭</a:t>
            </a:r>
          </a:p>
        </p:txBody>
      </p:sp>
      <p:sp>
        <p:nvSpPr>
          <p:cNvPr id="9" name="s10-right-title">
            <a:extLst xmlns:a="http://schemas.openxmlformats.org/drawingml/2006/main"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8月14日前的卡口</a:t>
            </a:r>
            <a:endParaRPr sz="2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两部门确认三类人员并保持角色分离</a:t>
            </a:r>
            <a:endParaRPr sz="1800" b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admin核对代表性账号和固定角色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部门确认资料授权版本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MDM工作组统一正式运行提交</a:t>
            </a:r>
            <a:endParaRPr sz="1800" b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10-status">
            <a:extLst xmlns:a="http://schemas.openxmlformats.org/drawingml/2006/main"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0-status-text">
            <a:extLst xmlns:a="http://schemas.openxmlformats.org/drawingml/2006/main"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34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任一启动门槛未关闭：8月17日冲刺按工作日整体顺延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4660D4-E3DA-4F1E-AF88-F02446B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流程评审先回答8个业务问题</a:t>
            </a:r>
          </a:p>
        </p:txBody>
      </p:sp>
      <p:sp>
        <p:nvSpPr>
          <p:cNvPr id="2" name="s8-num-0">
            <a:extLst xmlns:a="http://schemas.openxmlformats.org/drawingml/2006/main">
              <a:ext uri="{FF2B5EF4-FFF2-40B4-BE49-F238E27FC236}">
                <a16:creationId xmlns:a16="http://schemas.microsoft.com/office/drawing/2014/main" id="{32CF55BE-C1FA-4831-90EA-9B017FBE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s8-h-0">
            <a:extLst xmlns:a="http://schemas.openxmlformats.org/drawingml/2006/main">
              <a:ext uri="{FF2B5EF4-FFF2-40B4-BE49-F238E27FC236}">
                <a16:creationId xmlns:a16="http://schemas.microsoft.com/office/drawing/2014/main" id="{8B4AD6A3-BDD9-4BB7-9CCB-C58C474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为什么发生</a:t>
            </a:r>
          </a:p>
        </p:txBody>
      </p:sp>
      <p:sp>
        <p:nvSpPr>
          <p:cNvPr id="4" name="s8-b-0">
            <a:extLst xmlns:a="http://schemas.openxmlformats.org/drawingml/2006/main">
              <a:ext uri="{FF2B5EF4-FFF2-40B4-BE49-F238E27FC236}">
                <a16:creationId xmlns:a16="http://schemas.microsoft.com/office/drawing/2014/main" id="{3486D21A-139F-4F33-A95F-54603CB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目的、范围和结束边界</a:t>
            </a:r>
          </a:p>
        </p:txBody>
      </p:sp>
      <p:sp>
        <p:nvSpPr>
          <p:cNvPr id="5" name="s8-num-1">
            <a:extLst xmlns:a="http://schemas.openxmlformats.org/drawingml/2006/main">
              <a:ext uri="{FF2B5EF4-FFF2-40B4-BE49-F238E27FC236}">
                <a16:creationId xmlns:a16="http://schemas.microsoft.com/office/drawing/2014/main" id="{CA190BB7-16BA-4D32-B88D-6D6D4F20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8-h-1">
            <a:extLst xmlns:a="http://schemas.openxmlformats.org/drawingml/2006/main">
              <a:ext uri="{FF2B5EF4-FFF2-40B4-BE49-F238E27FC236}">
                <a16:creationId xmlns:a16="http://schemas.microsoft.com/office/drawing/2014/main" id="{183D354E-F780-4B8A-8DA4-B13888C6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谁负总责</a:t>
            </a:r>
          </a:p>
        </p:txBody>
      </p:sp>
      <p:sp>
        <p:nvSpPr>
          <p:cNvPr id="7" name="s8-b-1">
            <a:extLst xmlns:a="http://schemas.openxmlformats.org/drawingml/2006/main">
              <a:ext uri="{FF2B5EF4-FFF2-40B4-BE49-F238E27FC236}">
                <a16:creationId xmlns:a16="http://schemas.microsoft.com/office/drawing/2014/main" id="{B74D325F-33C6-4CD8-A1E9-61B8F489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整条流程的责任角色</a:t>
            </a:r>
          </a:p>
        </p:txBody>
      </p:sp>
      <p:sp>
        <p:nvSpPr>
          <p:cNvPr id="8" name="s8-num-2">
            <a:extLst xmlns:a="http://schemas.openxmlformats.org/drawingml/2006/main">
              <a:ext uri="{FF2B5EF4-FFF2-40B4-BE49-F238E27FC236}">
                <a16:creationId xmlns:a16="http://schemas.microsoft.com/office/drawing/2014/main" id="{393F5C11-D32E-411B-A3B9-1FE1A83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s8-h-2">
            <a:extLst xmlns:a="http://schemas.openxmlformats.org/drawingml/2006/main">
              <a:ext uri="{FF2B5EF4-FFF2-40B4-BE49-F238E27FC236}">
                <a16:creationId xmlns:a16="http://schemas.microsoft.com/office/drawing/2014/main" id="{2CEB7F0A-54F9-4E26-8AA8-4CD22AE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何时开始</a:t>
            </a:r>
          </a:p>
        </p:txBody>
      </p:sp>
      <p:sp>
        <p:nvSpPr>
          <p:cNvPr id="10" name="s8-b-2">
            <a:extLst xmlns:a="http://schemas.openxmlformats.org/drawingml/2006/main">
              <a:ext uri="{FF2B5EF4-FFF2-40B4-BE49-F238E27FC236}">
                <a16:creationId xmlns:a16="http://schemas.microsoft.com/office/drawing/2014/main" id="{A7C70162-2446-4F41-874E-6E679AF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触发条件或业务场景</a:t>
            </a:r>
          </a:p>
        </p:txBody>
      </p:sp>
      <p:sp>
        <p:nvSpPr>
          <p:cNvPr id="11" name="s8-num-3">
            <a:extLst xmlns:a="http://schemas.openxmlformats.org/drawingml/2006/main">
              <a:ext uri="{FF2B5EF4-FFF2-40B4-BE49-F238E27FC236}">
                <a16:creationId xmlns:a16="http://schemas.microsoft.com/office/drawing/2014/main" id="{0301CC26-BEC3-4058-A8BA-2A05F85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s8-h-3">
            <a:extLst xmlns:a="http://schemas.openxmlformats.org/drawingml/2006/main">
              <a:ext uri="{FF2B5EF4-FFF2-40B4-BE49-F238E27FC236}">
                <a16:creationId xmlns:a16="http://schemas.microsoft.com/office/drawing/2014/main" id="{D14F5E20-932C-420E-97DD-2A4AAB69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需要什么</a:t>
            </a:r>
          </a:p>
        </p:txBody>
      </p:sp>
      <p:sp>
        <p:nvSpPr>
          <p:cNvPr id="13" name="s8-b-3">
            <a:extLst xmlns:a="http://schemas.openxmlformats.org/drawingml/2006/main">
              <a:ext uri="{FF2B5EF4-FFF2-40B4-BE49-F238E27FC236}">
                <a16:creationId xmlns:a16="http://schemas.microsoft.com/office/drawing/2014/main" id="{7D55419E-3EA6-4793-A0E2-038578D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输入和前置条件</a:t>
            </a:r>
          </a:p>
        </p:txBody>
      </p:sp>
      <p:sp>
        <p:nvSpPr>
          <p:cNvPr id="14" name="s8-num-4">
            <a:extLst xmlns:a="http://schemas.openxmlformats.org/drawingml/2006/main">
              <a:ext uri="{FF2B5EF4-FFF2-40B4-BE49-F238E27FC236}">
                <a16:creationId xmlns:a16="http://schemas.microsoft.com/office/drawing/2014/main" id="{42E18ABD-7F67-4797-9DB9-76F9D310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s8-h-4">
            <a:extLst xmlns:a="http://schemas.openxmlformats.org/drawingml/2006/main">
              <a:ext uri="{FF2B5EF4-FFF2-40B4-BE49-F238E27FC236}">
                <a16:creationId xmlns:a16="http://schemas.microsoft.com/office/drawing/2014/main" id="{B6558BA1-9B73-4163-B103-FB728CA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谁来执行</a:t>
            </a:r>
          </a:p>
        </p:txBody>
      </p:sp>
      <p:sp>
        <p:nvSpPr>
          <p:cNvPr id="16" name="s8-b-4">
            <a:extLst xmlns:a="http://schemas.openxmlformats.org/drawingml/2006/main">
              <a:ext uri="{FF2B5EF4-FFF2-40B4-BE49-F238E27FC236}">
                <a16:creationId xmlns:a16="http://schemas.microsoft.com/office/drawing/2014/main" id="{1D9BD0C9-3E26-418E-B6A4-BAB3103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每个A1的责任角色</a:t>
            </a:r>
          </a:p>
        </p:txBody>
      </p:sp>
      <p:sp>
        <p:nvSpPr>
          <p:cNvPr id="17" name="s8-num-5">
            <a:extLst xmlns:a="http://schemas.openxmlformats.org/drawingml/2006/main">
              <a:ext uri="{FF2B5EF4-FFF2-40B4-BE49-F238E27FC236}">
                <a16:creationId xmlns:a16="http://schemas.microsoft.com/office/drawing/2014/main" id="{176CF2A2-1B17-4D18-853E-7589D4B1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s8-h-5">
            <a:extLst xmlns:a="http://schemas.openxmlformats.org/drawingml/2006/main">
              <a:ext uri="{FF2B5EF4-FFF2-40B4-BE49-F238E27FC236}">
                <a16:creationId xmlns:a16="http://schemas.microsoft.com/office/drawing/2014/main" id="{588ADAF0-089E-454F-9C8F-14D3F054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怎么流转</a:t>
            </a:r>
          </a:p>
        </p:txBody>
      </p:sp>
      <p:sp>
        <p:nvSpPr>
          <p:cNvPr id="19" name="s8-b-5">
            <a:extLst xmlns:a="http://schemas.openxmlformats.org/drawingml/2006/main">
              <a:ext uri="{FF2B5EF4-FFF2-40B4-BE49-F238E27FC236}">
                <a16:creationId xmlns:a16="http://schemas.microsoft.com/office/drawing/2014/main" id="{976FB56A-4A06-48D8-A43B-A73729C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分支、退回和并行</a:t>
            </a:r>
          </a:p>
        </p:txBody>
      </p:sp>
      <p:sp>
        <p:nvSpPr>
          <p:cNvPr id="20" name="s8-num-6">
            <a:extLst xmlns:a="http://schemas.openxmlformats.org/drawingml/2006/main">
              <a:ext uri="{FF2B5EF4-FFF2-40B4-BE49-F238E27FC236}">
                <a16:creationId xmlns:a16="http://schemas.microsoft.com/office/drawing/2014/main" id="{714C540F-09E8-4FAB-943F-AC73452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s8-h-6">
            <a:extLst xmlns:a="http://schemas.openxmlformats.org/drawingml/2006/main">
              <a:ext uri="{FF2B5EF4-FFF2-40B4-BE49-F238E27FC236}">
                <a16:creationId xmlns:a16="http://schemas.microsoft.com/office/drawing/2014/main" id="{27555860-45F4-403E-A5F5-5AF556E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产生什么</a:t>
            </a:r>
          </a:p>
        </p:txBody>
      </p:sp>
      <p:sp>
        <p:nvSpPr>
          <p:cNvPr id="22" name="s8-b-6">
            <a:extLst xmlns:a="http://schemas.openxmlformats.org/drawingml/2006/main">
              <a:ext uri="{FF2B5EF4-FFF2-40B4-BE49-F238E27FC236}">
                <a16:creationId xmlns:a16="http://schemas.microsoft.com/office/drawing/2014/main" id="{41A40286-C1A3-4524-B6F0-D4F4E6B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输出和完成标志</a:t>
            </a:r>
          </a:p>
        </p:txBody>
      </p:sp>
      <p:sp>
        <p:nvSpPr>
          <p:cNvPr id="23" name="s8-num-7">
            <a:extLst xmlns:a="http://schemas.openxmlformats.org/drawingml/2006/main">
              <a:ext uri="{FF2B5EF4-FFF2-40B4-BE49-F238E27FC236}">
                <a16:creationId xmlns:a16="http://schemas.microsoft.com/office/drawing/2014/main" id="{6C4608A6-8415-4EFF-8D1C-52D2FA4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4" name="s8-h-7">
            <a:extLst xmlns:a="http://schemas.openxmlformats.org/drawingml/2006/main">
              <a:ext uri="{FF2B5EF4-FFF2-40B4-BE49-F238E27FC236}">
                <a16:creationId xmlns:a16="http://schemas.microsoft.com/office/drawing/2014/main" id="{03EBF589-C47E-472B-825C-14F46F77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交给谁</a:t>
            </a:r>
          </a:p>
        </p:txBody>
      </p:sp>
      <p:sp>
        <p:nvSpPr>
          <p:cNvPr id="25" name="s8-b-7">
            <a:extLst xmlns:a="http://schemas.openxmlformats.org/drawingml/2006/main">
              <a:ext uri="{FF2B5EF4-FFF2-40B4-BE49-F238E27FC236}">
                <a16:creationId xmlns:a16="http://schemas.microsoft.com/office/drawing/2014/main" id="{4CC7447C-0B74-4AC4-96AD-D2CF9004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跨部门承接和待办</a:t>
            </a:r>
          </a:p>
        </p:txBody>
      </p:sp>
      <p:sp>
        <p:nvSpPr>
          <p:cNvPr id="26" name="s8-callout">
            <a:extLst xmlns:a="http://schemas.openxmlformats.org/drawingml/2006/main">
              <a:ext uri="{FF2B5EF4-FFF2-40B4-BE49-F238E27FC236}">
                <a16:creationId xmlns:a16="http://schemas.microsoft.com/office/drawing/2014/main" id="{EC55A5AF-8893-437B-B89E-EC890EA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1410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8-callout-text">
            <a:extLst xmlns:a="http://schemas.openxmlformats.org/drawingml/2006/main">
              <a:ext uri="{FF2B5EF4-FFF2-40B4-BE49-F238E27FC236}">
                <a16:creationId xmlns:a16="http://schemas.microsoft.com/office/drawing/2014/main" id="{AE7EEA92-A19F-43C2-8CEE-F3F03B47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959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评审的是当前业务事实；治理结论和改进建议分开记录。</a:t>
            </a:r>
          </a:p>
        </p:txBody>
      </p:sp>
      <p:sp>
        <p:nvSpPr>
          <p:cNvPr id="28" name="page-8">
            <a:extLst xmlns:a="http://schemas.openxmlformats.org/drawingml/2006/main">
              <a:ext uri="{FF2B5EF4-FFF2-40B4-BE49-F238E27FC236}">
                <a16:creationId xmlns:a16="http://schemas.microsoft.com/office/drawing/2014/main" id="{E894AD63-BF06-4789-BB88-7D231F3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5337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F1654-FDFF-4C05-BDB4-E0293A60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通过评审，结构、事实和承接必须一致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F35279E1-50F2-4473-80F0-0F9AFF8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评审不是看JSON能否打开；每一项都要有部门核对、结构检查或3000记录。</a:t>
            </a:r>
          </a:p>
        </p:txBody>
      </p:sp>
      <p:graphicFrame>
        <p:nvGraphicFramePr>
          <p:cNvPr id="10" name="表格 7"/>
          <p:cNvGraphicFramePr/>
          <p:nvPr/>
        </p:nvGraphicFramePr>
        <p:xfrm>
          <a:off xmlns:a="http://schemas.openxmlformats.org/drawingml/2006/main" x="390525" y="1714500"/>
          <a:ext xmlns:a="http://schemas.openxmlformats.org/drawingml/2006/main" cx="11410952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0242"/>
                <a:gridCol w="2345167"/>
                <a:gridCol w="2205318"/>
                <a:gridCol w="2057849"/>
                <a:gridCol w="1881188"/>
                <a:gridCol w="1881188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  <a:endParaRPr sz="16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评审对象</a:t>
                      </a: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核对重点</a:t>
                      </a: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确认主体</a:t>
                      </a: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不通过处理</a:t>
                      </a:r>
                      <a:endParaRPr sz="16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47625" marB="47625" anchor="ctr">
                    <a:solidFill>
                      <a:srgbClr val="00000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目的/边界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符合当前做法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业务核对人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来源/核对表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返回部门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A1步骤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主体/动作/结果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业务核对人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3001 JSON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逐项整改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分支/退回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条件和去向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业务核对人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流程图/JSON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补证或待定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主表/明细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不删减、不合并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业务专业人员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表单原件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顺序写入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承接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跨部门待办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部门/输入/输出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相关部门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承接记录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分歧登记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v3引用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唯一且无损坏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MDM工作组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预审清单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硬错必改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预览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内容摘要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与文件一致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部门MDM审核员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3000记录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不一致停止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身份/审计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权限、依据、幂等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部门MDM审核员</a:t>
                      </a: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导入记录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失败不放行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6F6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已导入≠已发布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PMO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行动台账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后续另排</a:t>
                      </a:r>
                      <a:endParaRPr sz="165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6FF94A03-C3C0-4349-8214-00C4CC1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少一项证据，就退回到对应流程、行为、表单或审核记录。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4ADECD0E-4784-482F-B9FE-8321295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756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4660D4-E3DA-4F1E-AF88-F02446B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主数据不是“重要字段”，先过8个识别问题</a:t>
            </a:r>
          </a:p>
        </p:txBody>
      </p:sp>
      <p:sp>
        <p:nvSpPr>
          <p:cNvPr id="2" name="s8-num-0">
            <a:extLst xmlns:a="http://schemas.openxmlformats.org/drawingml/2006/main">
              <a:ext uri="{FF2B5EF4-FFF2-40B4-BE49-F238E27FC236}">
                <a16:creationId xmlns:a16="http://schemas.microsoft.com/office/drawing/2014/main" id="{32CF55BE-C1FA-4831-90EA-9B017FBE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s8-h-0">
            <a:extLst xmlns:a="http://schemas.openxmlformats.org/drawingml/2006/main">
              <a:ext uri="{FF2B5EF4-FFF2-40B4-BE49-F238E27FC236}">
                <a16:creationId xmlns:a16="http://schemas.microsoft.com/office/drawing/2014/main" id="{8B4AD6A3-BDD9-4BB7-9CCB-C58C474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是什么对象</a:t>
            </a:r>
          </a:p>
        </p:txBody>
      </p:sp>
      <p:sp>
        <p:nvSpPr>
          <p:cNvPr id="4" name="s8-b-0">
            <a:extLst xmlns:a="http://schemas.openxmlformats.org/drawingml/2006/main">
              <a:ext uri="{FF2B5EF4-FFF2-40B4-BE49-F238E27FC236}">
                <a16:creationId xmlns:a16="http://schemas.microsoft.com/office/drawing/2014/main" id="{3486D21A-139F-4F33-A95F-54603CB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稳定对象还是一次记录</a:t>
            </a:r>
          </a:p>
        </p:txBody>
      </p:sp>
      <p:sp>
        <p:nvSpPr>
          <p:cNvPr id="5" name="s8-num-1">
            <a:extLst xmlns:a="http://schemas.openxmlformats.org/drawingml/2006/main">
              <a:ext uri="{FF2B5EF4-FFF2-40B4-BE49-F238E27FC236}">
                <a16:creationId xmlns:a16="http://schemas.microsoft.com/office/drawing/2014/main" id="{CA190BB7-16BA-4D32-B88D-6D6D4F20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8-h-1">
            <a:extLst xmlns:a="http://schemas.openxmlformats.org/drawingml/2006/main">
              <a:ext uri="{FF2B5EF4-FFF2-40B4-BE49-F238E27FC236}">
                <a16:creationId xmlns:a16="http://schemas.microsoft.com/office/drawing/2014/main" id="{183D354E-F780-4B8A-8DA4-B13888C6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跨流程复用吗</a:t>
            </a:r>
          </a:p>
        </p:txBody>
      </p:sp>
      <p:sp>
        <p:nvSpPr>
          <p:cNvPr id="7" name="s8-b-1">
            <a:extLst xmlns:a="http://schemas.openxmlformats.org/drawingml/2006/main">
              <a:ext uri="{FF2B5EF4-FFF2-40B4-BE49-F238E27FC236}">
                <a16:creationId xmlns:a16="http://schemas.microsoft.com/office/drawing/2014/main" id="{B74D325F-33C6-4CD8-A1E9-61B8F489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是否被长期共同引用</a:t>
            </a:r>
          </a:p>
        </p:txBody>
      </p:sp>
      <p:sp>
        <p:nvSpPr>
          <p:cNvPr id="8" name="s8-num-2">
            <a:extLst xmlns:a="http://schemas.openxmlformats.org/drawingml/2006/main">
              <a:ext uri="{FF2B5EF4-FFF2-40B4-BE49-F238E27FC236}">
                <a16:creationId xmlns:a16="http://schemas.microsoft.com/office/drawing/2014/main" id="{393F5C11-D32E-411B-A3B9-1FE1A83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s8-h-2">
            <a:extLst xmlns:a="http://schemas.openxmlformats.org/drawingml/2006/main">
              <a:ext uri="{FF2B5EF4-FFF2-40B4-BE49-F238E27FC236}">
                <a16:creationId xmlns:a16="http://schemas.microsoft.com/office/drawing/2014/main" id="{2CEB7F0A-54F9-4E26-8AA8-4CD22AE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怎样唯一识别</a:t>
            </a:r>
          </a:p>
        </p:txBody>
      </p:sp>
      <p:sp>
        <p:nvSpPr>
          <p:cNvPr id="10" name="s8-b-2">
            <a:extLst xmlns:a="http://schemas.openxmlformats.org/drawingml/2006/main">
              <a:ext uri="{FF2B5EF4-FFF2-40B4-BE49-F238E27FC236}">
                <a16:creationId xmlns:a16="http://schemas.microsoft.com/office/drawing/2014/main" id="{A7C70162-2446-4F41-874E-6E679AF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稳定标识和重复规则</a:t>
            </a:r>
          </a:p>
        </p:txBody>
      </p:sp>
      <p:sp>
        <p:nvSpPr>
          <p:cNvPr id="11" name="s8-num-3">
            <a:extLst xmlns:a="http://schemas.openxmlformats.org/drawingml/2006/main">
              <a:ext uri="{FF2B5EF4-FFF2-40B4-BE49-F238E27FC236}">
                <a16:creationId xmlns:a16="http://schemas.microsoft.com/office/drawing/2014/main" id="{0301CC26-BEC3-4058-A8BA-2A05F85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7716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s8-h-3">
            <a:extLst xmlns:a="http://schemas.openxmlformats.org/drawingml/2006/main">
              <a:ext uri="{FF2B5EF4-FFF2-40B4-BE49-F238E27FC236}">
                <a16:creationId xmlns:a16="http://schemas.microsoft.com/office/drawing/2014/main" id="{D14F5E20-932C-420E-97DD-2A4AAB69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228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生命周期清楚吗</a:t>
            </a:r>
          </a:p>
        </p:txBody>
      </p:sp>
      <p:sp>
        <p:nvSpPr>
          <p:cNvPr id="13" name="s8-b-3">
            <a:extLst xmlns:a="http://schemas.openxmlformats.org/drawingml/2006/main">
              <a:ext uri="{FF2B5EF4-FFF2-40B4-BE49-F238E27FC236}">
                <a16:creationId xmlns:a16="http://schemas.microsoft.com/office/drawing/2014/main" id="{7D55419E-3EA6-4793-A0E2-038578D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7051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新建、变更、停用</a:t>
            </a:r>
          </a:p>
        </p:txBody>
      </p:sp>
      <p:sp>
        <p:nvSpPr>
          <p:cNvPr id="14" name="s8-num-4">
            <a:extLst xmlns:a="http://schemas.openxmlformats.org/drawingml/2006/main">
              <a:ext uri="{FF2B5EF4-FFF2-40B4-BE49-F238E27FC236}">
                <a16:creationId xmlns:a16="http://schemas.microsoft.com/office/drawing/2014/main" id="{42E18ABD-7F67-4797-9DB9-76F9D310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s8-h-4">
            <a:extLst xmlns:a="http://schemas.openxmlformats.org/drawingml/2006/main">
              <a:ext uri="{FF2B5EF4-FFF2-40B4-BE49-F238E27FC236}">
                <a16:creationId xmlns:a16="http://schemas.microsoft.com/office/drawing/2014/main" id="{B6558BA1-9B73-4163-B103-FB728CA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谁定义</a:t>
            </a:r>
          </a:p>
        </p:txBody>
      </p:sp>
      <p:sp>
        <p:nvSpPr>
          <p:cNvPr id="16" name="s8-b-4">
            <a:extLst xmlns:a="http://schemas.openxmlformats.org/drawingml/2006/main">
              <a:ext uri="{FF2B5EF4-FFF2-40B4-BE49-F238E27FC236}">
                <a16:creationId xmlns:a16="http://schemas.microsoft.com/office/drawing/2014/main" id="{1D9BD0C9-3E26-418E-B6A4-BAB3103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业务含义和责任边界</a:t>
            </a:r>
          </a:p>
        </p:txBody>
      </p:sp>
      <p:sp>
        <p:nvSpPr>
          <p:cNvPr id="17" name="s8-num-5">
            <a:extLst xmlns:a="http://schemas.openxmlformats.org/drawingml/2006/main">
              <a:ext uri="{FF2B5EF4-FFF2-40B4-BE49-F238E27FC236}">
                <a16:creationId xmlns:a16="http://schemas.microsoft.com/office/drawing/2014/main" id="{176CF2A2-1B17-4D18-853E-7589D4B1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s8-h-5">
            <a:extLst xmlns:a="http://schemas.openxmlformats.org/drawingml/2006/main">
              <a:ext uri="{FF2B5EF4-FFF2-40B4-BE49-F238E27FC236}">
                <a16:creationId xmlns:a16="http://schemas.microsoft.com/office/drawing/2014/main" id="{588ADAF0-089E-454F-9C8F-14D3F054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谁维护</a:t>
            </a:r>
          </a:p>
        </p:txBody>
      </p:sp>
      <p:sp>
        <p:nvSpPr>
          <p:cNvPr id="19" name="s8-b-5">
            <a:extLst xmlns:a="http://schemas.openxmlformats.org/drawingml/2006/main">
              <a:ext uri="{FF2B5EF4-FFF2-40B4-BE49-F238E27FC236}">
                <a16:creationId xmlns:a16="http://schemas.microsoft.com/office/drawing/2014/main" id="{976FB56A-4A06-48D8-A43B-A73729C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新增、修改和质量处理</a:t>
            </a:r>
          </a:p>
        </p:txBody>
      </p:sp>
      <p:sp>
        <p:nvSpPr>
          <p:cNvPr id="20" name="s8-num-6">
            <a:extLst xmlns:a="http://schemas.openxmlformats.org/drawingml/2006/main">
              <a:ext uri="{FF2B5EF4-FFF2-40B4-BE49-F238E27FC236}">
                <a16:creationId xmlns:a16="http://schemas.microsoft.com/office/drawing/2014/main" id="{714C540F-09E8-4FAB-943F-AC73452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s8-h-6">
            <a:extLst xmlns:a="http://schemas.openxmlformats.org/drawingml/2006/main">
              <a:ext uri="{FF2B5EF4-FFF2-40B4-BE49-F238E27FC236}">
                <a16:creationId xmlns:a16="http://schemas.microsoft.com/office/drawing/2014/main" id="{27555860-45F4-403E-A5F5-5AF556E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真源在哪里</a:t>
            </a:r>
          </a:p>
        </p:txBody>
      </p:sp>
      <p:sp>
        <p:nvSpPr>
          <p:cNvPr id="22" name="s8-b-6">
            <a:extLst xmlns:a="http://schemas.openxmlformats.org/drawingml/2006/main">
              <a:ext uri="{FF2B5EF4-FFF2-40B4-BE49-F238E27FC236}">
                <a16:creationId xmlns:a16="http://schemas.microsoft.com/office/drawing/2014/main" id="{41A40286-C1A3-4524-B6F0-D4F4E6B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权威来源和冲突依据</a:t>
            </a:r>
          </a:p>
        </p:txBody>
      </p:sp>
      <p:sp>
        <p:nvSpPr>
          <p:cNvPr id="23" name="s8-num-7">
            <a:extLst xmlns:a="http://schemas.openxmlformats.org/drawingml/2006/main">
              <a:ext uri="{FF2B5EF4-FFF2-40B4-BE49-F238E27FC236}">
                <a16:creationId xmlns:a16="http://schemas.microsoft.com/office/drawing/2014/main" id="{6C4608A6-8415-4EFF-8D1C-52D2FA4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905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4" name="s8-h-7">
            <a:extLst xmlns:a="http://schemas.openxmlformats.org/drawingml/2006/main">
              <a:ext uri="{FF2B5EF4-FFF2-40B4-BE49-F238E27FC236}">
                <a16:creationId xmlns:a16="http://schemas.microsoft.com/office/drawing/2014/main" id="{03EBF589-C47E-472B-825C-14F46F77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在哪里使用</a:t>
            </a:r>
          </a:p>
        </p:txBody>
      </p:sp>
      <p:sp>
        <p:nvSpPr>
          <p:cNvPr id="25" name="s8-b-7">
            <a:extLst xmlns:a="http://schemas.openxmlformats.org/drawingml/2006/main">
              <a:ext uri="{FF2B5EF4-FFF2-40B4-BE49-F238E27FC236}">
                <a16:creationId xmlns:a16="http://schemas.microsoft.com/office/drawing/2014/main" id="{4CC7447C-0B74-4AC4-96AD-D2CF9004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8387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流程、系统和上下文</a:t>
            </a:r>
          </a:p>
        </p:txBody>
      </p:sp>
      <p:sp>
        <p:nvSpPr>
          <p:cNvPr id="26" name="s8-callout">
            <a:extLst xmlns:a="http://schemas.openxmlformats.org/drawingml/2006/main">
              <a:ext uri="{FF2B5EF4-FFF2-40B4-BE49-F238E27FC236}">
                <a16:creationId xmlns:a16="http://schemas.microsoft.com/office/drawing/2014/main" id="{EC55A5AF-8893-437B-B89E-EC890EA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1410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8-callout-text">
            <a:extLst xmlns:a="http://schemas.openxmlformats.org/drawingml/2006/main">
              <a:ext uri="{FF2B5EF4-FFF2-40B4-BE49-F238E27FC236}">
                <a16:creationId xmlns:a16="http://schemas.microsoft.com/office/drawing/2014/main" id="{AE7EEA92-A19F-43C2-8CEE-F3F03B47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959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同名不等于同一对象；字段重要也不等于主数据。</a:t>
            </a:r>
          </a:p>
        </p:txBody>
      </p:sp>
      <p:sp>
        <p:nvSpPr>
          <p:cNvPr id="28" name="page-8">
            <a:extLst xmlns:a="http://schemas.openxmlformats.org/drawingml/2006/main">
              <a:ext uri="{FF2B5EF4-FFF2-40B4-BE49-F238E27FC236}">
                <a16:creationId xmlns:a16="http://schemas.microsoft.com/office/drawing/2014/main" id="{E894AD63-BF06-4789-BB88-7D231F3C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5337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两条样板流程先形成“待确认”的主数据识别清单</a:t>
            </a:r>
          </a:p>
        </p:txBody>
      </p:sp>
      <p:sp>
        <p:nvSpPr>
          <p:cNvPr id="2" name="s10-lead">
            <a:extLst xmlns:a="http://schemas.openxmlformats.org/drawingml/2006/main"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会中只确认识别问题和责任主体，不把初步对象直接写成治理结论。</a:t>
            </a:r>
          </a:p>
        </p:txBody>
      </p:sp>
      <p:sp>
        <p:nvSpPr>
          <p:cNvPr id="3" name="s10-left">
            <a:extLst xmlns:a="http://schemas.openxmlformats.org/drawingml/2006/main"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0-right">
            <a:extLst xmlns:a="http://schemas.openxmlformats.org/drawingml/2006/main"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left-tag">
            <a:extLst xmlns:a="http://schemas.openxmlformats.org/drawingml/2006/main"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工程技术部</a:t>
            </a:r>
          </a:p>
        </p:txBody>
      </p:sp>
      <p:sp>
        <p:nvSpPr>
          <p:cNvPr id="6" name="s10-left-title">
            <a:extLst xmlns:a="http://schemas.openxmlformats.org/drawingml/2006/main"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ERP物料主数据维护</a:t>
            </a:r>
            <a:endParaRPr sz="2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初步核对对象：物料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六张业务视图分别保留，不默认合并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核对唯一标识、生命周期和字段责任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核对来源及系统使用关系</a:t>
            </a:r>
          </a:p>
        </p:txBody>
      </p:sp>
      <p:sp>
        <p:nvSpPr>
          <p:cNvPr id="8" name="s10-right-tag">
            <a:extLst xmlns:a="http://schemas.openxmlformats.org/drawingml/2006/main"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行政人事部</a:t>
            </a:r>
          </a:p>
        </p:txBody>
      </p:sp>
      <p:sp>
        <p:nvSpPr>
          <p:cNvPr id="9" name="s10-right-title">
            <a:extLst xmlns:a="http://schemas.openxmlformats.org/drawingml/2006/main"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岗位变动管理</a:t>
            </a:r>
            <a:endParaRPr sz="24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初步核对：人员、岗位、组织或部门</a:t>
            </a:r>
            <a:endParaRPr sz="1800" b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保留内部调动与跨部门调动差异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表单、审批、交接记录不直接定为主数据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核对对象标识、责任边界和有效状态</a:t>
            </a:r>
            <a:endParaRPr sz="1800" b="0">
              <a:solidFill>
                <a:srgbClr val="5E646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10-status">
            <a:extLst xmlns:a="http://schemas.openxmlformats.org/drawingml/2006/main"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0-status-text">
            <a:extLst xmlns:a="http://schemas.openxmlformats.org/drawingml/2006/main"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34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输出只写“待确认”或“已确认”；待定本身不自动升级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业务讲事实，MDM做结构，PMO管过程</a:t>
            </a:r>
          </a:p>
        </p:txBody>
      </p:sp>
      <p:sp>
        <p:nvSpPr>
          <p:cNvPr id="2" name="s10-lead">
            <a:extLst xmlns:a="http://schemas.openxmlformats.org/drawingml/2006/main"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同一项内容由不同角色分别核对；任何角色都不能跨越业务确认和3000审核边界。</a:t>
            </a:r>
          </a:p>
        </p:txBody>
      </p:sp>
      <p:sp>
        <p:nvSpPr>
          <p:cNvPr id="3" name="s10-left">
            <a:extLst xmlns:a="http://schemas.openxmlformats.org/drawingml/2006/main"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0-right">
            <a:extLst xmlns:a="http://schemas.openxmlformats.org/drawingml/2006/main"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5435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left-tag">
            <a:extLst xmlns:a="http://schemas.openxmlformats.org/drawingml/2006/main"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流程评审</a:t>
            </a:r>
          </a:p>
        </p:txBody>
      </p:sp>
      <p:sp>
        <p:nvSpPr>
          <p:cNvPr id="6" name="s10-left-title">
            <a:extLst xmlns:a="http://schemas.openxmlformats.org/drawingml/2006/main"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部门 + MDM工作组</a:t>
            </a:r>
          </a:p>
        </p:txBody>
      </p:sp>
      <p:sp>
        <p:nvSpPr>
          <p:cNvPr id="7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业务部门确认现行做法、表单和责任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编制人只维护一份当前3001 JSON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MDM工作组检查结构和版本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Codex只输出独立预审问题清单</a:t>
            </a:r>
          </a:p>
        </p:txBody>
      </p:sp>
      <p:sp>
        <p:nvSpPr>
          <p:cNvPr id="8" name="s10-right-tag">
            <a:extLst xmlns:a="http://schemas.openxmlformats.org/drawingml/2006/main"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主数据识别</a:t>
            </a:r>
          </a:p>
        </p:txBody>
      </p:sp>
      <p:sp>
        <p:nvSpPr>
          <p:cNvPr id="9" name="s10-right-title">
            <a:extLst xmlns:a="http://schemas.openxmlformats.org/drawingml/2006/main"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有权主体 + PMO</a:t>
            </a:r>
          </a:p>
        </p:txBody>
      </p:sp>
      <p:sp>
        <p:nvSpPr>
          <p:cNvPr id="10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部门确认对象含义和责任边界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数据质量工作组核对跨部门一致性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有权主体确认或决定治理结论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PMO记录责任、期限、证据和关闭条件</a:t>
            </a:r>
          </a:p>
        </p:txBody>
      </p:sp>
      <p:sp>
        <p:nvSpPr>
          <p:cNvPr id="11" name="s10-status">
            <a:extLst xmlns:a="http://schemas.openxmlformats.org/drawingml/2006/main"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1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0-status-text">
            <a:extLst xmlns:a="http://schemas.openxmlformats.org/drawingml/2006/main"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34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3000由真实部门MDM审核员受控导入；admin不执行业务写入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865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12-eyebrow">
            <a:extLst xmlns:a="http://schemas.openxmlformats.org/drawingml/2006/main">
              <a:ext uri="{FF2B5EF4-FFF2-40B4-BE49-F238E27FC236}">
                <a16:creationId xmlns:a16="http://schemas.microsoft.com/office/drawing/2014/main" id="{56029CAE-F1BD-4DDA-AB60-929E160E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会议决定与会后行动</a:t>
            </a:r>
          </a:p>
        </p:txBody>
      </p:sp>
      <p:sp>
        <p:nvSpPr>
          <p:cNvPr id="2" name="s12-title">
            <a:extLst xmlns:a="http://schemas.openxmlformats.org/drawingml/2006/main">
              <a:ext uri="{FF2B5EF4-FFF2-40B4-BE49-F238E27FC236}">
                <a16:creationId xmlns:a16="http://schemas.microsoft.com/office/drawing/2014/main" id="{185DCD01-D3F6-409D-847A-69E05431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47800"/>
            <a:ext cx="942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今天会后只保留两类行动</a:t>
            </a:r>
          </a:p>
        </p:txBody>
      </p:sp>
      <p:sp>
        <p:nvSpPr>
          <p:cNvPr id="3" name="s12-rule">
            <a:extLst xmlns:a="http://schemas.openxmlformats.org/drawingml/2006/main">
              <a:ext uri="{FF2B5EF4-FFF2-40B4-BE49-F238E27FC236}">
                <a16:creationId xmlns:a16="http://schemas.microsoft.com/office/drawing/2014/main" id="{7B551BBC-7AB1-4561-94F9-4831FB7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2-one">
            <a:extLst xmlns:a="http://schemas.openxmlformats.org/drawingml/2006/main">
              <a:ext uri="{FF2B5EF4-FFF2-40B4-BE49-F238E27FC236}">
                <a16:creationId xmlns:a16="http://schemas.microsoft.com/office/drawing/2014/main" id="{8282081C-2D2F-482C-BD92-8D8FE8BB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813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12-one-text">
            <a:extLst xmlns:a="http://schemas.openxmlformats.org/drawingml/2006/main">
              <a:ext uri="{FF2B5EF4-FFF2-40B4-BE49-F238E27FC236}">
                <a16:creationId xmlns:a16="http://schemas.microsoft.com/office/drawing/2014/main" id="{2B3ED502-82D6-4F8F-B2AD-90F0119D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99" y="3105150"/>
            <a:ext cx="660284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流程评审：确认人员、资料版本和评审问题清单。</a:t>
            </a:r>
          </a:p>
        </p:txBody>
      </p:sp>
      <p:sp>
        <p:nvSpPr>
          <p:cNvPr id="6" name="s12-two">
            <a:extLst xmlns:a="http://schemas.openxmlformats.org/drawingml/2006/main">
              <a:ext uri="{FF2B5EF4-FFF2-40B4-BE49-F238E27FC236}">
                <a16:creationId xmlns:a16="http://schemas.microsoft.com/office/drawing/2014/main" id="{4EA672A8-6D9F-4653-B78A-78AF6BF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338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s12-two-text">
            <a:extLst xmlns:a="http://schemas.openxmlformats.org/drawingml/2006/main">
              <a:ext uri="{FF2B5EF4-FFF2-40B4-BE49-F238E27FC236}">
                <a16:creationId xmlns:a16="http://schemas.microsoft.com/office/drawing/2014/main" id="{B1EDAAEA-69CC-4BEA-848D-B584FA5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主数据识别：登记对象、证据、责任和待定事项。</a:t>
            </a:r>
            <a:endParaRPr sz="2700" b="1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12-callout">
            <a:extLst xmlns:a="http://schemas.openxmlformats.org/drawingml/2006/main">
              <a:ext uri="{FF2B5EF4-FFF2-40B4-BE49-F238E27FC236}">
                <a16:creationId xmlns:a16="http://schemas.microsoft.com/office/drawing/2014/main" id="{784F046D-B843-4C64-B08E-EDFA75D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11410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2-callout-text">
            <a:extLst xmlns:a="http://schemas.openxmlformats.org/drawingml/2006/main">
              <a:ext uri="{FF2B5EF4-FFF2-40B4-BE49-F238E27FC236}">
                <a16:creationId xmlns:a16="http://schemas.microsoft.com/office/drawing/2014/main" id="{8FB5BAB5-C2AF-41F4-B013-7F9E3017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959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8月14日门槛未全部关闭，8月17日计划按工作日整体顺延。</a:t>
            </a:r>
          </a:p>
        </p:txBody>
      </p:sp>
    </p:spTree>
    <p:extLst>
      <p:ext uri="{BB962C8B-B14F-4D97-AF65-F5344CB8AC3E}">
        <p14:creationId xmlns:p14="http://schemas.microsoft.com/office/powerpoint/2010/main" val="420296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2026-08-12T02:35:12.8460000Z</dcterms:created>
  <dcterms:modified xsi:type="dcterms:W3CDTF">2026-08-12T02:35:12.8460000Z</dcterms:modified>
</coreProperties>
</file>