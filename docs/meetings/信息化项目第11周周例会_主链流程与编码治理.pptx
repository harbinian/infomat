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8d674621274ca7" /><Relationship Type="http://schemas.openxmlformats.org/officeDocument/2006/relationships/extended-properties" Target="/docProps/app.xml" Id="Recdf7ba3c08944cd" /><Relationship Type="http://schemas.openxmlformats.org/officeDocument/2006/relationships/officeDocument" Target="/ppt/presentation.xml" Id="R11452f67b9ec48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3d4992ae824ae7"/>
  </p:sldMasterIdLst>
  <p:notesMasterIdLst>
    <p:notesMasterId xmlns:r="http://schemas.openxmlformats.org/officeDocument/2006/relationships" r:id="R91c24e9bf89647a3"/>
  </p:notesMasterIdLst>
  <p:sldIdLst>
    <p:sldId xmlns:r="http://schemas.openxmlformats.org/officeDocument/2006/relationships" id="256" r:id="R57a0c7987302418b"/>
    <p:sldId xmlns:r="http://schemas.openxmlformats.org/officeDocument/2006/relationships" id="257" r:id="R01a7ebea5341401a"/>
    <p:sldId xmlns:r="http://schemas.openxmlformats.org/officeDocument/2006/relationships" id="258" r:id="R9b20251100bf412c"/>
    <p:sldId xmlns:r="http://schemas.openxmlformats.org/officeDocument/2006/relationships" id="259" r:id="R34137a4bf7154a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2d1075c7e84480" /><Relationship Type="http://schemas.openxmlformats.org/officeDocument/2006/relationships/slideMaster" Target="/ppt/slideMasters/slideMaster1.xml" Id="Rc13d4992ae824ae7" /><Relationship Type="http://schemas.openxmlformats.org/officeDocument/2006/relationships/notesMaster" Target="/ppt/notesMasters/notesMaster1.xml" Id="R91c24e9bf89647a3" /><Relationship Type="http://schemas.openxmlformats.org/officeDocument/2006/relationships/presProps" Target="/ppt/presProps.xml" Id="R3d6d384483e64f6e" /><Relationship Type="http://schemas.openxmlformats.org/officeDocument/2006/relationships/tableStyles" Target="/ppt/tableStyles.xml" Id="Rdddb3c6faf784b4d" /><Relationship Type="http://schemas.openxmlformats.org/officeDocument/2006/relationships/slide" Target="/ppt/slides/slide1.xml" Id="R57a0c7987302418b" /><Relationship Type="http://schemas.openxmlformats.org/officeDocument/2006/relationships/slide" Target="/ppt/slides/slide2.xml" Id="R01a7ebea5341401a" /><Relationship Type="http://schemas.openxmlformats.org/officeDocument/2006/relationships/slide" Target="/ppt/slides/slide3.xml" Id="R9b20251100bf412c" /><Relationship Type="http://schemas.openxmlformats.org/officeDocument/2006/relationships/slide" Target="/ppt/slides/slide4.xml" Id="R34137a4bf7154a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3794755f6346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7af5fac7b141a0" /><Relationship Type="http://schemas.openxmlformats.org/officeDocument/2006/relationships/notesMaster" Target="/ppt/notesMasters/notesMaster1.xml" Id="Re23a2419a97743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21506876874347" /><Relationship Type="http://schemas.openxmlformats.org/officeDocument/2006/relationships/notesMaster" Target="/ppt/notesMasters/notesMaster1.xml" Id="R44532bd6da6e46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b84445994844db" /><Relationship Type="http://schemas.openxmlformats.org/officeDocument/2006/relationships/notesMaster" Target="/ppt/notesMasters/notesMaster1.xml" Id="R741193e43fc446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0addf60525418d" /><Relationship Type="http://schemas.openxmlformats.org/officeDocument/2006/relationships/notesMaster" Target="/ppt/notesMasters/notesMaster1.xml" Id="Ra2fa29fd32034b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结论：各部门提交的主链流程数量严重不足，拼接工作无法启动。缺少连续的上下游流程输入，就无法对照各方的行为衔接与数据交付，核对流程间、部门间的偏差。本页依据本次会议要求，不列未经提供的部门数量或完成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用户本次提供的第11周周例会要点第1项（2026-09-09）。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周各部门需按照9月9日在信息化项目组群中申报的JSON编制计划执行。流程范围、数量和完成节点以各部门已申报内容为准。会议强调落实既有计划，按计划编制并提交，为后续主链拼接提供输入。9月9日是计划申报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用户本次提供的第11周周例会要点第2项（2026-09-09）。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技术部、物资保障部、财务部需参加主数据编码规范评审。可围绕对象边界、规则在实际业务中的使用、历史编码与业务引用的衔接开展讨论。三个关注点属于建议评审内容。各部门对自身业务事实作出说明，未取得有权主体确认的事项保持待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用户本次提供的第11周周例会要点第3项（2026-09-09）。</a:t>
            </a:r>
          </a:p>
          <a:p xmlns:a="http://schemas.openxmlformats.org/drawingml/2006/main">
            <a:r>
              <a:t>E:/CA001/Infomat/docs/architecture/data-governance-operating-rules.md，第四、六、九节：事实与治理结论分层、对象身份判断和责任边界。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部门需解释存货档案中一物多码现象的成因，再据此会同MDM工作组制定清洗方案。先说明物料身份、编码建立背景和实际使用情况，避免仅凭名称相同就作合并判断。清洗方案可以按成因分类，明确新旧编码对应、业务引用处理和验证方法；信息不足的条目继续保留待确认。这里要求的是说明成因和共同制定方案，不表示清洗已经执行或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用户本次提供的第11周周例会要点第4项（2026-09-09）。</a:t>
            </a:r>
          </a:p>
          <a:p xmlns:a="http://schemas.openxmlformats.org/drawingml/2006/main">
            <a:r>
              <a:t>E:/CA001/Infomat/docs/architecture/data-governance-operating-rules.md，第六、七、九节：名称不能单独证明对象身份、证据与责任边界。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9bf6cf50a844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1bd2f719ae455b" /><Relationship Type="http://schemas.openxmlformats.org/officeDocument/2006/relationships/slideLayout" Target="/ppt/slideLayouts/slideLayout1.xml" Id="R3e60e8e0b6ea4d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60e8e0b6ea4d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69070c94b41a8" /><Relationship Type="http://schemas.openxmlformats.org/officeDocument/2006/relationships/notesSlide" Target="/ppt/notesSlides/notesSlide1.xml" Id="Radd17d13b5be4e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ff62148b04e36" /><Relationship Type="http://schemas.openxmlformats.org/officeDocument/2006/relationships/notesSlide" Target="/ppt/notesSlides/notesSlide2.xml" Id="R9dfe3f62b3a842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6f3a7484e4da2" /><Relationship Type="http://schemas.openxmlformats.org/officeDocument/2006/relationships/notesSlide" Target="/ppt/notesSlides/notesSlide3.xml" Id="R38ea816629b54a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b169e3723468c" /><Relationship Type="http://schemas.openxmlformats.org/officeDocument/2006/relationships/notesSlide" Target="/ppt/notesSlides/notesSlide4.xml" Id="R51848b362a454c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B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eeting-label">
            <a:extLst xmlns:a="http://schemas.openxmlformats.org/drawingml/2006/main">
              <a:ext uri="{FF2B5EF4-FFF2-40B4-BE49-F238E27FC236}">
                <a16:creationId xmlns:a16="http://schemas.microsoft.com/office/drawing/2014/main" id="{EA793984-8F21-4C0A-BE1A-7D476BBA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C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CBD6"/>
                </a:solidFill>
                <a:latin typeface="Microsoft YaHei"/>
                <a:ea typeface="Microsoft YaHei"/>
                <a:cs typeface="Microsoft YaHei"/>
              </a:rPr>
              <a:t>信息化项目第11周周例会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A2CC4D8-9B0E-4772-8403-6ADBEB71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81000"/>
            <a:ext cx="1076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B9C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CBD6"/>
                </a:solidFill>
                <a:latin typeface="Microsoft YaHei"/>
                <a:ea typeface="Microsoft YaHei"/>
                <a:cs typeface="Microsoft YaHei"/>
              </a:rPr>
              <a:t>01 / 04</a:t>
            </a:r>
          </a:p>
        </p:txBody>
      </p:sp>
      <p:sp>
        <p:nvSpPr>
          <p:cNvPr id="3" name="divider-94">
            <a:extLst xmlns:a="http://schemas.openxmlformats.org/drawingml/2006/main">
              <a:ext uri="{FF2B5EF4-FFF2-40B4-BE49-F238E27FC236}">
                <a16:creationId xmlns:a16="http://schemas.microsoft.com/office/drawing/2014/main" id="{27B0E72D-9EA1-4B6D-AC6A-3AC0C753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6071"/>
            </a:solidFill>
          </a:ln>
        </p:spPr>
      </p:sp>
      <p:sp>
        <p:nvSpPr>
          <p:cNvPr id="4" name="topic-label">
            <a:extLst xmlns:a="http://schemas.openxmlformats.org/drawingml/2006/main">
              <a:ext uri="{FF2B5EF4-FFF2-40B4-BE49-F238E27FC236}">
                <a16:creationId xmlns:a16="http://schemas.microsoft.com/office/drawing/2014/main" id="{6B9892C3-5613-48C2-9A10-E164F64D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C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9CBD6"/>
                </a:solidFill>
                <a:latin typeface="Microsoft YaHei"/>
                <a:ea typeface="Microsoft YaHei"/>
                <a:cs typeface="Microsoft YaHei"/>
              </a:rPr>
              <a:t>一、主链流程提交情况</a:t>
            </a:r>
          </a:p>
        </p:txBody>
      </p:sp>
      <p:sp>
        <p:nvSpPr>
          <p:cNvPr id="5" name="title-line-1">
            <a:extLst xmlns:a="http://schemas.openxmlformats.org/drawingml/2006/main">
              <a:ext uri="{FF2B5EF4-FFF2-40B4-BE49-F238E27FC236}">
                <a16:creationId xmlns:a16="http://schemas.microsoft.com/office/drawing/2014/main" id="{465F59CA-BBA6-4E77-9008-633E95AE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主链流程数量严重不足</a:t>
            </a:r>
          </a:p>
        </p:txBody>
      </p:sp>
      <p:sp>
        <p:nvSpPr>
          <p:cNvPr id="6" name="title-line-2">
            <a:extLst xmlns:a="http://schemas.openxmlformats.org/drawingml/2006/main">
              <a:ext uri="{FF2B5EF4-FFF2-40B4-BE49-F238E27FC236}">
                <a16:creationId xmlns:a16="http://schemas.microsoft.com/office/drawing/2014/main" id="{F41CF191-BF0A-43A3-8742-9CEC63EB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5B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5BF67"/>
                </a:solidFill>
                <a:latin typeface="Microsoft YaHei"/>
                <a:ea typeface="Microsoft YaHei"/>
                <a:cs typeface="Microsoft YaHei"/>
              </a:rPr>
              <a:t>拼接工作无法启动</a:t>
            </a:r>
          </a:p>
        </p:txBody>
      </p:sp>
      <p:sp>
        <p:nvSpPr>
          <p:cNvPr id="7" name="impact">
            <a:extLst xmlns:a="http://schemas.openxmlformats.org/drawingml/2006/main">
              <a:ext uri="{FF2B5EF4-FFF2-40B4-BE49-F238E27FC236}">
                <a16:creationId xmlns:a16="http://schemas.microsoft.com/office/drawing/2014/main" id="{D74D8441-C765-4CA1-9396-DBABE517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缺少可核对的流程输入，流程之间、部门之间的</a:t>
            </a:r>
          </a:p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行为与数据偏差核对无法开展。</a:t>
            </a:r>
          </a:p>
        </p:txBody>
      </p:sp>
      <p:sp>
        <p:nvSpPr>
          <p:cNvPr id="8" name="divider-463">
            <a:extLst xmlns:a="http://schemas.openxmlformats.org/drawingml/2006/main">
              <a:ext uri="{FF2B5EF4-FFF2-40B4-BE49-F238E27FC236}">
                <a16:creationId xmlns:a16="http://schemas.microsoft.com/office/drawing/2014/main" id="{B9DC5824-DBAE-4AA8-9685-0DB936FD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6071"/>
            </a:solidFill>
          </a:ln>
        </p:spPr>
      </p:sp>
      <p:sp>
        <p:nvSpPr>
          <p:cNvPr id="9" name="behavior-label">
            <a:extLst xmlns:a="http://schemas.openxmlformats.org/drawingml/2006/main">
              <a:ext uri="{FF2B5EF4-FFF2-40B4-BE49-F238E27FC236}">
                <a16:creationId xmlns:a16="http://schemas.microsoft.com/office/drawing/2014/main" id="{FA0B85C9-77F3-40F8-91CF-68DEE5B1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B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5BF67"/>
                </a:solidFill>
                <a:latin typeface="Microsoft YaHei"/>
                <a:ea typeface="Microsoft YaHei"/>
                <a:cs typeface="Microsoft YaHei"/>
              </a:rPr>
              <a:t>行为衔接无法核对</a:t>
            </a:r>
          </a:p>
        </p:txBody>
      </p:sp>
      <p:sp>
        <p:nvSpPr>
          <p:cNvPr id="10" name="behavior-detail">
            <a:extLst xmlns:a="http://schemas.openxmlformats.org/drawingml/2006/main">
              <a:ext uri="{FF2B5EF4-FFF2-40B4-BE49-F238E27FC236}">
                <a16:creationId xmlns:a16="http://schemas.microsoft.com/office/drawing/2014/main" id="{6211E4BC-CFE8-48AF-A80F-E1449C14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5048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上游做了什么，下游如何接续，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是否存在遗漏或理解偏差。</a:t>
            </a:r>
          </a:p>
        </p:txBody>
      </p:sp>
      <p:sp>
        <p:nvSpPr>
          <p:cNvPr id="11" name="data-label">
            <a:extLst xmlns:a="http://schemas.openxmlformats.org/drawingml/2006/main">
              <a:ext uri="{FF2B5EF4-FFF2-40B4-BE49-F238E27FC236}">
                <a16:creationId xmlns:a16="http://schemas.microsoft.com/office/drawing/2014/main" id="{D8377442-C337-48D8-AB03-B796316C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05350"/>
            <a:ext cx="4800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B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5BF67"/>
                </a:solidFill>
                <a:latin typeface="Microsoft YaHei"/>
                <a:ea typeface="Microsoft YaHei"/>
                <a:cs typeface="Microsoft YaHei"/>
              </a:rPr>
              <a:t>数据衔接无法核对</a:t>
            </a:r>
          </a:p>
        </p:txBody>
      </p:sp>
      <p:sp>
        <p:nvSpPr>
          <p:cNvPr id="12" name="data-detail">
            <a:extLst xmlns:a="http://schemas.openxmlformats.org/drawingml/2006/main">
              <a:ext uri="{FF2B5EF4-FFF2-40B4-BE49-F238E27FC236}">
                <a16:creationId xmlns:a16="http://schemas.microsoft.com/office/drawing/2014/main" id="{E3A8B71C-9749-4A2B-9B81-CFF800C5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48275"/>
            <a:ext cx="48006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交付什么、接收什么，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数据内容与口径是否一致。</a:t>
            </a:r>
          </a:p>
        </p:txBody>
      </p:sp>
    </p:spTree>
    <p:extLst>
      <p:ext uri="{BB962C8B-B14F-4D97-AF65-F5344CB8AC3E}">
        <p14:creationId xmlns:p14="http://schemas.microsoft.com/office/powerpoint/2010/main" val="6309667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meeting-label">
            <a:extLst xmlns:a="http://schemas.openxmlformats.org/drawingml/2006/main">
              <a:ext uri="{FF2B5EF4-FFF2-40B4-BE49-F238E27FC236}">
                <a16:creationId xmlns:a16="http://schemas.microsoft.com/office/drawing/2014/main" id="{1937E5F2-ECDE-4585-BC37-5F1CE54C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信息化项目第11周周例会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58A1EBE-6AD5-4777-B602-EAEB60EB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81000"/>
            <a:ext cx="1076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02 / 04</a:t>
            </a:r>
          </a:p>
        </p:txBody>
      </p:sp>
      <p:sp>
        <p:nvSpPr>
          <p:cNvPr id="3" name="divider-94">
            <a:extLst xmlns:a="http://schemas.openxmlformats.org/drawingml/2006/main">
              <a:ext uri="{FF2B5EF4-FFF2-40B4-BE49-F238E27FC236}">
                <a16:creationId xmlns:a16="http://schemas.microsoft.com/office/drawing/2014/main" id="{7F6F7F08-F033-445E-BF79-9FDCA53D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EE3"/>
            </a:solidFill>
          </a:ln>
        </p:spPr>
      </p:sp>
      <p:sp>
        <p:nvSpPr>
          <p:cNvPr id="4" name="topic-label">
            <a:extLst xmlns:a="http://schemas.openxmlformats.org/drawingml/2006/main">
              <a:ext uri="{FF2B5EF4-FFF2-40B4-BE49-F238E27FC236}">
                <a16:creationId xmlns:a16="http://schemas.microsoft.com/office/drawing/2014/main" id="{BAD1FAF4-F862-4AD4-928B-AA8261F4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二、本周 JSON 编制要求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8920D9C-96E3-431F-8243-5494C2DA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62F43"/>
                </a:solidFill>
                <a:latin typeface="Microsoft YaHei"/>
                <a:ea typeface="Microsoft YaHei"/>
                <a:cs typeface="Microsoft YaHei"/>
              </a:rPr>
              <a:t>本周按申报计划执行 JSON 编制</a:t>
            </a:r>
          </a:p>
        </p:txBody>
      </p:sp>
      <p:sp>
        <p:nvSpPr>
          <p:cNvPr id="6" name="date-context">
            <a:extLst xmlns:a="http://schemas.openxmlformats.org/drawingml/2006/main">
              <a:ext uri="{FF2B5EF4-FFF2-40B4-BE49-F238E27FC236}">
                <a16:creationId xmlns:a16="http://schemas.microsoft.com/office/drawing/2014/main" id="{5155AA3E-DACB-4CA7-B549-D00512EE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计划申报时间</a:t>
            </a:r>
          </a:p>
        </p:txBody>
      </p:sp>
      <p:sp>
        <p:nvSpPr>
          <p:cNvPr id="7" name="declaration-date">
            <a:extLst xmlns:a="http://schemas.openxmlformats.org/drawingml/2006/main">
              <a:ext uri="{FF2B5EF4-FFF2-40B4-BE49-F238E27FC236}">
                <a16:creationId xmlns:a16="http://schemas.microsoft.com/office/drawing/2014/main" id="{ECCF3B08-8AEC-464C-809C-049E751A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333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2468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24689A"/>
                </a:solidFill>
                <a:latin typeface="Microsoft YaHei"/>
                <a:ea typeface="Microsoft YaHei"/>
                <a:cs typeface="Microsoft YaHei"/>
              </a:rPr>
              <a:t>9月9日</a:t>
            </a:r>
          </a:p>
        </p:txBody>
      </p:sp>
      <p:sp>
        <p:nvSpPr>
          <p:cNvPr id="8" name="declaration-channel">
            <a:extLst xmlns:a="http://schemas.openxmlformats.org/drawingml/2006/main">
              <a:ext uri="{FF2B5EF4-FFF2-40B4-BE49-F238E27FC236}">
                <a16:creationId xmlns:a16="http://schemas.microsoft.com/office/drawing/2014/main" id="{C4DBCF87-41AB-4366-B92F-97318CAC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6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F43"/>
                </a:solidFill>
                <a:latin typeface="Microsoft YaHei"/>
                <a:ea typeface="Microsoft YaHei"/>
                <a:cs typeface="Microsoft YaHei"/>
              </a:rPr>
              <a:t>信息化项目组群</a:t>
            </a:r>
          </a:p>
        </p:txBody>
      </p:sp>
      <p:sp>
        <p:nvSpPr>
          <p:cNvPr id="9" name="instruction">
            <a:extLst xmlns:a="http://schemas.openxmlformats.org/drawingml/2006/main">
              <a:ext uri="{FF2B5EF4-FFF2-40B4-BE49-F238E27FC236}">
                <a16:creationId xmlns:a16="http://schemas.microsoft.com/office/drawing/2014/main" id="{EDC45D49-6780-443B-83FB-A4478EFB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533650"/>
            <a:ext cx="59912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2F43"/>
                </a:solidFill>
                <a:latin typeface="Microsoft YaHei"/>
                <a:ea typeface="Microsoft YaHei"/>
                <a:cs typeface="Microsoft YaHei"/>
              </a:rPr>
              <a:t>各部门按照本部门已申报的</a:t>
            </a:r>
          </a:p>
          <a:p xmlns:a="http://schemas.openxmlformats.org/drawingml/2006/main">
            <a:pPr algn="l">
              <a:defRPr sz="2550" b="1">
                <a:solidFill>
                  <a:srgbClr val="16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2F43"/>
                </a:solidFill>
                <a:latin typeface="Microsoft YaHei"/>
                <a:ea typeface="Microsoft YaHei"/>
                <a:cs typeface="Microsoft YaHei"/>
              </a:rPr>
              <a:t>JSON 编制计划执行。</a:t>
            </a:r>
          </a:p>
        </p:txBody>
      </p:sp>
      <p:sp>
        <p:nvSpPr>
          <p:cNvPr id="10" name="plan-detail">
            <a:extLst xmlns:a="http://schemas.openxmlformats.org/drawingml/2006/main">
              <a:ext uri="{FF2B5EF4-FFF2-40B4-BE49-F238E27FC236}">
                <a16:creationId xmlns:a16="http://schemas.microsoft.com/office/drawing/2014/main" id="{7E6C1AC6-5F28-4959-9D8A-98E56C0F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705225"/>
            <a:ext cx="59912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流程范围、编制数量和完成节点，</a:t>
            </a:r>
          </a:p>
          <a:p xmlns:a="http://schemas.openxmlformats.org/drawingml/2006/main">
            <a:pPr algn="l">
              <a:defRPr sz="21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均以群内申报计划为准。</a:t>
            </a:r>
          </a:p>
        </p:txBody>
      </p:sp>
      <p:sp>
        <p:nvSpPr>
          <p:cNvPr id="11" name="divider-523">
            <a:extLst xmlns:a="http://schemas.openxmlformats.org/drawingml/2006/main">
              <a:ext uri="{FF2B5EF4-FFF2-40B4-BE49-F238E27FC236}">
                <a16:creationId xmlns:a16="http://schemas.microsoft.com/office/drawing/2014/main" id="{66BF990E-2AFE-442B-9697-50A2B740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EE3"/>
            </a:solidFill>
          </a:ln>
        </p:spPr>
      </p:sp>
      <p:sp>
        <p:nvSpPr>
          <p:cNvPr id="12" name="weekly-focus-label">
            <a:extLst xmlns:a="http://schemas.openxmlformats.org/drawingml/2006/main">
              <a:ext uri="{FF2B5EF4-FFF2-40B4-BE49-F238E27FC236}">
                <a16:creationId xmlns:a16="http://schemas.microsoft.com/office/drawing/2014/main" id="{7201FDAF-0FFA-4A54-8986-2C947AFB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68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689A"/>
                </a:solidFill>
                <a:latin typeface="Microsoft YaHei"/>
                <a:ea typeface="Microsoft YaHei"/>
                <a:cs typeface="Microsoft YaHei"/>
              </a:rPr>
              <a:t>本周重点</a:t>
            </a:r>
          </a:p>
        </p:txBody>
      </p:sp>
      <p:sp>
        <p:nvSpPr>
          <p:cNvPr id="13" name="weekly-focus-detail">
            <a:extLst xmlns:a="http://schemas.openxmlformats.org/drawingml/2006/main">
              <a:ext uri="{FF2B5EF4-FFF2-40B4-BE49-F238E27FC236}">
                <a16:creationId xmlns:a16="http://schemas.microsoft.com/office/drawing/2014/main" id="{A6C694B7-8303-4E80-A81C-7D869A6A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286375"/>
            <a:ext cx="8896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6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F43"/>
                </a:solidFill>
                <a:latin typeface="Microsoft YaHei"/>
                <a:ea typeface="Microsoft YaHei"/>
                <a:cs typeface="Microsoft YaHei"/>
              </a:rPr>
              <a:t>按计划完成编制与提交，补足主链拼接输入。</a:t>
            </a:r>
          </a:p>
        </p:txBody>
      </p:sp>
    </p:spTree>
    <p:extLst>
      <p:ext uri="{BB962C8B-B14F-4D97-AF65-F5344CB8AC3E}">
        <p14:creationId xmlns:p14="http://schemas.microsoft.com/office/powerpoint/2010/main" val="20336513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meeting-label">
            <a:extLst xmlns:a="http://schemas.openxmlformats.org/drawingml/2006/main">
              <a:ext uri="{FF2B5EF4-FFF2-40B4-BE49-F238E27FC236}">
                <a16:creationId xmlns:a16="http://schemas.microsoft.com/office/drawing/2014/main" id="{5D86452F-5CF2-4F7C-8A54-9EADEB25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信息化项目第11周周例会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45CF229-28C8-4FFB-8D35-62EA810D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81000"/>
            <a:ext cx="1076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03 / 04</a:t>
            </a:r>
          </a:p>
        </p:txBody>
      </p:sp>
      <p:sp>
        <p:nvSpPr>
          <p:cNvPr id="3" name="divider-94">
            <a:extLst xmlns:a="http://schemas.openxmlformats.org/drawingml/2006/main">
              <a:ext uri="{FF2B5EF4-FFF2-40B4-BE49-F238E27FC236}">
                <a16:creationId xmlns:a16="http://schemas.microsoft.com/office/drawing/2014/main" id="{79569FC7-D3A6-4423-AFE2-540E739D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EE3"/>
            </a:solidFill>
          </a:ln>
        </p:spPr>
      </p:sp>
      <p:sp>
        <p:nvSpPr>
          <p:cNvPr id="4" name="topic-label">
            <a:extLst xmlns:a="http://schemas.openxmlformats.org/drawingml/2006/main">
              <a:ext uri="{FF2B5EF4-FFF2-40B4-BE49-F238E27FC236}">
                <a16:creationId xmlns:a16="http://schemas.microsoft.com/office/drawing/2014/main" id="{C8A1178B-9B04-4E72-B215-CAAF6551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三、主数据编码规范评审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6C02145-157D-4FEF-811D-5B38B546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62F43"/>
                </a:solidFill>
                <a:latin typeface="Microsoft YaHei"/>
                <a:ea typeface="Microsoft YaHei"/>
                <a:cs typeface="Microsoft YaHei"/>
              </a:rPr>
              <a:t>三部门参加主数据编码规范评审</a:t>
            </a:r>
          </a:p>
        </p:txBody>
      </p:sp>
      <p:sp>
        <p:nvSpPr>
          <p:cNvPr id="6" name="departments">
            <a:extLst xmlns:a="http://schemas.openxmlformats.org/drawingml/2006/main">
              <a:ext uri="{FF2B5EF4-FFF2-40B4-BE49-F238E27FC236}">
                <a16:creationId xmlns:a16="http://schemas.microsoft.com/office/drawing/2014/main" id="{62337C45-BC6B-4329-92B1-47860C92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468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4689A"/>
                </a:solidFill>
                <a:latin typeface="Microsoft YaHei"/>
                <a:ea typeface="Microsoft YaHei"/>
                <a:cs typeface="Microsoft YaHei"/>
              </a:rPr>
              <a:t>工程技术部　　物资保障部　　财务部</a:t>
            </a:r>
          </a:p>
        </p:txBody>
      </p:sp>
      <p:sp>
        <p:nvSpPr>
          <p:cNvPr id="7" name="review-prompts-label">
            <a:extLst xmlns:a="http://schemas.openxmlformats.org/drawingml/2006/main">
              <a:ext uri="{FF2B5EF4-FFF2-40B4-BE49-F238E27FC236}">
                <a16:creationId xmlns:a16="http://schemas.microsoft.com/office/drawing/2014/main" id="{87755D0D-77B6-4BB9-9001-92801D79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建议评审重点</a:t>
            </a:r>
          </a:p>
        </p:txBody>
      </p:sp>
      <p:sp>
        <p:nvSpPr>
          <p:cNvPr id="8" name="review-label-0">
            <a:extLst xmlns:a="http://schemas.openxmlformats.org/drawingml/2006/main">
              <a:ext uri="{FF2B5EF4-FFF2-40B4-BE49-F238E27FC236}">
                <a16:creationId xmlns:a16="http://schemas.microsoft.com/office/drawing/2014/main" id="{277EE804-392C-4E57-9FF3-1CBCBC0A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2F43"/>
                </a:solidFill>
                <a:latin typeface="Microsoft YaHei"/>
                <a:ea typeface="Microsoft YaHei"/>
                <a:cs typeface="Microsoft YaHei"/>
              </a:rPr>
              <a:t>对象与边界</a:t>
            </a:r>
          </a:p>
        </p:txBody>
      </p:sp>
      <p:sp>
        <p:nvSpPr>
          <p:cNvPr id="9" name="review-detail-0">
            <a:extLst xmlns:a="http://schemas.openxmlformats.org/drawingml/2006/main">
              <a:ext uri="{FF2B5EF4-FFF2-40B4-BE49-F238E27FC236}">
                <a16:creationId xmlns:a16="http://schemas.microsoft.com/office/drawing/2014/main" id="{EC0D36AA-A5E2-468C-BE61-8DE727D2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19525"/>
            <a:ext cx="836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6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F43"/>
                </a:solidFill>
                <a:latin typeface="Microsoft YaHei"/>
                <a:ea typeface="Microsoft YaHei"/>
                <a:cs typeface="Microsoft YaHei"/>
              </a:rPr>
              <a:t>编码识别什么对象，哪些差异需要区分？</a:t>
            </a:r>
          </a:p>
        </p:txBody>
      </p:sp>
      <p:sp>
        <p:nvSpPr>
          <p:cNvPr id="10" name="divider-458">
            <a:extLst xmlns:a="http://schemas.openxmlformats.org/drawingml/2006/main">
              <a:ext uri="{FF2B5EF4-FFF2-40B4-BE49-F238E27FC236}">
                <a16:creationId xmlns:a16="http://schemas.microsoft.com/office/drawing/2014/main" id="{6D4EA476-8CFA-4C0E-8396-A73E821C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EE3"/>
            </a:solidFill>
          </a:ln>
        </p:spPr>
      </p:sp>
      <p:sp>
        <p:nvSpPr>
          <p:cNvPr id="11" name="review-label-1">
            <a:extLst xmlns:a="http://schemas.openxmlformats.org/drawingml/2006/main">
              <a:ext uri="{FF2B5EF4-FFF2-40B4-BE49-F238E27FC236}">
                <a16:creationId xmlns:a16="http://schemas.microsoft.com/office/drawing/2014/main" id="{0AD3CA77-7F0D-4141-8212-7C117423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2F43"/>
                </a:solidFill>
                <a:latin typeface="Microsoft YaHei"/>
                <a:ea typeface="Microsoft YaHei"/>
                <a:cs typeface="Microsoft YaHei"/>
              </a:rPr>
              <a:t>规则与使用</a:t>
            </a:r>
          </a:p>
        </p:txBody>
      </p:sp>
      <p:sp>
        <p:nvSpPr>
          <p:cNvPr id="12" name="review-detail-1">
            <a:extLst xmlns:a="http://schemas.openxmlformats.org/drawingml/2006/main">
              <a:ext uri="{FF2B5EF4-FFF2-40B4-BE49-F238E27FC236}">
                <a16:creationId xmlns:a16="http://schemas.microsoft.com/office/drawing/2014/main" id="{82AD569F-F16D-4ED6-B2A7-2C13C0C8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52950"/>
            <a:ext cx="836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6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F43"/>
                </a:solidFill>
                <a:latin typeface="Microsoft YaHei"/>
                <a:ea typeface="Microsoft YaHei"/>
                <a:cs typeface="Microsoft YaHei"/>
              </a:rPr>
              <a:t>编码规则能否被各部门一致理解和使用？</a:t>
            </a:r>
          </a:p>
        </p:txBody>
      </p:sp>
      <p:sp>
        <p:nvSpPr>
          <p:cNvPr id="13" name="divider-535">
            <a:extLst xmlns:a="http://schemas.openxmlformats.org/drawingml/2006/main">
              <a:ext uri="{FF2B5EF4-FFF2-40B4-BE49-F238E27FC236}">
                <a16:creationId xmlns:a16="http://schemas.microsoft.com/office/drawing/2014/main" id="{B8197997-01F3-4755-98BC-5698B3CB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EE3"/>
            </a:solidFill>
          </a:ln>
        </p:spPr>
      </p:sp>
      <p:sp>
        <p:nvSpPr>
          <p:cNvPr id="14" name="review-label-2">
            <a:extLst xmlns:a="http://schemas.openxmlformats.org/drawingml/2006/main">
              <a:ext uri="{FF2B5EF4-FFF2-40B4-BE49-F238E27FC236}">
                <a16:creationId xmlns:a16="http://schemas.microsoft.com/office/drawing/2014/main" id="{8E968662-68CA-46E2-B8EE-7AA90B08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2F43"/>
                </a:solidFill>
                <a:latin typeface="Microsoft YaHei"/>
                <a:ea typeface="Microsoft YaHei"/>
                <a:cs typeface="Microsoft YaHei"/>
              </a:rPr>
              <a:t>历史与衔接</a:t>
            </a:r>
          </a:p>
        </p:txBody>
      </p:sp>
      <p:sp>
        <p:nvSpPr>
          <p:cNvPr id="15" name="review-detail-2">
            <a:extLst xmlns:a="http://schemas.openxmlformats.org/drawingml/2006/main">
              <a:ext uri="{FF2B5EF4-FFF2-40B4-BE49-F238E27FC236}">
                <a16:creationId xmlns:a16="http://schemas.microsoft.com/office/drawing/2014/main" id="{B6230C8C-4934-4718-9245-74744592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86375"/>
            <a:ext cx="836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6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F43"/>
                </a:solidFill>
                <a:latin typeface="Microsoft YaHei"/>
                <a:ea typeface="Microsoft YaHei"/>
                <a:cs typeface="Microsoft YaHei"/>
              </a:rPr>
              <a:t>现有编码如何对应，历史业务引用如何衔接？</a:t>
            </a:r>
          </a:p>
        </p:txBody>
      </p:sp>
    </p:spTree>
    <p:extLst>
      <p:ext uri="{BB962C8B-B14F-4D97-AF65-F5344CB8AC3E}">
        <p14:creationId xmlns:p14="http://schemas.microsoft.com/office/powerpoint/2010/main" val="4329161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2B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meeting-label">
            <a:extLst xmlns:a="http://schemas.openxmlformats.org/drawingml/2006/main">
              <a:ext uri="{FF2B5EF4-FFF2-40B4-BE49-F238E27FC236}">
                <a16:creationId xmlns:a16="http://schemas.microsoft.com/office/drawing/2014/main" id="{3E833E4E-8FC7-4645-9480-ABBC2B9F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C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CBD6"/>
                </a:solidFill>
                <a:latin typeface="Microsoft YaHei"/>
                <a:ea typeface="Microsoft YaHei"/>
                <a:cs typeface="Microsoft YaHei"/>
              </a:rPr>
              <a:t>信息化项目第11周周例会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EAA2B49-4783-41AB-B6CA-77F21B00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81000"/>
            <a:ext cx="1076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B9C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CBD6"/>
                </a:solidFill>
                <a:latin typeface="Microsoft YaHei"/>
                <a:ea typeface="Microsoft YaHei"/>
                <a:cs typeface="Microsoft YaHei"/>
              </a:rPr>
              <a:t>04 / 04</a:t>
            </a:r>
          </a:p>
        </p:txBody>
      </p:sp>
      <p:sp>
        <p:nvSpPr>
          <p:cNvPr id="3" name="divider-94">
            <a:extLst xmlns:a="http://schemas.openxmlformats.org/drawingml/2006/main">
              <a:ext uri="{FF2B5EF4-FFF2-40B4-BE49-F238E27FC236}">
                <a16:creationId xmlns:a16="http://schemas.microsoft.com/office/drawing/2014/main" id="{03EF2072-6452-4204-B3AB-08A5B749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6071"/>
            </a:solidFill>
          </a:ln>
        </p:spPr>
      </p:sp>
      <p:sp>
        <p:nvSpPr>
          <p:cNvPr id="4" name="topic-label">
            <a:extLst xmlns:a="http://schemas.openxmlformats.org/drawingml/2006/main">
              <a:ext uri="{FF2B5EF4-FFF2-40B4-BE49-F238E27FC236}">
                <a16:creationId xmlns:a16="http://schemas.microsoft.com/office/drawing/2014/main" id="{77173F43-7B9B-4ABB-8A4D-48BB29AD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C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9CBD6"/>
                </a:solidFill>
                <a:latin typeface="Microsoft YaHei"/>
                <a:ea typeface="Microsoft YaHei"/>
                <a:cs typeface="Microsoft YaHei"/>
              </a:rPr>
              <a:t>四、存货档案“一物多码”成因与清洗方案</a:t>
            </a:r>
          </a:p>
        </p:txBody>
      </p:sp>
      <p:sp>
        <p:nvSpPr>
          <p:cNvPr id="5" name="title-line-1">
            <a:extLst xmlns:a="http://schemas.openxmlformats.org/drawingml/2006/main">
              <a:ext uri="{FF2B5EF4-FFF2-40B4-BE49-F238E27FC236}">
                <a16:creationId xmlns:a16="http://schemas.microsoft.com/office/drawing/2014/main" id="{E3D84581-C897-4CC8-A30F-D56AFA63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解释“一物多码”成因</a:t>
            </a:r>
          </a:p>
        </p:txBody>
      </p:sp>
      <p:sp>
        <p:nvSpPr>
          <p:cNvPr id="6" name="title-line-2">
            <a:extLst xmlns:a="http://schemas.openxmlformats.org/drawingml/2006/main">
              <a:ext uri="{FF2B5EF4-FFF2-40B4-BE49-F238E27FC236}">
                <a16:creationId xmlns:a16="http://schemas.microsoft.com/office/drawing/2014/main" id="{6F61836B-7F7D-44B2-9691-2282A015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B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5BF67"/>
                </a:solidFill>
                <a:latin typeface="Microsoft YaHei"/>
                <a:ea typeface="Microsoft YaHei"/>
                <a:cs typeface="Microsoft YaHei"/>
              </a:rPr>
              <a:t>会同 MDM 工作组制定清洗方案</a:t>
            </a:r>
          </a:p>
        </p:txBody>
      </p:sp>
      <p:sp>
        <p:nvSpPr>
          <p:cNvPr id="7" name="facts-owner">
            <a:extLst xmlns:a="http://schemas.openxmlformats.org/drawingml/2006/main">
              <a:ext uri="{FF2B5EF4-FFF2-40B4-BE49-F238E27FC236}">
                <a16:creationId xmlns:a16="http://schemas.microsoft.com/office/drawing/2014/main" id="{516B68FF-6DBB-4FA0-ACA5-13156513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506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各部门：说明实际成因</a:t>
            </a:r>
          </a:p>
        </p:txBody>
      </p:sp>
      <p:sp>
        <p:nvSpPr>
          <p:cNvPr id="8" name="facts-label">
            <a:extLst xmlns:a="http://schemas.openxmlformats.org/drawingml/2006/main">
              <a:ext uri="{FF2B5EF4-FFF2-40B4-BE49-F238E27FC236}">
                <a16:creationId xmlns:a16="http://schemas.microsoft.com/office/drawing/2014/main" id="{CA56926D-738C-409A-AE5A-7017141E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9CBD6"/>
                </a:solidFill>
                <a:latin typeface="Microsoft YaHei"/>
                <a:ea typeface="Microsoft YaHei"/>
                <a:cs typeface="Microsoft YaHei"/>
              </a:rPr>
              <a:t>成因说明建议包含</a:t>
            </a:r>
          </a:p>
        </p:txBody>
      </p:sp>
      <p:sp>
        <p:nvSpPr>
          <p:cNvPr id="9" name="facts-1">
            <a:extLst xmlns:a="http://schemas.openxmlformats.org/drawingml/2006/main">
              <a:ext uri="{FF2B5EF4-FFF2-40B4-BE49-F238E27FC236}">
                <a16:creationId xmlns:a16="http://schemas.microsoft.com/office/drawing/2014/main" id="{98F8D97F-63EB-4273-A056-EDD16DC1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5191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哪些编码对应同一物料，有何依据？</a:t>
            </a:r>
          </a:p>
        </p:txBody>
      </p:sp>
      <p:sp>
        <p:nvSpPr>
          <p:cNvPr id="10" name="facts-2">
            <a:extLst xmlns:a="http://schemas.openxmlformats.org/drawingml/2006/main">
              <a:ext uri="{FF2B5EF4-FFF2-40B4-BE49-F238E27FC236}">
                <a16:creationId xmlns:a16="http://schemas.microsoft.com/office/drawing/2014/main" id="{2B68CBF6-4395-4296-914C-FAD59831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5191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各编码何时建立，分别用于什么业务？</a:t>
            </a:r>
          </a:p>
        </p:txBody>
      </p:sp>
      <p:sp>
        <p:nvSpPr>
          <p:cNvPr id="11" name="facts-3">
            <a:extLst xmlns:a="http://schemas.openxmlformats.org/drawingml/2006/main">
              <a:ext uri="{FF2B5EF4-FFF2-40B4-BE49-F238E27FC236}">
                <a16:creationId xmlns:a16="http://schemas.microsoft.com/office/drawing/2014/main" id="{790436E1-6CC9-4865-98A7-CFA607B7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5191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物料属性、用途是否存在实际差异？</a:t>
            </a:r>
          </a:p>
        </p:txBody>
      </p:sp>
      <p:sp>
        <p:nvSpPr>
          <p:cNvPr id="12" name="plan-owner">
            <a:extLst xmlns:a="http://schemas.openxmlformats.org/drawingml/2006/main">
              <a:ext uri="{FF2B5EF4-FFF2-40B4-BE49-F238E27FC236}">
                <a16:creationId xmlns:a16="http://schemas.microsoft.com/office/drawing/2014/main" id="{AEE0D926-5364-4EB0-A6C8-58BEF18C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765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各部门会同 MDM 工作组：制定方案</a:t>
            </a:r>
          </a:p>
        </p:txBody>
      </p:sp>
      <p:sp>
        <p:nvSpPr>
          <p:cNvPr id="13" name="plan-label">
            <a:extLst xmlns:a="http://schemas.openxmlformats.org/drawingml/2006/main">
              <a:ext uri="{FF2B5EF4-FFF2-40B4-BE49-F238E27FC236}">
                <a16:creationId xmlns:a16="http://schemas.microsoft.com/office/drawing/2014/main" id="{2788F1F1-A116-4DDF-81A8-CA009A8E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480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9CBD6"/>
                </a:solidFill>
                <a:latin typeface="Microsoft YaHei"/>
                <a:ea typeface="Microsoft YaHei"/>
                <a:cs typeface="Microsoft YaHei"/>
              </a:rPr>
              <a:t>清洗方案建议明确</a:t>
            </a:r>
          </a:p>
        </p:txBody>
      </p:sp>
      <p:sp>
        <p:nvSpPr>
          <p:cNvPr id="14" name="plan-1">
            <a:extLst xmlns:a="http://schemas.openxmlformats.org/drawingml/2006/main">
              <a:ext uri="{FF2B5EF4-FFF2-40B4-BE49-F238E27FC236}">
                <a16:creationId xmlns:a16="http://schemas.microsoft.com/office/drawing/2014/main" id="{09F1F9AD-6592-4447-A35B-0A5B22BC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05275"/>
            <a:ext cx="4953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依据成因分类确定处理方式。</a:t>
            </a:r>
          </a:p>
        </p:txBody>
      </p:sp>
      <p:sp>
        <p:nvSpPr>
          <p:cNvPr id="15" name="plan-2">
            <a:extLst xmlns:a="http://schemas.openxmlformats.org/drawingml/2006/main">
              <a:ext uri="{FF2B5EF4-FFF2-40B4-BE49-F238E27FC236}">
                <a16:creationId xmlns:a16="http://schemas.microsoft.com/office/drawing/2014/main" id="{923B63B1-C431-4915-B9E0-25F8EB88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62475"/>
            <a:ext cx="4953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明确新旧编码对应及业务引用处理。</a:t>
            </a:r>
          </a:p>
        </p:txBody>
      </p:sp>
      <p:sp>
        <p:nvSpPr>
          <p:cNvPr id="16" name="plan-3">
            <a:extLst xmlns:a="http://schemas.openxmlformats.org/drawingml/2006/main">
              <a:ext uri="{FF2B5EF4-FFF2-40B4-BE49-F238E27FC236}">
                <a16:creationId xmlns:a16="http://schemas.microsoft.com/office/drawing/2014/main" id="{8CB68BA9-928F-47ED-A2CA-9EC982DF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19675"/>
            <a:ext cx="4953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明确验证方法，保留待确认条目。</a:t>
            </a:r>
          </a:p>
        </p:txBody>
      </p:sp>
      <p:sp>
        <p:nvSpPr>
          <p:cNvPr id="17" name="divider-591">
            <a:extLst xmlns:a="http://schemas.openxmlformats.org/drawingml/2006/main">
              <a:ext uri="{FF2B5EF4-FFF2-40B4-BE49-F238E27FC236}">
                <a16:creationId xmlns:a16="http://schemas.microsoft.com/office/drawing/2014/main" id="{21673CAF-93C8-4CD9-A134-C79863CD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6071"/>
            </a:solidFill>
          </a:ln>
        </p:spPr>
      </p:sp>
      <p:sp>
        <p:nvSpPr>
          <p:cNvPr id="18" name="sequence">
            <a:extLst xmlns:a="http://schemas.openxmlformats.org/drawingml/2006/main">
              <a:ext uri="{FF2B5EF4-FFF2-40B4-BE49-F238E27FC236}">
                <a16:creationId xmlns:a16="http://schemas.microsoft.com/office/drawing/2014/main" id="{12D49B7B-3899-4E8B-9ADF-F67DEC29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B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5BF67"/>
                </a:solidFill>
                <a:latin typeface="Microsoft YaHei"/>
                <a:ea typeface="Microsoft YaHei"/>
                <a:cs typeface="Microsoft YaHei"/>
              </a:rPr>
              <a:t>先核实成因，再据此确定清洗方式。</a:t>
            </a:r>
          </a:p>
        </p:txBody>
      </p:sp>
    </p:spTree>
    <p:extLst>
      <p:ext uri="{BB962C8B-B14F-4D97-AF65-F5344CB8AC3E}">
        <p14:creationId xmlns:p14="http://schemas.microsoft.com/office/powerpoint/2010/main" val="8955508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2026-09-09T09:12:54.8260000Z</dcterms:created>
  <dcterms:modified xsi:type="dcterms:W3CDTF">2026-09-09T09:12:54.8260000Z</dcterms:modified>
</coreProperties>
</file>