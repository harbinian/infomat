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E:\CA001\Infomat\docs\architecture\data-governance-operating-rules.md</a:t>
            </a:r>
          </a:p>
          <a:p>
            <a:r>
              <a:t>- E:\CA001\Infomat\docs\plans\2026-08-12-3001-process-authoring-rollout-execution-plan.md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E:\CA001\Infomat\docs\architecture\data-governance-operating-rules.md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E:\CA001\Infomat\docs\meetings\2026-08-13-信息化项目周例会_流程评审与主数据识别.md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流程评审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各部门携带首批拟导入3000平台的流程，由MDM工作组按统一标准组织评审。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评审内容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流程必须说清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流程目的、范围和结束边界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A1业务行为和责任角色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条件分支、退回和跨部门承接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表单、业务对象和数据输入输出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通过标准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事实与结构一致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业务部门确认流程事实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单流程JSON符合v3结构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表单、字段和稳定引用不丢失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待定项写明证据和确认主体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评审通过后，部门MDM审核员在3000核对预览并受控导入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-title">
            <a:extLst>
              <a:ext uri="{FF2B5EF4-FFF2-40B4-BE49-F238E27FC236}">
                <a16:creationId xmlns:a16="http://schemas.microsoft.com/office/drawing/2014/main" id="{C26E5107-810F-4987-9EE0-8C4561EDF5ED}"/>
              </a:ext>
            </a:extLst>
          </p:cNvPr>
          <p:cNvSpPr>
            <a:spLocks noGrp="1"/>
          </p:cNvSpPr>
          <p:nvPr/>
        </p:nvSpPr>
        <p:spPr>
          <a:xfrm>
            <a:off x="390525" y="323850"/>
            <a:ext cx="114109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主数据识别</a:t>
            </a:r>
          </a:p>
        </p:txBody>
      </p:sp>
      <p:sp>
        <p:nvSpPr>
          <p:cNvPr id="2" name="s10-lead">
            <a:extLst>
              <a:ext uri="{FF2B5EF4-FFF2-40B4-BE49-F238E27FC236}">
                <a16:creationId xmlns:a16="http://schemas.microsoft.com/office/drawing/2014/main" id="{D235E4A7-4F38-49C9-B499-BEA601E153D9}"/>
              </a:ext>
            </a:extLst>
          </p:cNvPr>
          <p:cNvSpPr>
            <a:spLocks noGrp="1"/>
          </p:cNvSpPr>
          <p:nvPr/>
        </p:nvSpPr>
        <p:spPr>
          <a:xfrm>
            <a:off x="390525" y="1123950"/>
            <a:ext cx="10668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主数据从流程、业务对象和表单字段中识别，不从系统表或字段名称反推。</a:t>
            </a:r>
          </a:p>
        </p:txBody>
      </p:sp>
      <p:sp>
        <p:nvSpPr>
          <p:cNvPr id="3" name="s10-left">
            <a:extLst>
              <a:ext uri="{FF2B5EF4-FFF2-40B4-BE49-F238E27FC236}">
                <a16:creationId xmlns:a16="http://schemas.microsoft.com/office/drawing/2014/main" id="{6D691585-2A4D-41BE-A22A-CDDCE287EFB5}"/>
              </a:ext>
            </a:extLst>
          </p:cNvPr>
          <p:cNvSpPr>
            <a:spLocks noGrp="1"/>
          </p:cNvSpPr>
          <p:nvPr/>
        </p:nvSpPr>
        <p:spPr>
          <a:xfrm>
            <a:off x="390525" y="1809750"/>
            <a:ext cx="5543550" cy="356235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4" name="s10-right">
            <a:extLst>
              <a:ext uri="{FF2B5EF4-FFF2-40B4-BE49-F238E27FC236}">
                <a16:creationId xmlns:a16="http://schemas.microsoft.com/office/drawing/2014/main" id="{38273DCF-3ED2-418C-A41C-61D0567EBE87}"/>
              </a:ext>
            </a:extLst>
          </p:cNvPr>
          <p:cNvSpPr>
            <a:spLocks noGrp="1"/>
          </p:cNvSpPr>
          <p:nvPr/>
        </p:nvSpPr>
        <p:spPr>
          <a:xfrm>
            <a:off x="6257925" y="1809750"/>
            <a:ext cx="5543550" cy="3562350"/>
          </a:xfrm>
          <a:prstGeom prst="rect">
            <a:avLst/>
          </a:prstGeom>
          <a:solidFill>
            <a:srgbClr val="F6F6F6"/>
          </a:solidFill>
          <a:ln w="0">
            <a:noFill/>
            <a:prstDash val="solid"/>
          </a:ln>
        </p:spPr>
      </p:sp>
      <p:sp>
        <p:nvSpPr>
          <p:cNvPr id="5" name="s10-left-tag">
            <a:extLst>
              <a:ext uri="{FF2B5EF4-FFF2-40B4-BE49-F238E27FC236}">
                <a16:creationId xmlns:a16="http://schemas.microsoft.com/office/drawing/2014/main" id="{207C2001-B52F-4513-8609-E0329BBB262E}"/>
              </a:ext>
            </a:extLst>
          </p:cNvPr>
          <p:cNvSpPr>
            <a:spLocks noGrp="1"/>
          </p:cNvSpPr>
          <p:nvPr/>
        </p:nvSpPr>
        <p:spPr>
          <a:xfrm>
            <a:off x="6572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识别标准</a:t>
            </a:r>
          </a:p>
        </p:txBody>
      </p:sp>
      <p:sp>
        <p:nvSpPr>
          <p:cNvPr id="6" name="s10-left-title">
            <a:extLst>
              <a:ext uri="{FF2B5EF4-FFF2-40B4-BE49-F238E27FC236}">
                <a16:creationId xmlns:a16="http://schemas.microsoft.com/office/drawing/2014/main" id="{699E1975-255B-4C24-A883-E21B10122F7E}"/>
              </a:ext>
            </a:extLst>
          </p:cNvPr>
          <p:cNvSpPr>
            <a:spLocks noGrp="1"/>
          </p:cNvSpPr>
          <p:nvPr/>
        </p:nvSpPr>
        <p:spPr>
          <a:xfrm>
            <a:off x="6572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先判断是不是主数据</a:t>
            </a:r>
          </a:p>
        </p:txBody>
      </p:sp>
      <p:sp>
        <p:nvSpPr>
          <p:cNvPr id="7" name="s10-left-body">
            <a:extLst>
              <a:ext uri="{FF2B5EF4-FFF2-40B4-BE49-F238E27FC236}">
                <a16:creationId xmlns:a16="http://schemas.microsoft.com/office/drawing/2014/main" id="{2A87F0D2-3B80-427C-BB0A-39B8ADFEF03E}"/>
              </a:ext>
            </a:extLst>
          </p:cNvPr>
          <p:cNvSpPr>
            <a:spLocks noGrp="1"/>
          </p:cNvSpPr>
          <p:nvPr/>
        </p:nvSpPr>
        <p:spPr>
          <a:xfrm>
            <a:off x="6572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被多个流程、部门或系统长期复用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具有稳定的唯一标识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新建、变更、停用规则清楚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定义、维护和确认责任明确</a:t>
            </a:r>
          </a:p>
        </p:txBody>
      </p:sp>
      <p:sp>
        <p:nvSpPr>
          <p:cNvPr id="8" name="s10-right-tag">
            <a:extLst>
              <a:ext uri="{FF2B5EF4-FFF2-40B4-BE49-F238E27FC236}">
                <a16:creationId xmlns:a16="http://schemas.microsoft.com/office/drawing/2014/main" id="{EC8EDC2B-5357-4E84-BEF6-40E0E4F42945}"/>
              </a:ext>
            </a:extLst>
          </p:cNvPr>
          <p:cNvSpPr>
            <a:spLocks noGrp="1"/>
          </p:cNvSpPr>
          <p:nvPr/>
        </p:nvSpPr>
        <p:spPr>
          <a:xfrm>
            <a:off x="6524625" y="207645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清单内容</a:t>
            </a:r>
          </a:p>
        </p:txBody>
      </p:sp>
      <p:sp>
        <p:nvSpPr>
          <p:cNvPr id="9" name="s10-right-title">
            <a:extLst>
              <a:ext uri="{FF2B5EF4-FFF2-40B4-BE49-F238E27FC236}">
                <a16:creationId xmlns:a16="http://schemas.microsoft.com/office/drawing/2014/main" id="{D8A2AEAD-5293-4B3E-92EA-139E2A17B6C6}"/>
              </a:ext>
            </a:extLst>
          </p:cNvPr>
          <p:cNvSpPr>
            <a:spLocks noGrp="1"/>
          </p:cNvSpPr>
          <p:nvPr/>
        </p:nvSpPr>
        <p:spPr>
          <a:xfrm>
            <a:off x="6524625" y="2476500"/>
            <a:ext cx="4762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至少写清四类信息</a:t>
            </a:r>
          </a:p>
        </p:txBody>
      </p:sp>
      <p:sp>
        <p:nvSpPr>
          <p:cNvPr id="10" name="s10-right-body">
            <a:extLst>
              <a:ext uri="{FF2B5EF4-FFF2-40B4-BE49-F238E27FC236}">
                <a16:creationId xmlns:a16="http://schemas.microsoft.com/office/drawing/2014/main" id="{B2AC1027-D4E8-426F-8B72-94437FB6A1E9}"/>
              </a:ext>
            </a:extLst>
          </p:cNvPr>
          <p:cNvSpPr>
            <a:spLocks noGrp="1"/>
          </p:cNvSpPr>
          <p:nvPr/>
        </p:nvSpPr>
        <p:spPr>
          <a:xfrm>
            <a:off x="6524625" y="3105150"/>
            <a:ext cx="47625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主数据对象名称和业务含义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唯一标识和关键字段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权威来源、维护部门和确认主体</a:t>
            </a:r>
          </a:p>
          <a:p>
            <a:pPr algn="l">
              <a:buNone/>
              <a:def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• 使用该对象的流程和系统</a:t>
            </a:r>
          </a:p>
        </p:txBody>
      </p:sp>
      <p:sp>
        <p:nvSpPr>
          <p:cNvPr id="11" name="s10-status">
            <a:extLst>
              <a:ext uri="{FF2B5EF4-FFF2-40B4-BE49-F238E27FC236}">
                <a16:creationId xmlns:a16="http://schemas.microsoft.com/office/drawing/2014/main" id="{04750DC8-43FA-4558-AA02-9073B2B40D96}"/>
              </a:ext>
            </a:extLst>
          </p:cNvPr>
          <p:cNvSpPr>
            <a:spLocks noGrp="1"/>
          </p:cNvSpPr>
          <p:nvPr/>
        </p:nvSpPr>
        <p:spPr>
          <a:xfrm>
            <a:off x="390525" y="5619750"/>
            <a:ext cx="11410950" cy="495300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12" name="s10-status-text">
            <a:extLst>
              <a:ext uri="{FF2B5EF4-FFF2-40B4-BE49-F238E27FC236}">
                <a16:creationId xmlns:a16="http://schemas.microsoft.com/office/drawing/2014/main" id="{7246E1DB-D1F4-447C-AA5C-593C589D2EF0}"/>
              </a:ext>
            </a:extLst>
          </p:cNvPr>
          <p:cNvSpPr>
            <a:spLocks noGrp="1"/>
          </p:cNvSpPr>
          <p:nvPr/>
        </p:nvSpPr>
        <p:spPr>
          <a:xfrm>
            <a:off x="638175" y="5734050"/>
            <a:ext cx="1085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同名不等于同一对象；业务表单和交易记录不直接认定为主数据</a:t>
            </a:r>
          </a:p>
        </p:txBody>
      </p:sp>
      <p:sp>
        <p:nvSpPr>
          <p:cNvPr id="13" name="page-10">
            <a:extLst>
              <a:ext uri="{FF2B5EF4-FFF2-40B4-BE49-F238E27FC236}">
                <a16:creationId xmlns:a16="http://schemas.microsoft.com/office/drawing/2014/main" id="{1851CD71-6C96-49B1-81D6-0F67A894ADD0}"/>
              </a:ext>
            </a:extLst>
          </p:cNvPr>
          <p:cNvSpPr>
            <a:spLocks noGrp="1"/>
          </p:cNvSpPr>
          <p:nvPr/>
        </p:nvSpPr>
        <p:spPr>
          <a:xfrm>
            <a:off x="11268075" y="6286500"/>
            <a:ext cx="52387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  <a:def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418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12-eyebrow">
            <a:extLst>
              <a:ext uri="{FF2B5EF4-FFF2-40B4-BE49-F238E27FC236}">
                <a16:creationId xmlns:a16="http://schemas.microsoft.com/office/drawing/2014/main" id="{56029CAE-F1BD-4DDA-AB60-929E160E899A}"/>
              </a:ext>
            </a:extLst>
          </p:cNvPr>
          <p:cNvSpPr>
            <a:spLocks noGrp="1"/>
          </p:cNvSpPr>
          <p:nvPr/>
        </p:nvSpPr>
        <p:spPr>
          <a:xfrm>
            <a:off x="390525" y="4000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E646C"/>
                </a:solidFill>
                <a:latin typeface="Microsoft YaHei"/>
                <a:ea typeface="Microsoft YaHei"/>
                <a:cs typeface="Microsoft YaHei"/>
              </a:rPr>
              <a:t>行动项</a:t>
            </a:r>
          </a:p>
        </p:txBody>
      </p:sp>
      <p:sp>
        <p:nvSpPr>
          <p:cNvPr id="2" name="s12-title">
            <a:extLst>
              <a:ext uri="{FF2B5EF4-FFF2-40B4-BE49-F238E27FC236}">
                <a16:creationId xmlns:a16="http://schemas.microsoft.com/office/drawing/2014/main" id="{185DCD01-D3F6-409D-847A-69E054312E24}"/>
              </a:ext>
            </a:extLst>
          </p:cNvPr>
          <p:cNvSpPr>
            <a:spLocks noGrp="1"/>
          </p:cNvSpPr>
          <p:nvPr/>
        </p:nvSpPr>
        <p:spPr>
          <a:xfrm>
            <a:off x="390525" y="1447800"/>
            <a:ext cx="94297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本周只落实两条行动</a:t>
            </a:r>
          </a:p>
        </p:txBody>
      </p:sp>
      <p:sp>
        <p:nvSpPr>
          <p:cNvPr id="3" name="s12-rule">
            <a:extLst>
              <a:ext uri="{FF2B5EF4-FFF2-40B4-BE49-F238E27FC236}">
                <a16:creationId xmlns:a16="http://schemas.microsoft.com/office/drawing/2014/main" id="{7B551BBC-7AB1-4561-94F9-4831FB7D8613}"/>
              </a:ext>
            </a:extLst>
          </p:cNvPr>
          <p:cNvSpPr>
            <a:spLocks noGrp="1"/>
          </p:cNvSpPr>
          <p:nvPr/>
        </p:nvSpPr>
        <p:spPr>
          <a:xfrm>
            <a:off x="390525" y="2724150"/>
            <a:ext cx="11410950" cy="28575"/>
          </a:xfrm>
          <a:prstGeom prst="rect">
            <a:avLst/>
          </a:prstGeom>
          <a:solidFill>
            <a:srgbClr val="000000"/>
          </a:solidFill>
          <a:ln w="0">
            <a:noFill/>
            <a:prstDash val="solid"/>
          </a:ln>
        </p:spPr>
      </p:sp>
      <p:sp>
        <p:nvSpPr>
          <p:cNvPr id="4" name="s12-one">
            <a:extLst>
              <a:ext uri="{FF2B5EF4-FFF2-40B4-BE49-F238E27FC236}">
                <a16:creationId xmlns:a16="http://schemas.microsoft.com/office/drawing/2014/main" id="{8282081C-2D2F-482C-BD92-8D8FE8BBC88A}"/>
              </a:ext>
            </a:extLst>
          </p:cNvPr>
          <p:cNvSpPr>
            <a:spLocks noGrp="1"/>
          </p:cNvSpPr>
          <p:nvPr/>
        </p:nvSpPr>
        <p:spPr>
          <a:xfrm>
            <a:off x="390525" y="31813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s12-one-text">
            <a:extLst>
              <a:ext uri="{FF2B5EF4-FFF2-40B4-BE49-F238E27FC236}">
                <a16:creationId xmlns:a16="http://schemas.microsoft.com/office/drawing/2014/main" id="{2B3ED502-82D6-4F8F-B2AD-90F0119D2161}"/>
              </a:ext>
            </a:extLst>
          </p:cNvPr>
          <p:cNvSpPr>
            <a:spLocks noGrp="1"/>
          </p:cNvSpPr>
          <p:nvPr/>
        </p:nvSpPr>
        <p:spPr>
          <a:xfrm>
            <a:off x="1257299" y="3105150"/>
            <a:ext cx="660284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各部门在MDM工作组指定时间内，前来评审首批拟导入</a:t>
            </a:r>
            <a:r>
              <a:rPr lang="en-US" altLang="zh-CN"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MDM</a:t>
            </a:r>
            <a:r>
              <a:rPr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平台的流程</a:t>
            </a:r>
            <a:r>
              <a:rPr sz="27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s12-two">
            <a:extLst>
              <a:ext uri="{FF2B5EF4-FFF2-40B4-BE49-F238E27FC236}">
                <a16:creationId xmlns:a16="http://schemas.microsoft.com/office/drawing/2014/main" id="{4EA672A8-6D9F-4653-B78A-78AF6BF322D0}"/>
              </a:ext>
            </a:extLst>
          </p:cNvPr>
          <p:cNvSpPr>
            <a:spLocks noGrp="1"/>
          </p:cNvSpPr>
          <p:nvPr/>
        </p:nvSpPr>
        <p:spPr>
          <a:xfrm>
            <a:off x="390525" y="4133850"/>
            <a:ext cx="685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s12-two-text">
            <a:extLst>
              <a:ext uri="{FF2B5EF4-FFF2-40B4-BE49-F238E27FC236}">
                <a16:creationId xmlns:a16="http://schemas.microsoft.com/office/drawing/2014/main" id="{B1EDAAEA-69CC-4BEA-848D-B584FA577345}"/>
              </a:ext>
            </a:extLst>
          </p:cNvPr>
          <p:cNvSpPr>
            <a:spLocks noGrp="1"/>
          </p:cNvSpPr>
          <p:nvPr/>
        </p:nvSpPr>
        <p:spPr>
          <a:xfrm>
            <a:off x="1257300" y="4057650"/>
            <a:ext cx="6286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工程技术部、行政人事部依据标准提交主数据清单</a:t>
            </a:r>
            <a:r>
              <a:rPr sz="27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s12-callout">
            <a:extLst>
              <a:ext uri="{FF2B5EF4-FFF2-40B4-BE49-F238E27FC236}">
                <a16:creationId xmlns:a16="http://schemas.microsoft.com/office/drawing/2014/main" id="{784F046D-B843-4C64-B08E-EDFA75DF5F82}"/>
              </a:ext>
            </a:extLst>
          </p:cNvPr>
          <p:cNvSpPr>
            <a:spLocks noGrp="1"/>
          </p:cNvSpPr>
          <p:nvPr/>
        </p:nvSpPr>
        <p:spPr>
          <a:xfrm>
            <a:off x="390525" y="5276850"/>
            <a:ext cx="11410950" cy="800100"/>
          </a:xfrm>
          <a:prstGeom prst="rect">
            <a:avLst/>
          </a:prstGeom>
          <a:solidFill>
            <a:srgbClr val="EAF5FB"/>
          </a:solidFill>
          <a:ln w="0">
            <a:noFill/>
            <a:prstDash val="solid"/>
          </a:ln>
        </p:spPr>
      </p:sp>
      <p:sp>
        <p:nvSpPr>
          <p:cNvPr id="9" name="s12-callout-text">
            <a:extLst>
              <a:ext uri="{FF2B5EF4-FFF2-40B4-BE49-F238E27FC236}">
                <a16:creationId xmlns:a16="http://schemas.microsoft.com/office/drawing/2014/main" id="{8FB5BAB5-C2AF-41F4-B013-7F9E30178F36}"/>
              </a:ext>
            </a:extLst>
          </p:cNvPr>
          <p:cNvSpPr>
            <a:spLocks noGrp="1"/>
          </p:cNvSpPr>
          <p:nvPr/>
        </p:nvSpPr>
        <p:spPr>
          <a:xfrm>
            <a:off x="638175" y="5495925"/>
            <a:ext cx="10858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Autofit/>
          </a:bodyPr>
          <a:lstStyle/>
          <a:p>
            <a:pPr algn="l">
              <a:buNone/>
              <a:def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本次周例会只跟踪以上两项。</a:t>
            </a:r>
          </a:p>
        </p:txBody>
      </p:sp>
    </p:spTree>
    <p:extLst>
      <p:ext uri="{BB962C8B-B14F-4D97-AF65-F5344CB8AC3E}">
        <p14:creationId xmlns:p14="http://schemas.microsoft.com/office/powerpoint/2010/main" val="42029623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Office PowerPoint</Application>
  <DocSecurity>0</DocSecurity>
  <PresentationFormat>宽屏</PresentationFormat>
  <Paragraphs>49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6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Charles Archer</cp:lastModifiedBy>
  <cp:revision>1</cp:revision>
  <dcterms:created xsi:type="dcterms:W3CDTF">2026-08-12T03:11:59Z</dcterms:created>
  <dcterms:modified xsi:type="dcterms:W3CDTF">2026-08-12T03:43:57Z</dcterms:modified>
</cp:coreProperties>
</file>