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 brief, 2026-08-20</a:t>
            </a:r>
          </a:p>
          <a:p>
            <a:r>
              <a:t>- E:\CA001\Infomat\docs\architecture\data-governance-operating-rules.md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 brief, 2026-08-20</a:t>
            </a:r>
          </a:p>
          <a:p>
            <a:r>
              <a:t>- E:\CA001\Infomat\docs\architecture\data-governance-operating-rules.md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 brief, 2026-08-20</a:t>
            </a:r>
          </a:p>
          <a:p>
            <a:r>
              <a:t>- E:\CA001\Infomat\docs\architecture\data-governance-operating-rules.md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 brief, 2026-08-20</a:t>
            </a:r>
          </a:p>
          <a:p>
            <a:r>
              <a:t>- E:\CA001\Infomat\docs\主数据编码规范.md (draft reference only)</a:t>
            </a:r>
          </a:p>
          <a:p>
            <a:r>
              <a:t>- E:\CA001\Infomat\docs\architecture\data-governance-operating-rules.md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 brief, 2026-08-20</a:t>
            </a:r>
          </a:p>
          <a:p>
            <a:r>
              <a:t>- E:\CA001\Infomat\docs\architecture\data-governance-operating-rules.md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C26E5107-810F-4987-9EE0-8C4561EDF5ED}"/>
              </a:ext>
            </a:extLst>
          </p:cNvPr>
          <p:cNvSpPr>
            <a:spLocks noGrp="1"/>
          </p:cNvSpPr>
          <p:nvPr/>
        </p:nvSpPr>
        <p:spPr>
          <a:xfrm>
            <a:off x="390525" y="323850"/>
            <a:ext cx="11410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流程评审维度</a:t>
            </a:r>
          </a:p>
        </p:txBody>
      </p:sp>
      <p:sp>
        <p:nvSpPr>
          <p:cNvPr id="2" name="s10-lead">
            <a:extLst>
              <a:ext uri="{FF2B5EF4-FFF2-40B4-BE49-F238E27FC236}">
                <a16:creationId xmlns:a16="http://schemas.microsoft.com/office/drawing/2014/main" id="{D235E4A7-4F38-49C9-B499-BEA601E153D9}"/>
              </a:ext>
            </a:extLst>
          </p:cNvPr>
          <p:cNvSpPr>
            <a:spLocks noGrp="1"/>
          </p:cNvSpPr>
          <p:nvPr/>
        </p:nvSpPr>
        <p:spPr>
          <a:xfrm>
            <a:off x="390525" y="112395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各部门继续按3001当前结构补充流程；业务部门先确认事实，MDM工作组再组织导入前评审。</a:t>
            </a:r>
          </a:p>
        </p:txBody>
      </p:sp>
      <p:sp>
        <p:nvSpPr>
          <p:cNvPr id="3" name="s10-left">
            <a:extLst>
              <a:ext uri="{FF2B5EF4-FFF2-40B4-BE49-F238E27FC236}">
                <a16:creationId xmlns:a16="http://schemas.microsoft.com/office/drawing/2014/main" id="{6D691585-2A4D-41BE-A22A-CDDCE287EFB5}"/>
              </a:ext>
            </a:extLst>
          </p:cNvPr>
          <p:cNvSpPr>
            <a:spLocks noGrp="1"/>
          </p:cNvSpPr>
          <p:nvPr/>
        </p:nvSpPr>
        <p:spPr>
          <a:xfrm>
            <a:off x="390525" y="1809750"/>
            <a:ext cx="5543550" cy="356235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4" name="s10-right">
            <a:extLst>
              <a:ext uri="{FF2B5EF4-FFF2-40B4-BE49-F238E27FC236}">
                <a16:creationId xmlns:a16="http://schemas.microsoft.com/office/drawing/2014/main" id="{38273DCF-3ED2-418C-A41C-61D0567EBE87}"/>
              </a:ext>
            </a:extLst>
          </p:cNvPr>
          <p:cNvSpPr>
            <a:spLocks noGrp="1"/>
          </p:cNvSpPr>
          <p:nvPr/>
        </p:nvSpPr>
        <p:spPr>
          <a:xfrm>
            <a:off x="6257925" y="1809750"/>
            <a:ext cx="5543550" cy="3562350"/>
          </a:xfrm>
          <a:prstGeom prst="rect">
            <a:avLst/>
          </a:prstGeom>
          <a:solidFill>
            <a:srgbClr val="F6F6F6"/>
          </a:solidFill>
          <a:ln w="0">
            <a:noFill/>
            <a:prstDash val="solid"/>
          </a:ln>
        </p:spPr>
      </p:sp>
      <p:sp>
        <p:nvSpPr>
          <p:cNvPr id="5" name="s10-left-tag">
            <a:extLst>
              <a:ext uri="{FF2B5EF4-FFF2-40B4-BE49-F238E27FC236}">
                <a16:creationId xmlns:a16="http://schemas.microsoft.com/office/drawing/2014/main" id="{207C2001-B52F-4513-8609-E0329BBB262E}"/>
              </a:ext>
            </a:extLst>
          </p:cNvPr>
          <p:cNvSpPr>
            <a:spLocks noGrp="1"/>
          </p:cNvSpPr>
          <p:nvPr/>
        </p:nvSpPr>
        <p:spPr>
          <a:xfrm>
            <a:off x="657225" y="207645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五</a:t>
            </a:r>
            <a:r>
              <a:rPr sz="1500" b="1" dirty="0" err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个维度</a:t>
            </a:r>
            <a:endParaRPr sz="1500" b="1" dirty="0">
              <a:solidFill>
                <a:srgbClr val="3D8D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s10-left-title">
            <a:extLst>
              <a:ext uri="{FF2B5EF4-FFF2-40B4-BE49-F238E27FC236}">
                <a16:creationId xmlns:a16="http://schemas.microsoft.com/office/drawing/2014/main" id="{699E1975-255B-4C24-A883-E21B10122F7E}"/>
              </a:ext>
            </a:extLst>
          </p:cNvPr>
          <p:cNvSpPr>
            <a:spLocks noGrp="1"/>
          </p:cNvSpPr>
          <p:nvPr/>
        </p:nvSpPr>
        <p:spPr>
          <a:xfrm>
            <a:off x="6572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评审内容不缺项</a:t>
            </a:r>
          </a:p>
        </p:txBody>
      </p:sp>
      <p:sp>
        <p:nvSpPr>
          <p:cNvPr id="7" name="s10-left-body">
            <a:extLst>
              <a:ext uri="{FF2B5EF4-FFF2-40B4-BE49-F238E27FC236}">
                <a16:creationId xmlns:a16="http://schemas.microsoft.com/office/drawing/2014/main" id="{2A87F0D2-3B80-427C-BB0A-39B8ADFEF03E}"/>
              </a:ext>
            </a:extLst>
          </p:cNvPr>
          <p:cNvSpPr>
            <a:spLocks noGrp="1"/>
          </p:cNvSpPr>
          <p:nvPr/>
        </p:nvSpPr>
        <p:spPr>
          <a:xfrm>
            <a:off x="657225" y="3105150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800" b="0" dirty="0" err="1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流程目的、范围和结束边界</a:t>
            </a:r>
            <a:endParaRPr sz="1800" b="0" dirty="0">
              <a:solidFill>
                <a:srgbClr val="5E646C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800" b="0" dirty="0" err="1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业务行为和责任岗位</a:t>
            </a:r>
            <a:endParaRPr lang="en-US" sz="1800" b="0" dirty="0">
              <a:solidFill>
                <a:srgbClr val="5E646C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800" b="0" dirty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lang="zh-CN" altLang="en-US" sz="1800" b="0" dirty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业务行为中每个动作的可执行性</a:t>
            </a:r>
            <a:endParaRPr sz="1800" b="0" dirty="0">
              <a:solidFill>
                <a:srgbClr val="5E646C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800" b="0" dirty="0" err="1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条件分支、退回和跨部门承接</a:t>
            </a:r>
            <a:endParaRPr sz="1800" b="0" dirty="0">
              <a:solidFill>
                <a:srgbClr val="5E646C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800" b="0" dirty="0" err="1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表单、业务对象和数据输入输出</a:t>
            </a:r>
            <a:endParaRPr lang="en-US" sz="1800" b="0" dirty="0">
              <a:solidFill>
                <a:srgbClr val="5E646C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endParaRPr sz="1800" b="0" dirty="0">
              <a:solidFill>
                <a:srgbClr val="5E646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s10-right-tag">
            <a:extLst>
              <a:ext uri="{FF2B5EF4-FFF2-40B4-BE49-F238E27FC236}">
                <a16:creationId xmlns:a16="http://schemas.microsoft.com/office/drawing/2014/main" id="{EC8EDC2B-5357-4E84-BEF6-40E0E4F42945}"/>
              </a:ext>
            </a:extLst>
          </p:cNvPr>
          <p:cNvSpPr>
            <a:spLocks noGrp="1"/>
          </p:cNvSpPr>
          <p:nvPr/>
        </p:nvSpPr>
        <p:spPr>
          <a:xfrm>
            <a:off x="6524625" y="207645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核对要求</a:t>
            </a:r>
          </a:p>
        </p:txBody>
      </p:sp>
      <p:sp>
        <p:nvSpPr>
          <p:cNvPr id="9" name="s10-right-title">
            <a:extLst>
              <a:ext uri="{FF2B5EF4-FFF2-40B4-BE49-F238E27FC236}">
                <a16:creationId xmlns:a16="http://schemas.microsoft.com/office/drawing/2014/main" id="{D8A2AEAD-5293-4B3E-92EA-139E2A17B6C6}"/>
              </a:ext>
            </a:extLst>
          </p:cNvPr>
          <p:cNvSpPr>
            <a:spLocks noGrp="1"/>
          </p:cNvSpPr>
          <p:nvPr/>
        </p:nvSpPr>
        <p:spPr>
          <a:xfrm>
            <a:off x="65246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每一项都能复核</a:t>
            </a:r>
          </a:p>
        </p:txBody>
      </p:sp>
      <p:sp>
        <p:nvSpPr>
          <p:cNvPr id="10" name="s10-right-body">
            <a:extLst>
              <a:ext uri="{FF2B5EF4-FFF2-40B4-BE49-F238E27FC236}">
                <a16:creationId xmlns:a16="http://schemas.microsoft.com/office/drawing/2014/main" id="{B2AC1027-D4E8-426F-8B72-94437FB6A1E9}"/>
              </a:ext>
            </a:extLst>
          </p:cNvPr>
          <p:cNvSpPr>
            <a:spLocks noGrp="1"/>
          </p:cNvSpPr>
          <p:nvPr/>
        </p:nvSpPr>
        <p:spPr>
          <a:xfrm>
            <a:off x="6524625" y="3105150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800" b="0" dirty="0" err="1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具体动作按</a:t>
            </a:r>
            <a:r>
              <a:rPr lang="zh-CN" altLang="en-US" sz="1800" b="0" dirty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实际业务运行逻辑填写</a:t>
            </a:r>
            <a:endParaRPr sz="1800" b="0" dirty="0">
              <a:solidFill>
                <a:srgbClr val="5E646C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800" b="0" dirty="0" err="1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执行部门和岗位能够确认</a:t>
            </a:r>
            <a:endParaRPr sz="1800" b="0" dirty="0">
              <a:solidFill>
                <a:srgbClr val="5E646C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800" b="0" dirty="0" err="1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输入、输出、表单能够对应</a:t>
            </a:r>
            <a:endParaRPr sz="1800" b="0" dirty="0">
              <a:solidFill>
                <a:srgbClr val="5E646C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800" b="0" dirty="0" err="1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待定项写明证据和确认主体</a:t>
            </a:r>
            <a:endParaRPr sz="1800" b="0" dirty="0">
              <a:solidFill>
                <a:srgbClr val="5E646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s10-status">
            <a:extLst>
              <a:ext uri="{FF2B5EF4-FFF2-40B4-BE49-F238E27FC236}">
                <a16:creationId xmlns:a16="http://schemas.microsoft.com/office/drawing/2014/main" id="{04750DC8-43FA-4558-AA02-9073B2B40D96}"/>
              </a:ext>
            </a:extLst>
          </p:cNvPr>
          <p:cNvSpPr>
            <a:spLocks noGrp="1"/>
          </p:cNvSpPr>
          <p:nvPr/>
        </p:nvSpPr>
        <p:spPr>
          <a:xfrm>
            <a:off x="390525" y="5619750"/>
            <a:ext cx="11410950" cy="4953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2" name="s10-status-text">
            <a:extLst>
              <a:ext uri="{FF2B5EF4-FFF2-40B4-BE49-F238E27FC236}">
                <a16:creationId xmlns:a16="http://schemas.microsoft.com/office/drawing/2014/main" id="{7246E1DB-D1F4-447C-AA5C-593C589D2EF0}"/>
              </a:ext>
            </a:extLst>
          </p:cNvPr>
          <p:cNvSpPr>
            <a:spLocks noGrp="1"/>
          </p:cNvSpPr>
          <p:nvPr/>
        </p:nvSpPr>
        <p:spPr>
          <a:xfrm>
            <a:off x="638175" y="573405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长期任务：持续补充真实流程，纳入MDM平台导入前评审队列；平台具备承接条件后再受控导入</a:t>
            </a:r>
          </a:p>
        </p:txBody>
      </p:sp>
      <p:sp>
        <p:nvSpPr>
          <p:cNvPr id="13" name="page-10">
            <a:extLst>
              <a:ext uri="{FF2B5EF4-FFF2-40B4-BE49-F238E27FC236}">
                <a16:creationId xmlns:a16="http://schemas.microsoft.com/office/drawing/2014/main" id="{1851CD71-6C96-49B1-81D6-0F67A894ADD0}"/>
              </a:ext>
            </a:extLst>
          </p:cNvPr>
          <p:cNvSpPr>
            <a:spLocks noGrp="1"/>
          </p:cNvSpPr>
          <p:nvPr/>
        </p:nvSpPr>
        <p:spPr>
          <a:xfrm>
            <a:off x="11268075" y="6286500"/>
            <a:ext cx="523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54181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C26E5107-810F-4987-9EE0-8C4561EDF5ED}"/>
              </a:ext>
            </a:extLst>
          </p:cNvPr>
          <p:cNvSpPr>
            <a:spLocks noGrp="1"/>
          </p:cNvSpPr>
          <p:nvPr/>
        </p:nvSpPr>
        <p:spPr>
          <a:xfrm>
            <a:off x="390525" y="323850"/>
            <a:ext cx="11410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主数据识别：继续扩充清单</a:t>
            </a:r>
          </a:p>
        </p:txBody>
      </p:sp>
      <p:sp>
        <p:nvSpPr>
          <p:cNvPr id="2" name="s10-lead">
            <a:extLst>
              <a:ext uri="{FF2B5EF4-FFF2-40B4-BE49-F238E27FC236}">
                <a16:creationId xmlns:a16="http://schemas.microsoft.com/office/drawing/2014/main" id="{D235E4A7-4F38-49C9-B499-BEA601E153D9}"/>
              </a:ext>
            </a:extLst>
          </p:cNvPr>
          <p:cNvSpPr>
            <a:spLocks noGrp="1"/>
          </p:cNvSpPr>
          <p:nvPr/>
        </p:nvSpPr>
        <p:spPr>
          <a:xfrm>
            <a:off x="390525" y="112395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工程技术部、行政人事部已对主数据概念形成初步认识；本周继续扩充待识别清单。</a:t>
            </a:r>
          </a:p>
        </p:txBody>
      </p:sp>
      <p:sp>
        <p:nvSpPr>
          <p:cNvPr id="3" name="s10-left">
            <a:extLst>
              <a:ext uri="{FF2B5EF4-FFF2-40B4-BE49-F238E27FC236}">
                <a16:creationId xmlns:a16="http://schemas.microsoft.com/office/drawing/2014/main" id="{6D691585-2A4D-41BE-A22A-CDDCE287EFB5}"/>
              </a:ext>
            </a:extLst>
          </p:cNvPr>
          <p:cNvSpPr>
            <a:spLocks noGrp="1"/>
          </p:cNvSpPr>
          <p:nvPr/>
        </p:nvSpPr>
        <p:spPr>
          <a:xfrm>
            <a:off x="390525" y="1809750"/>
            <a:ext cx="5543550" cy="356235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4" name="s10-right">
            <a:extLst>
              <a:ext uri="{FF2B5EF4-FFF2-40B4-BE49-F238E27FC236}">
                <a16:creationId xmlns:a16="http://schemas.microsoft.com/office/drawing/2014/main" id="{38273DCF-3ED2-418C-A41C-61D0567EBE87}"/>
              </a:ext>
            </a:extLst>
          </p:cNvPr>
          <p:cNvSpPr>
            <a:spLocks noGrp="1"/>
          </p:cNvSpPr>
          <p:nvPr/>
        </p:nvSpPr>
        <p:spPr>
          <a:xfrm>
            <a:off x="6257925" y="1809750"/>
            <a:ext cx="5543550" cy="3562350"/>
          </a:xfrm>
          <a:prstGeom prst="rect">
            <a:avLst/>
          </a:prstGeom>
          <a:solidFill>
            <a:srgbClr val="F6F6F6"/>
          </a:solidFill>
          <a:ln w="0">
            <a:noFill/>
            <a:prstDash val="solid"/>
          </a:ln>
        </p:spPr>
      </p:sp>
      <p:sp>
        <p:nvSpPr>
          <p:cNvPr id="5" name="s10-left-tag">
            <a:extLst>
              <a:ext uri="{FF2B5EF4-FFF2-40B4-BE49-F238E27FC236}">
                <a16:creationId xmlns:a16="http://schemas.microsoft.com/office/drawing/2014/main" id="{207C2001-B52F-4513-8609-E0329BBB262E}"/>
              </a:ext>
            </a:extLst>
          </p:cNvPr>
          <p:cNvSpPr>
            <a:spLocks noGrp="1"/>
          </p:cNvSpPr>
          <p:nvPr/>
        </p:nvSpPr>
        <p:spPr>
          <a:xfrm>
            <a:off x="657225" y="207645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上周进展</a:t>
            </a:r>
          </a:p>
        </p:txBody>
      </p:sp>
      <p:sp>
        <p:nvSpPr>
          <p:cNvPr id="6" name="s10-left-title">
            <a:extLst>
              <a:ext uri="{FF2B5EF4-FFF2-40B4-BE49-F238E27FC236}">
                <a16:creationId xmlns:a16="http://schemas.microsoft.com/office/drawing/2014/main" id="{699E1975-255B-4C24-A883-E21B10122F7E}"/>
              </a:ext>
            </a:extLst>
          </p:cNvPr>
          <p:cNvSpPr>
            <a:spLocks noGrp="1"/>
          </p:cNvSpPr>
          <p:nvPr/>
        </p:nvSpPr>
        <p:spPr>
          <a:xfrm>
            <a:off x="6572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形成初步认识</a:t>
            </a:r>
          </a:p>
        </p:txBody>
      </p:sp>
      <p:sp>
        <p:nvSpPr>
          <p:cNvPr id="7" name="s10-left-body">
            <a:extLst>
              <a:ext uri="{FF2B5EF4-FFF2-40B4-BE49-F238E27FC236}">
                <a16:creationId xmlns:a16="http://schemas.microsoft.com/office/drawing/2014/main" id="{2A87F0D2-3B80-427C-BB0A-39B8ADFEF03E}"/>
              </a:ext>
            </a:extLst>
          </p:cNvPr>
          <p:cNvSpPr>
            <a:spLocks noGrp="1"/>
          </p:cNvSpPr>
          <p:nvPr/>
        </p:nvSpPr>
        <p:spPr>
          <a:xfrm>
            <a:off x="657225" y="3105150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了解主数据的基本概念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开始从真实流程寻找数据对象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清单先记录事实和待定项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尚未形成正式主数据认定结论</a:t>
            </a:r>
          </a:p>
        </p:txBody>
      </p:sp>
      <p:sp>
        <p:nvSpPr>
          <p:cNvPr id="8" name="s10-right-tag">
            <a:extLst>
              <a:ext uri="{FF2B5EF4-FFF2-40B4-BE49-F238E27FC236}">
                <a16:creationId xmlns:a16="http://schemas.microsoft.com/office/drawing/2014/main" id="{EC8EDC2B-5357-4E84-BEF6-40E0E4F42945}"/>
              </a:ext>
            </a:extLst>
          </p:cNvPr>
          <p:cNvSpPr>
            <a:spLocks noGrp="1"/>
          </p:cNvSpPr>
          <p:nvPr/>
        </p:nvSpPr>
        <p:spPr>
          <a:xfrm>
            <a:off x="6524625" y="207645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本周行动</a:t>
            </a:r>
          </a:p>
        </p:txBody>
      </p:sp>
      <p:sp>
        <p:nvSpPr>
          <p:cNvPr id="9" name="s10-right-title">
            <a:extLst>
              <a:ext uri="{FF2B5EF4-FFF2-40B4-BE49-F238E27FC236}">
                <a16:creationId xmlns:a16="http://schemas.microsoft.com/office/drawing/2014/main" id="{D8A2AEAD-5293-4B3E-92EA-139E2A17B6C6}"/>
              </a:ext>
            </a:extLst>
          </p:cNvPr>
          <p:cNvSpPr>
            <a:spLocks noGrp="1"/>
          </p:cNvSpPr>
          <p:nvPr/>
        </p:nvSpPr>
        <p:spPr>
          <a:xfrm>
            <a:off x="65246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继续扩充清单</a:t>
            </a:r>
          </a:p>
        </p:txBody>
      </p:sp>
      <p:sp>
        <p:nvSpPr>
          <p:cNvPr id="10" name="s10-right-body">
            <a:extLst>
              <a:ext uri="{FF2B5EF4-FFF2-40B4-BE49-F238E27FC236}">
                <a16:creationId xmlns:a16="http://schemas.microsoft.com/office/drawing/2014/main" id="{B2AC1027-D4E8-426F-8B72-94437FB6A1E9}"/>
              </a:ext>
            </a:extLst>
          </p:cNvPr>
          <p:cNvSpPr>
            <a:spLocks noGrp="1"/>
          </p:cNvSpPr>
          <p:nvPr/>
        </p:nvSpPr>
        <p:spPr>
          <a:xfrm>
            <a:off x="6524625" y="3105150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补充对象名称和业务含义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关联产生、使用该对象的流程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写明唯一标识或标注待定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写明当前来源和维护责任</a:t>
            </a:r>
          </a:p>
        </p:txBody>
      </p:sp>
      <p:sp>
        <p:nvSpPr>
          <p:cNvPr id="11" name="s10-status">
            <a:extLst>
              <a:ext uri="{FF2B5EF4-FFF2-40B4-BE49-F238E27FC236}">
                <a16:creationId xmlns:a16="http://schemas.microsoft.com/office/drawing/2014/main" id="{04750DC8-43FA-4558-AA02-9073B2B40D96}"/>
              </a:ext>
            </a:extLst>
          </p:cNvPr>
          <p:cNvSpPr>
            <a:spLocks noGrp="1"/>
          </p:cNvSpPr>
          <p:nvPr/>
        </p:nvSpPr>
        <p:spPr>
          <a:xfrm>
            <a:off x="390525" y="5619750"/>
            <a:ext cx="11410950" cy="4953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2" name="s10-status-text">
            <a:extLst>
              <a:ext uri="{FF2B5EF4-FFF2-40B4-BE49-F238E27FC236}">
                <a16:creationId xmlns:a16="http://schemas.microsoft.com/office/drawing/2014/main" id="{7246E1DB-D1F4-447C-AA5C-593C589D2EF0}"/>
              </a:ext>
            </a:extLst>
          </p:cNvPr>
          <p:cNvSpPr>
            <a:spLocks noGrp="1"/>
          </p:cNvSpPr>
          <p:nvPr/>
        </p:nvSpPr>
        <p:spPr>
          <a:xfrm>
            <a:off x="638175" y="573405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完成标准：两部门各提交更新后的清单，新增项、依据和待定项可以逐条核对</a:t>
            </a:r>
          </a:p>
        </p:txBody>
      </p:sp>
      <p:sp>
        <p:nvSpPr>
          <p:cNvPr id="13" name="page-10">
            <a:extLst>
              <a:ext uri="{FF2B5EF4-FFF2-40B4-BE49-F238E27FC236}">
                <a16:creationId xmlns:a16="http://schemas.microsoft.com/office/drawing/2014/main" id="{1851CD71-6C96-49B1-81D6-0F67A894ADD0}"/>
              </a:ext>
            </a:extLst>
          </p:cNvPr>
          <p:cNvSpPr>
            <a:spLocks noGrp="1"/>
          </p:cNvSpPr>
          <p:nvPr/>
        </p:nvSpPr>
        <p:spPr>
          <a:xfrm>
            <a:off x="11268075" y="6286500"/>
            <a:ext cx="523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54181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C26E5107-810F-4987-9EE0-8C4561EDF5ED}"/>
              </a:ext>
            </a:extLst>
          </p:cNvPr>
          <p:cNvSpPr>
            <a:spLocks noGrp="1"/>
          </p:cNvSpPr>
          <p:nvPr/>
        </p:nvSpPr>
        <p:spPr>
          <a:xfrm>
            <a:off x="390525" y="323850"/>
            <a:ext cx="11410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主数据识别：扩展到</a:t>
            </a:r>
            <a:r>
              <a:rPr lang="zh-CN" altLang="en-US" sz="360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四</a:t>
            </a:r>
            <a:r>
              <a:rPr sz="360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个部门</a:t>
            </a:r>
            <a:endParaRPr sz="360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s10-lead">
            <a:extLst>
              <a:ext uri="{FF2B5EF4-FFF2-40B4-BE49-F238E27FC236}">
                <a16:creationId xmlns:a16="http://schemas.microsoft.com/office/drawing/2014/main" id="{D235E4A7-4F38-49C9-B499-BEA601E153D9}"/>
              </a:ext>
            </a:extLst>
          </p:cNvPr>
          <p:cNvSpPr>
            <a:spLocks noGrp="1"/>
          </p:cNvSpPr>
          <p:nvPr/>
        </p:nvSpPr>
        <p:spPr>
          <a:xfrm>
            <a:off x="390525" y="112395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本周质量管理部、财务部开始识别本部门主数据清单，先提交待复核清单，不要求一次定论。</a:t>
            </a:r>
          </a:p>
        </p:txBody>
      </p:sp>
      <p:sp>
        <p:nvSpPr>
          <p:cNvPr id="3" name="s10-left">
            <a:extLst>
              <a:ext uri="{FF2B5EF4-FFF2-40B4-BE49-F238E27FC236}">
                <a16:creationId xmlns:a16="http://schemas.microsoft.com/office/drawing/2014/main" id="{6D691585-2A4D-41BE-A22A-CDDCE287EFB5}"/>
              </a:ext>
            </a:extLst>
          </p:cNvPr>
          <p:cNvSpPr>
            <a:spLocks noGrp="1"/>
          </p:cNvSpPr>
          <p:nvPr/>
        </p:nvSpPr>
        <p:spPr>
          <a:xfrm>
            <a:off x="390525" y="1809750"/>
            <a:ext cx="5543550" cy="356235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4" name="s10-right">
            <a:extLst>
              <a:ext uri="{FF2B5EF4-FFF2-40B4-BE49-F238E27FC236}">
                <a16:creationId xmlns:a16="http://schemas.microsoft.com/office/drawing/2014/main" id="{38273DCF-3ED2-418C-A41C-61D0567EBE87}"/>
              </a:ext>
            </a:extLst>
          </p:cNvPr>
          <p:cNvSpPr>
            <a:spLocks noGrp="1"/>
          </p:cNvSpPr>
          <p:nvPr/>
        </p:nvSpPr>
        <p:spPr>
          <a:xfrm>
            <a:off x="6257925" y="1809750"/>
            <a:ext cx="5543550" cy="3562350"/>
          </a:xfrm>
          <a:prstGeom prst="rect">
            <a:avLst/>
          </a:prstGeom>
          <a:solidFill>
            <a:srgbClr val="F6F6F6"/>
          </a:solidFill>
          <a:ln w="0">
            <a:noFill/>
            <a:prstDash val="solid"/>
          </a:ln>
        </p:spPr>
      </p:sp>
      <p:sp>
        <p:nvSpPr>
          <p:cNvPr id="5" name="s10-left-tag">
            <a:extLst>
              <a:ext uri="{FF2B5EF4-FFF2-40B4-BE49-F238E27FC236}">
                <a16:creationId xmlns:a16="http://schemas.microsoft.com/office/drawing/2014/main" id="{207C2001-B52F-4513-8609-E0329BBB262E}"/>
              </a:ext>
            </a:extLst>
          </p:cNvPr>
          <p:cNvSpPr>
            <a:spLocks noGrp="1"/>
          </p:cNvSpPr>
          <p:nvPr/>
        </p:nvSpPr>
        <p:spPr>
          <a:xfrm>
            <a:off x="657225" y="207645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识别方法</a:t>
            </a:r>
          </a:p>
        </p:txBody>
      </p:sp>
      <p:sp>
        <p:nvSpPr>
          <p:cNvPr id="6" name="s10-left-title">
            <a:extLst>
              <a:ext uri="{FF2B5EF4-FFF2-40B4-BE49-F238E27FC236}">
                <a16:creationId xmlns:a16="http://schemas.microsoft.com/office/drawing/2014/main" id="{699E1975-255B-4C24-A883-E21B10122F7E}"/>
              </a:ext>
            </a:extLst>
          </p:cNvPr>
          <p:cNvSpPr>
            <a:spLocks noGrp="1"/>
          </p:cNvSpPr>
          <p:nvPr/>
        </p:nvSpPr>
        <p:spPr>
          <a:xfrm>
            <a:off x="6572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从真实流程开始</a:t>
            </a:r>
          </a:p>
        </p:txBody>
      </p:sp>
      <p:sp>
        <p:nvSpPr>
          <p:cNvPr id="7" name="s10-left-body">
            <a:extLst>
              <a:ext uri="{FF2B5EF4-FFF2-40B4-BE49-F238E27FC236}">
                <a16:creationId xmlns:a16="http://schemas.microsoft.com/office/drawing/2014/main" id="{2A87F0D2-3B80-427C-BB0A-39B8ADFEF03E}"/>
              </a:ext>
            </a:extLst>
          </p:cNvPr>
          <p:cNvSpPr>
            <a:spLocks noGrp="1"/>
          </p:cNvSpPr>
          <p:nvPr/>
        </p:nvSpPr>
        <p:spPr>
          <a:xfrm>
            <a:off x="657225" y="3105150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选择本部门正在执行的真实流程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找出长期复用的数据对象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区分主数据、业务表单和交易记录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无法判断的对象保留为待定</a:t>
            </a:r>
          </a:p>
        </p:txBody>
      </p:sp>
      <p:sp>
        <p:nvSpPr>
          <p:cNvPr id="8" name="s10-right-tag">
            <a:extLst>
              <a:ext uri="{FF2B5EF4-FFF2-40B4-BE49-F238E27FC236}">
                <a16:creationId xmlns:a16="http://schemas.microsoft.com/office/drawing/2014/main" id="{EC8EDC2B-5357-4E84-BEF6-40E0E4F42945}"/>
              </a:ext>
            </a:extLst>
          </p:cNvPr>
          <p:cNvSpPr>
            <a:spLocks noGrp="1"/>
          </p:cNvSpPr>
          <p:nvPr/>
        </p:nvSpPr>
        <p:spPr>
          <a:xfrm>
            <a:off x="6524625" y="207645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本周交付</a:t>
            </a:r>
          </a:p>
        </p:txBody>
      </p:sp>
      <p:sp>
        <p:nvSpPr>
          <p:cNvPr id="9" name="s10-right-title">
            <a:extLst>
              <a:ext uri="{FF2B5EF4-FFF2-40B4-BE49-F238E27FC236}">
                <a16:creationId xmlns:a16="http://schemas.microsoft.com/office/drawing/2014/main" id="{D8A2AEAD-5293-4B3E-92EA-139E2A17B6C6}"/>
              </a:ext>
            </a:extLst>
          </p:cNvPr>
          <p:cNvSpPr>
            <a:spLocks noGrp="1"/>
          </p:cNvSpPr>
          <p:nvPr/>
        </p:nvSpPr>
        <p:spPr>
          <a:xfrm>
            <a:off x="65246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提交首版清单</a:t>
            </a:r>
          </a:p>
        </p:txBody>
      </p:sp>
      <p:sp>
        <p:nvSpPr>
          <p:cNvPr id="10" name="s10-right-body">
            <a:extLst>
              <a:ext uri="{FF2B5EF4-FFF2-40B4-BE49-F238E27FC236}">
                <a16:creationId xmlns:a16="http://schemas.microsoft.com/office/drawing/2014/main" id="{B2AC1027-D4E8-426F-8B72-94437FB6A1E9}"/>
              </a:ext>
            </a:extLst>
          </p:cNvPr>
          <p:cNvSpPr>
            <a:spLocks noGrp="1"/>
          </p:cNvSpPr>
          <p:nvPr/>
        </p:nvSpPr>
        <p:spPr>
          <a:xfrm>
            <a:off x="6524625" y="3105150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对象名称和业务含义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产生、维护和使用流程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唯一标识或待确认说明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当前来源、维护部门和依据</a:t>
            </a:r>
          </a:p>
        </p:txBody>
      </p:sp>
      <p:sp>
        <p:nvSpPr>
          <p:cNvPr id="11" name="s10-status">
            <a:extLst>
              <a:ext uri="{FF2B5EF4-FFF2-40B4-BE49-F238E27FC236}">
                <a16:creationId xmlns:a16="http://schemas.microsoft.com/office/drawing/2014/main" id="{04750DC8-43FA-4558-AA02-9073B2B40D96}"/>
              </a:ext>
            </a:extLst>
          </p:cNvPr>
          <p:cNvSpPr>
            <a:spLocks noGrp="1"/>
          </p:cNvSpPr>
          <p:nvPr/>
        </p:nvSpPr>
        <p:spPr>
          <a:xfrm>
            <a:off x="390525" y="5619750"/>
            <a:ext cx="11410950" cy="4953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2" name="s10-status-text">
            <a:extLst>
              <a:ext uri="{FF2B5EF4-FFF2-40B4-BE49-F238E27FC236}">
                <a16:creationId xmlns:a16="http://schemas.microsoft.com/office/drawing/2014/main" id="{7246E1DB-D1F4-447C-AA5C-593C589D2EF0}"/>
              </a:ext>
            </a:extLst>
          </p:cNvPr>
          <p:cNvSpPr>
            <a:spLocks noGrp="1"/>
          </p:cNvSpPr>
          <p:nvPr/>
        </p:nvSpPr>
        <p:spPr>
          <a:xfrm>
            <a:off x="638175" y="573405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质量管理部、财务部说明流程事实；MDM工作组后续复核主数据认定</a:t>
            </a:r>
          </a:p>
        </p:txBody>
      </p:sp>
      <p:sp>
        <p:nvSpPr>
          <p:cNvPr id="13" name="page-10">
            <a:extLst>
              <a:ext uri="{FF2B5EF4-FFF2-40B4-BE49-F238E27FC236}">
                <a16:creationId xmlns:a16="http://schemas.microsoft.com/office/drawing/2014/main" id="{1851CD71-6C96-49B1-81D6-0F67A894ADD0}"/>
              </a:ext>
            </a:extLst>
          </p:cNvPr>
          <p:cNvSpPr>
            <a:spLocks noGrp="1"/>
          </p:cNvSpPr>
          <p:nvPr/>
        </p:nvSpPr>
        <p:spPr>
          <a:xfrm>
            <a:off x="11268075" y="6286500"/>
            <a:ext cx="523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54181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C26E5107-810F-4987-9EE0-8C4561EDF5ED}"/>
              </a:ext>
            </a:extLst>
          </p:cNvPr>
          <p:cNvSpPr>
            <a:spLocks noGrp="1"/>
          </p:cNvSpPr>
          <p:nvPr/>
        </p:nvSpPr>
        <p:spPr>
          <a:xfrm>
            <a:off x="390525" y="323850"/>
            <a:ext cx="11410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主数据编码规范设计</a:t>
            </a:r>
          </a:p>
        </p:txBody>
      </p:sp>
      <p:sp>
        <p:nvSpPr>
          <p:cNvPr id="2" name="s10-lead">
            <a:extLst>
              <a:ext uri="{FF2B5EF4-FFF2-40B4-BE49-F238E27FC236}">
                <a16:creationId xmlns:a16="http://schemas.microsoft.com/office/drawing/2014/main" id="{D235E4A7-4F38-49C9-B499-BEA601E153D9}"/>
              </a:ext>
            </a:extLst>
          </p:cNvPr>
          <p:cNvSpPr>
            <a:spLocks noGrp="1"/>
          </p:cNvSpPr>
          <p:nvPr/>
        </p:nvSpPr>
        <p:spPr>
          <a:xfrm>
            <a:off x="390525" y="112395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工程技术部为本公司流程内生成的已识别主数据整理当前编码规则；没有依据的内容保持待定。</a:t>
            </a:r>
          </a:p>
        </p:txBody>
      </p:sp>
      <p:sp>
        <p:nvSpPr>
          <p:cNvPr id="3" name="s10-left">
            <a:extLst>
              <a:ext uri="{FF2B5EF4-FFF2-40B4-BE49-F238E27FC236}">
                <a16:creationId xmlns:a16="http://schemas.microsoft.com/office/drawing/2014/main" id="{6D691585-2A4D-41BE-A22A-CDDCE287EFB5}"/>
              </a:ext>
            </a:extLst>
          </p:cNvPr>
          <p:cNvSpPr>
            <a:spLocks noGrp="1"/>
          </p:cNvSpPr>
          <p:nvPr/>
        </p:nvSpPr>
        <p:spPr>
          <a:xfrm>
            <a:off x="390525" y="1809750"/>
            <a:ext cx="5543550" cy="356235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4" name="s10-right">
            <a:extLst>
              <a:ext uri="{FF2B5EF4-FFF2-40B4-BE49-F238E27FC236}">
                <a16:creationId xmlns:a16="http://schemas.microsoft.com/office/drawing/2014/main" id="{38273DCF-3ED2-418C-A41C-61D0567EBE87}"/>
              </a:ext>
            </a:extLst>
          </p:cNvPr>
          <p:cNvSpPr>
            <a:spLocks noGrp="1"/>
          </p:cNvSpPr>
          <p:nvPr/>
        </p:nvSpPr>
        <p:spPr>
          <a:xfrm>
            <a:off x="6257925" y="1809750"/>
            <a:ext cx="5543550" cy="3562350"/>
          </a:xfrm>
          <a:prstGeom prst="rect">
            <a:avLst/>
          </a:prstGeom>
          <a:solidFill>
            <a:srgbClr val="F6F6F6"/>
          </a:solidFill>
          <a:ln w="0">
            <a:noFill/>
            <a:prstDash val="solid"/>
          </a:ln>
        </p:spPr>
      </p:sp>
      <p:sp>
        <p:nvSpPr>
          <p:cNvPr id="5" name="s10-left-tag">
            <a:extLst>
              <a:ext uri="{FF2B5EF4-FFF2-40B4-BE49-F238E27FC236}">
                <a16:creationId xmlns:a16="http://schemas.microsoft.com/office/drawing/2014/main" id="{207C2001-B52F-4513-8609-E0329BBB262E}"/>
              </a:ext>
            </a:extLst>
          </p:cNvPr>
          <p:cNvSpPr>
            <a:spLocks noGrp="1"/>
          </p:cNvSpPr>
          <p:nvPr/>
        </p:nvSpPr>
        <p:spPr>
          <a:xfrm>
            <a:off x="657225" y="207645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适用范围</a:t>
            </a:r>
          </a:p>
        </p:txBody>
      </p:sp>
      <p:sp>
        <p:nvSpPr>
          <p:cNvPr id="6" name="s10-left-title">
            <a:extLst>
              <a:ext uri="{FF2B5EF4-FFF2-40B4-BE49-F238E27FC236}">
                <a16:creationId xmlns:a16="http://schemas.microsoft.com/office/drawing/2014/main" id="{699E1975-255B-4C24-A883-E21B10122F7E}"/>
              </a:ext>
            </a:extLst>
          </p:cNvPr>
          <p:cNvSpPr>
            <a:spLocks noGrp="1"/>
          </p:cNvSpPr>
          <p:nvPr/>
        </p:nvSpPr>
        <p:spPr>
          <a:xfrm>
            <a:off x="6572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范围锁定在公司内生成</a:t>
            </a:r>
          </a:p>
        </p:txBody>
      </p:sp>
      <p:sp>
        <p:nvSpPr>
          <p:cNvPr id="7" name="s10-left-body">
            <a:extLst>
              <a:ext uri="{FF2B5EF4-FFF2-40B4-BE49-F238E27FC236}">
                <a16:creationId xmlns:a16="http://schemas.microsoft.com/office/drawing/2014/main" id="{2A87F0D2-3B80-427C-BB0A-39B8ADFEF03E}"/>
              </a:ext>
            </a:extLst>
          </p:cNvPr>
          <p:cNvSpPr>
            <a:spLocks noGrp="1"/>
          </p:cNvSpPr>
          <p:nvPr/>
        </p:nvSpPr>
        <p:spPr>
          <a:xfrm>
            <a:off x="657225" y="3105150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对象已进入工程技术部清单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主数据由本公司流程生成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写明产生流程和业务行为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外部提供的数据不在本周范围内</a:t>
            </a:r>
          </a:p>
        </p:txBody>
      </p:sp>
      <p:sp>
        <p:nvSpPr>
          <p:cNvPr id="8" name="s10-right-tag">
            <a:extLst>
              <a:ext uri="{FF2B5EF4-FFF2-40B4-BE49-F238E27FC236}">
                <a16:creationId xmlns:a16="http://schemas.microsoft.com/office/drawing/2014/main" id="{EC8EDC2B-5357-4E84-BEF6-40E0E4F42945}"/>
              </a:ext>
            </a:extLst>
          </p:cNvPr>
          <p:cNvSpPr>
            <a:spLocks noGrp="1"/>
          </p:cNvSpPr>
          <p:nvPr/>
        </p:nvSpPr>
        <p:spPr>
          <a:xfrm>
            <a:off x="6524625" y="207645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规范内容</a:t>
            </a:r>
          </a:p>
        </p:txBody>
      </p:sp>
      <p:sp>
        <p:nvSpPr>
          <p:cNvPr id="9" name="s10-right-title">
            <a:extLst>
              <a:ext uri="{FF2B5EF4-FFF2-40B4-BE49-F238E27FC236}">
                <a16:creationId xmlns:a16="http://schemas.microsoft.com/office/drawing/2014/main" id="{D8A2AEAD-5293-4B3E-92EA-139E2A17B6C6}"/>
              </a:ext>
            </a:extLst>
          </p:cNvPr>
          <p:cNvSpPr>
            <a:spLocks noGrp="1"/>
          </p:cNvSpPr>
          <p:nvPr/>
        </p:nvSpPr>
        <p:spPr>
          <a:xfrm>
            <a:off x="65246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编码能够执行和检查</a:t>
            </a:r>
          </a:p>
        </p:txBody>
      </p:sp>
      <p:sp>
        <p:nvSpPr>
          <p:cNvPr id="10" name="s10-right-body">
            <a:extLst>
              <a:ext uri="{FF2B5EF4-FFF2-40B4-BE49-F238E27FC236}">
                <a16:creationId xmlns:a16="http://schemas.microsoft.com/office/drawing/2014/main" id="{B2AC1027-D4E8-426F-8B72-94437FB6A1E9}"/>
              </a:ext>
            </a:extLst>
          </p:cNvPr>
          <p:cNvSpPr>
            <a:spLocks noGrp="1"/>
          </p:cNvSpPr>
          <p:nvPr/>
        </p:nvSpPr>
        <p:spPr>
          <a:xfrm>
            <a:off x="6524625" y="3105150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编码结构及各段含义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生成时点、顺序和责任岗位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唯一性、重复使用和变更规则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停用、作废及异常编号处理</a:t>
            </a:r>
          </a:p>
        </p:txBody>
      </p:sp>
      <p:sp>
        <p:nvSpPr>
          <p:cNvPr id="11" name="s10-status">
            <a:extLst>
              <a:ext uri="{FF2B5EF4-FFF2-40B4-BE49-F238E27FC236}">
                <a16:creationId xmlns:a16="http://schemas.microsoft.com/office/drawing/2014/main" id="{04750DC8-43FA-4558-AA02-9073B2B40D96}"/>
              </a:ext>
            </a:extLst>
          </p:cNvPr>
          <p:cNvSpPr>
            <a:spLocks noGrp="1"/>
          </p:cNvSpPr>
          <p:nvPr/>
        </p:nvSpPr>
        <p:spPr>
          <a:xfrm>
            <a:off x="390525" y="5619750"/>
            <a:ext cx="11410950" cy="4953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2" name="s10-status-text">
            <a:extLst>
              <a:ext uri="{FF2B5EF4-FFF2-40B4-BE49-F238E27FC236}">
                <a16:creationId xmlns:a16="http://schemas.microsoft.com/office/drawing/2014/main" id="{7246E1DB-D1F4-447C-AA5C-593C589D2EF0}"/>
              </a:ext>
            </a:extLst>
          </p:cNvPr>
          <p:cNvSpPr>
            <a:spLocks noGrp="1"/>
          </p:cNvSpPr>
          <p:nvPr/>
        </p:nvSpPr>
        <p:spPr>
          <a:xfrm>
            <a:off x="638175" y="573405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完成标准：每类对象形成可核对的编码规则，写明依据、责任主体和待定项</a:t>
            </a:r>
          </a:p>
        </p:txBody>
      </p:sp>
      <p:sp>
        <p:nvSpPr>
          <p:cNvPr id="13" name="page-10">
            <a:extLst>
              <a:ext uri="{FF2B5EF4-FFF2-40B4-BE49-F238E27FC236}">
                <a16:creationId xmlns:a16="http://schemas.microsoft.com/office/drawing/2014/main" id="{1851CD71-6C96-49B1-81D6-0F67A894ADD0}"/>
              </a:ext>
            </a:extLst>
          </p:cNvPr>
          <p:cNvSpPr>
            <a:spLocks noGrp="1"/>
          </p:cNvSpPr>
          <p:nvPr/>
        </p:nvSpPr>
        <p:spPr>
          <a:xfrm>
            <a:off x="11268075" y="6286500"/>
            <a:ext cx="523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54181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12-eyebrow">
            <a:extLst>
              <a:ext uri="{FF2B5EF4-FFF2-40B4-BE49-F238E27FC236}">
                <a16:creationId xmlns:a16="http://schemas.microsoft.com/office/drawing/2014/main" id="{56029CAE-F1BD-4DDA-AB60-929E160E899A}"/>
              </a:ext>
            </a:extLst>
          </p:cNvPr>
          <p:cNvSpPr>
            <a:spLocks noGrp="1"/>
          </p:cNvSpPr>
          <p:nvPr/>
        </p:nvSpPr>
        <p:spPr>
          <a:xfrm>
            <a:off x="390525" y="4000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650" b="1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行动项汇总</a:t>
            </a:r>
          </a:p>
        </p:txBody>
      </p:sp>
      <p:sp>
        <p:nvSpPr>
          <p:cNvPr id="2" name="s12-title">
            <a:extLst>
              <a:ext uri="{FF2B5EF4-FFF2-40B4-BE49-F238E27FC236}">
                <a16:creationId xmlns:a16="http://schemas.microsoft.com/office/drawing/2014/main" id="{185DCD01-D3F6-409D-847A-69E054312E24}"/>
              </a:ext>
            </a:extLst>
          </p:cNvPr>
          <p:cNvSpPr>
            <a:spLocks noGrp="1"/>
          </p:cNvSpPr>
          <p:nvPr/>
        </p:nvSpPr>
        <p:spPr>
          <a:xfrm>
            <a:off x="390525" y="1447800"/>
            <a:ext cx="9429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5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长期任务与三项本周交付</a:t>
            </a:r>
          </a:p>
        </p:txBody>
      </p:sp>
      <p:sp>
        <p:nvSpPr>
          <p:cNvPr id="3" name="s12-rule">
            <a:extLst>
              <a:ext uri="{FF2B5EF4-FFF2-40B4-BE49-F238E27FC236}">
                <a16:creationId xmlns:a16="http://schemas.microsoft.com/office/drawing/2014/main" id="{7B551BBC-7AB1-4561-94F9-4831FB7D8613}"/>
              </a:ext>
            </a:extLst>
          </p:cNvPr>
          <p:cNvSpPr>
            <a:spLocks noGrp="1"/>
          </p:cNvSpPr>
          <p:nvPr/>
        </p:nvSpPr>
        <p:spPr>
          <a:xfrm>
            <a:off x="390525" y="2724150"/>
            <a:ext cx="11410950" cy="28575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4" name="s12-one">
            <a:extLst>
              <a:ext uri="{FF2B5EF4-FFF2-40B4-BE49-F238E27FC236}">
                <a16:creationId xmlns:a16="http://schemas.microsoft.com/office/drawing/2014/main" id="{8282081C-2D2F-482C-BD92-8D8FE8BBC88A}"/>
              </a:ext>
            </a:extLst>
          </p:cNvPr>
          <p:cNvSpPr>
            <a:spLocks noGrp="1"/>
          </p:cNvSpPr>
          <p:nvPr/>
        </p:nvSpPr>
        <p:spPr>
          <a:xfrm>
            <a:off x="390525" y="3181350"/>
            <a:ext cx="68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s12-one-text">
            <a:extLst>
              <a:ext uri="{FF2B5EF4-FFF2-40B4-BE49-F238E27FC236}">
                <a16:creationId xmlns:a16="http://schemas.microsoft.com/office/drawing/2014/main" id="{2B3ED502-82D6-4F8F-B2AD-90F0119D2161}"/>
              </a:ext>
            </a:extLst>
          </p:cNvPr>
          <p:cNvSpPr>
            <a:spLocks noGrp="1"/>
          </p:cNvSpPr>
          <p:nvPr/>
        </p:nvSpPr>
        <p:spPr>
          <a:xfrm>
            <a:off x="1257300" y="3028950"/>
            <a:ext cx="101441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长期任务｜各部门按3001当前结构持续补充真实流程，部门确认后进入MDM平台导入前评审队列。</a:t>
            </a:r>
          </a:p>
        </p:txBody>
      </p:sp>
      <p:sp>
        <p:nvSpPr>
          <p:cNvPr id="6" name="s12-two">
            <a:extLst>
              <a:ext uri="{FF2B5EF4-FFF2-40B4-BE49-F238E27FC236}">
                <a16:creationId xmlns:a16="http://schemas.microsoft.com/office/drawing/2014/main" id="{4EA672A8-6D9F-4653-B78A-78AF6BF322D0}"/>
              </a:ext>
            </a:extLst>
          </p:cNvPr>
          <p:cNvSpPr>
            <a:spLocks noGrp="1"/>
          </p:cNvSpPr>
          <p:nvPr/>
        </p:nvSpPr>
        <p:spPr>
          <a:xfrm>
            <a:off x="390525" y="4133850"/>
            <a:ext cx="68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s12-two-text">
            <a:extLst>
              <a:ext uri="{FF2B5EF4-FFF2-40B4-BE49-F238E27FC236}">
                <a16:creationId xmlns:a16="http://schemas.microsoft.com/office/drawing/2014/main" id="{B1EDAAEA-69CC-4BEA-848D-B584FA577345}"/>
              </a:ext>
            </a:extLst>
          </p:cNvPr>
          <p:cNvSpPr>
            <a:spLocks noGrp="1"/>
          </p:cNvSpPr>
          <p:nvPr/>
        </p:nvSpPr>
        <p:spPr>
          <a:xfrm>
            <a:off x="1257300" y="4019550"/>
            <a:ext cx="1014412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本周交付｜工程技术部、行政人事部更新清单；质量管理部、财务部提交首版清单；工程技术部提交编码规范。</a:t>
            </a:r>
          </a:p>
        </p:txBody>
      </p:sp>
      <p:sp>
        <p:nvSpPr>
          <p:cNvPr id="8" name="s12-callout">
            <a:extLst>
              <a:ext uri="{FF2B5EF4-FFF2-40B4-BE49-F238E27FC236}">
                <a16:creationId xmlns:a16="http://schemas.microsoft.com/office/drawing/2014/main" id="{784F046D-B843-4C64-B08E-EDFA75DF5F82}"/>
              </a:ext>
            </a:extLst>
          </p:cNvPr>
          <p:cNvSpPr>
            <a:spLocks noGrp="1"/>
          </p:cNvSpPr>
          <p:nvPr/>
        </p:nvSpPr>
        <p:spPr>
          <a:xfrm>
            <a:off x="390525" y="5276850"/>
            <a:ext cx="11410950" cy="80010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9" name="s12-callout-text">
            <a:extLst>
              <a:ext uri="{FF2B5EF4-FFF2-40B4-BE49-F238E27FC236}">
                <a16:creationId xmlns:a16="http://schemas.microsoft.com/office/drawing/2014/main" id="{8FB5BAB5-C2AF-41F4-B013-7F9E30178F36}"/>
              </a:ext>
            </a:extLst>
          </p:cNvPr>
          <p:cNvSpPr>
            <a:spLocks noGrp="1"/>
          </p:cNvSpPr>
          <p:nvPr/>
        </p:nvSpPr>
        <p:spPr>
          <a:xfrm>
            <a:off x="638175" y="5495925"/>
            <a:ext cx="1085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PMO跟踪交付状态；业务部门对本部门流程事实负责；MDM工作组负责后续结构复核。</a:t>
            </a:r>
          </a:p>
        </p:txBody>
      </p:sp>
    </p:spTree>
    <p:extLst>
      <p:ext uri="{BB962C8B-B14F-4D97-AF65-F5344CB8AC3E}">
        <p14:creationId xmlns:p14="http://schemas.microsoft.com/office/powerpoint/2010/main" val="420296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94E84A3-D21C-32DF-D944-D02EC53A4F3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002851D-71A1-F1D6-9BDA-64A2ACEE179C}"/>
              </a:ext>
            </a:extLst>
          </p:cNvPr>
          <p:cNvSpPr txBox="1"/>
          <p:nvPr/>
        </p:nvSpPr>
        <p:spPr>
          <a:xfrm>
            <a:off x="4230727" y="225462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质量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FB4D17E-AAE6-CA8B-E387-05DABB174CF7}"/>
              </a:ext>
            </a:extLst>
          </p:cNvPr>
          <p:cNvSpPr txBox="1"/>
          <p:nvPr/>
        </p:nvSpPr>
        <p:spPr>
          <a:xfrm>
            <a:off x="5073631" y="63793"/>
            <a:ext cx="26228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第</a:t>
            </a:r>
            <a:r>
              <a:rPr lang="en-US" altLang="zh-CN" sz="2000" dirty="0">
                <a:solidFill>
                  <a:schemeClr val="bg1"/>
                </a:solidFill>
              </a:rPr>
              <a:t>8</a:t>
            </a:r>
            <a:r>
              <a:rPr lang="zh-CN" altLang="en-US" sz="2000" dirty="0">
                <a:solidFill>
                  <a:schemeClr val="bg1"/>
                </a:solidFill>
              </a:rPr>
              <a:t>周周例会会前状态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E4E14B7-BAC6-3C4F-9F42-FAFAEE6FB4A9}"/>
              </a:ext>
            </a:extLst>
          </p:cNvPr>
          <p:cNvSpPr txBox="1"/>
          <p:nvPr/>
        </p:nvSpPr>
        <p:spPr>
          <a:xfrm>
            <a:off x="4750463" y="225014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车间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C9D4736-2043-6DCE-8829-CA8C353DACB3}"/>
              </a:ext>
            </a:extLst>
          </p:cNvPr>
          <p:cNvSpPr txBox="1"/>
          <p:nvPr/>
        </p:nvSpPr>
        <p:spPr>
          <a:xfrm>
            <a:off x="5417086" y="1576539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工程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流程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B76E253-041E-5528-C4F8-DFD434C29C86}"/>
              </a:ext>
            </a:extLst>
          </p:cNvPr>
          <p:cNvSpPr txBox="1"/>
          <p:nvPr/>
        </p:nvSpPr>
        <p:spPr>
          <a:xfrm>
            <a:off x="5281426" y="192514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经营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D2484D7-CCCE-B5AB-1646-CE1A01751B4D}"/>
              </a:ext>
            </a:extLst>
          </p:cNvPr>
          <p:cNvSpPr txBox="1"/>
          <p:nvPr/>
        </p:nvSpPr>
        <p:spPr>
          <a:xfrm>
            <a:off x="5812389" y="225014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物保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FA9F955-F7F3-A956-2395-F3BC415AFE4B}"/>
              </a:ext>
            </a:extLst>
          </p:cNvPr>
          <p:cNvSpPr txBox="1"/>
          <p:nvPr/>
        </p:nvSpPr>
        <p:spPr>
          <a:xfrm>
            <a:off x="5417086" y="2652093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行政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流程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95979C-93F3-4645-AADD-146EF017CF1E}"/>
              </a:ext>
            </a:extLst>
          </p:cNvPr>
          <p:cNvSpPr txBox="1"/>
          <p:nvPr/>
        </p:nvSpPr>
        <p:spPr>
          <a:xfrm>
            <a:off x="4877058" y="265209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财务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925383F-1708-7A3D-ABE8-CA05B057C093}"/>
              </a:ext>
            </a:extLst>
          </p:cNvPr>
          <p:cNvSpPr txBox="1"/>
          <p:nvPr/>
        </p:nvSpPr>
        <p:spPr>
          <a:xfrm>
            <a:off x="4347386" y="264761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运维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F843501-AF93-BFE4-8451-90B3982D617C}"/>
              </a:ext>
            </a:extLst>
          </p:cNvPr>
          <p:cNvSpPr txBox="1"/>
          <p:nvPr/>
        </p:nvSpPr>
        <p:spPr>
          <a:xfrm>
            <a:off x="5281426" y="225462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项目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B073B77-5126-2C09-9DBB-6388FEE4C6F2}"/>
              </a:ext>
            </a:extLst>
          </p:cNvPr>
          <p:cNvSpPr txBox="1"/>
          <p:nvPr/>
        </p:nvSpPr>
        <p:spPr>
          <a:xfrm>
            <a:off x="2739222" y="3016945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工程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数据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3DD535A-AC40-166D-D811-E109C5035534}"/>
              </a:ext>
            </a:extLst>
          </p:cNvPr>
          <p:cNvSpPr txBox="1"/>
          <p:nvPr/>
        </p:nvSpPr>
        <p:spPr>
          <a:xfrm>
            <a:off x="2739222" y="2661986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行政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数据</a:t>
            </a:r>
          </a:p>
        </p:txBody>
      </p:sp>
    </p:spTree>
    <p:extLst>
      <p:ext uri="{BB962C8B-B14F-4D97-AF65-F5344CB8AC3E}">
        <p14:creationId xmlns:p14="http://schemas.microsoft.com/office/powerpoint/2010/main" val="3704849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94E84A3-D21C-32DF-D944-D02EC53A4F3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002851D-71A1-F1D6-9BDA-64A2ACEE179C}"/>
              </a:ext>
            </a:extLst>
          </p:cNvPr>
          <p:cNvSpPr txBox="1"/>
          <p:nvPr/>
        </p:nvSpPr>
        <p:spPr>
          <a:xfrm>
            <a:off x="5772834" y="261947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质量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FB4D17E-AAE6-CA8B-E387-05DABB174CF7}"/>
              </a:ext>
            </a:extLst>
          </p:cNvPr>
          <p:cNvSpPr txBox="1"/>
          <p:nvPr/>
        </p:nvSpPr>
        <p:spPr>
          <a:xfrm>
            <a:off x="5073631" y="63793"/>
            <a:ext cx="26228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第</a:t>
            </a:r>
            <a:r>
              <a:rPr lang="en-US" altLang="zh-CN" sz="2000" dirty="0">
                <a:solidFill>
                  <a:schemeClr val="bg1"/>
                </a:solidFill>
              </a:rPr>
              <a:t>7</a:t>
            </a:r>
            <a:r>
              <a:rPr lang="zh-CN" altLang="en-US" sz="2000" dirty="0">
                <a:solidFill>
                  <a:schemeClr val="bg1"/>
                </a:solidFill>
              </a:rPr>
              <a:t>周周例会会前状态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E4E14B7-BAC6-3C4F-9F42-FAFAEE6FB4A9}"/>
              </a:ext>
            </a:extLst>
          </p:cNvPr>
          <p:cNvSpPr txBox="1"/>
          <p:nvPr/>
        </p:nvSpPr>
        <p:spPr>
          <a:xfrm>
            <a:off x="5073631" y="261947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车间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C9D4736-2043-6DCE-8829-CA8C353DACB3}"/>
              </a:ext>
            </a:extLst>
          </p:cNvPr>
          <p:cNvSpPr txBox="1"/>
          <p:nvPr/>
        </p:nvSpPr>
        <p:spPr>
          <a:xfrm>
            <a:off x="5772833" y="289740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工程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B76E253-041E-5528-C4F8-DFD434C29C86}"/>
              </a:ext>
            </a:extLst>
          </p:cNvPr>
          <p:cNvSpPr txBox="1"/>
          <p:nvPr/>
        </p:nvSpPr>
        <p:spPr>
          <a:xfrm>
            <a:off x="6061879" y="337872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经营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D2484D7-CCCE-B5AB-1646-CE1A01751B4D}"/>
              </a:ext>
            </a:extLst>
          </p:cNvPr>
          <p:cNvSpPr txBox="1"/>
          <p:nvPr/>
        </p:nvSpPr>
        <p:spPr>
          <a:xfrm>
            <a:off x="6061880" y="149088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物保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FA9F955-F7F3-A956-2395-F3BC415AFE4B}"/>
              </a:ext>
            </a:extLst>
          </p:cNvPr>
          <p:cNvSpPr txBox="1"/>
          <p:nvPr/>
        </p:nvSpPr>
        <p:spPr>
          <a:xfrm>
            <a:off x="5073630" y="334917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行政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95979C-93F3-4645-AADD-146EF017CF1E}"/>
              </a:ext>
            </a:extLst>
          </p:cNvPr>
          <p:cNvSpPr txBox="1"/>
          <p:nvPr/>
        </p:nvSpPr>
        <p:spPr>
          <a:xfrm>
            <a:off x="5073629" y="306851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财务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925383F-1708-7A3D-ABE8-CA05B057C093}"/>
              </a:ext>
            </a:extLst>
          </p:cNvPr>
          <p:cNvSpPr txBox="1"/>
          <p:nvPr/>
        </p:nvSpPr>
        <p:spPr>
          <a:xfrm>
            <a:off x="6061878" y="374806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运维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F843501-AF93-BFE4-8451-90B3982D617C}"/>
              </a:ext>
            </a:extLst>
          </p:cNvPr>
          <p:cNvSpPr txBox="1"/>
          <p:nvPr/>
        </p:nvSpPr>
        <p:spPr>
          <a:xfrm>
            <a:off x="5567754" y="334917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项目</a:t>
            </a:r>
          </a:p>
        </p:txBody>
      </p:sp>
    </p:spTree>
    <p:extLst>
      <p:ext uri="{BB962C8B-B14F-4D97-AF65-F5344CB8AC3E}">
        <p14:creationId xmlns:p14="http://schemas.microsoft.com/office/powerpoint/2010/main" val="60370199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410</Words>
  <Application>Microsoft Office PowerPoint</Application>
  <DocSecurity>0</DocSecurity>
  <PresentationFormat>宽屏</PresentationFormat>
  <Paragraphs>115</Paragraphs>
  <Slides>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Charles Archer</cp:lastModifiedBy>
  <cp:revision>4</cp:revision>
  <dcterms:created xsi:type="dcterms:W3CDTF">2026-08-20T01:30:07Z</dcterms:created>
  <dcterms:modified xsi:type="dcterms:W3CDTF">2026-08-20T05:08:01Z</dcterms:modified>
</cp:coreProperties>
</file>