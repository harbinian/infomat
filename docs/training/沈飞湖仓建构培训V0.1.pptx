
<file path=[Content_Types].xml><?xml version="1.0" encoding="utf-8"?>
<Types xmlns="http://schemas.openxmlformats.org/package/2006/content-types">
  <Default Extension="xml" ContentType="application/xml"/>
  <Default Extension="jpeg" ContentType="image/jpeg"/>
  <Default Extension="JPG" ContentType="image/.jpg"/>
  <Default Extension="png" ContentType="image/png"/>
  <Default Extension="rels" ContentType="application/vnd.openxmlformats-package.relationships+xml"/>
  <Override PartName="/customXml/itemProps30.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1.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1.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3"/>
    <p:sldMasterId id="2147483653" r:id="rId4"/>
    <p:sldMasterId id="2147483665" r:id="rId5"/>
  </p:sldMasterIdLst>
  <p:notesMasterIdLst>
    <p:notesMasterId r:id="rId15"/>
  </p:notesMasterIdLst>
  <p:sldIdLst>
    <p:sldId id="256" r:id="rId6"/>
    <p:sldId id="8412647" r:id="rId7"/>
    <p:sldId id="16144923" r:id="rId8"/>
    <p:sldId id="16144886" r:id="rId9"/>
    <p:sldId id="16144904" r:id="rId10"/>
    <p:sldId id="16144929" r:id="rId11"/>
    <p:sldId id="16144930" r:id="rId12"/>
    <p:sldId id="16144928" r:id="rId13"/>
    <p:sldId id="16144887" r:id="rId14"/>
    <p:sldId id="16144927" r:id="rId16"/>
    <p:sldId id="16144924" r:id="rId17"/>
    <p:sldId id="16144903" r:id="rId18"/>
    <p:sldId id="16144925" r:id="rId19"/>
    <p:sldId id="16144932" r:id="rId20"/>
    <p:sldId id="16144935" r:id="rId21"/>
    <p:sldId id="16144936" r:id="rId22"/>
    <p:sldId id="16144937" r:id="rId23"/>
    <p:sldId id="16144916" r:id="rId24"/>
    <p:sldId id="16144917" r:id="rId25"/>
    <p:sldId id="16144931" r:id="rId26"/>
    <p:sldId id="8412646" r:id="rId27"/>
  </p:sldIdLst>
  <p:sldSz cx="12192000" cy="6858000"/>
  <p:notesSz cx="6858000" cy="9144000"/>
  <p:custDataLst>
    <p:tags r:id="rId3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B4928599-64B4-4644-B077-BBE52F158FAB}">
          <p14:sldIdLst>
            <p14:sldId id="256"/>
            <p14:sldId id="8412647"/>
            <p14:sldId id="16144923"/>
            <p14:sldId id="16144886"/>
            <p14:sldId id="16144904"/>
            <p14:sldId id="16144929"/>
            <p14:sldId id="16144930"/>
            <p14:sldId id="16144928"/>
            <p14:sldId id="16144887"/>
            <p14:sldId id="16144927"/>
            <p14:sldId id="16144924"/>
            <p14:sldId id="16144903"/>
            <p14:sldId id="16144925"/>
            <p14:sldId id="16144932"/>
            <p14:sldId id="16144935"/>
            <p14:sldId id="16144936"/>
            <p14:sldId id="16144937"/>
            <p14:sldId id="16144916"/>
            <p14:sldId id="16144917"/>
            <p14:sldId id="16144931"/>
            <p14:sldId id="8412646"/>
          </p14:sldIdLst>
        </p14:section>
      </p14:sectionLst>
    </p:ext>
    <p:ext uri="{EFAFB233-063F-42B5-8137-9DF3F51BA10A}">
      <p15:sldGuideLst xmlns:p15="http://schemas.microsoft.com/office/powerpoint/2012/main">
        <p15:guide id="2" pos="495" userDrawn="1">
          <p15:clr>
            <a:srgbClr val="A4A3A4"/>
          </p15:clr>
        </p15:guide>
        <p15:guide id="4" orient="horz" pos="2156" userDrawn="1">
          <p15:clr>
            <a:srgbClr val="A4A3A4"/>
          </p15:clr>
        </p15:guide>
        <p15:guide id="5" pos="143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E6E6"/>
    <a:srgbClr val="076DF3"/>
    <a:srgbClr val="08B9C5"/>
    <a:srgbClr val="319DF9"/>
    <a:srgbClr val="CBE7FF"/>
    <a:srgbClr val="E0BC49"/>
    <a:srgbClr val="DDDDDD"/>
    <a:srgbClr val="004E95"/>
    <a:srgbClr val="E6F2FF"/>
    <a:srgbClr val="A1CBA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630" autoAdjust="0"/>
    <p:restoredTop sz="94660"/>
  </p:normalViewPr>
  <p:slideViewPr>
    <p:cSldViewPr snapToGrid="0" showGuides="1">
      <p:cViewPr varScale="1">
        <p:scale>
          <a:sx n="99" d="100"/>
          <a:sy n="99" d="100"/>
        </p:scale>
        <p:origin x="58" y="346"/>
      </p:cViewPr>
      <p:guideLst>
        <p:guide pos="495"/>
        <p:guide orient="horz" pos="2156"/>
        <p:guide pos="1437"/>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slide" Target="slides/slide2.xml"/><Relationship Id="rId6" Type="http://schemas.openxmlformats.org/officeDocument/2006/relationships/slide" Target="slides/slide1.xml"/><Relationship Id="rId5" Type="http://schemas.openxmlformats.org/officeDocument/2006/relationships/slideMaster" Target="slideMasters/slideMaster4.xml"/><Relationship Id="rId4" Type="http://schemas.openxmlformats.org/officeDocument/2006/relationships/slideMaster" Target="slideMasters/slideMaster3.xml"/><Relationship Id="rId32" Type="http://schemas.openxmlformats.org/officeDocument/2006/relationships/tags" Target="tags/tag31.xml"/><Relationship Id="rId31" Type="http://schemas.openxmlformats.org/officeDocument/2006/relationships/customXml" Target="../customXml/item1.xml"/><Relationship Id="rId30" Type="http://schemas.openxmlformats.org/officeDocument/2006/relationships/tableStyles" Target="tableStyles.xml"/><Relationship Id="rId3" Type="http://schemas.openxmlformats.org/officeDocument/2006/relationships/slideMaster" Target="slideMasters/slideMaster2.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slide" Target="slides/slide21.xml"/><Relationship Id="rId26" Type="http://schemas.openxmlformats.org/officeDocument/2006/relationships/slide" Target="slides/slide20.xml"/><Relationship Id="rId25" Type="http://schemas.openxmlformats.org/officeDocument/2006/relationships/slide" Target="slides/slide19.xml"/><Relationship Id="rId24" Type="http://schemas.openxmlformats.org/officeDocument/2006/relationships/slide" Target="slides/slide18.xml"/><Relationship Id="rId23" Type="http://schemas.openxmlformats.org/officeDocument/2006/relationships/slide" Target="slides/slide17.xml"/><Relationship Id="rId22" Type="http://schemas.openxmlformats.org/officeDocument/2006/relationships/slide" Target="slides/slide16.xml"/><Relationship Id="rId21" Type="http://schemas.openxmlformats.org/officeDocument/2006/relationships/slide" Target="slides/slide15.xml"/><Relationship Id="rId20" Type="http://schemas.openxmlformats.org/officeDocument/2006/relationships/slide" Target="slides/slide14.xml"/><Relationship Id="rId2" Type="http://schemas.openxmlformats.org/officeDocument/2006/relationships/theme" Target="theme/theme1.xml"/><Relationship Id="rId19" Type="http://schemas.openxmlformats.org/officeDocument/2006/relationships/slide" Target="slides/slide13.xml"/><Relationship Id="rId18" Type="http://schemas.openxmlformats.org/officeDocument/2006/relationships/slide" Target="slides/slide12.xml"/><Relationship Id="rId17" Type="http://schemas.openxmlformats.org/officeDocument/2006/relationships/slide" Target="slides/slide11.xml"/><Relationship Id="rId16" Type="http://schemas.openxmlformats.org/officeDocument/2006/relationships/slide" Target="slides/slide10.xml"/><Relationship Id="rId15" Type="http://schemas.openxmlformats.org/officeDocument/2006/relationships/notesMaster" Target="notesMasters/notesMaster1.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7047AA-9A6B-4D07-B000-4A89A9BC9727}"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32FDA3-5D60-4471-9990-DEEF9151B78F}"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数据给数字化转型的支撑，数据管理体系</a:t>
            </a:r>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数据给数字化转型的支撑，数据管理体系</a:t>
            </a: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sym typeface="+mn-ea"/>
              </a:rPr>
              <a:t>在项目管理中，</a:t>
            </a:r>
            <a:r>
              <a:rPr lang="en-US" altLang="zh-CN">
                <a:sym typeface="+mn-ea"/>
              </a:rPr>
              <a:t>**</a:t>
            </a:r>
            <a:r>
              <a:rPr lang="zh-CN" altLang="en-US">
                <a:sym typeface="+mn-ea"/>
              </a:rPr>
              <a:t>人员保障、服务保障、资料保障</a:t>
            </a:r>
            <a:r>
              <a:rPr lang="en-US" altLang="zh-CN">
                <a:sym typeface="+mn-ea"/>
              </a:rPr>
              <a:t>**</a:t>
            </a:r>
            <a:r>
              <a:rPr lang="zh-CN" altLang="en-US">
                <a:sym typeface="+mn-ea"/>
              </a:rPr>
              <a:t>是确保项目顺利推进和成功交付的核心要素。以下是针对这三方面的详细说明和实施方案：</a:t>
            </a:r>
            <a:endParaRPr lang="zh-CN" altLang="en-US"/>
          </a:p>
          <a:p>
            <a:endParaRPr lang="en-US" altLang="zh-CN"/>
          </a:p>
          <a:p>
            <a:r>
              <a:rPr lang="en-US" altLang="zh-CN">
                <a:sym typeface="+mn-ea"/>
              </a:rPr>
              <a:t>---</a:t>
            </a:r>
            <a:endParaRPr lang="en-US" altLang="zh-CN"/>
          </a:p>
          <a:p>
            <a:endParaRPr lang="en-US" altLang="zh-CN"/>
          </a:p>
          <a:p>
            <a:r>
              <a:rPr lang="en-US" altLang="zh-CN">
                <a:sym typeface="+mn-ea"/>
              </a:rPr>
              <a:t>### **</a:t>
            </a:r>
            <a:r>
              <a:rPr lang="zh-CN" altLang="en-US">
                <a:sym typeface="+mn-ea"/>
              </a:rPr>
              <a:t>一、人员保障</a:t>
            </a:r>
            <a:r>
              <a:rPr lang="en-US" altLang="zh-CN">
                <a:sym typeface="+mn-ea"/>
              </a:rPr>
              <a:t>**</a:t>
            </a:r>
            <a:endParaRPr lang="en-US" altLang="zh-CN"/>
          </a:p>
          <a:p>
            <a:r>
              <a:rPr lang="en-US" altLang="zh-CN">
                <a:sym typeface="+mn-ea"/>
              </a:rPr>
              <a:t>**</a:t>
            </a:r>
            <a:r>
              <a:rPr lang="zh-CN" altLang="en-US">
                <a:sym typeface="+mn-ea"/>
              </a:rPr>
              <a:t>目标</a:t>
            </a:r>
            <a:r>
              <a:rPr lang="en-US" altLang="zh-CN">
                <a:sym typeface="+mn-ea"/>
              </a:rPr>
              <a:t>**</a:t>
            </a:r>
            <a:r>
              <a:rPr lang="zh-CN" altLang="en-US">
                <a:sym typeface="+mn-ea"/>
              </a:rPr>
              <a:t>：确保项目团队结构合理、技能匹配、分工明确，并能高效协作。</a:t>
            </a:r>
            <a:r>
              <a:rPr lang="en-US" altLang="zh-CN">
                <a:sym typeface="+mn-ea"/>
              </a:rPr>
              <a:t>  </a:t>
            </a:r>
            <a:endParaRPr lang="en-US" altLang="zh-CN"/>
          </a:p>
          <a:p>
            <a:r>
              <a:rPr lang="en-US" altLang="zh-CN">
                <a:sym typeface="+mn-ea"/>
              </a:rPr>
              <a:t>**</a:t>
            </a:r>
            <a:r>
              <a:rPr lang="zh-CN" altLang="en-US">
                <a:sym typeface="+mn-ea"/>
              </a:rPr>
              <a:t>关键措施</a:t>
            </a:r>
            <a:r>
              <a:rPr lang="en-US" altLang="zh-CN">
                <a:sym typeface="+mn-ea"/>
              </a:rPr>
              <a:t>**</a:t>
            </a:r>
            <a:r>
              <a:rPr lang="zh-CN" altLang="en-US">
                <a:sym typeface="+mn-ea"/>
              </a:rPr>
              <a:t>：</a:t>
            </a:r>
            <a:r>
              <a:rPr lang="en-US" altLang="zh-CN">
                <a:sym typeface="+mn-ea"/>
              </a:rPr>
              <a:t>  </a:t>
            </a:r>
            <a:endParaRPr lang="en-US" altLang="zh-CN"/>
          </a:p>
          <a:p>
            <a:r>
              <a:rPr lang="en-US" altLang="zh-CN">
                <a:sym typeface="+mn-ea"/>
              </a:rPr>
              <a:t>1. **</a:t>
            </a:r>
            <a:r>
              <a:rPr lang="zh-CN" altLang="en-US">
                <a:sym typeface="+mn-ea"/>
              </a:rPr>
              <a:t>团队组建与角色分工</a:t>
            </a:r>
            <a:r>
              <a:rPr lang="en-US" altLang="zh-CN">
                <a:sym typeface="+mn-ea"/>
              </a:rPr>
              <a:t>**  </a:t>
            </a:r>
            <a:endParaRPr lang="en-US" altLang="zh-CN"/>
          </a:p>
          <a:p>
            <a:r>
              <a:rPr lang="en-US" altLang="zh-CN">
                <a:sym typeface="+mn-ea"/>
              </a:rPr>
              <a:t>   - </a:t>
            </a:r>
            <a:r>
              <a:rPr lang="zh-CN" altLang="en-US">
                <a:sym typeface="+mn-ea"/>
              </a:rPr>
              <a:t>明确项目所需岗位（如项目经理、技术开发、测试、运维、产品经理等）。</a:t>
            </a:r>
            <a:r>
              <a:rPr lang="en-US" altLang="zh-CN">
                <a:sym typeface="+mn-ea"/>
              </a:rPr>
              <a:t>  </a:t>
            </a:r>
            <a:endParaRPr lang="en-US" altLang="zh-CN"/>
          </a:p>
          <a:p>
            <a:r>
              <a:rPr lang="en-US" altLang="zh-CN">
                <a:sym typeface="+mn-ea"/>
              </a:rPr>
              <a:t>   - </a:t>
            </a:r>
            <a:r>
              <a:rPr lang="zh-CN" altLang="en-US">
                <a:sym typeface="+mn-ea"/>
              </a:rPr>
              <a:t>根据项目复杂度配置专职或兼职人员，避免资源不足或冗余。</a:t>
            </a:r>
            <a:r>
              <a:rPr lang="en-US" altLang="zh-CN">
                <a:sym typeface="+mn-ea"/>
              </a:rPr>
              <a:t>  </a:t>
            </a:r>
            <a:endParaRPr lang="en-US" altLang="zh-CN"/>
          </a:p>
          <a:p>
            <a:r>
              <a:rPr lang="en-US" altLang="zh-CN">
                <a:sym typeface="+mn-ea"/>
              </a:rPr>
              <a:t>   - </a:t>
            </a:r>
            <a:r>
              <a:rPr lang="zh-CN" altLang="en-US">
                <a:sym typeface="+mn-ea"/>
              </a:rPr>
              <a:t>定义各角色职责（如</a:t>
            </a:r>
            <a:r>
              <a:rPr lang="en-US" altLang="zh-CN">
                <a:sym typeface="+mn-ea"/>
              </a:rPr>
              <a:t>RACI</a:t>
            </a:r>
            <a:r>
              <a:rPr lang="zh-CN" altLang="en-US">
                <a:sym typeface="+mn-ea"/>
              </a:rPr>
              <a:t>矩阵），确保责任到人。</a:t>
            </a:r>
            <a:r>
              <a:rPr lang="en-US" altLang="zh-CN">
                <a:sym typeface="+mn-ea"/>
              </a:rPr>
              <a:t>  </a:t>
            </a:r>
            <a:endParaRPr lang="en-US" altLang="zh-CN"/>
          </a:p>
          <a:p>
            <a:endParaRPr lang="en-US" altLang="zh-CN"/>
          </a:p>
          <a:p>
            <a:r>
              <a:rPr lang="en-US" altLang="zh-CN">
                <a:sym typeface="+mn-ea"/>
              </a:rPr>
              <a:t>2. **</a:t>
            </a:r>
            <a:r>
              <a:rPr lang="zh-CN" altLang="en-US">
                <a:sym typeface="+mn-ea"/>
              </a:rPr>
              <a:t>技能匹配与培训</a:t>
            </a:r>
            <a:r>
              <a:rPr lang="en-US" altLang="zh-CN">
                <a:sym typeface="+mn-ea"/>
              </a:rPr>
              <a:t>**  </a:t>
            </a:r>
            <a:endParaRPr lang="en-US" altLang="zh-CN"/>
          </a:p>
          <a:p>
            <a:r>
              <a:rPr lang="en-US" altLang="zh-CN">
                <a:sym typeface="+mn-ea"/>
              </a:rPr>
              <a:t>   - </a:t>
            </a:r>
            <a:r>
              <a:rPr lang="zh-CN" altLang="en-US">
                <a:sym typeface="+mn-ea"/>
              </a:rPr>
              <a:t>评估团队成员技能与项目需求的匹配度，针对缺口安排培训（如技术培训、工具使用）。</a:t>
            </a:r>
            <a:r>
              <a:rPr lang="en-US" altLang="zh-CN">
                <a:sym typeface="+mn-ea"/>
              </a:rPr>
              <a:t>  </a:t>
            </a:r>
            <a:endParaRPr lang="en-US" altLang="zh-CN"/>
          </a:p>
          <a:p>
            <a:r>
              <a:rPr lang="en-US" altLang="zh-CN">
                <a:sym typeface="+mn-ea"/>
              </a:rPr>
              <a:t>   - </a:t>
            </a:r>
            <a:r>
              <a:rPr lang="zh-CN" altLang="en-US">
                <a:sym typeface="+mn-ea"/>
              </a:rPr>
              <a:t>引入外部专家或顾问解决关键技术难题。</a:t>
            </a:r>
            <a:r>
              <a:rPr lang="en-US" altLang="zh-CN">
                <a:sym typeface="+mn-ea"/>
              </a:rPr>
              <a:t>  </a:t>
            </a:r>
            <a:endParaRPr lang="en-US" altLang="zh-CN"/>
          </a:p>
          <a:p>
            <a:endParaRPr lang="en-US" altLang="zh-CN"/>
          </a:p>
          <a:p>
            <a:r>
              <a:rPr lang="en-US" altLang="zh-CN">
                <a:sym typeface="+mn-ea"/>
              </a:rPr>
              <a:t>3. **</a:t>
            </a:r>
            <a:r>
              <a:rPr lang="zh-CN" altLang="en-US">
                <a:sym typeface="+mn-ea"/>
              </a:rPr>
              <a:t>人员稳定性</a:t>
            </a:r>
            <a:r>
              <a:rPr lang="en-US" altLang="zh-CN">
                <a:sym typeface="+mn-ea"/>
              </a:rPr>
              <a:t>**  </a:t>
            </a:r>
            <a:endParaRPr lang="en-US" altLang="zh-CN"/>
          </a:p>
          <a:p>
            <a:r>
              <a:rPr lang="en-US" altLang="zh-CN">
                <a:sym typeface="+mn-ea"/>
              </a:rPr>
              <a:t>   - </a:t>
            </a:r>
            <a:r>
              <a:rPr lang="zh-CN" altLang="en-US">
                <a:sym typeface="+mn-ea"/>
              </a:rPr>
              <a:t>避免频繁更换核心成员，通过激励机制（如绩效奖励、职业发展机会）保留关键人才。</a:t>
            </a:r>
            <a:r>
              <a:rPr lang="en-US" altLang="zh-CN">
                <a:sym typeface="+mn-ea"/>
              </a:rPr>
              <a:t>  </a:t>
            </a:r>
            <a:endParaRPr lang="en-US" altLang="zh-CN"/>
          </a:p>
          <a:p>
            <a:r>
              <a:rPr lang="en-US" altLang="zh-CN">
                <a:sym typeface="+mn-ea"/>
              </a:rPr>
              <a:t>   - </a:t>
            </a:r>
            <a:r>
              <a:rPr lang="zh-CN" altLang="en-US">
                <a:sym typeface="+mn-ea"/>
              </a:rPr>
              <a:t>建立</a:t>
            </a:r>
            <a:r>
              <a:rPr lang="en-US" altLang="zh-CN">
                <a:sym typeface="+mn-ea"/>
              </a:rPr>
              <a:t>AB</a:t>
            </a:r>
            <a:r>
              <a:rPr lang="zh-CN" altLang="en-US">
                <a:sym typeface="+mn-ea"/>
              </a:rPr>
              <a:t>角机制（备份人员），降低人员流动风险。</a:t>
            </a:r>
            <a:r>
              <a:rPr lang="en-US" altLang="zh-CN">
                <a:sym typeface="+mn-ea"/>
              </a:rPr>
              <a:t>  </a:t>
            </a:r>
            <a:endParaRPr lang="en-US" altLang="zh-CN"/>
          </a:p>
          <a:p>
            <a:endParaRPr lang="en-US" altLang="zh-CN"/>
          </a:p>
          <a:p>
            <a:r>
              <a:rPr lang="en-US" altLang="zh-CN">
                <a:sym typeface="+mn-ea"/>
              </a:rPr>
              <a:t>4. **</a:t>
            </a:r>
            <a:r>
              <a:rPr lang="zh-CN" altLang="en-US">
                <a:sym typeface="+mn-ea"/>
              </a:rPr>
              <a:t>沟通与协作</a:t>
            </a:r>
            <a:r>
              <a:rPr lang="en-US" altLang="zh-CN">
                <a:sym typeface="+mn-ea"/>
              </a:rPr>
              <a:t>**  </a:t>
            </a:r>
            <a:endParaRPr lang="en-US" altLang="zh-CN"/>
          </a:p>
          <a:p>
            <a:r>
              <a:rPr lang="en-US" altLang="zh-CN">
                <a:sym typeface="+mn-ea"/>
              </a:rPr>
              <a:t>   - </a:t>
            </a:r>
            <a:r>
              <a:rPr lang="zh-CN" altLang="en-US">
                <a:sym typeface="+mn-ea"/>
              </a:rPr>
              <a:t>定期召开项目例会、站会，使用协作工具（如</a:t>
            </a:r>
            <a:r>
              <a:rPr lang="en-US" altLang="zh-CN">
                <a:sym typeface="+mn-ea"/>
              </a:rPr>
              <a:t>Jira</a:t>
            </a:r>
            <a:r>
              <a:rPr lang="zh-CN" altLang="en-US">
                <a:sym typeface="+mn-ea"/>
              </a:rPr>
              <a:t>、飞书、钉钉）同步进度。</a:t>
            </a:r>
            <a:r>
              <a:rPr lang="en-US" altLang="zh-CN">
                <a:sym typeface="+mn-ea"/>
              </a:rPr>
              <a:t>  </a:t>
            </a:r>
            <a:endParaRPr lang="en-US" altLang="zh-CN"/>
          </a:p>
          <a:p>
            <a:r>
              <a:rPr lang="en-US" altLang="zh-CN">
                <a:sym typeface="+mn-ea"/>
              </a:rPr>
              <a:t>   - </a:t>
            </a:r>
            <a:r>
              <a:rPr lang="zh-CN" altLang="en-US">
                <a:sym typeface="+mn-ea"/>
              </a:rPr>
              <a:t>跨部门项目需指定对接人，避免信息断层。</a:t>
            </a:r>
            <a:r>
              <a:rPr lang="en-US" altLang="zh-CN">
                <a:sym typeface="+mn-ea"/>
              </a:rPr>
              <a:t>  </a:t>
            </a:r>
            <a:endParaRPr lang="en-US" altLang="zh-CN"/>
          </a:p>
          <a:p>
            <a:endParaRPr lang="en-US" altLang="zh-CN"/>
          </a:p>
          <a:p>
            <a:r>
              <a:rPr lang="en-US" altLang="zh-CN">
                <a:sym typeface="+mn-ea"/>
              </a:rPr>
              <a:t>---</a:t>
            </a:r>
            <a:endParaRPr lang="en-US" altLang="zh-CN"/>
          </a:p>
          <a:p>
            <a:endParaRPr lang="en-US" altLang="zh-CN"/>
          </a:p>
          <a:p>
            <a:r>
              <a:rPr lang="en-US" altLang="zh-CN">
                <a:sym typeface="+mn-ea"/>
              </a:rPr>
              <a:t>### **</a:t>
            </a:r>
            <a:r>
              <a:rPr lang="zh-CN" altLang="en-US">
                <a:sym typeface="+mn-ea"/>
              </a:rPr>
              <a:t>二、服务保障</a:t>
            </a:r>
            <a:r>
              <a:rPr lang="en-US" altLang="zh-CN">
                <a:sym typeface="+mn-ea"/>
              </a:rPr>
              <a:t>**</a:t>
            </a:r>
            <a:endParaRPr lang="en-US" altLang="zh-CN"/>
          </a:p>
          <a:p>
            <a:r>
              <a:rPr lang="en-US" altLang="zh-CN">
                <a:sym typeface="+mn-ea"/>
              </a:rPr>
              <a:t>**</a:t>
            </a:r>
            <a:r>
              <a:rPr lang="zh-CN" altLang="en-US">
                <a:sym typeface="+mn-ea"/>
              </a:rPr>
              <a:t>目标</a:t>
            </a:r>
            <a:r>
              <a:rPr lang="en-US" altLang="zh-CN">
                <a:sym typeface="+mn-ea"/>
              </a:rPr>
              <a:t>**</a:t>
            </a:r>
            <a:r>
              <a:rPr lang="zh-CN" altLang="en-US">
                <a:sym typeface="+mn-ea"/>
              </a:rPr>
              <a:t>：确保项目所需的外部或内部服务（如第三方服务、运维支持）及时、可靠。</a:t>
            </a:r>
            <a:r>
              <a:rPr lang="en-US" altLang="zh-CN">
                <a:sym typeface="+mn-ea"/>
              </a:rPr>
              <a:t>  </a:t>
            </a:r>
            <a:endParaRPr lang="en-US" altLang="zh-CN"/>
          </a:p>
          <a:p>
            <a:r>
              <a:rPr lang="en-US" altLang="zh-CN">
                <a:sym typeface="+mn-ea"/>
              </a:rPr>
              <a:t>**</a:t>
            </a:r>
            <a:r>
              <a:rPr lang="zh-CN" altLang="en-US">
                <a:sym typeface="+mn-ea"/>
              </a:rPr>
              <a:t>关键措施</a:t>
            </a:r>
            <a:r>
              <a:rPr lang="en-US" altLang="zh-CN">
                <a:sym typeface="+mn-ea"/>
              </a:rPr>
              <a:t>**</a:t>
            </a:r>
            <a:r>
              <a:rPr lang="zh-CN" altLang="en-US">
                <a:sym typeface="+mn-ea"/>
              </a:rPr>
              <a:t>：</a:t>
            </a:r>
            <a:r>
              <a:rPr lang="en-US" altLang="zh-CN">
                <a:sym typeface="+mn-ea"/>
              </a:rPr>
              <a:t>  </a:t>
            </a:r>
            <a:endParaRPr lang="en-US" altLang="zh-CN"/>
          </a:p>
          <a:p>
            <a:r>
              <a:rPr lang="en-US" altLang="zh-CN">
                <a:sym typeface="+mn-ea"/>
              </a:rPr>
              <a:t>1. **</a:t>
            </a:r>
            <a:r>
              <a:rPr lang="zh-CN" altLang="en-US">
                <a:sym typeface="+mn-ea"/>
              </a:rPr>
              <a:t>服务供应商管理</a:t>
            </a:r>
            <a:r>
              <a:rPr lang="en-US" altLang="zh-CN">
                <a:sym typeface="+mn-ea"/>
              </a:rPr>
              <a:t>**  </a:t>
            </a:r>
            <a:endParaRPr lang="en-US" altLang="zh-CN"/>
          </a:p>
          <a:p>
            <a:r>
              <a:rPr lang="en-US" altLang="zh-CN">
                <a:sym typeface="+mn-ea"/>
              </a:rPr>
              <a:t>   - </a:t>
            </a:r>
            <a:r>
              <a:rPr lang="zh-CN" altLang="en-US">
                <a:sym typeface="+mn-ea"/>
              </a:rPr>
              <a:t>选择有资质、口碑良好的供应商，签订明确的</a:t>
            </a:r>
            <a:r>
              <a:rPr lang="en-US" altLang="zh-CN">
                <a:sym typeface="+mn-ea"/>
              </a:rPr>
              <a:t>SLA</a:t>
            </a:r>
            <a:r>
              <a:rPr lang="zh-CN" altLang="en-US">
                <a:sym typeface="+mn-ea"/>
              </a:rPr>
              <a:t>（服务级别协议），约定响应时间、故障处理流程等。</a:t>
            </a:r>
            <a:r>
              <a:rPr lang="en-US" altLang="zh-CN">
                <a:sym typeface="+mn-ea"/>
              </a:rPr>
              <a:t>  </a:t>
            </a:r>
            <a:endParaRPr lang="en-US" altLang="zh-CN"/>
          </a:p>
          <a:p>
            <a:r>
              <a:rPr lang="en-US" altLang="zh-CN">
                <a:sym typeface="+mn-ea"/>
              </a:rPr>
              <a:t>   - </a:t>
            </a:r>
            <a:r>
              <a:rPr lang="zh-CN" altLang="en-US">
                <a:sym typeface="+mn-ea"/>
              </a:rPr>
              <a:t>对关键服务（如云服务、数据</a:t>
            </a:r>
            <a:endParaRPr lang="zh-CN" altLang="en-US"/>
          </a:p>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sym typeface="+mn-ea"/>
              </a:rPr>
              <a:t>在项目管理中，</a:t>
            </a:r>
            <a:r>
              <a:rPr lang="en-US" altLang="zh-CN">
                <a:sym typeface="+mn-ea"/>
              </a:rPr>
              <a:t>**</a:t>
            </a:r>
            <a:r>
              <a:rPr lang="zh-CN" altLang="en-US">
                <a:sym typeface="+mn-ea"/>
              </a:rPr>
              <a:t>人员保障、服务保障、资料保障</a:t>
            </a:r>
            <a:r>
              <a:rPr lang="en-US" altLang="zh-CN">
                <a:sym typeface="+mn-ea"/>
              </a:rPr>
              <a:t>**</a:t>
            </a:r>
            <a:r>
              <a:rPr lang="zh-CN" altLang="en-US">
                <a:sym typeface="+mn-ea"/>
              </a:rPr>
              <a:t>是确保项目顺利推进和成功交付的核心要素。以下是针对这三方面的详细说明和实施方案：</a:t>
            </a:r>
            <a:endParaRPr lang="zh-CN" altLang="en-US"/>
          </a:p>
          <a:p>
            <a:endParaRPr lang="en-US" altLang="zh-CN"/>
          </a:p>
          <a:p>
            <a:r>
              <a:rPr lang="en-US" altLang="zh-CN">
                <a:sym typeface="+mn-ea"/>
              </a:rPr>
              <a:t>---</a:t>
            </a:r>
            <a:endParaRPr lang="en-US" altLang="zh-CN"/>
          </a:p>
          <a:p>
            <a:endParaRPr lang="en-US" altLang="zh-CN"/>
          </a:p>
          <a:p>
            <a:r>
              <a:rPr lang="en-US" altLang="zh-CN">
                <a:sym typeface="+mn-ea"/>
              </a:rPr>
              <a:t>### **</a:t>
            </a:r>
            <a:r>
              <a:rPr lang="zh-CN" altLang="en-US">
                <a:sym typeface="+mn-ea"/>
              </a:rPr>
              <a:t>一、人员保障</a:t>
            </a:r>
            <a:r>
              <a:rPr lang="en-US" altLang="zh-CN">
                <a:sym typeface="+mn-ea"/>
              </a:rPr>
              <a:t>**</a:t>
            </a:r>
            <a:endParaRPr lang="en-US" altLang="zh-CN"/>
          </a:p>
          <a:p>
            <a:r>
              <a:rPr lang="en-US" altLang="zh-CN">
                <a:sym typeface="+mn-ea"/>
              </a:rPr>
              <a:t>**</a:t>
            </a:r>
            <a:r>
              <a:rPr lang="zh-CN" altLang="en-US">
                <a:sym typeface="+mn-ea"/>
              </a:rPr>
              <a:t>目标</a:t>
            </a:r>
            <a:r>
              <a:rPr lang="en-US" altLang="zh-CN">
                <a:sym typeface="+mn-ea"/>
              </a:rPr>
              <a:t>**</a:t>
            </a:r>
            <a:r>
              <a:rPr lang="zh-CN" altLang="en-US">
                <a:sym typeface="+mn-ea"/>
              </a:rPr>
              <a:t>：确保项目团队结构合理、技能匹配、分工明确，并能高效协作。</a:t>
            </a:r>
            <a:r>
              <a:rPr lang="en-US" altLang="zh-CN">
                <a:sym typeface="+mn-ea"/>
              </a:rPr>
              <a:t>  </a:t>
            </a:r>
            <a:endParaRPr lang="en-US" altLang="zh-CN"/>
          </a:p>
          <a:p>
            <a:r>
              <a:rPr lang="en-US" altLang="zh-CN">
                <a:sym typeface="+mn-ea"/>
              </a:rPr>
              <a:t>**</a:t>
            </a:r>
            <a:r>
              <a:rPr lang="zh-CN" altLang="en-US">
                <a:sym typeface="+mn-ea"/>
              </a:rPr>
              <a:t>关键措施</a:t>
            </a:r>
            <a:r>
              <a:rPr lang="en-US" altLang="zh-CN">
                <a:sym typeface="+mn-ea"/>
              </a:rPr>
              <a:t>**</a:t>
            </a:r>
            <a:r>
              <a:rPr lang="zh-CN" altLang="en-US">
                <a:sym typeface="+mn-ea"/>
              </a:rPr>
              <a:t>：</a:t>
            </a:r>
            <a:r>
              <a:rPr lang="en-US" altLang="zh-CN">
                <a:sym typeface="+mn-ea"/>
              </a:rPr>
              <a:t>  </a:t>
            </a:r>
            <a:endParaRPr lang="en-US" altLang="zh-CN"/>
          </a:p>
          <a:p>
            <a:r>
              <a:rPr lang="en-US" altLang="zh-CN">
                <a:sym typeface="+mn-ea"/>
              </a:rPr>
              <a:t>1. **</a:t>
            </a:r>
            <a:r>
              <a:rPr lang="zh-CN" altLang="en-US">
                <a:sym typeface="+mn-ea"/>
              </a:rPr>
              <a:t>团队组建与角色分工</a:t>
            </a:r>
            <a:r>
              <a:rPr lang="en-US" altLang="zh-CN">
                <a:sym typeface="+mn-ea"/>
              </a:rPr>
              <a:t>**  </a:t>
            </a:r>
            <a:endParaRPr lang="en-US" altLang="zh-CN"/>
          </a:p>
          <a:p>
            <a:r>
              <a:rPr lang="en-US" altLang="zh-CN">
                <a:sym typeface="+mn-ea"/>
              </a:rPr>
              <a:t>   - </a:t>
            </a:r>
            <a:r>
              <a:rPr lang="zh-CN" altLang="en-US">
                <a:sym typeface="+mn-ea"/>
              </a:rPr>
              <a:t>明确项目所需岗位（如项目经理、技术开发、测试、运维、产品经理等）。</a:t>
            </a:r>
            <a:r>
              <a:rPr lang="en-US" altLang="zh-CN">
                <a:sym typeface="+mn-ea"/>
              </a:rPr>
              <a:t>  </a:t>
            </a:r>
            <a:endParaRPr lang="en-US" altLang="zh-CN"/>
          </a:p>
          <a:p>
            <a:r>
              <a:rPr lang="en-US" altLang="zh-CN">
                <a:sym typeface="+mn-ea"/>
              </a:rPr>
              <a:t>   - </a:t>
            </a:r>
            <a:r>
              <a:rPr lang="zh-CN" altLang="en-US">
                <a:sym typeface="+mn-ea"/>
              </a:rPr>
              <a:t>根据项目复杂度配置专职或兼职人员，避免资源不足或冗余。</a:t>
            </a:r>
            <a:r>
              <a:rPr lang="en-US" altLang="zh-CN">
                <a:sym typeface="+mn-ea"/>
              </a:rPr>
              <a:t>  </a:t>
            </a:r>
            <a:endParaRPr lang="en-US" altLang="zh-CN"/>
          </a:p>
          <a:p>
            <a:r>
              <a:rPr lang="en-US" altLang="zh-CN">
                <a:sym typeface="+mn-ea"/>
              </a:rPr>
              <a:t>   - </a:t>
            </a:r>
            <a:r>
              <a:rPr lang="zh-CN" altLang="en-US">
                <a:sym typeface="+mn-ea"/>
              </a:rPr>
              <a:t>定义各角色职责（如</a:t>
            </a:r>
            <a:r>
              <a:rPr lang="en-US" altLang="zh-CN">
                <a:sym typeface="+mn-ea"/>
              </a:rPr>
              <a:t>RACI</a:t>
            </a:r>
            <a:r>
              <a:rPr lang="zh-CN" altLang="en-US">
                <a:sym typeface="+mn-ea"/>
              </a:rPr>
              <a:t>矩阵），确保责任到人。</a:t>
            </a:r>
            <a:r>
              <a:rPr lang="en-US" altLang="zh-CN">
                <a:sym typeface="+mn-ea"/>
              </a:rPr>
              <a:t>  </a:t>
            </a:r>
            <a:endParaRPr lang="en-US" altLang="zh-CN"/>
          </a:p>
          <a:p>
            <a:endParaRPr lang="en-US" altLang="zh-CN"/>
          </a:p>
          <a:p>
            <a:r>
              <a:rPr lang="en-US" altLang="zh-CN">
                <a:sym typeface="+mn-ea"/>
              </a:rPr>
              <a:t>2. **</a:t>
            </a:r>
            <a:r>
              <a:rPr lang="zh-CN" altLang="en-US">
                <a:sym typeface="+mn-ea"/>
              </a:rPr>
              <a:t>技能匹配与培训</a:t>
            </a:r>
            <a:r>
              <a:rPr lang="en-US" altLang="zh-CN">
                <a:sym typeface="+mn-ea"/>
              </a:rPr>
              <a:t>**  </a:t>
            </a:r>
            <a:endParaRPr lang="en-US" altLang="zh-CN"/>
          </a:p>
          <a:p>
            <a:r>
              <a:rPr lang="en-US" altLang="zh-CN">
                <a:sym typeface="+mn-ea"/>
              </a:rPr>
              <a:t>   - </a:t>
            </a:r>
            <a:r>
              <a:rPr lang="zh-CN" altLang="en-US">
                <a:sym typeface="+mn-ea"/>
              </a:rPr>
              <a:t>评估团队成员技能与项目需求的匹配度，针对缺口安排培训（如技术培训、工具使用）。</a:t>
            </a:r>
            <a:r>
              <a:rPr lang="en-US" altLang="zh-CN">
                <a:sym typeface="+mn-ea"/>
              </a:rPr>
              <a:t>  </a:t>
            </a:r>
            <a:endParaRPr lang="en-US" altLang="zh-CN"/>
          </a:p>
          <a:p>
            <a:r>
              <a:rPr lang="en-US" altLang="zh-CN">
                <a:sym typeface="+mn-ea"/>
              </a:rPr>
              <a:t>   - </a:t>
            </a:r>
            <a:r>
              <a:rPr lang="zh-CN" altLang="en-US">
                <a:sym typeface="+mn-ea"/>
              </a:rPr>
              <a:t>引入外部专家或顾问解决关键技术难题。</a:t>
            </a:r>
            <a:r>
              <a:rPr lang="en-US" altLang="zh-CN">
                <a:sym typeface="+mn-ea"/>
              </a:rPr>
              <a:t>  </a:t>
            </a:r>
            <a:endParaRPr lang="en-US" altLang="zh-CN"/>
          </a:p>
          <a:p>
            <a:endParaRPr lang="en-US" altLang="zh-CN"/>
          </a:p>
          <a:p>
            <a:r>
              <a:rPr lang="en-US" altLang="zh-CN">
                <a:sym typeface="+mn-ea"/>
              </a:rPr>
              <a:t>3. **</a:t>
            </a:r>
            <a:r>
              <a:rPr lang="zh-CN" altLang="en-US">
                <a:sym typeface="+mn-ea"/>
              </a:rPr>
              <a:t>人员稳定性</a:t>
            </a:r>
            <a:r>
              <a:rPr lang="en-US" altLang="zh-CN">
                <a:sym typeface="+mn-ea"/>
              </a:rPr>
              <a:t>**  </a:t>
            </a:r>
            <a:endParaRPr lang="en-US" altLang="zh-CN"/>
          </a:p>
          <a:p>
            <a:r>
              <a:rPr lang="en-US" altLang="zh-CN">
                <a:sym typeface="+mn-ea"/>
              </a:rPr>
              <a:t>   - </a:t>
            </a:r>
            <a:r>
              <a:rPr lang="zh-CN" altLang="en-US">
                <a:sym typeface="+mn-ea"/>
              </a:rPr>
              <a:t>避免频繁更换核心成员，通过激励机制（如绩效奖励、职业发展机会）保留关键人才。</a:t>
            </a:r>
            <a:r>
              <a:rPr lang="en-US" altLang="zh-CN">
                <a:sym typeface="+mn-ea"/>
              </a:rPr>
              <a:t>  </a:t>
            </a:r>
            <a:endParaRPr lang="en-US" altLang="zh-CN"/>
          </a:p>
          <a:p>
            <a:r>
              <a:rPr lang="en-US" altLang="zh-CN">
                <a:sym typeface="+mn-ea"/>
              </a:rPr>
              <a:t>   - </a:t>
            </a:r>
            <a:r>
              <a:rPr lang="zh-CN" altLang="en-US">
                <a:sym typeface="+mn-ea"/>
              </a:rPr>
              <a:t>建立</a:t>
            </a:r>
            <a:r>
              <a:rPr lang="en-US" altLang="zh-CN">
                <a:sym typeface="+mn-ea"/>
              </a:rPr>
              <a:t>AB</a:t>
            </a:r>
            <a:r>
              <a:rPr lang="zh-CN" altLang="en-US">
                <a:sym typeface="+mn-ea"/>
              </a:rPr>
              <a:t>角机制（备份人员），降低人员流动风险。</a:t>
            </a:r>
            <a:r>
              <a:rPr lang="en-US" altLang="zh-CN">
                <a:sym typeface="+mn-ea"/>
              </a:rPr>
              <a:t>  </a:t>
            </a:r>
            <a:endParaRPr lang="en-US" altLang="zh-CN"/>
          </a:p>
          <a:p>
            <a:endParaRPr lang="en-US" altLang="zh-CN"/>
          </a:p>
          <a:p>
            <a:r>
              <a:rPr lang="en-US" altLang="zh-CN">
                <a:sym typeface="+mn-ea"/>
              </a:rPr>
              <a:t>4. **</a:t>
            </a:r>
            <a:r>
              <a:rPr lang="zh-CN" altLang="en-US">
                <a:sym typeface="+mn-ea"/>
              </a:rPr>
              <a:t>沟通与协作</a:t>
            </a:r>
            <a:r>
              <a:rPr lang="en-US" altLang="zh-CN">
                <a:sym typeface="+mn-ea"/>
              </a:rPr>
              <a:t>**  </a:t>
            </a:r>
            <a:endParaRPr lang="en-US" altLang="zh-CN"/>
          </a:p>
          <a:p>
            <a:r>
              <a:rPr lang="en-US" altLang="zh-CN">
                <a:sym typeface="+mn-ea"/>
              </a:rPr>
              <a:t>   - </a:t>
            </a:r>
            <a:r>
              <a:rPr lang="zh-CN" altLang="en-US">
                <a:sym typeface="+mn-ea"/>
              </a:rPr>
              <a:t>定期召开项目例会、站会，使用协作工具（如</a:t>
            </a:r>
            <a:r>
              <a:rPr lang="en-US" altLang="zh-CN">
                <a:sym typeface="+mn-ea"/>
              </a:rPr>
              <a:t>Jira</a:t>
            </a:r>
            <a:r>
              <a:rPr lang="zh-CN" altLang="en-US">
                <a:sym typeface="+mn-ea"/>
              </a:rPr>
              <a:t>、飞书、钉钉）同步进度。</a:t>
            </a:r>
            <a:r>
              <a:rPr lang="en-US" altLang="zh-CN">
                <a:sym typeface="+mn-ea"/>
              </a:rPr>
              <a:t>  </a:t>
            </a:r>
            <a:endParaRPr lang="en-US" altLang="zh-CN"/>
          </a:p>
          <a:p>
            <a:r>
              <a:rPr lang="en-US" altLang="zh-CN">
                <a:sym typeface="+mn-ea"/>
              </a:rPr>
              <a:t>   - </a:t>
            </a:r>
            <a:r>
              <a:rPr lang="zh-CN" altLang="en-US">
                <a:sym typeface="+mn-ea"/>
              </a:rPr>
              <a:t>跨部门项目需指定对接人，避免信息断层。</a:t>
            </a:r>
            <a:r>
              <a:rPr lang="en-US" altLang="zh-CN">
                <a:sym typeface="+mn-ea"/>
              </a:rPr>
              <a:t>  </a:t>
            </a:r>
            <a:endParaRPr lang="en-US" altLang="zh-CN"/>
          </a:p>
          <a:p>
            <a:endParaRPr lang="en-US" altLang="zh-CN"/>
          </a:p>
          <a:p>
            <a:r>
              <a:rPr lang="en-US" altLang="zh-CN">
                <a:sym typeface="+mn-ea"/>
              </a:rPr>
              <a:t>---</a:t>
            </a:r>
            <a:endParaRPr lang="en-US" altLang="zh-CN"/>
          </a:p>
          <a:p>
            <a:endParaRPr lang="en-US" altLang="zh-CN"/>
          </a:p>
          <a:p>
            <a:r>
              <a:rPr lang="en-US" altLang="zh-CN">
                <a:sym typeface="+mn-ea"/>
              </a:rPr>
              <a:t>### **</a:t>
            </a:r>
            <a:r>
              <a:rPr lang="zh-CN" altLang="en-US">
                <a:sym typeface="+mn-ea"/>
              </a:rPr>
              <a:t>二、服务保障</a:t>
            </a:r>
            <a:r>
              <a:rPr lang="en-US" altLang="zh-CN">
                <a:sym typeface="+mn-ea"/>
              </a:rPr>
              <a:t>**</a:t>
            </a:r>
            <a:endParaRPr lang="en-US" altLang="zh-CN"/>
          </a:p>
          <a:p>
            <a:r>
              <a:rPr lang="en-US" altLang="zh-CN">
                <a:sym typeface="+mn-ea"/>
              </a:rPr>
              <a:t>**</a:t>
            </a:r>
            <a:r>
              <a:rPr lang="zh-CN" altLang="en-US">
                <a:sym typeface="+mn-ea"/>
              </a:rPr>
              <a:t>目标</a:t>
            </a:r>
            <a:r>
              <a:rPr lang="en-US" altLang="zh-CN">
                <a:sym typeface="+mn-ea"/>
              </a:rPr>
              <a:t>**</a:t>
            </a:r>
            <a:r>
              <a:rPr lang="zh-CN" altLang="en-US">
                <a:sym typeface="+mn-ea"/>
              </a:rPr>
              <a:t>：确保项目所需的外部或内部服务（如第三方服务、运维支持）及时、可靠。</a:t>
            </a:r>
            <a:r>
              <a:rPr lang="en-US" altLang="zh-CN">
                <a:sym typeface="+mn-ea"/>
              </a:rPr>
              <a:t>  </a:t>
            </a:r>
            <a:endParaRPr lang="en-US" altLang="zh-CN"/>
          </a:p>
          <a:p>
            <a:r>
              <a:rPr lang="en-US" altLang="zh-CN">
                <a:sym typeface="+mn-ea"/>
              </a:rPr>
              <a:t>**</a:t>
            </a:r>
            <a:r>
              <a:rPr lang="zh-CN" altLang="en-US">
                <a:sym typeface="+mn-ea"/>
              </a:rPr>
              <a:t>关键措施</a:t>
            </a:r>
            <a:r>
              <a:rPr lang="en-US" altLang="zh-CN">
                <a:sym typeface="+mn-ea"/>
              </a:rPr>
              <a:t>**</a:t>
            </a:r>
            <a:r>
              <a:rPr lang="zh-CN" altLang="en-US">
                <a:sym typeface="+mn-ea"/>
              </a:rPr>
              <a:t>：</a:t>
            </a:r>
            <a:r>
              <a:rPr lang="en-US" altLang="zh-CN">
                <a:sym typeface="+mn-ea"/>
              </a:rPr>
              <a:t>  </a:t>
            </a:r>
            <a:endParaRPr lang="en-US" altLang="zh-CN"/>
          </a:p>
          <a:p>
            <a:r>
              <a:rPr lang="en-US" altLang="zh-CN">
                <a:sym typeface="+mn-ea"/>
              </a:rPr>
              <a:t>1. **</a:t>
            </a:r>
            <a:r>
              <a:rPr lang="zh-CN" altLang="en-US">
                <a:sym typeface="+mn-ea"/>
              </a:rPr>
              <a:t>服务供应商管理</a:t>
            </a:r>
            <a:r>
              <a:rPr lang="en-US" altLang="zh-CN">
                <a:sym typeface="+mn-ea"/>
              </a:rPr>
              <a:t>**  </a:t>
            </a:r>
            <a:endParaRPr lang="en-US" altLang="zh-CN"/>
          </a:p>
          <a:p>
            <a:r>
              <a:rPr lang="en-US" altLang="zh-CN">
                <a:sym typeface="+mn-ea"/>
              </a:rPr>
              <a:t>   - </a:t>
            </a:r>
            <a:r>
              <a:rPr lang="zh-CN" altLang="en-US">
                <a:sym typeface="+mn-ea"/>
              </a:rPr>
              <a:t>选择有资质、口碑良好的供应商，签订明确的</a:t>
            </a:r>
            <a:r>
              <a:rPr lang="en-US" altLang="zh-CN">
                <a:sym typeface="+mn-ea"/>
              </a:rPr>
              <a:t>SLA</a:t>
            </a:r>
            <a:r>
              <a:rPr lang="zh-CN" altLang="en-US">
                <a:sym typeface="+mn-ea"/>
              </a:rPr>
              <a:t>（服务级别协议），约定响应时间、故障处理流程等。</a:t>
            </a:r>
            <a:r>
              <a:rPr lang="en-US" altLang="zh-CN">
                <a:sym typeface="+mn-ea"/>
              </a:rPr>
              <a:t>  </a:t>
            </a:r>
            <a:endParaRPr lang="en-US" altLang="zh-CN"/>
          </a:p>
          <a:p>
            <a:r>
              <a:rPr lang="en-US" altLang="zh-CN">
                <a:sym typeface="+mn-ea"/>
              </a:rPr>
              <a:t>   - </a:t>
            </a:r>
            <a:r>
              <a:rPr lang="zh-CN" altLang="en-US">
                <a:sym typeface="+mn-ea"/>
              </a:rPr>
              <a:t>对关键服务（如云服务、数据</a:t>
            </a:r>
            <a:endParaRPr lang="zh-CN" altLang="en-US"/>
          </a:p>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4AF1189-3384-44D2-A3F6-81EF805E2781}"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F67DC0CF-91C9-4024-A010-BAEF90DB2B13}"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6959478-614B-4AF6-8688-86998F05A659}"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543F9CA-D9CD-403A-B0CA-E35651F5AE9E}"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CF823F25-0D1D-4635-888D-117944E715DA}"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F850B68-5B8E-4B20-9E40-D9F34E1FE1F5}"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E2A84340-6B7E-473E-9E25-D3BA8A3FD6D8}"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1E935E9-2BDC-4FFB-8E81-247C42B3529F}"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en-US" dirty="0"/>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E2A84340-6B7E-473E-9E25-D3BA8A3FD6D8}"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1E935E9-2BDC-4FFB-8E81-247C42B3529F}"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fld id="{E2A84340-6B7E-473E-9E25-D3BA8A3FD6D8}"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1E935E9-2BDC-4FFB-8E81-247C42B3529F}"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Date Placeholder 4"/>
          <p:cNvSpPr>
            <a:spLocks noGrp="1"/>
          </p:cNvSpPr>
          <p:nvPr>
            <p:ph type="dt" sz="half" idx="10"/>
          </p:nvPr>
        </p:nvSpPr>
        <p:spPr/>
        <p:txBody>
          <a:bodyPr/>
          <a:lstStyle/>
          <a:p>
            <a:fld id="{E2A84340-6B7E-473E-9E25-D3BA8A3FD6D8}"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1E935E9-2BDC-4FFB-8E81-247C42B3529F}"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7" name="Date Placeholder 6"/>
          <p:cNvSpPr>
            <a:spLocks noGrp="1"/>
          </p:cNvSpPr>
          <p:nvPr>
            <p:ph type="dt" sz="half" idx="10"/>
          </p:nvPr>
        </p:nvSpPr>
        <p:spPr/>
        <p:txBody>
          <a:bodyPr/>
          <a:lstStyle/>
          <a:p>
            <a:fld id="{E2A84340-6B7E-473E-9E25-D3BA8A3FD6D8}" type="datetimeFigureOut">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51E935E9-2BDC-4FFB-8E81-247C42B3529F}"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E2A84340-6B7E-473E-9E25-D3BA8A3FD6D8}" type="datetimeFigureOut">
              <a:rPr lang="zh-CN" altLang="en-US" smtClean="0"/>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51E935E9-2BDC-4FFB-8E81-247C42B3529F}"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9" name="图片 8" descr="徽标&#10;&#10;AI 生成的内容可能不正确。"/>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575800" y="466136"/>
            <a:ext cx="2166258" cy="358185"/>
          </a:xfrm>
          <a:prstGeom prst="rect">
            <a:avLst/>
          </a:prstGeom>
        </p:spPr>
      </p:pic>
      <p:sp>
        <p:nvSpPr>
          <p:cNvPr id="2" name="Date Placeholder 1"/>
          <p:cNvSpPr>
            <a:spLocks noGrp="1"/>
          </p:cNvSpPr>
          <p:nvPr>
            <p:ph type="dt" sz="half" idx="10"/>
          </p:nvPr>
        </p:nvSpPr>
        <p:spPr/>
        <p:txBody>
          <a:bodyPr/>
          <a:lstStyle/>
          <a:p>
            <a:fld id="{E2A84340-6B7E-473E-9E25-D3BA8A3FD6D8}" type="datetimeFigureOut">
              <a:rPr lang="zh-CN" altLang="en-US" smtClean="0"/>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51E935E9-2BDC-4FFB-8E81-247C42B3529F}"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E2A84340-6B7E-473E-9E25-D3BA8A3FD6D8}"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1E935E9-2BDC-4FFB-8E81-247C42B3529F}"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a:prstGeom prst="rect">
            <a:avLst/>
          </a:prstGeo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E2A84340-6B7E-473E-9E25-D3BA8A3FD6D8}"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1E935E9-2BDC-4FFB-8E81-247C42B3529F}"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E2A84340-6B7E-473E-9E25-D3BA8A3FD6D8}"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1E935E9-2BDC-4FFB-8E81-247C42B3529F}"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E2A84340-6B7E-473E-9E25-D3BA8A3FD6D8}"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1E935E9-2BDC-4FFB-8E81-247C42B3529F}"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4AF1189-3384-44D2-A3F6-81EF805E2781}"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F67DC0CF-91C9-4024-A010-BAEF90DB2B13}"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image" Target="../media/image1.png"/><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4" Type="http://schemas.openxmlformats.org/officeDocument/2006/relationships/theme" Target="../theme/theme2.xml"/><Relationship Id="rId3" Type="http://schemas.openxmlformats.org/officeDocument/2006/relationships/image" Target="../media/image2.png"/><Relationship Id="rId2" Type="http://schemas.openxmlformats.org/officeDocument/2006/relationships/slideLayout" Target="../slideLayouts/slideLayout3.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slideLayout" Target="../slideLayouts/slideLayout11.xml"/><Relationship Id="rId7" Type="http://schemas.openxmlformats.org/officeDocument/2006/relationships/slideLayout" Target="../slideLayouts/slideLayout10.xml"/><Relationship Id="rId6" Type="http://schemas.openxmlformats.org/officeDocument/2006/relationships/slideLayout" Target="../slideLayouts/slideLayout9.xml"/><Relationship Id="rId5" Type="http://schemas.openxmlformats.org/officeDocument/2006/relationships/slideLayout" Target="../slideLayouts/slideLayout8.xml"/><Relationship Id="rId4" Type="http://schemas.openxmlformats.org/officeDocument/2006/relationships/slideLayout" Target="../slideLayouts/slideLayout7.xml"/><Relationship Id="rId3" Type="http://schemas.openxmlformats.org/officeDocument/2006/relationships/slideLayout" Target="../slideLayouts/slideLayout6.xml"/><Relationship Id="rId2" Type="http://schemas.openxmlformats.org/officeDocument/2006/relationships/slideLayout" Target="../slideLayouts/slideLayout5.xml"/><Relationship Id="rId13" Type="http://schemas.openxmlformats.org/officeDocument/2006/relationships/theme" Target="../theme/theme3.xml"/><Relationship Id="rId12" Type="http://schemas.openxmlformats.org/officeDocument/2006/relationships/image" Target="../media/image4.png"/><Relationship Id="rId11" Type="http://schemas.openxmlformats.org/officeDocument/2006/relationships/slideLayout" Target="../slideLayouts/slideLayout14.xml"/><Relationship Id="rId10" Type="http://schemas.openxmlformats.org/officeDocument/2006/relationships/slideLayout" Target="../slideLayouts/slideLayout13.xml"/><Relationship Id="rId1" Type="http://schemas.openxmlformats.org/officeDocument/2006/relationships/slideLayout" Target="../slideLayouts/slideLayout4.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image" Target="../media/image1.png"/><Relationship Id="rId1"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AF1189-3384-44D2-A3F6-81EF805E2781}"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67DC0CF-91C9-4024-A010-BAEF90DB2B13}"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6959478-614B-4AF6-8688-86998F05A659}"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543F9CA-D9CD-403A-B0CA-E35651F5AE9E}"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51" r:id="rId1"/>
    <p:sldLayoutId id="2147483652"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E6F2FF"/>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AF1189-3384-44D2-A3F6-81EF805E2781}" type="datetimeFigureOut">
              <a:rPr lang="zh-CN" altLang="en-US" smtClean="0"/>
            </a:fld>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67DC0CF-91C9-4024-A010-BAEF90DB2B13}" type="slidenum">
              <a:rPr lang="zh-CN" altLang="en-US" smtClean="0"/>
            </a:fld>
            <a:endParaRPr lang="zh-CN" altLang="en-US"/>
          </a:p>
        </p:txBody>
      </p:sp>
      <p:pic>
        <p:nvPicPr>
          <p:cNvPr id="7" name="图片 6" descr="图片包含 游戏机&#10;&#10;AI 生成的内容可能不正确。"/>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1" y="6470"/>
            <a:ext cx="12171621" cy="6833617"/>
          </a:xfrm>
          <a:prstGeom prst="rect">
            <a:avLst/>
          </a:prstGeom>
        </p:spPr>
      </p:pic>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 id="214748366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AF1189-3384-44D2-A3F6-81EF805E2781}"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67DC0CF-91C9-4024-A010-BAEF90DB2B13}"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66"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3.xml"/><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7" Type="http://schemas.openxmlformats.org/officeDocument/2006/relationships/slideLayout" Target="../slideLayouts/slideLayout10.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image" Target="../media/image4.png"/><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9" Type="http://schemas.openxmlformats.org/officeDocument/2006/relationships/tags" Target="../tags/tag13.xml"/><Relationship Id="rId8" Type="http://schemas.openxmlformats.org/officeDocument/2006/relationships/tags" Target="../tags/tag12.xml"/><Relationship Id="rId7" Type="http://schemas.openxmlformats.org/officeDocument/2006/relationships/image" Target="../media/image9.svg"/><Relationship Id="rId6" Type="http://schemas.openxmlformats.org/officeDocument/2006/relationships/image" Target="../media/image8.png"/><Relationship Id="rId5" Type="http://schemas.openxmlformats.org/officeDocument/2006/relationships/tags" Target="../tags/tag11.xml"/><Relationship Id="rId4" Type="http://schemas.openxmlformats.org/officeDocument/2006/relationships/tags" Target="../tags/tag10.xml"/><Relationship Id="rId3" Type="http://schemas.openxmlformats.org/officeDocument/2006/relationships/tags" Target="../tags/tag9.xml"/><Relationship Id="rId2" Type="http://schemas.openxmlformats.org/officeDocument/2006/relationships/tags" Target="../tags/tag8.xml"/><Relationship Id="rId18" Type="http://schemas.openxmlformats.org/officeDocument/2006/relationships/slideLayout" Target="../slideLayouts/slideLayout10.xml"/><Relationship Id="rId17" Type="http://schemas.openxmlformats.org/officeDocument/2006/relationships/image" Target="../media/image11.svg"/><Relationship Id="rId16" Type="http://schemas.openxmlformats.org/officeDocument/2006/relationships/image" Target="../media/image10.png"/><Relationship Id="rId15" Type="http://schemas.openxmlformats.org/officeDocument/2006/relationships/tags" Target="../tags/tag19.xml"/><Relationship Id="rId14" Type="http://schemas.openxmlformats.org/officeDocument/2006/relationships/tags" Target="../tags/tag18.xml"/><Relationship Id="rId13" Type="http://schemas.openxmlformats.org/officeDocument/2006/relationships/tags" Target="../tags/tag17.xml"/><Relationship Id="rId12" Type="http://schemas.openxmlformats.org/officeDocument/2006/relationships/tags" Target="../tags/tag16.xml"/><Relationship Id="rId11" Type="http://schemas.openxmlformats.org/officeDocument/2006/relationships/tags" Target="../tags/tag15.xml"/><Relationship Id="rId10" Type="http://schemas.openxmlformats.org/officeDocument/2006/relationships/tags" Target="../tags/tag14.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9" Type="http://schemas.openxmlformats.org/officeDocument/2006/relationships/tags" Target="../tags/tag27.xml"/><Relationship Id="rId8" Type="http://schemas.openxmlformats.org/officeDocument/2006/relationships/tags" Target="../tags/tag26.xml"/><Relationship Id="rId7" Type="http://schemas.openxmlformats.org/officeDocument/2006/relationships/tags" Target="../tags/tag25.xml"/><Relationship Id="rId6" Type="http://schemas.openxmlformats.org/officeDocument/2006/relationships/tags" Target="../tags/tag24.xml"/><Relationship Id="rId5" Type="http://schemas.openxmlformats.org/officeDocument/2006/relationships/tags" Target="../tags/tag23.xml"/><Relationship Id="rId4" Type="http://schemas.openxmlformats.org/officeDocument/2006/relationships/tags" Target="../tags/tag22.xml"/><Relationship Id="rId3" Type="http://schemas.openxmlformats.org/officeDocument/2006/relationships/tags" Target="../tags/tag21.xml"/><Relationship Id="rId2" Type="http://schemas.openxmlformats.org/officeDocument/2006/relationships/tags" Target="../tags/tag20.xml"/><Relationship Id="rId12" Type="http://schemas.openxmlformats.org/officeDocument/2006/relationships/slideLayout" Target="../slideLayouts/slideLayout10.xml"/><Relationship Id="rId11" Type="http://schemas.openxmlformats.org/officeDocument/2006/relationships/tags" Target="../tags/tag29.xml"/><Relationship Id="rId10" Type="http://schemas.openxmlformats.org/officeDocument/2006/relationships/tags" Target="../tags/tag28.xml"/><Relationship Id="rId1"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image" Target="../media/image15.png"/><Relationship Id="rId1"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5.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0.xml"/><Relationship Id="rId1" Type="http://schemas.openxmlformats.org/officeDocument/2006/relationships/image" Target="../media/image16.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0.xml"/><Relationship Id="rId1" Type="http://schemas.openxmlformats.org/officeDocument/2006/relationships/image" Target="../media/image17.png"/></Relationships>
</file>

<file path=ppt/slides/_rels/slide21.xml.rels><?xml version="1.0" encoding="UTF-8" standalone="yes"?>
<Relationships xmlns="http://schemas.openxmlformats.org/package/2006/relationships"><Relationship Id="rId5" Type="http://schemas.openxmlformats.org/officeDocument/2006/relationships/slideLayout" Target="../slideLayouts/slideLayout3.xml"/><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5" name="图片 4" descr="图片包含 游戏机&#10;&#10;AI 生成的内容可能不正确。"/>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6470"/>
            <a:ext cx="12171621" cy="6833617"/>
          </a:xfrm>
          <a:prstGeom prst="rect">
            <a:avLst/>
          </a:prstGeom>
        </p:spPr>
      </p:pic>
      <p:sp>
        <p:nvSpPr>
          <p:cNvPr id="11" name="文本框 10" descr="e7d195523061f1c09d430b2e086820dbf734666a277b0d4b500BB7A72AB1412ED5183AD7B3816201F88CE1DA88F1BDB3B214B2C038CB098A30603A7C73162896CA56D5F2C85C2877766F9AF7CC3216D7CF634F6382D6C7BA7BC888BA9186F2798B84068E6072773E10A0296880ED9D73C76908137F952918BE4DD4EB5E4CCB40DE91FD2372AF4B64"/>
          <p:cNvSpPr txBox="1"/>
          <p:nvPr/>
        </p:nvSpPr>
        <p:spPr>
          <a:xfrm>
            <a:off x="4842387" y="5920753"/>
            <a:ext cx="2507226" cy="153888"/>
          </a:xfrm>
          <a:prstGeom prst="rect">
            <a:avLst/>
          </a:prstGeom>
          <a:noFill/>
        </p:spPr>
        <p:txBody>
          <a:bodyPr wrap="square" lIns="0" tIns="0" rIns="0" bIns="0"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chemeClr val="bg1"/>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构建明日数据世界</a:t>
            </a:r>
            <a:endParaRPr kumimoji="0" lang="zh-CN" altLang="en-US" sz="1000" b="0" i="0" u="none" strike="noStrike" kern="1200" cap="none" spc="0" normalizeH="0" baseline="0" noProof="0" dirty="0">
              <a:ln>
                <a:noFill/>
              </a:ln>
              <a:solidFill>
                <a:schemeClr val="bg1"/>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90950" y="5561126"/>
            <a:ext cx="4610100" cy="342900"/>
          </a:xfrm>
          <a:prstGeom prst="rect">
            <a:avLst/>
          </a:prstGeom>
        </p:spPr>
      </p:pic>
      <p:pic>
        <p:nvPicPr>
          <p:cNvPr id="6" name="图片 5" descr="手机屏幕的截图&#10;&#10;AI 生成的内容可能不正确。"/>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43499" y="635311"/>
            <a:ext cx="1905000" cy="508000"/>
          </a:xfrm>
          <a:prstGeom prst="rect">
            <a:avLst/>
          </a:prstGeom>
        </p:spPr>
      </p:pic>
      <p:sp>
        <p:nvSpPr>
          <p:cNvPr id="9" name="文本框 8"/>
          <p:cNvSpPr txBox="1"/>
          <p:nvPr/>
        </p:nvSpPr>
        <p:spPr>
          <a:xfrm>
            <a:off x="65936" y="2353528"/>
            <a:ext cx="12105685" cy="645160"/>
          </a:xfrm>
          <a:prstGeom prst="rect">
            <a:avLst/>
          </a:prstGeom>
          <a:noFill/>
        </p:spPr>
        <p:txBody>
          <a:bodyPr wrap="square">
            <a:spAutoFit/>
          </a:bodyPr>
          <a:lstStyle/>
          <a:p>
            <a:pPr algn="ctr"/>
            <a:r>
              <a:rPr lang="zh-CN" altLang="en-US" sz="3600" b="1" kern="0" spc="0" dirty="0">
                <a:solidFill>
                  <a:schemeClr val="bg1"/>
                </a:solidFill>
                <a:cs typeface="微软雅黑" panose="020B0503020204020204" pitchFamily="34" charset="-122"/>
              </a:rPr>
              <a:t>沈飞民机湖仓建构</a:t>
            </a:r>
            <a:r>
              <a:rPr lang="zh-CN" altLang="en-US" sz="3600" b="1" kern="0" spc="0" dirty="0">
                <a:solidFill>
                  <a:schemeClr val="bg1"/>
                </a:solidFill>
                <a:cs typeface="微软雅黑" panose="020B0503020204020204" pitchFamily="34" charset="-122"/>
              </a:rPr>
              <a:t>培训</a:t>
            </a:r>
            <a:endParaRPr lang="zh-CN" altLang="en-US" sz="3600" b="1" kern="0" spc="0" dirty="0">
              <a:solidFill>
                <a:schemeClr val="bg1"/>
              </a:solidFill>
              <a:cs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5" name="图片 4" descr="图片包含 游戏机&#10;&#10;AI 生成的内容可能不正确。"/>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6470"/>
            <a:ext cx="12171621" cy="6833617"/>
          </a:xfrm>
          <a:prstGeom prst="rect">
            <a:avLst/>
          </a:prstGeom>
        </p:spPr>
      </p:pic>
      <p:sp>
        <p:nvSpPr>
          <p:cNvPr id="2" name="e7d195523061f1c0" descr="e7d195523061f1c09d430b2e086820dbf734666a277b0d4b500BB7A72AB1412ED5183AD7B3816201F88CE1DA88F1BDB3B214B2C038CB098A30603A7C73162896CA56D5F2C85C2877766F9AF7CC3216D7CF634F6382D6C7BA7BC888BA9186F2798B84068E6072773E10A0296880ED9D73C76908137F952918BE4DD4EB5E4CCB40DE91FD2372AF4B64" hidden="1"/>
          <p:cNvSpPr txBox="1"/>
          <p:nvPr/>
        </p:nvSpPr>
        <p:spPr>
          <a:xfrm>
            <a:off x="-355600" y="1803400"/>
            <a:ext cx="268022" cy="1016000"/>
          </a:xfrm>
          <a:prstGeom prst="rect">
            <a:avLst/>
          </a:prstGeom>
          <a:noFill/>
        </p:spPr>
        <p:txBody>
          <a:bodyPr vert="wordArtVert"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00" b="0"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sym typeface="Arial" panose="020B0604020202020204" pitchFamily="34" charset="0"/>
              </a:rPr>
              <a:t>e7d195523061f1c09d430b2e086820dbf734666a277b0d4b500BB7A72AB1412ED5183AD7B3816201F88CE1DA88F1BDB3B214B2C038CB098A30603A7C73162896CA56D5F2C85C2877766F9AF7CC3216D7CF634F6382D6C7BA7BC888BA9186F2798B84068E6072773E10A0296880ED9D73C76908137F952918BE4DD4EB5E4CCB40DE91FD2372AF4B64</a:t>
            </a:r>
            <a:endParaRPr kumimoji="0" lang="zh-CN" altLang="en-US" sz="100" b="0"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sym typeface="Arial" panose="020B0604020202020204" pitchFamily="34" charset="0"/>
            </a:endParaRPr>
          </a:p>
        </p:txBody>
      </p:sp>
      <p:sp>
        <p:nvSpPr>
          <p:cNvPr id="33" name="文本框 32" descr="e7d195523061f1c09d430b2e086820dbf734666a277b0d4b500BB7A72AB1412ED5183AD7B3816201F88CE1DA88F1BDB3B214B2C038CB098A30603A7C73162896CA56D5F2C85C2877766F9AF7CC3216D7001672CC59609577E25D856B9353E59F45E56BECE69C0AA71C11FE729814BC255F8A1BC037BED7D320FC120CC0FDA2F0E0259AB568CF4F8C"/>
          <p:cNvSpPr txBox="1"/>
          <p:nvPr/>
        </p:nvSpPr>
        <p:spPr>
          <a:xfrm>
            <a:off x="4566267" y="2809760"/>
            <a:ext cx="3522980" cy="1969770"/>
          </a:xfrm>
          <a:prstGeom prst="rect">
            <a:avLst/>
          </a:prstGeom>
          <a:noFill/>
          <a:effectLst/>
        </p:spPr>
        <p:txBody>
          <a:bodyPr wrap="none" lIns="0" tIns="0" rIns="0" bIns="0" rtlCol="0">
            <a:spAutoFit/>
          </a:bodyPr>
          <a:lstStyle>
            <a:defPPr>
              <a:defRPr lang="zh-CN"/>
            </a:defPPr>
            <a:lvl1pPr marR="0" lvl="0" indent="0" fontAlgn="auto">
              <a:lnSpc>
                <a:spcPct val="100000"/>
              </a:lnSpc>
              <a:spcBef>
                <a:spcPts val="0"/>
              </a:spcBef>
              <a:spcAft>
                <a:spcPts val="0"/>
              </a:spcAft>
              <a:buClrTx/>
              <a:buSzTx/>
              <a:buFontTx/>
              <a:buNone/>
              <a:defRPr kumimoji="0" sz="2800" b="0" i="0" u="none" strike="noStrike" cap="none" spc="600" normalizeH="0" baseline="0">
                <a:ln>
                  <a:noFill/>
                </a:ln>
                <a:solidFill>
                  <a:schemeClr val="bg1"/>
                </a:solidFill>
                <a:effectLst>
                  <a:outerShdw blurRad="86429" dist="38100" dir="2700000" algn="tl" rotWithShape="0">
                    <a:schemeClr val="accent1">
                      <a:lumMod val="50000"/>
                      <a:alpha val="40000"/>
                    </a:schemeClr>
                  </a:outerShdw>
                </a:effectLst>
                <a:uLnTx/>
                <a:uFillTx/>
                <a:latin typeface="Arial" panose="020B0604020202020204" pitchFamily="34" charset="0"/>
                <a:ea typeface="微软雅黑" panose="020B0503020204020204" pitchFamily="34" charset="-122"/>
              </a:defRPr>
            </a:lvl1pPr>
          </a:lstStyle>
          <a:p>
            <a:pPr algn="l"/>
            <a:r>
              <a:rPr lang="en-US" altLang="zh-CN" sz="3200" b="1" u="sng" spc="0" dirty="0">
                <a:effectLst/>
                <a:sym typeface="Arial" panose="020B0604020202020204" pitchFamily="34" charset="0"/>
              </a:rPr>
              <a:t>01</a:t>
            </a:r>
            <a:r>
              <a:rPr lang="en-US" altLang="zh-CN" sz="3200" b="1" spc="0" dirty="0">
                <a:effectLst/>
                <a:sym typeface="Arial" panose="020B0604020202020204" pitchFamily="34" charset="0"/>
              </a:rPr>
              <a:t>  </a:t>
            </a:r>
            <a:r>
              <a:rPr lang="zh-CN" altLang="en-US" sz="3200" b="1" spc="0" dirty="0">
                <a:effectLst/>
                <a:sym typeface="Arial" panose="020B0604020202020204" pitchFamily="34" charset="0"/>
              </a:rPr>
              <a:t>湖仓架构的背景</a:t>
            </a:r>
            <a:endParaRPr lang="zh-CN" altLang="en-US" sz="3200" b="1" spc="0" dirty="0">
              <a:effectLst/>
              <a:sym typeface="Arial" panose="020B0604020202020204" pitchFamily="34" charset="0"/>
            </a:endParaRPr>
          </a:p>
          <a:p>
            <a:pPr algn="l"/>
            <a:r>
              <a:rPr lang="en-US" altLang="zh-CN" sz="3200" b="1" u="sng" spc="0" dirty="0">
                <a:effectLst/>
                <a:sym typeface="Arial" panose="020B0604020202020204" pitchFamily="34" charset="0"/>
              </a:rPr>
              <a:t>02</a:t>
            </a:r>
            <a:r>
              <a:rPr lang="en-US" altLang="zh-CN" sz="3200" b="1" spc="0" dirty="0">
                <a:effectLst/>
                <a:sym typeface="Arial" panose="020B0604020202020204" pitchFamily="34" charset="0"/>
              </a:rPr>
              <a:t>  </a:t>
            </a:r>
            <a:r>
              <a:rPr lang="zh-CN" altLang="en-US" sz="3200" b="1" spc="0" dirty="0">
                <a:effectLst/>
                <a:sym typeface="Arial" panose="020B0604020202020204" pitchFamily="34" charset="0"/>
              </a:rPr>
              <a:t>数据入湖</a:t>
            </a:r>
            <a:endParaRPr lang="zh-CN" altLang="en-US" sz="3200" b="1" spc="0" dirty="0">
              <a:effectLst/>
              <a:sym typeface="Arial" panose="020B0604020202020204" pitchFamily="34" charset="0"/>
            </a:endParaRPr>
          </a:p>
          <a:p>
            <a:pPr algn="l"/>
            <a:r>
              <a:rPr lang="en-US" altLang="zh-CN" sz="3200" b="1" u="sng" spc="0" dirty="0">
                <a:effectLst/>
                <a:sym typeface="Arial" panose="020B0604020202020204" pitchFamily="34" charset="0"/>
              </a:rPr>
              <a:t>03</a:t>
            </a:r>
            <a:r>
              <a:rPr lang="en-US" altLang="zh-CN" sz="3200" b="1" spc="0" dirty="0">
                <a:effectLst/>
                <a:sym typeface="Arial" panose="020B0604020202020204" pitchFamily="34" charset="0"/>
              </a:rPr>
              <a:t>  </a:t>
            </a:r>
            <a:r>
              <a:rPr lang="zh-CN" altLang="en-US" sz="3200" b="1" spc="0" dirty="0">
                <a:effectLst/>
                <a:sym typeface="Arial" panose="020B0604020202020204" pitchFamily="34" charset="0"/>
              </a:rPr>
              <a:t>数仓建构</a:t>
            </a:r>
            <a:endParaRPr lang="zh-CN" altLang="en-US" sz="3200" b="1" spc="0" dirty="0">
              <a:effectLst/>
              <a:sym typeface="Arial" panose="020B0604020202020204" pitchFamily="34" charset="0"/>
            </a:endParaRPr>
          </a:p>
          <a:p>
            <a:pPr algn="l"/>
            <a:r>
              <a:rPr lang="en-US" altLang="zh-CN" sz="3200" b="1" u="sng" spc="0" dirty="0">
                <a:effectLst/>
                <a:sym typeface="Arial" panose="020B0604020202020204" pitchFamily="34" charset="0"/>
              </a:rPr>
              <a:t>03</a:t>
            </a:r>
            <a:r>
              <a:rPr lang="en-US" altLang="zh-CN" sz="3200" b="1" spc="0" dirty="0">
                <a:effectLst/>
                <a:sym typeface="Arial" panose="020B0604020202020204" pitchFamily="34" charset="0"/>
              </a:rPr>
              <a:t>  </a:t>
            </a:r>
            <a:r>
              <a:rPr lang="zh-CN" altLang="en-US" sz="3200" b="1" spc="0" dirty="0">
                <a:effectLst/>
                <a:sym typeface="Arial" panose="020B0604020202020204" pitchFamily="34" charset="0"/>
              </a:rPr>
              <a:t>案例说明</a:t>
            </a:r>
            <a:endParaRPr lang="zh-CN" altLang="en-US" sz="3200" b="1" spc="0" dirty="0">
              <a:effectLst/>
              <a:sym typeface="Arial" panose="020B0604020202020204" pitchFamily="34" charset="0"/>
            </a:endParaRPr>
          </a:p>
        </p:txBody>
      </p:sp>
      <p:sp>
        <p:nvSpPr>
          <p:cNvPr id="3" name="îS1ídê"/>
          <p:cNvSpPr txBox="1"/>
          <p:nvPr/>
        </p:nvSpPr>
        <p:spPr>
          <a:xfrm>
            <a:off x="2567136" y="1776575"/>
            <a:ext cx="1554480" cy="922020"/>
          </a:xfrm>
          <a:prstGeom prst="rect">
            <a:avLst/>
          </a:prstGeom>
        </p:spPr>
        <p:txBody>
          <a:bodyPr vert="horz" wrap="none" lIns="91440" tIns="45720" rIns="91440" bIns="45720" rtlCol="0">
            <a:spAutoFit/>
          </a:bodyPr>
          <a:lstStyle>
            <a:lvl1pPr marL="0" indent="0" algn="l" defTabSz="914400" rtl="0" eaLnBrk="1" latinLnBrk="0" hangingPunct="1">
              <a:lnSpc>
                <a:spcPct val="100000"/>
              </a:lnSpc>
              <a:spcBef>
                <a:spcPts val="1000"/>
              </a:spcBef>
              <a:buFont typeface="Arial" panose="020B0604020202020204" pitchFamily="34" charset="0"/>
              <a:buNone/>
              <a:defRPr sz="9600" b="1" kern="1200">
                <a:gradFill>
                  <a:gsLst>
                    <a:gs pos="24000">
                      <a:schemeClr val="bg1"/>
                    </a:gs>
                    <a:gs pos="69000">
                      <a:schemeClr val="bg1">
                        <a:alpha val="0"/>
                      </a:schemeClr>
                    </a:gs>
                  </a:gsLst>
                  <a:lin ang="4800000" scaled="0"/>
                </a:gradFill>
                <a:latin typeface="+mn-lt"/>
                <a:ea typeface="+mn-ea"/>
                <a:cs typeface="+mn-cs"/>
              </a:defRPr>
            </a:lvl1pPr>
            <a:lvl2pPr marL="457200" indent="0" algn="l" defTabSz="914400" rtl="0" eaLnBrk="1" latinLnBrk="0" hangingPunct="1">
              <a:lnSpc>
                <a:spcPct val="100000"/>
              </a:lnSpc>
              <a:spcBef>
                <a:spcPts val="500"/>
              </a:spcBef>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1600" kern="1200">
                <a:solidFill>
                  <a:schemeClr val="tx1"/>
                </a:solidFill>
                <a:latin typeface="+mn-lt"/>
                <a:ea typeface="+mn-ea"/>
                <a:cs typeface="+mn-cs"/>
              </a:defRPr>
            </a:lvl3pPr>
            <a:lvl4pPr marL="1371600" indent="0" algn="l" defTabSz="914400" rtl="0" eaLnBrk="1" latinLnBrk="0" hangingPunct="1">
              <a:lnSpc>
                <a:spcPct val="10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GB" sz="5400" b="1" i="0" u="none" strike="noStrike" kern="1200" cap="none" spc="0" normalizeH="0" baseline="0" noProof="0" dirty="0">
                <a:ln>
                  <a:noFill/>
                </a:ln>
                <a:gradFill>
                  <a:gsLst>
                    <a:gs pos="37000">
                      <a:prstClr val="white"/>
                    </a:gs>
                    <a:gs pos="100000">
                      <a:srgbClr val="FFFFFF">
                        <a:alpha val="0"/>
                      </a:srgbClr>
                    </a:gs>
                  </a:gsLst>
                  <a:lin ang="4800000" scaled="0"/>
                </a:gradFill>
                <a:effectLst/>
                <a:uLnTx/>
                <a:uFillTx/>
                <a:latin typeface="Arial" panose="020B0604020202020204" pitchFamily="34" charset="0"/>
                <a:ea typeface="微软雅黑" panose="020B0503020204020204" pitchFamily="34" charset="-122"/>
                <a:cs typeface="+mn-cs"/>
                <a:sym typeface="Arial" panose="020B0604020202020204" pitchFamily="34" charset="0"/>
              </a:rPr>
              <a:t>目录</a:t>
            </a:r>
            <a:endParaRPr kumimoji="0" lang="zh-CN" altLang="en-GB" sz="5400" b="1" i="0" u="none" strike="noStrike" kern="1200" cap="none" spc="0" normalizeH="0" baseline="0" noProof="0" dirty="0">
              <a:ln>
                <a:noFill/>
              </a:ln>
              <a:gradFill>
                <a:gsLst>
                  <a:gs pos="37000">
                    <a:prstClr val="white"/>
                  </a:gs>
                  <a:gs pos="100000">
                    <a:srgbClr val="FFFFFF">
                      <a:alpha val="0"/>
                    </a:srgbClr>
                  </a:gs>
                </a:gsLst>
                <a:lin ang="4800000" scaled="0"/>
              </a:gra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5" name="图片 4" descr="图片包含 游戏机&#10;&#10;AI 生成的内容可能不正确。"/>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1550"/>
            <a:ext cx="12171621" cy="6833617"/>
          </a:xfrm>
          <a:prstGeom prst="rect">
            <a:avLst/>
          </a:prstGeom>
        </p:spPr>
      </p:pic>
      <p:sp>
        <p:nvSpPr>
          <p:cNvPr id="2" name="e7d195523061f1c0" descr="e7d195523061f1c09d430b2e086820dbf734666a277b0d4b500BB7A72AB1412ED5183AD7B3816201F88CE1DA88F1BDB3B214B2C038CB098A30603A7C73162896CA56D5F2C85C2877766F9AF7CC3216D7CF634F6382D6C7BA7BC888BA9186F2798B84068E6072773E10A0296880ED9D73C76908137F952918BE4DD4EB5E4CCB40DE91FD2372AF4B64" hidden="1"/>
          <p:cNvSpPr txBox="1"/>
          <p:nvPr/>
        </p:nvSpPr>
        <p:spPr>
          <a:xfrm>
            <a:off x="-355600" y="1803400"/>
            <a:ext cx="268022" cy="1016000"/>
          </a:xfrm>
          <a:prstGeom prst="rect">
            <a:avLst/>
          </a:prstGeom>
          <a:noFill/>
        </p:spPr>
        <p:txBody>
          <a:bodyPr vert="wordArtVert"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00" b="0"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sym typeface="Arial" panose="020B0604020202020204" pitchFamily="34" charset="0"/>
              </a:rPr>
              <a:t>e7d195523061f1c09d430b2e086820dbf734666a277b0d4b500BB7A72AB1412ED5183AD7B3816201F88CE1DA88F1BDB3B214B2C038CB098A30603A7C73162896CA56D5F2C85C2877766F9AF7CC3216D7CF634F6382D6C7BA7BC888BA9186F2798B84068E6072773E10A0296880ED9D73C76908137F952918BE4DD4EB5E4CCB40DE91FD2372AF4B64</a:t>
            </a:r>
            <a:endParaRPr kumimoji="0" lang="zh-CN" altLang="en-US" sz="100" b="0"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sym typeface="Arial" panose="020B0604020202020204" pitchFamily="34" charset="0"/>
            </a:endParaRPr>
          </a:p>
        </p:txBody>
      </p:sp>
      <p:sp>
        <p:nvSpPr>
          <p:cNvPr id="33" name="文本框 32" descr="e7d195523061f1c09d430b2e086820dbf734666a277b0d4b500BB7A72AB1412ED5183AD7B3816201F88CE1DA88F1BDB3B214B2C038CB098A30603A7C73162896CA56D5F2C85C2877766F9AF7CC3216D7001672CC59609577E25D856B9353E59F45E56BECE69C0AA71C11FE729814BC255F8A1BC037BED7D320FC120CC0FDA2F0E0259AB568CF4F8C"/>
          <p:cNvSpPr txBox="1"/>
          <p:nvPr/>
        </p:nvSpPr>
        <p:spPr>
          <a:xfrm>
            <a:off x="4862812" y="2809760"/>
            <a:ext cx="2489200" cy="430530"/>
          </a:xfrm>
          <a:prstGeom prst="rect">
            <a:avLst/>
          </a:prstGeom>
          <a:noFill/>
          <a:effectLst/>
        </p:spPr>
        <p:txBody>
          <a:bodyPr wrap="none" lIns="0" tIns="0" rIns="0" bIns="0" rtlCol="0">
            <a:spAutoFit/>
          </a:bodyPr>
          <a:lstStyle>
            <a:defPPr>
              <a:defRPr lang="zh-CN"/>
            </a:defPPr>
            <a:lvl1pPr marR="0" lvl="0" indent="0" fontAlgn="auto">
              <a:lnSpc>
                <a:spcPct val="100000"/>
              </a:lnSpc>
              <a:spcBef>
                <a:spcPts val="0"/>
              </a:spcBef>
              <a:spcAft>
                <a:spcPts val="0"/>
              </a:spcAft>
              <a:buClrTx/>
              <a:buSzTx/>
              <a:buFontTx/>
              <a:buNone/>
              <a:defRPr kumimoji="0" sz="2800" b="0" i="0" u="none" strike="noStrike" cap="none" spc="600" normalizeH="0" baseline="0">
                <a:ln>
                  <a:noFill/>
                </a:ln>
                <a:solidFill>
                  <a:schemeClr val="bg1"/>
                </a:solidFill>
                <a:effectLst>
                  <a:outerShdw blurRad="86429" dist="38100" dir="2700000" algn="tl" rotWithShape="0">
                    <a:schemeClr val="accent1">
                      <a:lumMod val="50000"/>
                      <a:alpha val="40000"/>
                    </a:schemeClr>
                  </a:outerShdw>
                </a:effectLst>
                <a:uLnTx/>
                <a:uFillTx/>
                <a:latin typeface="Arial" panose="020B0604020202020204" pitchFamily="34" charset="0"/>
                <a:ea typeface="微软雅黑" panose="020B0503020204020204" pitchFamily="34" charset="-122"/>
              </a:defRPr>
            </a:lvl1pPr>
          </a:lstStyle>
          <a:p>
            <a:pPr algn="ctr"/>
            <a:r>
              <a:rPr lang="zh-CN" altLang="en-US" sz="2800" spc="0" dirty="0">
                <a:effectLst/>
                <a:sym typeface="Arial" panose="020B0604020202020204" pitchFamily="34" charset="0"/>
              </a:rPr>
              <a:t>湖仓架构的背景</a:t>
            </a:r>
            <a:endParaRPr lang="zh-CN" altLang="en-US" sz="2800" spc="0" dirty="0">
              <a:effectLst/>
              <a:sym typeface="Arial" panose="020B0604020202020204" pitchFamily="34" charset="0"/>
            </a:endParaRPr>
          </a:p>
        </p:txBody>
      </p:sp>
      <p:sp>
        <p:nvSpPr>
          <p:cNvPr id="3" name="îS1ídê"/>
          <p:cNvSpPr txBox="1"/>
          <p:nvPr/>
        </p:nvSpPr>
        <p:spPr>
          <a:xfrm>
            <a:off x="5618946" y="1886430"/>
            <a:ext cx="954107" cy="923330"/>
          </a:xfrm>
          <a:prstGeom prst="rect">
            <a:avLst/>
          </a:prstGeom>
        </p:spPr>
        <p:txBody>
          <a:bodyPr vert="horz" wrap="none" lIns="91440" tIns="45720" rIns="91440" bIns="45720" rtlCol="0">
            <a:spAutoFit/>
          </a:bodyPr>
          <a:lstStyle>
            <a:lvl1pPr marL="0" indent="0" algn="l" defTabSz="914400" rtl="0" eaLnBrk="1" latinLnBrk="0" hangingPunct="1">
              <a:lnSpc>
                <a:spcPct val="100000"/>
              </a:lnSpc>
              <a:spcBef>
                <a:spcPts val="1000"/>
              </a:spcBef>
              <a:buFont typeface="Arial" panose="020B0604020202020204" pitchFamily="34" charset="0"/>
              <a:buNone/>
              <a:defRPr sz="9600" b="1" kern="1200">
                <a:gradFill>
                  <a:gsLst>
                    <a:gs pos="24000">
                      <a:schemeClr val="bg1"/>
                    </a:gs>
                    <a:gs pos="69000">
                      <a:schemeClr val="bg1">
                        <a:alpha val="0"/>
                      </a:schemeClr>
                    </a:gs>
                  </a:gsLst>
                  <a:lin ang="4800000" scaled="0"/>
                </a:gradFill>
                <a:latin typeface="+mn-lt"/>
                <a:ea typeface="+mn-ea"/>
                <a:cs typeface="+mn-cs"/>
              </a:defRPr>
            </a:lvl1pPr>
            <a:lvl2pPr marL="457200" indent="0" algn="l" defTabSz="914400" rtl="0" eaLnBrk="1" latinLnBrk="0" hangingPunct="1">
              <a:lnSpc>
                <a:spcPct val="100000"/>
              </a:lnSpc>
              <a:spcBef>
                <a:spcPts val="500"/>
              </a:spcBef>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1600" kern="1200">
                <a:solidFill>
                  <a:schemeClr val="tx1"/>
                </a:solidFill>
                <a:latin typeface="+mn-lt"/>
                <a:ea typeface="+mn-ea"/>
                <a:cs typeface="+mn-cs"/>
              </a:defRPr>
            </a:lvl3pPr>
            <a:lvl4pPr marL="1371600" indent="0" algn="l" defTabSz="914400" rtl="0" eaLnBrk="1" latinLnBrk="0" hangingPunct="1">
              <a:lnSpc>
                <a:spcPct val="10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en-US" sz="5400" b="1" i="0" u="none" strike="noStrike" kern="1200" cap="none" spc="0" normalizeH="0" baseline="0" noProof="0" dirty="0">
                <a:ln>
                  <a:noFill/>
                </a:ln>
                <a:gradFill>
                  <a:gsLst>
                    <a:gs pos="37000">
                      <a:prstClr val="white"/>
                    </a:gs>
                    <a:gs pos="100000">
                      <a:srgbClr val="FFFFFF">
                        <a:alpha val="0"/>
                      </a:srgbClr>
                    </a:gs>
                  </a:gsLst>
                  <a:lin ang="4800000" scaled="0"/>
                </a:gradFill>
                <a:effectLst/>
                <a:uLnTx/>
                <a:uFillTx/>
                <a:latin typeface="Arial" panose="020B0604020202020204" pitchFamily="34" charset="0"/>
                <a:ea typeface="微软雅黑" panose="020B0503020204020204" pitchFamily="34" charset="-122"/>
                <a:cs typeface="+mn-cs"/>
                <a:sym typeface="Arial" panose="020B0604020202020204" pitchFamily="34" charset="0"/>
              </a:rPr>
              <a:t>01</a:t>
            </a:r>
            <a:endParaRPr kumimoji="0" lang="en-GB" sz="5400" b="1" i="0" u="none" strike="noStrike" kern="1200" cap="none" spc="0" normalizeH="0" baseline="0" noProof="0" dirty="0">
              <a:ln>
                <a:noFill/>
              </a:ln>
              <a:gradFill>
                <a:gsLst>
                  <a:gs pos="37000">
                    <a:prstClr val="white"/>
                  </a:gs>
                  <a:gs pos="100000">
                    <a:srgbClr val="FFFFFF">
                      <a:alpha val="0"/>
                    </a:srgbClr>
                  </a:gs>
                </a:gsLst>
                <a:lin ang="4800000" scaled="0"/>
              </a:gra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descr="e7d195523061f1c09d430b2e086820dbf734666a277b0d4b500BB7A72AB1412ED5183AD7B3816201F88CE1DA88F1BDB3B214B2C038CB098A30603A7C73162896CA56D5F2C85C2877766F9AF7CC3216D72A30A8123260945F3CF9913B2C8132B15995C34893A847F2CEA0574BAD469374728EE5476AFD938193B7415C316CF399A89FF64C544ADAFE"/>
          <p:cNvSpPr txBox="1"/>
          <p:nvPr/>
        </p:nvSpPr>
        <p:spPr>
          <a:xfrm>
            <a:off x="658813" y="484882"/>
            <a:ext cx="4673600" cy="368935"/>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400" b="1" dirty="0">
                <a:solidFill>
                  <a:srgbClr val="0059FA">
                    <a:lumMod val="50000"/>
                  </a:srgbClr>
                </a:solidFill>
                <a:latin typeface="Arial" panose="020B0604020202020204" pitchFamily="34" charset="0"/>
                <a:ea typeface="微软雅黑" panose="020B0503020204020204" pitchFamily="34" charset="-122"/>
              </a:rPr>
              <a:t>项目背景</a:t>
            </a:r>
            <a:r>
              <a:rPr lang="en-US" altLang="zh-CN" sz="2400" b="1" dirty="0">
                <a:solidFill>
                  <a:srgbClr val="0059FA">
                    <a:lumMod val="50000"/>
                  </a:srgbClr>
                </a:solidFill>
                <a:latin typeface="Arial" panose="020B0604020202020204" pitchFamily="34" charset="0"/>
                <a:ea typeface="微软雅黑" panose="020B0503020204020204" pitchFamily="34" charset="-122"/>
              </a:rPr>
              <a:t>-</a:t>
            </a:r>
            <a:r>
              <a:rPr lang="zh-CN" altLang="en-US" sz="2400" b="1" dirty="0">
                <a:solidFill>
                  <a:srgbClr val="0059FA">
                    <a:lumMod val="50000"/>
                  </a:srgbClr>
                </a:solidFill>
                <a:latin typeface="Arial" panose="020B0604020202020204" pitchFamily="34" charset="0"/>
                <a:ea typeface="微软雅黑" panose="020B0503020204020204" pitchFamily="34" charset="-122"/>
              </a:rPr>
              <a:t>沈飞民机湖仓一体的</a:t>
            </a:r>
            <a:r>
              <a:rPr lang="zh-CN" altLang="en-US" sz="2400" b="1" dirty="0">
                <a:solidFill>
                  <a:srgbClr val="0059FA">
                    <a:lumMod val="50000"/>
                  </a:srgbClr>
                </a:solidFill>
                <a:latin typeface="Arial" panose="020B0604020202020204" pitchFamily="34" charset="0"/>
                <a:ea typeface="微软雅黑" panose="020B0503020204020204" pitchFamily="34" charset="-122"/>
              </a:rPr>
              <a:t>构建</a:t>
            </a:r>
            <a:endParaRPr lang="zh-CN" altLang="en-US" sz="2400" b="1" dirty="0">
              <a:solidFill>
                <a:srgbClr val="0059FA">
                  <a:lumMod val="50000"/>
                </a:srgbClr>
              </a:solidFill>
              <a:latin typeface="Arial" panose="020B0604020202020204" pitchFamily="34" charset="0"/>
              <a:ea typeface="微软雅黑" panose="020B0503020204020204" pitchFamily="34" charset="-122"/>
            </a:endParaRPr>
          </a:p>
        </p:txBody>
      </p:sp>
      <p:sp>
        <p:nvSpPr>
          <p:cNvPr id="46" name="Rectangle 7"/>
          <p:cNvSpPr/>
          <p:nvPr/>
        </p:nvSpPr>
        <p:spPr bwMode="gray">
          <a:xfrm>
            <a:off x="669925" y="1329690"/>
            <a:ext cx="10850880" cy="768985"/>
          </a:xfrm>
          <a:prstGeom prst="rect">
            <a:avLst/>
          </a:prstGeom>
          <a:noFill/>
          <a:ln w="19050" algn="ctr">
            <a:solidFill>
              <a:srgbClr val="0059A7"/>
            </a:solidFill>
            <a:miter lim="800000"/>
          </a:ln>
        </p:spPr>
        <p:txBody>
          <a:bodyPr wrap="square" lIns="88900" tIns="88900" rIns="88900" bIns="88900" rtlCol="0" anchor="ctr"/>
          <a:p>
            <a:pPr defTabSz="685800">
              <a:lnSpc>
                <a:spcPct val="120000"/>
              </a:lnSpc>
              <a:defRPr/>
            </a:pPr>
            <a:endParaRPr lang="en-US" altLang="zh-CN" sz="160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
        <p:nvSpPr>
          <p:cNvPr id="45" name="Rectangle 6"/>
          <p:cNvSpPr/>
          <p:nvPr/>
        </p:nvSpPr>
        <p:spPr bwMode="gray">
          <a:xfrm>
            <a:off x="669925" y="1064260"/>
            <a:ext cx="10850245" cy="328295"/>
          </a:xfrm>
          <a:prstGeom prst="rect">
            <a:avLst/>
          </a:prstGeom>
          <a:solidFill>
            <a:srgbClr val="0059A7"/>
          </a:solidFill>
          <a:ln w="19050" algn="ctr">
            <a:solidFill>
              <a:srgbClr val="0056A3"/>
            </a:solidFill>
            <a:miter lim="800000"/>
          </a:ln>
        </p:spPr>
        <p:txBody>
          <a:bodyPr wrap="square" lIns="88900" tIns="88900" rIns="88900" bIns="88900" rtlCol="0" anchor="ctr"/>
          <a:p>
            <a:pPr algn="ctr" defTabSz="685800">
              <a:lnSpc>
                <a:spcPct val="106000"/>
              </a:lnSpc>
              <a:defRPr/>
            </a:pPr>
            <a:r>
              <a:rPr lang="zh-CN" altLang="en-US" sz="1600" b="1" kern="0" dirty="0">
                <a:solidFill>
                  <a:srgbClr val="FFFFFF"/>
                </a:solidFill>
                <a:latin typeface="微软雅黑" panose="020B0503020204020204" pitchFamily="34" charset="-122"/>
                <a:ea typeface="微软雅黑" panose="020B0503020204020204" pitchFamily="34" charset="-122"/>
              </a:rPr>
              <a:t>构建湖仓一体的</a:t>
            </a:r>
            <a:r>
              <a:rPr lang="zh-CN" altLang="en-US" sz="1600" b="1" kern="0" dirty="0">
                <a:solidFill>
                  <a:srgbClr val="FFFFFF"/>
                </a:solidFill>
                <a:latin typeface="微软雅黑" panose="020B0503020204020204" pitchFamily="34" charset="-122"/>
                <a:ea typeface="微软雅黑" panose="020B0503020204020204" pitchFamily="34" charset="-122"/>
              </a:rPr>
              <a:t>背景</a:t>
            </a:r>
            <a:endParaRPr lang="zh-CN" altLang="en-US" sz="1600" b="1" kern="0" dirty="0">
              <a:solidFill>
                <a:srgbClr val="FFFFFF"/>
              </a:solidFill>
              <a:latin typeface="微软雅黑" panose="020B0503020204020204" pitchFamily="34" charset="-122"/>
              <a:ea typeface="微软雅黑" panose="020B0503020204020204" pitchFamily="34" charset="-122"/>
            </a:endParaRPr>
          </a:p>
        </p:txBody>
      </p:sp>
      <p:sp>
        <p:nvSpPr>
          <p:cNvPr id="37" name="文本框 36"/>
          <p:cNvSpPr txBox="1"/>
          <p:nvPr>
            <p:custDataLst>
              <p:tags r:id="rId1"/>
            </p:custDataLst>
          </p:nvPr>
        </p:nvSpPr>
        <p:spPr>
          <a:xfrm>
            <a:off x="3276600" y="2473960"/>
            <a:ext cx="8178800" cy="1383665"/>
          </a:xfrm>
          <a:prstGeom prst="rect">
            <a:avLst/>
          </a:prstGeom>
          <a:noFill/>
          <a:ln w="12700" cmpd="sng">
            <a:solidFill>
              <a:schemeClr val="accent1">
                <a:shade val="50000"/>
              </a:schemeClr>
            </a:solidFill>
            <a:prstDash val="sysDot"/>
          </a:ln>
        </p:spPr>
        <p:txBody>
          <a:bodyPr wrap="square" rtlCol="0" anchor="t">
            <a:spAutoFit/>
          </a:bodyPr>
          <a:p>
            <a:pPr algn="just" eaLnBrk="1">
              <a:lnSpc>
                <a:spcPct val="150000"/>
              </a:lnSpc>
            </a:pP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沈飞民航中的</a:t>
            </a:r>
            <a:r>
              <a:rPr lang="en-US" altLang="zh-CN" sz="1400" dirty="0">
                <a:latin typeface="微软雅黑" panose="020B0503020204020204" pitchFamily="34" charset="-122"/>
                <a:ea typeface="微软雅黑" panose="020B0503020204020204" pitchFamily="34" charset="-122"/>
                <a:cs typeface="微软雅黑" panose="020B0503020204020204" pitchFamily="34" charset="-122"/>
              </a:rPr>
              <a:t>WMS</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400" dirty="0">
                <a:latin typeface="微软雅黑" panose="020B0503020204020204" pitchFamily="34" charset="-122"/>
                <a:ea typeface="微软雅黑" panose="020B0503020204020204" pitchFamily="34" charset="-122"/>
                <a:cs typeface="微软雅黑" panose="020B0503020204020204" pitchFamily="34" charset="-122"/>
              </a:rPr>
              <a:t>MES</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400" dirty="0">
                <a:latin typeface="微软雅黑" panose="020B0503020204020204" pitchFamily="34" charset="-122"/>
                <a:ea typeface="微软雅黑" panose="020B0503020204020204" pitchFamily="34" charset="-122"/>
                <a:cs typeface="微软雅黑" panose="020B0503020204020204" pitchFamily="34" charset="-122"/>
              </a:rPr>
              <a:t>ERP</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400" dirty="0">
                <a:latin typeface="微软雅黑" panose="020B0503020204020204" pitchFamily="34" charset="-122"/>
                <a:ea typeface="微软雅黑" panose="020B0503020204020204" pitchFamily="34" charset="-122"/>
                <a:cs typeface="微软雅黑" panose="020B0503020204020204" pitchFamily="34" charset="-122"/>
              </a:rPr>
              <a:t>CDM</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四大核心信息系统，其中包含三维模型的非结构化数据、产品生命周期的板结构化数据、机床振动数据</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和试飞传感器数据的时序数据，零部件物流轨迹</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和机场运行数据的</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空间数据、生产过程数据和物料采购的结构化数据等</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等，入湖主要存储非结构化，半结构化数据，数仓主要对结构化数据进行清洗和</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转换。</a:t>
            </a:r>
            <a:endParaRPr lang="zh-CN" altLang="en-US" sz="14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0" name="文本框 39"/>
          <p:cNvSpPr txBox="1"/>
          <p:nvPr>
            <p:custDataLst>
              <p:tags r:id="rId2"/>
            </p:custDataLst>
          </p:nvPr>
        </p:nvSpPr>
        <p:spPr>
          <a:xfrm>
            <a:off x="3276600" y="3961765"/>
            <a:ext cx="8178165" cy="1060450"/>
          </a:xfrm>
          <a:prstGeom prst="rect">
            <a:avLst/>
          </a:prstGeom>
          <a:noFill/>
          <a:ln w="12700" cmpd="sng">
            <a:solidFill>
              <a:schemeClr val="accent1">
                <a:shade val="50000"/>
              </a:schemeClr>
            </a:solidFill>
            <a:prstDash val="sysDot"/>
          </a:ln>
        </p:spPr>
        <p:txBody>
          <a:bodyPr wrap="square" rtlCol="0" anchor="t">
            <a:spAutoFit/>
          </a:bodyPr>
          <a:p>
            <a:pPr algn="just">
              <a:lnSpc>
                <a:spcPct val="150000"/>
              </a:lnSpc>
            </a:pPr>
            <a:r>
              <a:rPr lang="zh-CN" sz="1400" dirty="0">
                <a:latin typeface="微软雅黑" panose="020B0503020204020204" pitchFamily="34" charset="-122"/>
                <a:ea typeface="微软雅黑" panose="020B0503020204020204" pitchFamily="34" charset="-122"/>
                <a:cs typeface="微软雅黑" panose="020B0503020204020204" pitchFamily="34" charset="-122"/>
              </a:rPr>
              <a:t>实际数据存储中需要将</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从设计</a:t>
            </a:r>
            <a:r>
              <a:rPr lang="en-US" altLang="zh-CN" sz="1400" dirty="0">
                <a:latin typeface="微软雅黑" panose="020B0503020204020204" pitchFamily="34" charset="-122"/>
                <a:ea typeface="微软雅黑" panose="020B0503020204020204" pitchFamily="34" charset="-122"/>
                <a:cs typeface="微软雅黑" panose="020B0503020204020204" pitchFamily="34" charset="-122"/>
              </a:rPr>
              <a:t>(20+</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年</a:t>
            </a:r>
            <a:r>
              <a:rPr lang="en-US" altLang="zh-CN" sz="14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、制造</a:t>
            </a:r>
            <a:r>
              <a:rPr lang="en-US" altLang="zh-CN" sz="1400" dirty="0">
                <a:latin typeface="微软雅黑" panose="020B0503020204020204" pitchFamily="34" charset="-122"/>
                <a:ea typeface="微软雅黑" panose="020B0503020204020204" pitchFamily="34" charset="-122"/>
                <a:cs typeface="微软雅黑" panose="020B0503020204020204" pitchFamily="34" charset="-122"/>
              </a:rPr>
              <a:t>(5-7</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年</a:t>
            </a:r>
            <a:r>
              <a:rPr lang="en-US" altLang="zh-CN" sz="14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到运维</a:t>
            </a:r>
            <a:r>
              <a:rPr lang="en-US" altLang="zh-CN" sz="1400" dirty="0">
                <a:latin typeface="微软雅黑" panose="020B0503020204020204" pitchFamily="34" charset="-122"/>
                <a:ea typeface="微软雅黑" panose="020B0503020204020204" pitchFamily="34" charset="-122"/>
                <a:cs typeface="微软雅黑" panose="020B0503020204020204" pitchFamily="34" charset="-122"/>
              </a:rPr>
              <a:t>(30+</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年</a:t>
            </a:r>
            <a:r>
              <a:rPr lang="en-US" altLang="zh-CN" sz="14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的超长周期的历史数据进行合理</a:t>
            </a:r>
            <a:r>
              <a:rPr lang="en-US" altLang="zh-CN" sz="14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存储和分类，以便后期数据统计和利用，同时需要分析历史档案数据和实时流数据以及传统数据仓库难以存储</a:t>
            </a:r>
            <a:r>
              <a:rPr lang="en-US" altLang="zh-CN" sz="1400" dirty="0">
                <a:latin typeface="微软雅黑" panose="020B0503020204020204" pitchFamily="34" charset="-122"/>
                <a:ea typeface="微软雅黑" panose="020B0503020204020204" pitchFamily="34" charset="-122"/>
                <a:cs typeface="微软雅黑" panose="020B0503020204020204" pitchFamily="34" charset="-122"/>
              </a:rPr>
              <a:t>PB</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级的设计图纸和仿真视频。</a:t>
            </a:r>
            <a:endParaRPr lang="zh-CN" altLang="en-US" sz="14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3" name="文本框 42"/>
          <p:cNvSpPr txBox="1"/>
          <p:nvPr>
            <p:custDataLst>
              <p:tags r:id="rId3"/>
            </p:custDataLst>
          </p:nvPr>
        </p:nvSpPr>
        <p:spPr>
          <a:xfrm>
            <a:off x="3275965" y="5534025"/>
            <a:ext cx="8178165" cy="737235"/>
          </a:xfrm>
          <a:prstGeom prst="rect">
            <a:avLst/>
          </a:prstGeom>
          <a:noFill/>
          <a:ln w="12700" cmpd="sng">
            <a:solidFill>
              <a:schemeClr val="accent1">
                <a:shade val="50000"/>
              </a:schemeClr>
            </a:solidFill>
            <a:prstDash val="sysDot"/>
          </a:ln>
        </p:spPr>
        <p:txBody>
          <a:bodyPr wrap="square" rtlCol="0" anchor="t">
            <a:spAutoFit/>
          </a:bodyPr>
          <a:p>
            <a:pPr lvl="0" algn="just">
              <a:lnSpc>
                <a:spcPct val="150000"/>
              </a:lnSpc>
              <a:buClrTx/>
              <a:buSzTx/>
              <a:buFontTx/>
            </a:pPr>
            <a:r>
              <a:rPr lang="zh-CN" altLang="en-US" sz="1400" kern="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符合</a:t>
            </a:r>
            <a:r>
              <a:rPr lang="en-US" altLang="zh-CN" sz="1400" kern="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FAA/EASA</a:t>
            </a:r>
            <a:r>
              <a:rPr lang="zh-CN" altLang="en-US" sz="1400" kern="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适航认证要求完整数据追溯，确保从原材料到最终产品的全制造过程追溯。零部件需要</a:t>
            </a:r>
            <a:r>
              <a:rPr lang="en-US" altLang="zh-CN" sz="1400" kern="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400" kern="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出生证明</a:t>
            </a:r>
            <a:r>
              <a:rPr lang="en-US" altLang="zh-CN" sz="1400" kern="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400" kern="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全制造过程数据</a:t>
            </a:r>
            <a:r>
              <a:rPr lang="en-US" altLang="zh-CN" sz="1400" kern="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400" kern="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，事故调查需快速关联设计、生产、维修全链条数据，保证数据完整性。</a:t>
            </a:r>
            <a:endParaRPr lang="zh-CN" altLang="en-US" sz="1400" kern="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4" name="箭头: 下 43"/>
          <p:cNvSpPr/>
          <p:nvPr/>
        </p:nvSpPr>
        <p:spPr>
          <a:xfrm>
            <a:off x="610045" y="2230234"/>
            <a:ext cx="309056" cy="4244895"/>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pitchFamily="34" charset="-122"/>
              <a:ea typeface="微软雅黑" panose="020B0503020204020204" pitchFamily="34" charset="-122"/>
            </a:endParaRPr>
          </a:p>
        </p:txBody>
      </p:sp>
      <p:cxnSp>
        <p:nvCxnSpPr>
          <p:cNvPr id="71" name="直接箭头连接符 70"/>
          <p:cNvCxnSpPr/>
          <p:nvPr/>
        </p:nvCxnSpPr>
        <p:spPr>
          <a:xfrm flipH="1" flipV="1">
            <a:off x="784258" y="2872206"/>
            <a:ext cx="396000" cy="0"/>
          </a:xfrm>
          <a:prstGeom prst="straightConnector1">
            <a:avLst/>
          </a:prstGeom>
          <a:ln w="28575">
            <a:solidFill>
              <a:srgbClr val="FFC000"/>
            </a:solidFill>
            <a:headEnd type="triangle"/>
            <a:tailEnd type="oval"/>
          </a:ln>
        </p:spPr>
        <p:style>
          <a:lnRef idx="1">
            <a:schemeClr val="accent1"/>
          </a:lnRef>
          <a:fillRef idx="0">
            <a:schemeClr val="accent1"/>
          </a:fillRef>
          <a:effectRef idx="0">
            <a:schemeClr val="accent1"/>
          </a:effectRef>
          <a:fontRef idx="minor">
            <a:schemeClr val="tx1"/>
          </a:fontRef>
        </p:style>
      </p:cxnSp>
      <p:cxnSp>
        <p:nvCxnSpPr>
          <p:cNvPr id="72" name="直接箭头连接符 71"/>
          <p:cNvCxnSpPr/>
          <p:nvPr/>
        </p:nvCxnSpPr>
        <p:spPr>
          <a:xfrm flipH="1" flipV="1">
            <a:off x="783919" y="4352386"/>
            <a:ext cx="396000" cy="0"/>
          </a:xfrm>
          <a:prstGeom prst="straightConnector1">
            <a:avLst/>
          </a:prstGeom>
          <a:ln w="28575">
            <a:solidFill>
              <a:srgbClr val="FFC000"/>
            </a:solidFill>
            <a:headEnd type="triangle"/>
            <a:tailEnd type="oval"/>
          </a:ln>
        </p:spPr>
        <p:style>
          <a:lnRef idx="1">
            <a:schemeClr val="accent1"/>
          </a:lnRef>
          <a:fillRef idx="0">
            <a:schemeClr val="accent1"/>
          </a:fillRef>
          <a:effectRef idx="0">
            <a:schemeClr val="accent1"/>
          </a:effectRef>
          <a:fontRef idx="minor">
            <a:schemeClr val="tx1"/>
          </a:fontRef>
        </p:style>
      </p:cxnSp>
      <p:cxnSp>
        <p:nvCxnSpPr>
          <p:cNvPr id="73" name="直接箭头连接符 72"/>
          <p:cNvCxnSpPr/>
          <p:nvPr/>
        </p:nvCxnSpPr>
        <p:spPr>
          <a:xfrm flipH="1" flipV="1">
            <a:off x="783376" y="5720237"/>
            <a:ext cx="396000" cy="0"/>
          </a:xfrm>
          <a:prstGeom prst="straightConnector1">
            <a:avLst/>
          </a:prstGeom>
          <a:ln w="28575">
            <a:solidFill>
              <a:srgbClr val="FFC000"/>
            </a:solidFill>
            <a:headEnd type="triangle"/>
            <a:tailEnd type="oval"/>
          </a:ln>
        </p:spPr>
        <p:style>
          <a:lnRef idx="1">
            <a:schemeClr val="accent1"/>
          </a:lnRef>
          <a:fillRef idx="0">
            <a:schemeClr val="accent1"/>
          </a:fillRef>
          <a:effectRef idx="0">
            <a:schemeClr val="accent1"/>
          </a:effectRef>
          <a:fontRef idx="minor">
            <a:schemeClr val="tx1"/>
          </a:fontRef>
        </p:style>
      </p:cxnSp>
      <p:sp>
        <p:nvSpPr>
          <p:cNvPr id="164" name="矩形 163"/>
          <p:cNvSpPr/>
          <p:nvPr>
            <p:custDataLst>
              <p:tags r:id="rId4"/>
            </p:custDataLst>
          </p:nvPr>
        </p:nvSpPr>
        <p:spPr>
          <a:xfrm>
            <a:off x="1204595" y="2477135"/>
            <a:ext cx="1467485" cy="985520"/>
          </a:xfrm>
          <a:prstGeom prst="rect">
            <a:avLst/>
          </a:prstGeom>
          <a:solidFill>
            <a:srgbClr val="1A7FFF"/>
          </a:solidFill>
          <a:effectLst>
            <a:outerShdw blurRad="50800" dist="38100" dir="2700000" algn="tl" rotWithShape="0">
              <a:prstClr val="black">
                <a:alpha val="40000"/>
              </a:prstClr>
            </a:outerShdw>
          </a:effectLst>
        </p:spPr>
        <p:style>
          <a:lnRef idx="2">
            <a:schemeClr val="accent6">
              <a:shade val="50000"/>
            </a:schemeClr>
          </a:lnRef>
          <a:fillRef idx="1">
            <a:schemeClr val="accent6"/>
          </a:fillRef>
          <a:effectRef idx="0">
            <a:schemeClr val="accent6"/>
          </a:effectRef>
          <a:fontRef idx="minor">
            <a:schemeClr val="lt1"/>
          </a:fontRef>
        </p:style>
        <p:txBody>
          <a:bodyPr rtlCol="0" anchor="ctr"/>
          <a:p>
            <a:pPr algn="ctr"/>
            <a:r>
              <a:rPr lang="zh-CN" altLang="en-US" sz="1600" b="1" dirty="0">
                <a:latin typeface="微软雅黑" panose="020B0503020204020204" pitchFamily="34" charset="-122"/>
                <a:ea typeface="微软雅黑" panose="020B0503020204020204" pitchFamily="34" charset="-122"/>
              </a:rPr>
              <a:t>应对多源异构数据整合需求</a:t>
            </a:r>
            <a:endParaRPr lang="zh-CN" altLang="en-US" sz="1600" b="1" dirty="0">
              <a:latin typeface="微软雅黑" panose="020B0503020204020204" pitchFamily="34" charset="-122"/>
              <a:ea typeface="微软雅黑" panose="020B0503020204020204" pitchFamily="34" charset="-122"/>
            </a:endParaRPr>
          </a:p>
        </p:txBody>
      </p:sp>
      <p:sp>
        <p:nvSpPr>
          <p:cNvPr id="3" name="矩形 2"/>
          <p:cNvSpPr/>
          <p:nvPr>
            <p:custDataLst>
              <p:tags r:id="rId5"/>
            </p:custDataLst>
          </p:nvPr>
        </p:nvSpPr>
        <p:spPr>
          <a:xfrm>
            <a:off x="1204595" y="3955415"/>
            <a:ext cx="1467485" cy="985520"/>
          </a:xfrm>
          <a:prstGeom prst="rect">
            <a:avLst/>
          </a:prstGeom>
          <a:solidFill>
            <a:srgbClr val="1A7FFF"/>
          </a:solidFill>
          <a:effectLst>
            <a:outerShdw blurRad="50800" dist="38100" dir="2700000" algn="tl" rotWithShape="0">
              <a:prstClr val="black">
                <a:alpha val="40000"/>
              </a:prstClr>
            </a:outerShdw>
          </a:effectLst>
        </p:spPr>
        <p:style>
          <a:lnRef idx="2">
            <a:schemeClr val="accent6">
              <a:shade val="50000"/>
            </a:schemeClr>
          </a:lnRef>
          <a:fillRef idx="1">
            <a:schemeClr val="accent6"/>
          </a:fillRef>
          <a:effectRef idx="0">
            <a:schemeClr val="accent6"/>
          </a:effectRef>
          <a:fontRef idx="minor">
            <a:schemeClr val="lt1"/>
          </a:fontRef>
        </p:style>
        <p:txBody>
          <a:bodyPr rtlCol="0" anchor="ctr"/>
          <a:p>
            <a:pPr algn="ctr"/>
            <a:r>
              <a:rPr lang="zh-CN" altLang="en-US" sz="1600" b="1" dirty="0">
                <a:latin typeface="微软雅黑" panose="020B0503020204020204" pitchFamily="34" charset="-122"/>
                <a:ea typeface="微软雅黑" panose="020B0503020204020204" pitchFamily="34" charset="-122"/>
              </a:rPr>
              <a:t>支持全生命周期数据管理</a:t>
            </a:r>
            <a:endParaRPr lang="zh-CN" altLang="en-US" sz="1600" b="1" dirty="0">
              <a:latin typeface="微软雅黑" panose="020B0503020204020204" pitchFamily="34" charset="-122"/>
              <a:ea typeface="微软雅黑" panose="020B0503020204020204" pitchFamily="34" charset="-122"/>
            </a:endParaRPr>
          </a:p>
        </p:txBody>
      </p:sp>
      <p:sp>
        <p:nvSpPr>
          <p:cNvPr id="5" name="矩形 4"/>
          <p:cNvSpPr/>
          <p:nvPr>
            <p:custDataLst>
              <p:tags r:id="rId6"/>
            </p:custDataLst>
          </p:nvPr>
        </p:nvSpPr>
        <p:spPr>
          <a:xfrm>
            <a:off x="1204595" y="5350510"/>
            <a:ext cx="1467485" cy="985520"/>
          </a:xfrm>
          <a:prstGeom prst="rect">
            <a:avLst/>
          </a:prstGeom>
          <a:solidFill>
            <a:srgbClr val="1A7FFF"/>
          </a:solidFill>
          <a:effectLst>
            <a:outerShdw blurRad="50800" dist="38100" dir="2700000" algn="tl" rotWithShape="0">
              <a:prstClr val="black">
                <a:alpha val="40000"/>
              </a:prstClr>
            </a:outerShdw>
          </a:effectLst>
        </p:spPr>
        <p:style>
          <a:lnRef idx="2">
            <a:schemeClr val="accent6">
              <a:shade val="50000"/>
            </a:schemeClr>
          </a:lnRef>
          <a:fillRef idx="1">
            <a:schemeClr val="accent6"/>
          </a:fillRef>
          <a:effectRef idx="0">
            <a:schemeClr val="accent6"/>
          </a:effectRef>
          <a:fontRef idx="minor">
            <a:schemeClr val="lt1"/>
          </a:fontRef>
        </p:style>
        <p:txBody>
          <a:bodyPr rtlCol="0" anchor="ctr"/>
          <a:p>
            <a:pPr algn="ctr"/>
            <a:r>
              <a:rPr lang="zh-CN" altLang="en-US" sz="1600" b="1" dirty="0">
                <a:latin typeface="微软雅黑" panose="020B0503020204020204" pitchFamily="34" charset="-122"/>
                <a:ea typeface="微软雅黑" panose="020B0503020204020204" pitchFamily="34" charset="-122"/>
              </a:rPr>
              <a:t>满足数据治理</a:t>
            </a:r>
            <a:r>
              <a:rPr lang="zh-CN" altLang="en-US" sz="1600" b="1" dirty="0">
                <a:latin typeface="微软雅黑" panose="020B0503020204020204" pitchFamily="34" charset="-122"/>
                <a:ea typeface="微软雅黑" panose="020B0503020204020204" pitchFamily="34" charset="-122"/>
              </a:rPr>
              <a:t>要求</a:t>
            </a:r>
            <a:endParaRPr lang="zh-CN" altLang="en-US" sz="1600" b="1" dirty="0">
              <a:latin typeface="微软雅黑" panose="020B0503020204020204" pitchFamily="34" charset="-122"/>
              <a:ea typeface="微软雅黑" panose="020B0503020204020204" pitchFamily="34" charset="-122"/>
            </a:endParaRPr>
          </a:p>
        </p:txBody>
      </p:sp>
      <p:grpSp>
        <p:nvGrpSpPr>
          <p:cNvPr id="18" name="组合 17"/>
          <p:cNvGrpSpPr/>
          <p:nvPr/>
        </p:nvGrpSpPr>
        <p:grpSpPr>
          <a:xfrm>
            <a:off x="10116820" y="-402590"/>
            <a:ext cx="1976755" cy="328930"/>
            <a:chOff x="4293" y="3886"/>
            <a:chExt cx="3113" cy="518"/>
          </a:xfrm>
        </p:grpSpPr>
        <p:sp>
          <p:nvSpPr>
            <p:cNvPr id="12" name="矩形 11"/>
            <p:cNvSpPr/>
            <p:nvPr/>
          </p:nvSpPr>
          <p:spPr>
            <a:xfrm>
              <a:off x="4293" y="3886"/>
              <a:ext cx="519" cy="519"/>
            </a:xfrm>
            <a:prstGeom prst="rect">
              <a:avLst/>
            </a:prstGeom>
            <a:solidFill>
              <a:srgbClr val="319DF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3" name="矩形 12"/>
            <p:cNvSpPr/>
            <p:nvPr/>
          </p:nvSpPr>
          <p:spPr>
            <a:xfrm>
              <a:off x="4812" y="3886"/>
              <a:ext cx="519" cy="519"/>
            </a:xfrm>
            <a:prstGeom prst="rect">
              <a:avLst/>
            </a:prstGeom>
            <a:solidFill>
              <a:srgbClr val="076DF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矩形 13"/>
            <p:cNvSpPr/>
            <p:nvPr/>
          </p:nvSpPr>
          <p:spPr>
            <a:xfrm>
              <a:off x="5331" y="3886"/>
              <a:ext cx="519" cy="519"/>
            </a:xfrm>
            <a:prstGeom prst="rect">
              <a:avLst/>
            </a:prstGeom>
            <a:solidFill>
              <a:srgbClr val="08B9C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矩形 14"/>
            <p:cNvSpPr/>
            <p:nvPr/>
          </p:nvSpPr>
          <p:spPr>
            <a:xfrm>
              <a:off x="5850" y="3886"/>
              <a:ext cx="519" cy="519"/>
            </a:xfrm>
            <a:prstGeom prst="rect">
              <a:avLst/>
            </a:prstGeom>
            <a:solidFill>
              <a:srgbClr val="994AD4"/>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6" name="矩形 15"/>
            <p:cNvSpPr/>
            <p:nvPr/>
          </p:nvSpPr>
          <p:spPr>
            <a:xfrm>
              <a:off x="6369" y="3886"/>
              <a:ext cx="519" cy="519"/>
            </a:xfrm>
            <a:prstGeom prst="rect">
              <a:avLst/>
            </a:prstGeom>
            <a:solidFill>
              <a:srgbClr val="CBE7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7" name="矩形 16"/>
            <p:cNvSpPr/>
            <p:nvPr/>
          </p:nvSpPr>
          <p:spPr>
            <a:xfrm>
              <a:off x="6888" y="3886"/>
              <a:ext cx="519" cy="519"/>
            </a:xfrm>
            <a:prstGeom prst="rect">
              <a:avLst/>
            </a:prstGeom>
            <a:solidFill>
              <a:srgbClr val="1FB9F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9" name="文本框 8"/>
          <p:cNvSpPr txBox="1"/>
          <p:nvPr/>
        </p:nvSpPr>
        <p:spPr>
          <a:xfrm>
            <a:off x="783590" y="1453515"/>
            <a:ext cx="10735945" cy="593725"/>
          </a:xfrm>
          <a:prstGeom prst="rect">
            <a:avLst/>
          </a:prstGeom>
          <a:noFill/>
        </p:spPr>
        <p:txBody>
          <a:bodyPr wrap="square" rtlCol="0">
            <a:noAutofit/>
          </a:bodyPr>
          <a:p>
            <a:r>
              <a:rPr lang="zh-CN" altLang="en-US"/>
              <a:t>沈飞民机</a:t>
            </a:r>
            <a:r>
              <a:rPr lang="zh-CN" altLang="en-US"/>
              <a:t>作为高端装备制造业的典型代表，具有产品复杂度高、产业链长、数据多元异构等特点，湖仓一体架构能有效解决行业特有的数据挑战。</a:t>
            </a:r>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5" name="图片 4" descr="图片包含 游戏机&#10;&#10;AI 生成的内容可能不正确。"/>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6470"/>
            <a:ext cx="12171621" cy="6833617"/>
          </a:xfrm>
          <a:prstGeom prst="rect">
            <a:avLst/>
          </a:prstGeom>
        </p:spPr>
      </p:pic>
      <p:sp>
        <p:nvSpPr>
          <p:cNvPr id="2" name="e7d195523061f1c0" descr="e7d195523061f1c09d430b2e086820dbf734666a277b0d4b500BB7A72AB1412ED5183AD7B3816201F88CE1DA88F1BDB3B214B2C038CB098A30603A7C73162896CA56D5F2C85C2877766F9AF7CC3216D7CF634F6382D6C7BA7BC888BA9186F2798B84068E6072773E10A0296880ED9D73C76908137F952918BE4DD4EB5E4CCB40DE91FD2372AF4B64" hidden="1"/>
          <p:cNvSpPr txBox="1"/>
          <p:nvPr/>
        </p:nvSpPr>
        <p:spPr>
          <a:xfrm>
            <a:off x="-355600" y="1803400"/>
            <a:ext cx="268022" cy="1016000"/>
          </a:xfrm>
          <a:prstGeom prst="rect">
            <a:avLst/>
          </a:prstGeom>
          <a:noFill/>
        </p:spPr>
        <p:txBody>
          <a:bodyPr vert="wordArtVert"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00" b="0"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sym typeface="Arial" panose="020B0604020202020204" pitchFamily="34" charset="0"/>
              </a:rPr>
              <a:t>e7d195523061f1c09d430b2e086820dbf734666a277b0d4b500BB7A72AB1412ED5183AD7B3816201F88CE1DA88F1BDB3B214B2C038CB098A30603A7C73162896CA56D5F2C85C2877766F9AF7CC3216D7CF634F6382D6C7BA7BC888BA9186F2798B84068E6072773E10A0296880ED9D73C76908137F952918BE4DD4EB5E4CCB40DE91FD2372AF4B64</a:t>
            </a:r>
            <a:endParaRPr kumimoji="0" lang="zh-CN" altLang="en-US" sz="100" b="0"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sym typeface="Arial" panose="020B0604020202020204" pitchFamily="34" charset="0"/>
            </a:endParaRPr>
          </a:p>
        </p:txBody>
      </p:sp>
      <p:sp>
        <p:nvSpPr>
          <p:cNvPr id="33" name="文本框 32" descr="e7d195523061f1c09d430b2e086820dbf734666a277b0d4b500BB7A72AB1412ED5183AD7B3816201F88CE1DA88F1BDB3B214B2C038CB098A30603A7C73162896CA56D5F2C85C2877766F9AF7CC3216D7001672CC59609577E25D856B9353E59F45E56BECE69C0AA71C11FE729814BC255F8A1BC037BED7D320FC120CC0FDA2F0E0259AB568CF4F8C"/>
          <p:cNvSpPr txBox="1"/>
          <p:nvPr/>
        </p:nvSpPr>
        <p:spPr>
          <a:xfrm>
            <a:off x="5346682" y="2809760"/>
            <a:ext cx="1521460" cy="430530"/>
          </a:xfrm>
          <a:prstGeom prst="rect">
            <a:avLst/>
          </a:prstGeom>
          <a:noFill/>
          <a:effectLst/>
        </p:spPr>
        <p:txBody>
          <a:bodyPr wrap="none" lIns="0" tIns="0" rIns="0" bIns="0" rtlCol="0">
            <a:spAutoFit/>
          </a:bodyPr>
          <a:lstStyle>
            <a:defPPr>
              <a:defRPr lang="zh-CN"/>
            </a:defPPr>
            <a:lvl1pPr marR="0" lvl="0" indent="0" fontAlgn="auto">
              <a:lnSpc>
                <a:spcPct val="100000"/>
              </a:lnSpc>
              <a:spcBef>
                <a:spcPts val="0"/>
              </a:spcBef>
              <a:spcAft>
                <a:spcPts val="0"/>
              </a:spcAft>
              <a:buClrTx/>
              <a:buSzTx/>
              <a:buFontTx/>
              <a:buNone/>
              <a:defRPr kumimoji="0" sz="2800" b="0" i="0" u="none" strike="noStrike" cap="none" spc="600" normalizeH="0" baseline="0">
                <a:ln>
                  <a:noFill/>
                </a:ln>
                <a:solidFill>
                  <a:schemeClr val="bg1"/>
                </a:solidFill>
                <a:effectLst>
                  <a:outerShdw blurRad="86429" dist="38100" dir="2700000" algn="tl" rotWithShape="0">
                    <a:schemeClr val="accent1">
                      <a:lumMod val="50000"/>
                      <a:alpha val="40000"/>
                    </a:schemeClr>
                  </a:outerShdw>
                </a:effectLst>
                <a:uLnTx/>
                <a:uFillTx/>
                <a:latin typeface="Arial" panose="020B0604020202020204" pitchFamily="34" charset="0"/>
                <a:ea typeface="微软雅黑" panose="020B0503020204020204" pitchFamily="34" charset="-122"/>
              </a:defRPr>
            </a:lvl1pPr>
          </a:lstStyle>
          <a:p>
            <a:pPr algn="ctr"/>
            <a:r>
              <a:rPr lang="zh-CN" altLang="en-US" sz="2800" spc="0" dirty="0">
                <a:effectLst/>
                <a:sym typeface="Arial" panose="020B0604020202020204" pitchFamily="34" charset="0"/>
              </a:rPr>
              <a:t>数据</a:t>
            </a:r>
            <a:r>
              <a:rPr lang="en-US" altLang="zh-CN" sz="2800" spc="0" dirty="0">
                <a:effectLst/>
                <a:sym typeface="Arial" panose="020B0604020202020204" pitchFamily="34" charset="0"/>
              </a:rPr>
              <a:t> </a:t>
            </a:r>
            <a:r>
              <a:rPr lang="zh-CN" altLang="en-US" sz="2800" spc="0" dirty="0">
                <a:effectLst/>
                <a:sym typeface="Arial" panose="020B0604020202020204" pitchFamily="34" charset="0"/>
              </a:rPr>
              <a:t>入湖</a:t>
            </a:r>
            <a:endParaRPr lang="zh-CN" altLang="en-US" sz="2800" spc="0" dirty="0">
              <a:effectLst/>
              <a:sym typeface="Arial" panose="020B0604020202020204" pitchFamily="34" charset="0"/>
            </a:endParaRPr>
          </a:p>
        </p:txBody>
      </p:sp>
      <p:sp>
        <p:nvSpPr>
          <p:cNvPr id="3" name="îS1ídê"/>
          <p:cNvSpPr txBox="1"/>
          <p:nvPr/>
        </p:nvSpPr>
        <p:spPr>
          <a:xfrm>
            <a:off x="5618946" y="1886430"/>
            <a:ext cx="946150" cy="922020"/>
          </a:xfrm>
          <a:prstGeom prst="rect">
            <a:avLst/>
          </a:prstGeom>
        </p:spPr>
        <p:txBody>
          <a:bodyPr vert="horz" wrap="none" lIns="91440" tIns="45720" rIns="91440" bIns="45720" rtlCol="0">
            <a:spAutoFit/>
          </a:bodyPr>
          <a:lstStyle>
            <a:lvl1pPr marL="0" indent="0" algn="l" defTabSz="914400" rtl="0" eaLnBrk="1" latinLnBrk="0" hangingPunct="1">
              <a:lnSpc>
                <a:spcPct val="100000"/>
              </a:lnSpc>
              <a:spcBef>
                <a:spcPts val="1000"/>
              </a:spcBef>
              <a:buFont typeface="Arial" panose="020B0604020202020204" pitchFamily="34" charset="0"/>
              <a:buNone/>
              <a:defRPr sz="9600" b="1" kern="1200">
                <a:gradFill>
                  <a:gsLst>
                    <a:gs pos="24000">
                      <a:schemeClr val="bg1"/>
                    </a:gs>
                    <a:gs pos="69000">
                      <a:schemeClr val="bg1">
                        <a:alpha val="0"/>
                      </a:schemeClr>
                    </a:gs>
                  </a:gsLst>
                  <a:lin ang="4800000" scaled="0"/>
                </a:gradFill>
                <a:latin typeface="+mn-lt"/>
                <a:ea typeface="+mn-ea"/>
                <a:cs typeface="+mn-cs"/>
              </a:defRPr>
            </a:lvl1pPr>
            <a:lvl2pPr marL="457200" indent="0" algn="l" defTabSz="914400" rtl="0" eaLnBrk="1" latinLnBrk="0" hangingPunct="1">
              <a:lnSpc>
                <a:spcPct val="100000"/>
              </a:lnSpc>
              <a:spcBef>
                <a:spcPts val="500"/>
              </a:spcBef>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1600" kern="1200">
                <a:solidFill>
                  <a:schemeClr val="tx1"/>
                </a:solidFill>
                <a:latin typeface="+mn-lt"/>
                <a:ea typeface="+mn-ea"/>
                <a:cs typeface="+mn-cs"/>
              </a:defRPr>
            </a:lvl3pPr>
            <a:lvl4pPr marL="1371600" indent="0" algn="l" defTabSz="914400" rtl="0" eaLnBrk="1" latinLnBrk="0" hangingPunct="1">
              <a:lnSpc>
                <a:spcPct val="10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en-US" sz="5400" b="1" i="0" u="none" strike="noStrike" kern="1200" cap="none" spc="0" normalizeH="0" baseline="0" noProof="0" dirty="0">
                <a:ln>
                  <a:noFill/>
                </a:ln>
                <a:gradFill>
                  <a:gsLst>
                    <a:gs pos="37000">
                      <a:prstClr val="white"/>
                    </a:gs>
                    <a:gs pos="100000">
                      <a:srgbClr val="FFFFFF">
                        <a:alpha val="0"/>
                      </a:srgbClr>
                    </a:gs>
                  </a:gsLst>
                  <a:lin ang="4800000" scaled="0"/>
                </a:gradFill>
                <a:effectLst/>
                <a:uLnTx/>
                <a:uFillTx/>
                <a:latin typeface="Arial" panose="020B0604020202020204" pitchFamily="34" charset="0"/>
                <a:ea typeface="微软雅黑" panose="020B0503020204020204" pitchFamily="34" charset="-122"/>
                <a:cs typeface="+mn-cs"/>
                <a:sym typeface="Arial" panose="020B0604020202020204" pitchFamily="34" charset="0"/>
              </a:rPr>
              <a:t>02</a:t>
            </a:r>
            <a:endParaRPr kumimoji="0" lang="en-GB" sz="5400" b="1" i="0" u="none" strike="noStrike" kern="1200" cap="none" spc="0" normalizeH="0" baseline="0" noProof="0" dirty="0">
              <a:ln>
                <a:noFill/>
              </a:ln>
              <a:gradFill>
                <a:gsLst>
                  <a:gs pos="37000">
                    <a:prstClr val="white"/>
                  </a:gs>
                  <a:gs pos="100000">
                    <a:srgbClr val="FFFFFF">
                      <a:alpha val="0"/>
                    </a:srgbClr>
                  </a:gs>
                </a:gsLst>
                <a:lin ang="4800000" scaled="0"/>
              </a:gra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descr="e7d195523061f1c09d430b2e086820dbf734666a277b0d4b500BB7A72AB1412ED5183AD7B3816201F88CE1DA88F1BDB3B214B2C038CB098A30603A7C73162896CA56D5F2C85C2877766F9AF7CC3216D72A30A8123260945F3CF9913B2C8132B15995C34893A847F2CEA0574BAD469374728EE5476AFD938193B7415C316CF399A89FF64C544ADAFE"/>
          <p:cNvSpPr txBox="1"/>
          <p:nvPr/>
        </p:nvSpPr>
        <p:spPr>
          <a:xfrm>
            <a:off x="658813" y="484882"/>
            <a:ext cx="609600" cy="368935"/>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400" b="1" dirty="0">
                <a:solidFill>
                  <a:srgbClr val="0059FA">
                    <a:lumMod val="50000"/>
                  </a:srgbClr>
                </a:solidFill>
                <a:latin typeface="Arial" panose="020B0604020202020204" pitchFamily="34" charset="0"/>
                <a:ea typeface="微软雅黑" panose="020B0503020204020204" pitchFamily="34" charset="-122"/>
              </a:rPr>
              <a:t>概念</a:t>
            </a:r>
            <a:endParaRPr lang="zh-CN" altLang="en-US" sz="2400" b="1" dirty="0">
              <a:solidFill>
                <a:srgbClr val="0059FA">
                  <a:lumMod val="50000"/>
                </a:srgbClr>
              </a:solidFill>
              <a:latin typeface="Arial" panose="020B0604020202020204" pitchFamily="34" charset="0"/>
              <a:ea typeface="微软雅黑" panose="020B0503020204020204" pitchFamily="34" charset="-122"/>
            </a:endParaRPr>
          </a:p>
        </p:txBody>
      </p:sp>
      <p:grpSp>
        <p:nvGrpSpPr>
          <p:cNvPr id="18" name="组合 17"/>
          <p:cNvGrpSpPr/>
          <p:nvPr/>
        </p:nvGrpSpPr>
        <p:grpSpPr>
          <a:xfrm>
            <a:off x="10116820" y="-402590"/>
            <a:ext cx="1976755" cy="328930"/>
            <a:chOff x="4293" y="3886"/>
            <a:chExt cx="3113" cy="518"/>
          </a:xfrm>
        </p:grpSpPr>
        <p:sp>
          <p:nvSpPr>
            <p:cNvPr id="12" name="矩形 11"/>
            <p:cNvSpPr/>
            <p:nvPr/>
          </p:nvSpPr>
          <p:spPr>
            <a:xfrm>
              <a:off x="4293" y="3886"/>
              <a:ext cx="519" cy="519"/>
            </a:xfrm>
            <a:prstGeom prst="rect">
              <a:avLst/>
            </a:prstGeom>
            <a:solidFill>
              <a:srgbClr val="319DF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3" name="矩形 12"/>
            <p:cNvSpPr/>
            <p:nvPr/>
          </p:nvSpPr>
          <p:spPr>
            <a:xfrm>
              <a:off x="4812" y="3886"/>
              <a:ext cx="519" cy="519"/>
            </a:xfrm>
            <a:prstGeom prst="rect">
              <a:avLst/>
            </a:prstGeom>
            <a:solidFill>
              <a:srgbClr val="076DF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矩形 13"/>
            <p:cNvSpPr/>
            <p:nvPr/>
          </p:nvSpPr>
          <p:spPr>
            <a:xfrm>
              <a:off x="5331" y="3886"/>
              <a:ext cx="519" cy="519"/>
            </a:xfrm>
            <a:prstGeom prst="rect">
              <a:avLst/>
            </a:prstGeom>
            <a:solidFill>
              <a:srgbClr val="08B9C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矩形 14"/>
            <p:cNvSpPr/>
            <p:nvPr/>
          </p:nvSpPr>
          <p:spPr>
            <a:xfrm>
              <a:off x="5850" y="3886"/>
              <a:ext cx="519" cy="519"/>
            </a:xfrm>
            <a:prstGeom prst="rect">
              <a:avLst/>
            </a:prstGeom>
            <a:solidFill>
              <a:srgbClr val="994AD4"/>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6" name="矩形 15"/>
            <p:cNvSpPr/>
            <p:nvPr/>
          </p:nvSpPr>
          <p:spPr>
            <a:xfrm>
              <a:off x="6369" y="3886"/>
              <a:ext cx="519" cy="519"/>
            </a:xfrm>
            <a:prstGeom prst="rect">
              <a:avLst/>
            </a:prstGeom>
            <a:solidFill>
              <a:srgbClr val="CBE7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7" name="矩形 16"/>
            <p:cNvSpPr/>
            <p:nvPr/>
          </p:nvSpPr>
          <p:spPr>
            <a:xfrm>
              <a:off x="6888" y="3886"/>
              <a:ext cx="519" cy="519"/>
            </a:xfrm>
            <a:prstGeom prst="rect">
              <a:avLst/>
            </a:prstGeom>
            <a:solidFill>
              <a:srgbClr val="1FB9F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4" name="Shape 497"/>
          <p:cNvSpPr/>
          <p:nvPr>
            <p:custDataLst>
              <p:tags r:id="rId1"/>
            </p:custDataLst>
          </p:nvPr>
        </p:nvSpPr>
        <p:spPr>
          <a:xfrm>
            <a:off x="3651250" y="1136650"/>
            <a:ext cx="3643630" cy="5104765"/>
          </a:xfrm>
          <a:custGeom>
            <a:avLst/>
            <a:gdLst>
              <a:gd name="adj" fmla="val 9122"/>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il" t="il" r="ir" b="ib"/>
            <a:pathLst>
              <a:path w="5737" h="4341">
                <a:moveTo>
                  <a:pt x="289" y="0"/>
                </a:moveTo>
                <a:lnTo>
                  <a:pt x="436" y="0"/>
                </a:lnTo>
                <a:lnTo>
                  <a:pt x="864" y="0"/>
                </a:lnTo>
                <a:lnTo>
                  <a:pt x="1572" y="0"/>
                </a:lnTo>
                <a:lnTo>
                  <a:pt x="1736" y="0"/>
                </a:lnTo>
                <a:lnTo>
                  <a:pt x="2135" y="0"/>
                </a:lnTo>
                <a:lnTo>
                  <a:pt x="2135" y="0"/>
                </a:lnTo>
                <a:cubicBezTo>
                  <a:pt x="2135" y="6"/>
                  <a:pt x="2135" y="13"/>
                  <a:pt x="2135" y="19"/>
                </a:cubicBezTo>
                <a:cubicBezTo>
                  <a:pt x="2135" y="425"/>
                  <a:pt x="2463" y="754"/>
                  <a:pt x="2869" y="754"/>
                </a:cubicBezTo>
                <a:cubicBezTo>
                  <a:pt x="3274" y="754"/>
                  <a:pt x="3602" y="425"/>
                  <a:pt x="3602" y="19"/>
                </a:cubicBezTo>
                <a:cubicBezTo>
                  <a:pt x="3602" y="13"/>
                  <a:pt x="3602" y="6"/>
                  <a:pt x="3602" y="0"/>
                </a:cubicBezTo>
                <a:lnTo>
                  <a:pt x="3602" y="0"/>
                </a:lnTo>
                <a:lnTo>
                  <a:pt x="3939" y="0"/>
                </a:lnTo>
                <a:lnTo>
                  <a:pt x="4165" y="0"/>
                </a:lnTo>
                <a:lnTo>
                  <a:pt x="4873" y="0"/>
                </a:lnTo>
                <a:lnTo>
                  <a:pt x="5239" y="0"/>
                </a:lnTo>
                <a:lnTo>
                  <a:pt x="5448" y="0"/>
                </a:lnTo>
                <a:cubicBezTo>
                  <a:pt x="5608" y="0"/>
                  <a:pt x="5737" y="131"/>
                  <a:pt x="5737" y="292"/>
                </a:cubicBezTo>
                <a:lnTo>
                  <a:pt x="5737" y="4049"/>
                </a:lnTo>
                <a:cubicBezTo>
                  <a:pt x="5737" y="4210"/>
                  <a:pt x="5608" y="4341"/>
                  <a:pt x="5448" y="4341"/>
                </a:cubicBezTo>
                <a:lnTo>
                  <a:pt x="4165" y="4341"/>
                </a:lnTo>
                <a:lnTo>
                  <a:pt x="2882" y="4341"/>
                </a:lnTo>
                <a:lnTo>
                  <a:pt x="2855" y="4341"/>
                </a:lnTo>
                <a:lnTo>
                  <a:pt x="1572" y="4341"/>
                </a:lnTo>
                <a:lnTo>
                  <a:pt x="289" y="4341"/>
                </a:lnTo>
                <a:cubicBezTo>
                  <a:pt x="129" y="4341"/>
                  <a:pt x="0" y="4210"/>
                  <a:pt x="0" y="4049"/>
                </a:cubicBezTo>
                <a:lnTo>
                  <a:pt x="0" y="292"/>
                </a:lnTo>
                <a:cubicBezTo>
                  <a:pt x="0" y="131"/>
                  <a:pt x="129" y="0"/>
                  <a:pt x="289" y="0"/>
                </a:cubicBezTo>
                <a:close/>
              </a:path>
            </a:pathLst>
          </a:custGeom>
          <a:gradFill>
            <a:gsLst>
              <a:gs pos="0">
                <a:schemeClr val="accent1">
                  <a:lumMod val="80000"/>
                  <a:lumOff val="20000"/>
                  <a:alpha val="100000"/>
                </a:schemeClr>
              </a:gs>
              <a:gs pos="100000">
                <a:schemeClr val="accent1">
                  <a:alpha val="100000"/>
                </a:schemeClr>
              </a:gs>
            </a:gsLst>
            <a:lin ang="2700000" scaled="0"/>
          </a:gradFill>
          <a:ln w="12700">
            <a:miter lim="400000"/>
          </a:ln>
          <a:effectLst>
            <a:innerShdw blurRad="317500" dist="50800" dir="16200000">
              <a:schemeClr val="accent1">
                <a:lumMod val="20000"/>
                <a:lumOff val="80000"/>
                <a:alpha val="30000"/>
              </a:schemeClr>
            </a:innerShdw>
          </a:effectLst>
        </p:spPr>
        <p:txBody>
          <a:bodyPr wrap="square" lIns="71437" tIns="71437" rIns="71437" bIns="71437" anchor="ctr">
            <a:noAutofit/>
          </a:bodyPr>
          <a:p>
            <a:pPr lvl="0" algn="l">
              <a:buClrTx/>
              <a:buSzTx/>
              <a:buFontTx/>
            </a:pPr>
            <a:endParaRPr sz="2800" dirty="0">
              <a:solidFill>
                <a:schemeClr val="tx1"/>
              </a:solidFill>
              <a:latin typeface="+mj-lt"/>
              <a:ea typeface="微软雅黑" panose="020B0503020204020204" pitchFamily="34" charset="-122"/>
              <a:cs typeface="微软雅黑" panose="020B0503020204020204" pitchFamily="34" charset="-122"/>
              <a:sym typeface="+mn-ea"/>
            </a:endParaRPr>
          </a:p>
        </p:txBody>
      </p:sp>
      <p:sp>
        <p:nvSpPr>
          <p:cNvPr id="6" name="Shape 501"/>
          <p:cNvSpPr/>
          <p:nvPr>
            <p:custDataLst>
              <p:tags r:id="rId2"/>
            </p:custDataLst>
          </p:nvPr>
        </p:nvSpPr>
        <p:spPr>
          <a:xfrm>
            <a:off x="5086301" y="922222"/>
            <a:ext cx="772824" cy="773459"/>
          </a:xfrm>
          <a:prstGeom prst="ellipse">
            <a:avLst/>
          </a:prstGeom>
          <a:gradFill>
            <a:gsLst>
              <a:gs pos="0">
                <a:schemeClr val="accent1">
                  <a:lumMod val="80000"/>
                  <a:lumOff val="20000"/>
                  <a:alpha val="100000"/>
                </a:schemeClr>
              </a:gs>
              <a:gs pos="100000">
                <a:schemeClr val="accent1">
                  <a:alpha val="100000"/>
                </a:schemeClr>
              </a:gs>
            </a:gsLst>
            <a:lin ang="2700000" scaled="0"/>
          </a:gradFill>
          <a:ln w="12700">
            <a:miter lim="400000"/>
          </a:ln>
          <a:effectLst>
            <a:innerShdw blurRad="317500" dist="50800" dir="16200000">
              <a:schemeClr val="accent1">
                <a:lumMod val="20000"/>
                <a:lumOff val="80000"/>
                <a:alpha val="30000"/>
              </a:schemeClr>
            </a:innerShdw>
          </a:effectLst>
        </p:spPr>
        <p:txBody>
          <a:bodyPr lIns="71437" tIns="71437" rIns="71437" bIns="71437" anchor="ctr">
            <a:noAutofit/>
          </a:bodyPr>
          <a:p>
            <a:pPr lvl="0" algn="l">
              <a:buClrTx/>
              <a:buSzTx/>
              <a:buFontTx/>
            </a:pPr>
            <a:endParaRPr sz="2800" dirty="0">
              <a:solidFill>
                <a:schemeClr val="tx1"/>
              </a:solidFill>
              <a:latin typeface="+mj-lt"/>
              <a:ea typeface="微软雅黑" panose="020B0503020204020204" pitchFamily="34" charset="-122"/>
              <a:cs typeface="微软雅黑" panose="020B0503020204020204" pitchFamily="34" charset="-122"/>
              <a:sym typeface="微软雅黑" panose="020B0503020204020204" pitchFamily="34" charset="-122"/>
            </a:endParaRPr>
          </a:p>
        </p:txBody>
      </p:sp>
      <p:cxnSp>
        <p:nvCxnSpPr>
          <p:cNvPr id="47" name="直接连接符 46"/>
          <p:cNvCxnSpPr/>
          <p:nvPr>
            <p:custDataLst>
              <p:tags r:id="rId3"/>
            </p:custDataLst>
          </p:nvPr>
        </p:nvCxnSpPr>
        <p:spPr>
          <a:xfrm>
            <a:off x="5269823" y="3871857"/>
            <a:ext cx="406415" cy="0"/>
          </a:xfrm>
          <a:prstGeom prst="line">
            <a:avLst/>
          </a:prstGeom>
          <a:ln w="12700">
            <a:solidFill>
              <a:srgbClr val="FFFFFF">
                <a:alpha val="50000"/>
              </a:srgbClr>
            </a:solidFill>
          </a:ln>
        </p:spPr>
        <p:style>
          <a:lnRef idx="1">
            <a:schemeClr val="accent1"/>
          </a:lnRef>
          <a:fillRef idx="0">
            <a:schemeClr val="accent1"/>
          </a:fillRef>
          <a:effectRef idx="0">
            <a:schemeClr val="accent1"/>
          </a:effectRef>
          <a:fontRef idx="minor">
            <a:schemeClr val="tx1"/>
          </a:fontRef>
        </p:style>
      </p:cxnSp>
      <p:sp>
        <p:nvSpPr>
          <p:cNvPr id="7" name="矩形 6"/>
          <p:cNvSpPr/>
          <p:nvPr>
            <p:custDataLst>
              <p:tags r:id="rId4"/>
            </p:custDataLst>
          </p:nvPr>
        </p:nvSpPr>
        <p:spPr>
          <a:xfrm>
            <a:off x="4009390" y="2525395"/>
            <a:ext cx="3014980" cy="3395980"/>
          </a:xfrm>
          <a:prstGeom prst="rect">
            <a:avLst/>
          </a:prstGeom>
          <a:noFill/>
        </p:spPr>
        <p:txBody>
          <a:bodyPr wrap="square" lIns="0" tIns="0" rIns="0" bIns="0" rtlCol="0" anchor="t" anchorCtr="0">
            <a:noAutofit/>
          </a:bodyPr>
          <a:p>
            <a:pPr marL="285750" indent="-285750" algn="l">
              <a:lnSpc>
                <a:spcPct val="130000"/>
              </a:lnSpc>
              <a:spcBef>
                <a:spcPct val="0"/>
              </a:spcBef>
              <a:spcAft>
                <a:spcPct val="0"/>
              </a:spcAft>
              <a:buFont typeface="Arial" panose="020B0604020202020204" pitchFamily="34" charset="0"/>
              <a:buChar char="•"/>
            </a:pPr>
            <a:r>
              <a:rPr lang="zh-CN" altLang="en-US" b="1">
                <a:solidFill>
                  <a:srgbClr val="FFFFFF"/>
                </a:solidFill>
                <a:latin typeface="+mn-ea"/>
                <a:cs typeface="+mn-ea"/>
                <a:sym typeface="+mn-ea"/>
              </a:rPr>
              <a:t>数据孤岛</a:t>
            </a:r>
            <a:r>
              <a:rPr lang="zh-CN" altLang="en-US" sz="1600">
                <a:solidFill>
                  <a:srgbClr val="FFFFFF"/>
                </a:solidFill>
                <a:latin typeface="+mn-ea"/>
                <a:cs typeface="+mn-ea"/>
                <a:sym typeface="+mn-ea"/>
              </a:rPr>
              <a:t>：各业务系统独立存储，跨部门协作困难</a:t>
            </a:r>
            <a:endParaRPr lang="zh-CN" altLang="en-US" sz="1600">
              <a:solidFill>
                <a:srgbClr val="FFFFFF"/>
              </a:solidFill>
              <a:latin typeface="+mn-ea"/>
              <a:cs typeface="+mn-ea"/>
              <a:sym typeface="+mn-ea"/>
            </a:endParaRPr>
          </a:p>
          <a:p>
            <a:pPr marL="285750" indent="-285750" algn="l">
              <a:lnSpc>
                <a:spcPct val="130000"/>
              </a:lnSpc>
              <a:spcBef>
                <a:spcPct val="0"/>
              </a:spcBef>
              <a:spcAft>
                <a:spcPct val="0"/>
              </a:spcAft>
              <a:buFont typeface="Arial" panose="020B0604020202020204" pitchFamily="34" charset="0"/>
              <a:buChar char="•"/>
            </a:pPr>
            <a:r>
              <a:rPr lang="zh-CN" altLang="en-US" b="1">
                <a:solidFill>
                  <a:srgbClr val="FFFFFF"/>
                </a:solidFill>
                <a:latin typeface="+mn-ea"/>
                <a:cs typeface="+mn-ea"/>
                <a:sym typeface="+mn-ea"/>
              </a:rPr>
              <a:t>高成本</a:t>
            </a:r>
            <a:r>
              <a:rPr lang="zh-CN" altLang="en-US" sz="1600">
                <a:solidFill>
                  <a:srgbClr val="FFFFFF"/>
                </a:solidFill>
                <a:latin typeface="+mn-ea"/>
                <a:cs typeface="+mn-ea"/>
                <a:sym typeface="+mn-ea"/>
              </a:rPr>
              <a:t>：数仓</a:t>
            </a:r>
            <a:r>
              <a:rPr lang="en-US" altLang="zh-CN" sz="1600">
                <a:solidFill>
                  <a:srgbClr val="FFFFFF"/>
                </a:solidFill>
                <a:latin typeface="+mn-ea"/>
                <a:cs typeface="+mn-ea"/>
                <a:sym typeface="+mn-ea"/>
              </a:rPr>
              <a:t>ETL</a:t>
            </a:r>
            <a:r>
              <a:rPr lang="zh-CN" altLang="en-US" sz="1600">
                <a:solidFill>
                  <a:srgbClr val="FFFFFF"/>
                </a:solidFill>
                <a:latin typeface="+mn-ea"/>
                <a:cs typeface="+mn-ea"/>
                <a:sym typeface="+mn-ea"/>
              </a:rPr>
              <a:t>流程复杂，维护成本高（举例：某业务报表需人工对接</a:t>
            </a:r>
            <a:r>
              <a:rPr lang="en-US" altLang="zh-CN" sz="1600">
                <a:solidFill>
                  <a:srgbClr val="FFFFFF"/>
                </a:solidFill>
                <a:latin typeface="+mn-ea"/>
                <a:cs typeface="+mn-ea"/>
                <a:sym typeface="+mn-ea"/>
              </a:rPr>
              <a:t>5</a:t>
            </a:r>
            <a:r>
              <a:rPr lang="zh-CN" altLang="en-US" sz="1600">
                <a:solidFill>
                  <a:srgbClr val="FFFFFF"/>
                </a:solidFill>
                <a:latin typeface="+mn-ea"/>
                <a:cs typeface="+mn-ea"/>
                <a:sym typeface="+mn-ea"/>
              </a:rPr>
              <a:t>个系统）</a:t>
            </a:r>
            <a:endParaRPr lang="zh-CN" altLang="en-US" sz="1600">
              <a:solidFill>
                <a:srgbClr val="FFFFFF"/>
              </a:solidFill>
              <a:latin typeface="+mn-ea"/>
              <a:cs typeface="+mn-ea"/>
              <a:sym typeface="+mn-ea"/>
            </a:endParaRPr>
          </a:p>
          <a:p>
            <a:pPr marL="285750" indent="-285750" algn="l">
              <a:lnSpc>
                <a:spcPct val="130000"/>
              </a:lnSpc>
              <a:spcBef>
                <a:spcPct val="0"/>
              </a:spcBef>
              <a:spcAft>
                <a:spcPct val="0"/>
              </a:spcAft>
              <a:buFont typeface="Arial" panose="020B0604020202020204" pitchFamily="34" charset="0"/>
              <a:buChar char="•"/>
            </a:pPr>
            <a:r>
              <a:rPr lang="zh-CN" altLang="en-US" b="1">
                <a:solidFill>
                  <a:srgbClr val="FFFFFF"/>
                </a:solidFill>
                <a:latin typeface="+mn-ea"/>
                <a:cs typeface="+mn-ea"/>
                <a:sym typeface="+mn-ea"/>
              </a:rPr>
              <a:t>灵活性差</a:t>
            </a:r>
            <a:r>
              <a:rPr lang="zh-CN" altLang="en-US" sz="1600">
                <a:solidFill>
                  <a:srgbClr val="FFFFFF"/>
                </a:solidFill>
                <a:latin typeface="+mn-ea"/>
                <a:cs typeface="+mn-ea"/>
                <a:sym typeface="+mn-ea"/>
              </a:rPr>
              <a:t>：结构化数据为主，无法处理非结构化数据（如图片</a:t>
            </a:r>
            <a:r>
              <a:rPr lang="en-US" altLang="zh-CN" sz="1600">
                <a:solidFill>
                  <a:srgbClr val="FFFFFF"/>
                </a:solidFill>
                <a:latin typeface="+mn-ea"/>
                <a:cs typeface="+mn-ea"/>
                <a:sym typeface="+mn-ea"/>
              </a:rPr>
              <a:t>/</a:t>
            </a:r>
            <a:r>
              <a:rPr lang="zh-CN" altLang="en-US" sz="1600">
                <a:solidFill>
                  <a:srgbClr val="FFFFFF"/>
                </a:solidFill>
                <a:latin typeface="+mn-ea"/>
                <a:cs typeface="+mn-ea"/>
                <a:sym typeface="+mn-ea"/>
              </a:rPr>
              <a:t>日志</a:t>
            </a:r>
            <a:r>
              <a:rPr lang="en-US" altLang="zh-CN" sz="1600">
                <a:solidFill>
                  <a:srgbClr val="FFFFFF"/>
                </a:solidFill>
                <a:latin typeface="+mn-ea"/>
                <a:cs typeface="+mn-ea"/>
                <a:sym typeface="+mn-ea"/>
              </a:rPr>
              <a:t>/</a:t>
            </a:r>
            <a:r>
              <a:rPr lang="zh-CN" altLang="en-US" sz="1600">
                <a:solidFill>
                  <a:srgbClr val="FFFFFF"/>
                </a:solidFill>
                <a:latin typeface="+mn-ea"/>
                <a:cs typeface="+mn-ea"/>
                <a:sym typeface="+mn-ea"/>
              </a:rPr>
              <a:t>传感器数据）</a:t>
            </a:r>
            <a:endParaRPr lang="zh-CN" altLang="en-US" sz="1600">
              <a:solidFill>
                <a:srgbClr val="FFFFFF"/>
              </a:solidFill>
              <a:latin typeface="+mn-ea"/>
              <a:cs typeface="+mn-ea"/>
              <a:sym typeface="+mn-ea"/>
            </a:endParaRPr>
          </a:p>
          <a:p>
            <a:pPr marL="285750" indent="-285750" algn="l">
              <a:lnSpc>
                <a:spcPct val="130000"/>
              </a:lnSpc>
              <a:spcBef>
                <a:spcPct val="0"/>
              </a:spcBef>
              <a:spcAft>
                <a:spcPct val="0"/>
              </a:spcAft>
              <a:buFont typeface="Arial" panose="020B0604020202020204" pitchFamily="34" charset="0"/>
              <a:buChar char="•"/>
            </a:pPr>
            <a:r>
              <a:rPr lang="zh-CN" altLang="en-US" b="1">
                <a:solidFill>
                  <a:srgbClr val="FFFFFF"/>
                </a:solidFill>
                <a:latin typeface="+mn-ea"/>
                <a:cs typeface="+mn-ea"/>
                <a:sym typeface="+mn-ea"/>
              </a:rPr>
              <a:t>响应慢</a:t>
            </a:r>
            <a:r>
              <a:rPr lang="zh-CN" altLang="en-US" sz="1600">
                <a:solidFill>
                  <a:srgbClr val="FFFFFF"/>
                </a:solidFill>
                <a:latin typeface="+mn-ea"/>
                <a:cs typeface="+mn-ea"/>
                <a:sym typeface="+mn-ea"/>
              </a:rPr>
              <a:t>：业务需求变更时，数仓</a:t>
            </a:r>
            <a:r>
              <a:rPr lang="en-US" altLang="zh-CN" sz="1600">
                <a:solidFill>
                  <a:srgbClr val="FFFFFF"/>
                </a:solidFill>
                <a:latin typeface="+mn-ea"/>
                <a:cs typeface="+mn-ea"/>
                <a:sym typeface="+mn-ea"/>
              </a:rPr>
              <a:t> schema </a:t>
            </a:r>
            <a:r>
              <a:rPr lang="zh-CN" altLang="en-US" sz="1600">
                <a:solidFill>
                  <a:srgbClr val="FFFFFF"/>
                </a:solidFill>
                <a:latin typeface="+mn-ea"/>
                <a:cs typeface="+mn-ea"/>
                <a:sym typeface="+mn-ea"/>
              </a:rPr>
              <a:t>修改周期长</a:t>
            </a:r>
            <a:endParaRPr lang="zh-CN" altLang="en-US" sz="1600">
              <a:solidFill>
                <a:srgbClr val="FFFFFF"/>
              </a:solidFill>
              <a:latin typeface="+mn-ea"/>
              <a:cs typeface="+mn-ea"/>
              <a:sym typeface="+mn-ea"/>
            </a:endParaRPr>
          </a:p>
        </p:txBody>
      </p:sp>
      <p:pic>
        <p:nvPicPr>
          <p:cNvPr id="25" name="图片 16" descr="343439383331313b343532303033323bd3a6d3c3b9dcc0ed"/>
          <p:cNvPicPr>
            <a:picLocks noChangeAspect="1"/>
          </p:cNvPicPr>
          <p:nvPr>
            <p:custDataLst>
              <p:tags r:id="rId5"/>
            </p:custDataLst>
          </p:nvPr>
        </p:nvPicPr>
        <p:blipFill>
          <a:blip r:embed="rId6">
            <a:extLst>
              <a:ext uri="{96DAC541-7B7A-43D3-8B79-37D633B846F1}">
                <asvg:svgBlip xmlns:asvg="http://schemas.microsoft.com/office/drawing/2016/SVG/main" r:embed="rId7"/>
              </a:ext>
            </a:extLst>
          </a:blip>
          <a:stretch>
            <a:fillRect/>
          </a:stretch>
        </p:blipFill>
        <p:spPr>
          <a:xfrm>
            <a:off x="5316178" y="1136860"/>
            <a:ext cx="360013" cy="360013"/>
          </a:xfrm>
          <a:prstGeom prst="rect">
            <a:avLst/>
          </a:prstGeom>
        </p:spPr>
      </p:pic>
      <p:sp>
        <p:nvSpPr>
          <p:cNvPr id="8" name="矩形 7"/>
          <p:cNvSpPr/>
          <p:nvPr>
            <p:custDataLst>
              <p:tags r:id="rId8"/>
            </p:custDataLst>
          </p:nvPr>
        </p:nvSpPr>
        <p:spPr>
          <a:xfrm>
            <a:off x="4009616" y="1850305"/>
            <a:ext cx="3015092" cy="519449"/>
          </a:xfrm>
          <a:prstGeom prst="rect">
            <a:avLst/>
          </a:prstGeom>
          <a:noFill/>
        </p:spPr>
        <p:txBody>
          <a:bodyPr wrap="square" lIns="0" tIns="0" rIns="0" bIns="0" rtlCol="0" anchor="b">
            <a:noAutofit/>
          </a:bodyPr>
          <a:p>
            <a:pPr algn="ctr">
              <a:spcBef>
                <a:spcPct val="0"/>
              </a:spcBef>
              <a:spcAft>
                <a:spcPct val="0"/>
              </a:spcAft>
            </a:pPr>
            <a:r>
              <a:rPr lang="zh-CN" altLang="en-US" sz="2000" b="1">
                <a:solidFill>
                  <a:srgbClr val="FFFFFF"/>
                </a:solidFill>
                <a:latin typeface="+mn-ea"/>
                <a:cs typeface="+mn-ea"/>
              </a:rPr>
              <a:t>传统数据管理的痛点</a:t>
            </a:r>
            <a:endParaRPr lang="zh-CN" altLang="en-US" sz="2000" b="1">
              <a:solidFill>
                <a:srgbClr val="FFFFFF"/>
              </a:solidFill>
              <a:latin typeface="+mn-ea"/>
              <a:cs typeface="+mn-ea"/>
            </a:endParaRPr>
          </a:p>
        </p:txBody>
      </p:sp>
      <p:cxnSp>
        <p:nvCxnSpPr>
          <p:cNvPr id="42" name="直接连接符 41"/>
          <p:cNvCxnSpPr/>
          <p:nvPr>
            <p:custDataLst>
              <p:tags r:id="rId9"/>
            </p:custDataLst>
          </p:nvPr>
        </p:nvCxnSpPr>
        <p:spPr>
          <a:xfrm>
            <a:off x="10476473" y="4076962"/>
            <a:ext cx="406415" cy="0"/>
          </a:xfrm>
          <a:prstGeom prst="line">
            <a:avLst/>
          </a:prstGeom>
          <a:ln w="12700">
            <a:solidFill>
              <a:srgbClr val="FFFFFF">
                <a:alpha val="50000"/>
              </a:srgbClr>
            </a:solidFill>
          </a:ln>
        </p:spPr>
        <p:style>
          <a:lnRef idx="1">
            <a:schemeClr val="accent1"/>
          </a:lnRef>
          <a:fillRef idx="0">
            <a:schemeClr val="accent1"/>
          </a:fillRef>
          <a:effectRef idx="0">
            <a:schemeClr val="accent1"/>
          </a:effectRef>
          <a:fontRef idx="minor">
            <a:schemeClr val="tx1"/>
          </a:fontRef>
        </p:style>
      </p:cxnSp>
      <p:sp>
        <p:nvSpPr>
          <p:cNvPr id="20" name="Shape 497"/>
          <p:cNvSpPr/>
          <p:nvPr>
            <p:custDataLst>
              <p:tags r:id="rId10"/>
            </p:custDataLst>
          </p:nvPr>
        </p:nvSpPr>
        <p:spPr>
          <a:xfrm>
            <a:off x="7856855" y="1202690"/>
            <a:ext cx="3643630" cy="5105400"/>
          </a:xfrm>
          <a:custGeom>
            <a:avLst/>
            <a:gdLst>
              <a:gd name="adj" fmla="val 9122"/>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il" t="il" r="ir" b="ib"/>
            <a:pathLst>
              <a:path w="5737" h="4341">
                <a:moveTo>
                  <a:pt x="290" y="0"/>
                </a:moveTo>
                <a:lnTo>
                  <a:pt x="480" y="0"/>
                </a:lnTo>
                <a:lnTo>
                  <a:pt x="865" y="0"/>
                </a:lnTo>
                <a:lnTo>
                  <a:pt x="1567" y="0"/>
                </a:lnTo>
                <a:lnTo>
                  <a:pt x="1788" y="0"/>
                </a:lnTo>
                <a:lnTo>
                  <a:pt x="2135" y="0"/>
                </a:lnTo>
                <a:lnTo>
                  <a:pt x="2135" y="0"/>
                </a:lnTo>
                <a:cubicBezTo>
                  <a:pt x="2135" y="6"/>
                  <a:pt x="2135" y="13"/>
                  <a:pt x="2135" y="19"/>
                </a:cubicBezTo>
                <a:cubicBezTo>
                  <a:pt x="2135" y="425"/>
                  <a:pt x="2463" y="754"/>
                  <a:pt x="2869" y="754"/>
                </a:cubicBezTo>
                <a:cubicBezTo>
                  <a:pt x="3274" y="754"/>
                  <a:pt x="3602" y="425"/>
                  <a:pt x="3602" y="19"/>
                </a:cubicBezTo>
                <a:cubicBezTo>
                  <a:pt x="3602" y="13"/>
                  <a:pt x="3602" y="6"/>
                  <a:pt x="3602" y="0"/>
                </a:cubicBezTo>
                <a:lnTo>
                  <a:pt x="3602" y="0"/>
                </a:lnTo>
                <a:lnTo>
                  <a:pt x="3870" y="0"/>
                </a:lnTo>
                <a:lnTo>
                  <a:pt x="4163" y="0"/>
                </a:lnTo>
                <a:lnTo>
                  <a:pt x="4872" y="0"/>
                </a:lnTo>
                <a:lnTo>
                  <a:pt x="5178" y="0"/>
                </a:lnTo>
                <a:lnTo>
                  <a:pt x="5448" y="0"/>
                </a:lnTo>
                <a:cubicBezTo>
                  <a:pt x="5608" y="0"/>
                  <a:pt x="5737" y="131"/>
                  <a:pt x="5737" y="292"/>
                </a:cubicBezTo>
                <a:lnTo>
                  <a:pt x="5737" y="4049"/>
                </a:lnTo>
                <a:cubicBezTo>
                  <a:pt x="5737" y="4210"/>
                  <a:pt x="5608" y="4341"/>
                  <a:pt x="5448" y="4341"/>
                </a:cubicBezTo>
                <a:lnTo>
                  <a:pt x="4163" y="4341"/>
                </a:lnTo>
                <a:lnTo>
                  <a:pt x="2886" y="4341"/>
                </a:lnTo>
                <a:lnTo>
                  <a:pt x="2851" y="4341"/>
                </a:lnTo>
                <a:lnTo>
                  <a:pt x="1567" y="4341"/>
                </a:lnTo>
                <a:lnTo>
                  <a:pt x="290" y="4341"/>
                </a:lnTo>
                <a:cubicBezTo>
                  <a:pt x="129" y="4341"/>
                  <a:pt x="0" y="4210"/>
                  <a:pt x="0" y="4049"/>
                </a:cubicBezTo>
                <a:lnTo>
                  <a:pt x="0" y="292"/>
                </a:lnTo>
                <a:cubicBezTo>
                  <a:pt x="0" y="131"/>
                  <a:pt x="129" y="0"/>
                  <a:pt x="290" y="0"/>
                </a:cubicBezTo>
                <a:close/>
              </a:path>
            </a:pathLst>
          </a:custGeom>
          <a:gradFill>
            <a:gsLst>
              <a:gs pos="0">
                <a:schemeClr val="accent2">
                  <a:lumMod val="90000"/>
                  <a:lumOff val="10000"/>
                  <a:alpha val="100000"/>
                </a:schemeClr>
              </a:gs>
              <a:gs pos="100000">
                <a:schemeClr val="accent2">
                  <a:alpha val="100000"/>
                </a:schemeClr>
              </a:gs>
            </a:gsLst>
            <a:lin ang="2700000" scaled="0"/>
          </a:gradFill>
          <a:ln w="12700">
            <a:miter lim="400000"/>
          </a:ln>
          <a:effectLst>
            <a:innerShdw blurRad="317500" dist="50800" dir="16200000">
              <a:schemeClr val="accent2">
                <a:lumMod val="20000"/>
                <a:lumOff val="80000"/>
                <a:alpha val="30000"/>
              </a:schemeClr>
            </a:innerShdw>
          </a:effectLst>
        </p:spPr>
        <p:txBody>
          <a:bodyPr wrap="square" lIns="71437" tIns="71437" rIns="71437" bIns="71437" anchor="ctr">
            <a:noAutofit/>
          </a:bodyPr>
          <a:p>
            <a:pPr lvl="0" algn="l">
              <a:buClrTx/>
              <a:buSzTx/>
              <a:buFontTx/>
            </a:pPr>
            <a:endParaRPr sz="2800" u="sng" dirty="0">
              <a:solidFill>
                <a:schemeClr val="tx1"/>
              </a:solidFill>
              <a:latin typeface="+mj-lt"/>
              <a:ea typeface="微软雅黑" panose="020B0503020204020204" pitchFamily="34" charset="-122"/>
              <a:cs typeface="微软雅黑" panose="020B0503020204020204" pitchFamily="34" charset="-122"/>
              <a:sym typeface="+mn-ea"/>
            </a:endParaRPr>
          </a:p>
        </p:txBody>
      </p:sp>
      <p:sp>
        <p:nvSpPr>
          <p:cNvPr id="33" name="Shape 501"/>
          <p:cNvSpPr/>
          <p:nvPr>
            <p:custDataLst>
              <p:tags r:id="rId11"/>
            </p:custDataLst>
          </p:nvPr>
        </p:nvSpPr>
        <p:spPr>
          <a:xfrm>
            <a:off x="9292049" y="988262"/>
            <a:ext cx="772824" cy="773459"/>
          </a:xfrm>
          <a:prstGeom prst="ellipse">
            <a:avLst/>
          </a:prstGeom>
          <a:gradFill>
            <a:gsLst>
              <a:gs pos="0">
                <a:schemeClr val="accent2">
                  <a:lumMod val="90000"/>
                  <a:lumOff val="10000"/>
                  <a:alpha val="100000"/>
                </a:schemeClr>
              </a:gs>
              <a:gs pos="100000">
                <a:schemeClr val="accent2">
                  <a:alpha val="100000"/>
                </a:schemeClr>
              </a:gs>
            </a:gsLst>
            <a:lin ang="2700000" scaled="0"/>
          </a:gradFill>
          <a:ln w="12700">
            <a:miter lim="400000"/>
          </a:ln>
          <a:effectLst>
            <a:innerShdw blurRad="317500" dist="50800" dir="16200000">
              <a:schemeClr val="accent2">
                <a:lumMod val="20000"/>
                <a:lumOff val="80000"/>
                <a:alpha val="30000"/>
              </a:schemeClr>
            </a:innerShdw>
          </a:effectLst>
        </p:spPr>
        <p:txBody>
          <a:bodyPr lIns="71437" tIns="71437" rIns="71437" bIns="71437" anchor="ctr">
            <a:noAutofit/>
          </a:bodyPr>
          <a:p>
            <a:pPr lvl="0" algn="l">
              <a:buClrTx/>
              <a:buSzTx/>
              <a:buFontTx/>
            </a:pPr>
            <a:endParaRPr sz="2800" u="sng" dirty="0">
              <a:solidFill>
                <a:schemeClr val="tx1"/>
              </a:solidFill>
              <a:latin typeface="+mj-lt"/>
              <a:ea typeface="微软雅黑" panose="020B0503020204020204" pitchFamily="34" charset="-122"/>
              <a:cs typeface="微软雅黑" panose="020B0503020204020204" pitchFamily="34" charset="-122"/>
              <a:sym typeface="微软雅黑" panose="020B0503020204020204" pitchFamily="34" charset="-122"/>
            </a:endParaRPr>
          </a:p>
        </p:txBody>
      </p:sp>
      <p:cxnSp>
        <p:nvCxnSpPr>
          <p:cNvPr id="35" name="直接连接符 34"/>
          <p:cNvCxnSpPr/>
          <p:nvPr>
            <p:custDataLst>
              <p:tags r:id="rId12"/>
            </p:custDataLst>
          </p:nvPr>
        </p:nvCxnSpPr>
        <p:spPr>
          <a:xfrm>
            <a:off x="9475570" y="3937897"/>
            <a:ext cx="406415" cy="0"/>
          </a:xfrm>
          <a:prstGeom prst="line">
            <a:avLst/>
          </a:prstGeom>
          <a:ln w="12700">
            <a:solidFill>
              <a:srgbClr val="FFFFFF">
                <a:alpha val="50000"/>
              </a:srgbClr>
            </a:solidFill>
          </a:ln>
        </p:spPr>
        <p:style>
          <a:lnRef idx="1">
            <a:schemeClr val="accent1"/>
          </a:lnRef>
          <a:fillRef idx="0">
            <a:schemeClr val="accent1"/>
          </a:fillRef>
          <a:effectRef idx="0">
            <a:schemeClr val="accent1"/>
          </a:effectRef>
          <a:fontRef idx="minor">
            <a:schemeClr val="tx1"/>
          </a:fontRef>
        </p:style>
      </p:cxnSp>
      <p:sp>
        <p:nvSpPr>
          <p:cNvPr id="21" name="矩形 20"/>
          <p:cNvSpPr/>
          <p:nvPr>
            <p:custDataLst>
              <p:tags r:id="rId13"/>
            </p:custDataLst>
          </p:nvPr>
        </p:nvSpPr>
        <p:spPr>
          <a:xfrm>
            <a:off x="8171180" y="2435860"/>
            <a:ext cx="3014980" cy="3686810"/>
          </a:xfrm>
          <a:prstGeom prst="rect">
            <a:avLst/>
          </a:prstGeom>
          <a:noFill/>
        </p:spPr>
        <p:txBody>
          <a:bodyPr wrap="square" lIns="0" tIns="0" rIns="0" bIns="0" rtlCol="0" anchor="t" anchorCtr="0">
            <a:noAutofit/>
          </a:bodyPr>
          <a:p>
            <a:pPr marL="285750" indent="-285750" algn="l">
              <a:lnSpc>
                <a:spcPct val="130000"/>
              </a:lnSpc>
              <a:spcBef>
                <a:spcPct val="0"/>
              </a:spcBef>
              <a:spcAft>
                <a:spcPct val="0"/>
              </a:spcAft>
              <a:buFont typeface="Arial" panose="020B0604020202020204" pitchFamily="34" charset="0"/>
              <a:buChar char="•"/>
            </a:pPr>
            <a:r>
              <a:rPr lang="zh-CN" altLang="en-US" b="1" kern="0" dirty="0">
                <a:ln>
                  <a:noFill/>
                  <a:prstDash val="sysDot"/>
                </a:ln>
                <a:solidFill>
                  <a:srgbClr val="FFFFFF"/>
                </a:solidFill>
                <a:latin typeface="+mn-ea"/>
                <a:cs typeface="+mn-ea"/>
                <a:sym typeface="+mn-ea"/>
              </a:rPr>
              <a:t>统一存储</a:t>
            </a:r>
            <a:r>
              <a:rPr lang="zh-CN" altLang="en-US" sz="1600" kern="0" dirty="0">
                <a:ln>
                  <a:noFill/>
                  <a:prstDash val="sysDot"/>
                </a:ln>
                <a:solidFill>
                  <a:srgbClr val="FFFFFF"/>
                </a:solidFill>
                <a:latin typeface="+mn-ea"/>
                <a:cs typeface="+mn-ea"/>
                <a:sym typeface="+mn-ea"/>
              </a:rPr>
              <a:t>：原始数据全量保存，避免重复抽取</a:t>
            </a:r>
            <a:endParaRPr lang="en-US" altLang="zh-CN" sz="1600" kern="0" dirty="0">
              <a:ln>
                <a:noFill/>
                <a:prstDash val="sysDot"/>
              </a:ln>
              <a:solidFill>
                <a:srgbClr val="FFFFFF"/>
              </a:solidFill>
              <a:latin typeface="+mn-ea"/>
              <a:cs typeface="+mn-ea"/>
              <a:sym typeface="+mn-ea"/>
            </a:endParaRPr>
          </a:p>
          <a:p>
            <a:pPr marL="285750" indent="-285750" algn="l">
              <a:lnSpc>
                <a:spcPct val="130000"/>
              </a:lnSpc>
              <a:spcBef>
                <a:spcPct val="0"/>
              </a:spcBef>
              <a:spcAft>
                <a:spcPct val="0"/>
              </a:spcAft>
              <a:buFont typeface="Arial" panose="020B0604020202020204" pitchFamily="34" charset="0"/>
              <a:buChar char="•"/>
            </a:pPr>
            <a:r>
              <a:rPr lang="zh-CN" altLang="en-US" b="1" kern="0" dirty="0">
                <a:ln>
                  <a:noFill/>
                  <a:prstDash val="sysDot"/>
                </a:ln>
                <a:solidFill>
                  <a:srgbClr val="FFFFFF"/>
                </a:solidFill>
                <a:latin typeface="+mn-ea"/>
                <a:cs typeface="+mn-ea"/>
                <a:sym typeface="+mn-ea"/>
              </a:rPr>
              <a:t>低成本扩展</a:t>
            </a:r>
            <a:r>
              <a:rPr lang="zh-CN" altLang="en-US" sz="1600" kern="0" dirty="0">
                <a:ln>
                  <a:noFill/>
                  <a:prstDash val="sysDot"/>
                </a:ln>
                <a:solidFill>
                  <a:srgbClr val="FFFFFF"/>
                </a:solidFill>
                <a:latin typeface="+mn-ea"/>
                <a:cs typeface="+mn-ea"/>
                <a:sym typeface="+mn-ea"/>
              </a:rPr>
              <a:t>：基于对象存储，支持</a:t>
            </a:r>
            <a:r>
              <a:rPr lang="en-US" altLang="zh-CN" sz="1600" kern="0" dirty="0">
                <a:ln>
                  <a:noFill/>
                  <a:prstDash val="sysDot"/>
                </a:ln>
                <a:solidFill>
                  <a:srgbClr val="FFFFFF"/>
                </a:solidFill>
                <a:latin typeface="+mn-ea"/>
                <a:cs typeface="+mn-ea"/>
                <a:sym typeface="+mn-ea"/>
              </a:rPr>
              <a:t>PB</a:t>
            </a:r>
            <a:r>
              <a:rPr lang="zh-CN" altLang="en-US" sz="1600" kern="0" dirty="0">
                <a:ln>
                  <a:noFill/>
                  <a:prstDash val="sysDot"/>
                </a:ln>
                <a:solidFill>
                  <a:srgbClr val="FFFFFF"/>
                </a:solidFill>
                <a:latin typeface="+mn-ea"/>
                <a:cs typeface="+mn-ea"/>
                <a:sym typeface="+mn-ea"/>
              </a:rPr>
              <a:t>级数据低成本存储</a:t>
            </a:r>
            <a:endParaRPr lang="en-US" altLang="zh-CN" sz="1600" kern="0" dirty="0">
              <a:ln>
                <a:noFill/>
                <a:prstDash val="sysDot"/>
              </a:ln>
              <a:solidFill>
                <a:srgbClr val="FFFFFF"/>
              </a:solidFill>
              <a:latin typeface="+mn-ea"/>
              <a:cs typeface="+mn-ea"/>
              <a:sym typeface="+mn-ea"/>
            </a:endParaRPr>
          </a:p>
          <a:p>
            <a:pPr marL="285750" indent="-285750" algn="l">
              <a:lnSpc>
                <a:spcPct val="130000"/>
              </a:lnSpc>
              <a:spcBef>
                <a:spcPct val="0"/>
              </a:spcBef>
              <a:spcAft>
                <a:spcPct val="0"/>
              </a:spcAft>
              <a:buFont typeface="Arial" panose="020B0604020202020204" pitchFamily="34" charset="0"/>
              <a:buChar char="•"/>
            </a:pPr>
            <a:r>
              <a:rPr lang="zh-CN" altLang="en-US" b="1" kern="0" dirty="0">
                <a:ln>
                  <a:noFill/>
                  <a:prstDash val="sysDot"/>
                </a:ln>
                <a:solidFill>
                  <a:srgbClr val="FFFFFF"/>
                </a:solidFill>
                <a:latin typeface="+mn-ea"/>
                <a:cs typeface="+mn-ea"/>
                <a:sym typeface="+mn-ea"/>
              </a:rPr>
              <a:t>多模态支持</a:t>
            </a:r>
            <a:r>
              <a:rPr lang="zh-CN" altLang="en-US" sz="1600" kern="0" dirty="0">
                <a:ln>
                  <a:noFill/>
                  <a:prstDash val="sysDot"/>
                </a:ln>
                <a:solidFill>
                  <a:srgbClr val="FFFFFF"/>
                </a:solidFill>
                <a:latin typeface="+mn-ea"/>
                <a:cs typeface="+mn-ea"/>
                <a:sym typeface="+mn-ea"/>
              </a:rPr>
              <a:t>：结构化（数据库表）、半结构化（</a:t>
            </a:r>
            <a:r>
              <a:rPr lang="en-US" altLang="zh-CN" sz="1600" kern="0" dirty="0">
                <a:ln>
                  <a:noFill/>
                  <a:prstDash val="sysDot"/>
                </a:ln>
                <a:solidFill>
                  <a:srgbClr val="FFFFFF"/>
                </a:solidFill>
                <a:latin typeface="+mn-ea"/>
                <a:cs typeface="+mn-ea"/>
                <a:sym typeface="+mn-ea"/>
              </a:rPr>
              <a:t>JSON/XML</a:t>
            </a:r>
            <a:r>
              <a:rPr lang="zh-CN" altLang="en-US" sz="1600" kern="0" dirty="0">
                <a:ln>
                  <a:noFill/>
                  <a:prstDash val="sysDot"/>
                </a:ln>
                <a:solidFill>
                  <a:srgbClr val="FFFFFF"/>
                </a:solidFill>
                <a:latin typeface="+mn-ea"/>
                <a:cs typeface="+mn-ea"/>
                <a:sym typeface="+mn-ea"/>
              </a:rPr>
              <a:t>）、非结构化（视频</a:t>
            </a:r>
            <a:r>
              <a:rPr lang="en-US" altLang="zh-CN" sz="1600" kern="0" dirty="0">
                <a:ln>
                  <a:noFill/>
                  <a:prstDash val="sysDot"/>
                </a:ln>
                <a:solidFill>
                  <a:srgbClr val="FFFFFF"/>
                </a:solidFill>
                <a:latin typeface="+mn-ea"/>
                <a:cs typeface="+mn-ea"/>
                <a:sym typeface="+mn-ea"/>
              </a:rPr>
              <a:t>/PDF</a:t>
            </a:r>
            <a:r>
              <a:rPr lang="zh-CN" altLang="en-US" sz="1600" kern="0" dirty="0">
                <a:ln>
                  <a:noFill/>
                  <a:prstDash val="sysDot"/>
                </a:ln>
                <a:solidFill>
                  <a:srgbClr val="FFFFFF"/>
                </a:solidFill>
                <a:latin typeface="+mn-ea"/>
                <a:cs typeface="+mn-ea"/>
                <a:sym typeface="+mn-ea"/>
              </a:rPr>
              <a:t>）统一存储</a:t>
            </a:r>
            <a:endParaRPr lang="en-US" altLang="zh-CN" sz="1600" kern="0" dirty="0">
              <a:ln>
                <a:noFill/>
                <a:prstDash val="sysDot"/>
              </a:ln>
              <a:solidFill>
                <a:srgbClr val="FFFFFF"/>
              </a:solidFill>
              <a:latin typeface="+mn-ea"/>
              <a:cs typeface="+mn-ea"/>
              <a:sym typeface="+mn-ea"/>
            </a:endParaRPr>
          </a:p>
          <a:p>
            <a:pPr marL="285750" indent="-285750" algn="l">
              <a:lnSpc>
                <a:spcPct val="130000"/>
              </a:lnSpc>
              <a:spcBef>
                <a:spcPct val="0"/>
              </a:spcBef>
              <a:spcAft>
                <a:spcPct val="0"/>
              </a:spcAft>
              <a:buFont typeface="Arial" panose="020B0604020202020204" pitchFamily="34" charset="0"/>
              <a:buChar char="•"/>
            </a:pPr>
            <a:r>
              <a:rPr lang="zh-CN" altLang="en-US" b="1" kern="0" dirty="0">
                <a:ln>
                  <a:noFill/>
                  <a:prstDash val="sysDot"/>
                </a:ln>
                <a:solidFill>
                  <a:srgbClr val="FFFFFF"/>
                </a:solidFill>
                <a:latin typeface="+mn-ea"/>
                <a:cs typeface="+mn-ea"/>
                <a:sym typeface="+mn-ea"/>
              </a:rPr>
              <a:t>敏捷分析</a:t>
            </a:r>
            <a:r>
              <a:rPr lang="zh-CN" altLang="en-US" sz="1600" kern="0" dirty="0">
                <a:ln>
                  <a:noFill/>
                  <a:prstDash val="sysDot"/>
                </a:ln>
                <a:solidFill>
                  <a:srgbClr val="FFFFFF"/>
                </a:solidFill>
                <a:latin typeface="+mn-ea"/>
                <a:cs typeface="+mn-ea"/>
                <a:sym typeface="+mn-ea"/>
              </a:rPr>
              <a:t>：数据科学家可直接访问原始数据，快速验证假设（如机器学习特征工程）</a:t>
            </a:r>
            <a:endParaRPr lang="zh-CN" altLang="en-US" sz="1600" kern="0" dirty="0">
              <a:ln>
                <a:noFill/>
                <a:prstDash val="sysDot"/>
              </a:ln>
              <a:solidFill>
                <a:srgbClr val="FFFFFF"/>
              </a:solidFill>
              <a:latin typeface="+mn-ea"/>
              <a:cs typeface="+mn-ea"/>
              <a:sym typeface="+mn-ea"/>
            </a:endParaRPr>
          </a:p>
        </p:txBody>
      </p:sp>
      <p:sp>
        <p:nvSpPr>
          <p:cNvPr id="22" name="矩形 21"/>
          <p:cNvSpPr/>
          <p:nvPr>
            <p:custDataLst>
              <p:tags r:id="rId14"/>
            </p:custDataLst>
          </p:nvPr>
        </p:nvSpPr>
        <p:spPr>
          <a:xfrm>
            <a:off x="8171180" y="1906270"/>
            <a:ext cx="3014980" cy="529590"/>
          </a:xfrm>
          <a:prstGeom prst="rect">
            <a:avLst/>
          </a:prstGeom>
          <a:noFill/>
        </p:spPr>
        <p:txBody>
          <a:bodyPr wrap="square" lIns="0" tIns="0" rIns="0" bIns="0" rtlCol="0" anchor="b">
            <a:noAutofit/>
          </a:bodyPr>
          <a:p>
            <a:pPr algn="ctr">
              <a:spcBef>
                <a:spcPct val="0"/>
              </a:spcBef>
              <a:spcAft>
                <a:spcPct val="0"/>
              </a:spcAft>
            </a:pPr>
            <a:r>
              <a:rPr lang="zh-CN" altLang="en-US" sz="2000" b="1">
                <a:solidFill>
                  <a:srgbClr val="FFFFFF"/>
                </a:solidFill>
                <a:latin typeface="+mn-ea"/>
                <a:cs typeface="+mn-ea"/>
              </a:rPr>
              <a:t>数据湖的核心价值</a:t>
            </a:r>
            <a:endParaRPr lang="zh-CN" altLang="en-US" sz="2000" b="1">
              <a:solidFill>
                <a:srgbClr val="FFFFFF"/>
              </a:solidFill>
              <a:latin typeface="+mn-ea"/>
              <a:cs typeface="+mn-ea"/>
            </a:endParaRPr>
          </a:p>
        </p:txBody>
      </p:sp>
      <p:pic>
        <p:nvPicPr>
          <p:cNvPr id="24" name="图片 3" descr="343439383331313b343532303031393bd2b5bca8b9dcc0ed"/>
          <p:cNvPicPr>
            <a:picLocks noChangeAspect="1"/>
          </p:cNvPicPr>
          <p:nvPr>
            <p:custDataLst>
              <p:tags r:id="rId15"/>
            </p:custDataLst>
          </p:nvPr>
        </p:nvPicPr>
        <p:blipFill>
          <a:blip r:embed="rId16">
            <a:extLst>
              <a:ext uri="{96DAC541-7B7A-43D3-8B79-37D633B846F1}">
                <asvg:svgBlip xmlns:asvg="http://schemas.microsoft.com/office/drawing/2016/SVG/main" r:embed="rId17"/>
              </a:ext>
            </a:extLst>
          </a:blip>
          <a:stretch>
            <a:fillRect/>
          </a:stretch>
        </p:blipFill>
        <p:spPr>
          <a:xfrm>
            <a:off x="9498431" y="1202900"/>
            <a:ext cx="360013" cy="360013"/>
          </a:xfrm>
          <a:prstGeom prst="rect">
            <a:avLst/>
          </a:prstGeom>
        </p:spPr>
      </p:pic>
      <p:sp>
        <p:nvSpPr>
          <p:cNvPr id="3" name="文本框 2"/>
          <p:cNvSpPr txBox="1"/>
          <p:nvPr/>
        </p:nvSpPr>
        <p:spPr>
          <a:xfrm>
            <a:off x="416560" y="1978025"/>
            <a:ext cx="3088640" cy="4264025"/>
          </a:xfrm>
          <a:prstGeom prst="rect">
            <a:avLst/>
          </a:prstGeom>
        </p:spPr>
        <p:txBody>
          <a:bodyPr>
            <a:noAutofit/>
          </a:bodyPr>
          <a:p>
            <a:r>
              <a:rPr lang="zh-CN" altLang="en-US">
                <a:solidFill>
                  <a:srgbClr val="000000"/>
                </a:solidFill>
                <a:latin typeface="ArialUnicodeMS"/>
                <a:ea typeface="ArialUnicodeMS"/>
              </a:rPr>
              <a:t>数据湖是一个以</a:t>
            </a:r>
            <a:r>
              <a:rPr lang="zh-CN" altLang="en-US" b="1">
                <a:solidFill>
                  <a:srgbClr val="000000"/>
                </a:solidFill>
                <a:latin typeface="ArialUnicodeMS"/>
                <a:ea typeface="ArialUnicodeMS"/>
              </a:rPr>
              <a:t>原始格式</a:t>
            </a:r>
            <a:r>
              <a:rPr lang="zh-CN" altLang="en-US">
                <a:solidFill>
                  <a:srgbClr val="000000"/>
                </a:solidFill>
                <a:latin typeface="ArialUnicodeMS"/>
                <a:ea typeface="ArialUnicodeMS"/>
              </a:rPr>
              <a:t>存储数据的系统或存储库。数据湖通常是所有企业数据的</a:t>
            </a:r>
            <a:r>
              <a:rPr lang="zh-CN" altLang="en-US" b="1">
                <a:solidFill>
                  <a:srgbClr val="000000"/>
                </a:solidFill>
                <a:latin typeface="ArialUnicodeMS"/>
                <a:ea typeface="ArialUnicodeMS"/>
              </a:rPr>
              <a:t>单一存储</a:t>
            </a:r>
            <a:r>
              <a:rPr lang="zh-CN" altLang="en-US">
                <a:solidFill>
                  <a:srgbClr val="000000"/>
                </a:solidFill>
                <a:latin typeface="ArialUnicodeMS"/>
                <a:ea typeface="ArialUnicodeMS"/>
              </a:rPr>
              <a:t>。 </a:t>
            </a:r>
            <a:endParaRPr lang="zh-CN" altLang="en-US">
              <a:solidFill>
                <a:srgbClr val="000000"/>
              </a:solidFill>
              <a:latin typeface="ArialUnicodeMS"/>
              <a:ea typeface="ArialUnicodeMS"/>
            </a:endParaRPr>
          </a:p>
          <a:p>
            <a:r>
              <a:rPr lang="zh-CN" altLang="en-US">
                <a:solidFill>
                  <a:srgbClr val="000000"/>
                </a:solidFill>
                <a:latin typeface="ArialUnicodeMS"/>
                <a:ea typeface="ArialUnicodeMS"/>
              </a:rPr>
              <a:t>用于报告、可视化、高级分析和机器学习等任务。数据湖可以包括来自关系数据库的</a:t>
            </a:r>
            <a:r>
              <a:rPr lang="zh-CN" altLang="en-US" b="1">
                <a:solidFill>
                  <a:srgbClr val="000000"/>
                </a:solidFill>
                <a:latin typeface="ArialUnicodeMS"/>
                <a:ea typeface="ArialUnicodeMS"/>
              </a:rPr>
              <a:t>结构化数据</a:t>
            </a:r>
            <a:r>
              <a:rPr lang="zh-CN" altLang="en-US">
                <a:solidFill>
                  <a:srgbClr val="000000"/>
                </a:solidFill>
                <a:latin typeface="ArialUnicodeMS"/>
                <a:ea typeface="ArialUnicodeMS"/>
              </a:rPr>
              <a:t>、</a:t>
            </a:r>
            <a:r>
              <a:rPr lang="zh-CN" altLang="en-US" b="1">
                <a:solidFill>
                  <a:srgbClr val="000000"/>
                </a:solidFill>
                <a:latin typeface="ArialUnicodeMS"/>
                <a:ea typeface="ArialUnicodeMS"/>
              </a:rPr>
              <a:t>半结构化数据</a:t>
            </a:r>
            <a:r>
              <a:rPr lang="zh-CN" altLang="en-US">
                <a:solidFill>
                  <a:srgbClr val="000000"/>
                </a:solidFill>
                <a:latin typeface="ArialUnicodeMS"/>
                <a:ea typeface="ArialUnicodeMS"/>
              </a:rPr>
              <a:t>、</a:t>
            </a:r>
            <a:r>
              <a:rPr lang="zh-CN" altLang="en-US" b="1">
                <a:solidFill>
                  <a:srgbClr val="000000"/>
                </a:solidFill>
                <a:latin typeface="ArialUnicodeMS"/>
                <a:ea typeface="ArialUnicodeMS"/>
              </a:rPr>
              <a:t>非结构化数据</a:t>
            </a:r>
            <a:r>
              <a:rPr lang="zh-CN" altLang="en-US">
                <a:solidFill>
                  <a:srgbClr val="000000"/>
                </a:solidFill>
                <a:latin typeface="ArialUnicodeMS"/>
                <a:ea typeface="ArialUnicodeMS"/>
              </a:rPr>
              <a:t>和</a:t>
            </a:r>
            <a:r>
              <a:rPr lang="zh-CN" altLang="en-US" b="1">
                <a:solidFill>
                  <a:srgbClr val="000000"/>
                </a:solidFill>
                <a:latin typeface="ArialUnicodeMS"/>
                <a:ea typeface="ArialUnicodeMS"/>
              </a:rPr>
              <a:t>二进制数据 </a:t>
            </a:r>
            <a:endParaRPr lang="zh-CN" altLang="en-US" b="1">
              <a:solidFill>
                <a:srgbClr val="000000"/>
              </a:solidFill>
              <a:latin typeface="ArialUnicodeMS"/>
              <a:ea typeface="ArialUnicodeMS"/>
            </a:endParaRPr>
          </a:p>
          <a:p>
            <a:r>
              <a:rPr lang="en-US" altLang="zh-CN">
                <a:solidFill>
                  <a:srgbClr val="000000"/>
                </a:solidFill>
                <a:latin typeface="Arial" panose="020B0604020202020204"/>
                <a:ea typeface="Arial" panose="020B0604020202020204"/>
              </a:rPr>
              <a:t>• </a:t>
            </a:r>
            <a:r>
              <a:rPr lang="zh-CN" altLang="en-US">
                <a:solidFill>
                  <a:srgbClr val="000000"/>
                </a:solidFill>
                <a:latin typeface="ArialUnicodeMS"/>
                <a:ea typeface="ArialUnicodeMS"/>
              </a:rPr>
              <a:t>主要用于解决大规模数据的统一存储问题 </a:t>
            </a:r>
            <a:endParaRPr lang="zh-CN" altLang="en-US">
              <a:solidFill>
                <a:srgbClr val="000000"/>
              </a:solidFill>
              <a:latin typeface="ArialUnicodeMS"/>
              <a:ea typeface="ArialUnicodeMS"/>
            </a:endParaRPr>
          </a:p>
          <a:p>
            <a:r>
              <a:rPr lang="en-US" altLang="zh-CN">
                <a:solidFill>
                  <a:srgbClr val="000000"/>
                </a:solidFill>
                <a:latin typeface="Arial" panose="020B0604020202020204"/>
                <a:ea typeface="Arial" panose="020B0604020202020204"/>
              </a:rPr>
              <a:t>• </a:t>
            </a:r>
            <a:r>
              <a:rPr lang="zh-CN" altLang="en-US">
                <a:solidFill>
                  <a:srgbClr val="000000"/>
                </a:solidFill>
                <a:latin typeface="ArialUnicodeMS"/>
                <a:ea typeface="ArialUnicodeMS"/>
              </a:rPr>
              <a:t>不是一个数据库或者存储，而是一种针对大规模数据统一存储管理的解题思路</a:t>
            </a:r>
            <a:endParaRPr lang="zh-CN" altLang="en-US">
              <a:solidFill>
                <a:srgbClr val="000000"/>
              </a:solidFill>
              <a:latin typeface="ArialUnicodeMS"/>
              <a:ea typeface="ArialUnicodeMS"/>
            </a:endParaRPr>
          </a:p>
        </p:txBody>
      </p:sp>
      <p:sp>
        <p:nvSpPr>
          <p:cNvPr id="5" name="文本框 4"/>
          <p:cNvSpPr txBox="1"/>
          <p:nvPr/>
        </p:nvSpPr>
        <p:spPr>
          <a:xfrm>
            <a:off x="475615" y="1357630"/>
            <a:ext cx="1297940" cy="521970"/>
          </a:xfrm>
          <a:prstGeom prst="rect">
            <a:avLst/>
          </a:prstGeom>
          <a:noFill/>
        </p:spPr>
        <p:txBody>
          <a:bodyPr wrap="square" rtlCol="0">
            <a:spAutoFit/>
          </a:bodyPr>
          <a:p>
            <a:r>
              <a:rPr lang="zh-CN" altLang="en-US" sz="2800" b="1"/>
              <a:t>数据湖</a:t>
            </a:r>
            <a:endParaRPr lang="zh-CN" altLang="en-US" sz="2800" b="1"/>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descr="e7d195523061f1c09d430b2e086820dbf734666a277b0d4b500BB7A72AB1412ED5183AD7B3816201F88CE1DA88F1BDB3B214B2C038CB098A30603A7C73162896CA56D5F2C85C2877766F9AF7CC3216D72A30A8123260945F3CF9913B2C8132B15995C34893A847F2CEA0574BAD469374728EE5476AFD938193B7415C316CF399A89FF64C544ADAFE"/>
          <p:cNvSpPr txBox="1"/>
          <p:nvPr/>
        </p:nvSpPr>
        <p:spPr>
          <a:xfrm>
            <a:off x="658813" y="484882"/>
            <a:ext cx="6096000" cy="368935"/>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400" b="1" dirty="0">
                <a:solidFill>
                  <a:srgbClr val="0059FA">
                    <a:lumMod val="50000"/>
                  </a:srgbClr>
                </a:solidFill>
                <a:latin typeface="Arial" panose="020B0604020202020204" pitchFamily="34" charset="0"/>
                <a:ea typeface="微软雅黑" panose="020B0503020204020204" pitchFamily="34" charset="-122"/>
              </a:rPr>
              <a:t>数据入湖流程</a:t>
            </a:r>
            <a:r>
              <a:rPr lang="en-US" altLang="zh-CN" sz="2400" b="1" dirty="0">
                <a:solidFill>
                  <a:srgbClr val="0059FA">
                    <a:lumMod val="50000"/>
                  </a:srgbClr>
                </a:solidFill>
                <a:latin typeface="Arial" panose="020B0604020202020204" pitchFamily="34" charset="0"/>
                <a:ea typeface="微软雅黑" panose="020B0503020204020204" pitchFamily="34" charset="-122"/>
              </a:rPr>
              <a:t>——</a:t>
            </a:r>
            <a:r>
              <a:rPr lang="zh-CN" altLang="en-US" sz="2400" b="1" dirty="0">
                <a:solidFill>
                  <a:srgbClr val="0059FA">
                    <a:lumMod val="50000"/>
                  </a:srgbClr>
                </a:solidFill>
                <a:latin typeface="Arial" panose="020B0604020202020204" pitchFamily="34" charset="0"/>
                <a:ea typeface="微软雅黑" panose="020B0503020204020204" pitchFamily="34" charset="-122"/>
              </a:rPr>
              <a:t>与数据中台协同的治理闭环</a:t>
            </a:r>
            <a:endParaRPr lang="zh-CN" altLang="en-US" sz="2400" b="1" dirty="0">
              <a:solidFill>
                <a:srgbClr val="0059FA">
                  <a:lumMod val="50000"/>
                </a:srgbClr>
              </a:solidFill>
              <a:latin typeface="Arial" panose="020B0604020202020204" pitchFamily="34" charset="0"/>
              <a:ea typeface="微软雅黑" panose="020B0503020204020204" pitchFamily="34" charset="-122"/>
            </a:endParaRPr>
          </a:p>
        </p:txBody>
      </p:sp>
      <p:grpSp>
        <p:nvGrpSpPr>
          <p:cNvPr id="18" name="组合 17"/>
          <p:cNvGrpSpPr/>
          <p:nvPr/>
        </p:nvGrpSpPr>
        <p:grpSpPr>
          <a:xfrm>
            <a:off x="10116820" y="-402590"/>
            <a:ext cx="1976755" cy="328930"/>
            <a:chOff x="4293" y="3886"/>
            <a:chExt cx="3113" cy="518"/>
          </a:xfrm>
        </p:grpSpPr>
        <p:sp>
          <p:nvSpPr>
            <p:cNvPr id="12" name="矩形 11"/>
            <p:cNvSpPr/>
            <p:nvPr/>
          </p:nvSpPr>
          <p:spPr>
            <a:xfrm>
              <a:off x="4293" y="3886"/>
              <a:ext cx="519" cy="519"/>
            </a:xfrm>
            <a:prstGeom prst="rect">
              <a:avLst/>
            </a:prstGeom>
            <a:solidFill>
              <a:srgbClr val="319DF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3" name="矩形 12"/>
            <p:cNvSpPr/>
            <p:nvPr/>
          </p:nvSpPr>
          <p:spPr>
            <a:xfrm>
              <a:off x="4812" y="3886"/>
              <a:ext cx="519" cy="519"/>
            </a:xfrm>
            <a:prstGeom prst="rect">
              <a:avLst/>
            </a:prstGeom>
            <a:solidFill>
              <a:srgbClr val="076DF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矩形 13"/>
            <p:cNvSpPr/>
            <p:nvPr/>
          </p:nvSpPr>
          <p:spPr>
            <a:xfrm>
              <a:off x="5331" y="3886"/>
              <a:ext cx="519" cy="519"/>
            </a:xfrm>
            <a:prstGeom prst="rect">
              <a:avLst/>
            </a:prstGeom>
            <a:solidFill>
              <a:srgbClr val="08B9C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矩形 14"/>
            <p:cNvSpPr/>
            <p:nvPr/>
          </p:nvSpPr>
          <p:spPr>
            <a:xfrm>
              <a:off x="5850" y="3886"/>
              <a:ext cx="519" cy="519"/>
            </a:xfrm>
            <a:prstGeom prst="rect">
              <a:avLst/>
            </a:prstGeom>
            <a:solidFill>
              <a:srgbClr val="994AD4"/>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6" name="矩形 15"/>
            <p:cNvSpPr/>
            <p:nvPr/>
          </p:nvSpPr>
          <p:spPr>
            <a:xfrm>
              <a:off x="6369" y="3886"/>
              <a:ext cx="519" cy="519"/>
            </a:xfrm>
            <a:prstGeom prst="rect">
              <a:avLst/>
            </a:prstGeom>
            <a:solidFill>
              <a:srgbClr val="CBE7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7" name="矩形 16"/>
            <p:cNvSpPr/>
            <p:nvPr/>
          </p:nvSpPr>
          <p:spPr>
            <a:xfrm>
              <a:off x="6888" y="3886"/>
              <a:ext cx="519" cy="519"/>
            </a:xfrm>
            <a:prstGeom prst="rect">
              <a:avLst/>
            </a:prstGeom>
            <a:solidFill>
              <a:srgbClr val="1FB9F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pic>
        <p:nvPicPr>
          <p:cNvPr id="3" name="图片 2" descr="图片"/>
          <p:cNvPicPr>
            <a:picLocks noChangeAspect="1"/>
          </p:cNvPicPr>
          <p:nvPr/>
        </p:nvPicPr>
        <p:blipFill>
          <a:blip r:embed="rId1"/>
          <a:stretch>
            <a:fillRect/>
          </a:stretch>
        </p:blipFill>
        <p:spPr>
          <a:xfrm>
            <a:off x="659130" y="1206500"/>
            <a:ext cx="4728845" cy="5222240"/>
          </a:xfrm>
          <a:prstGeom prst="rect">
            <a:avLst/>
          </a:prstGeom>
        </p:spPr>
      </p:pic>
      <p:sp>
        <p:nvSpPr>
          <p:cNvPr id="31" name="圆角矩形 30"/>
          <p:cNvSpPr/>
          <p:nvPr>
            <p:custDataLst>
              <p:tags r:id="rId2"/>
            </p:custDataLst>
          </p:nvPr>
        </p:nvSpPr>
        <p:spPr>
          <a:xfrm>
            <a:off x="5621020" y="1233805"/>
            <a:ext cx="5862955" cy="558800"/>
          </a:xfrm>
          <a:prstGeom prst="roundRect">
            <a:avLst>
              <a:gd name="adj" fmla="val 19391"/>
            </a:avLst>
          </a:prstGeom>
          <a:solidFill>
            <a:schemeClr val="lt1">
              <a:lumMod val="100000"/>
              <a:alpha val="10000"/>
            </a:schemeClr>
          </a:solidFill>
          <a:ln>
            <a:gradFill>
              <a:gsLst>
                <a:gs pos="0">
                  <a:schemeClr val="accent1">
                    <a:alpha val="70000"/>
                  </a:schemeClr>
                </a:gs>
                <a:gs pos="100000">
                  <a:schemeClr val="accent1">
                    <a:alpha val="60000"/>
                  </a:schemeClr>
                </a:gs>
              </a:gsLst>
              <a:lin ang="10740000" scaled="1"/>
            </a:gradFill>
          </a:ln>
          <a:effectLst/>
        </p:spPr>
        <p:style>
          <a:lnRef idx="2">
            <a:schemeClr val="accent1">
              <a:lumMod val="75000"/>
            </a:schemeClr>
          </a:lnRef>
          <a:fillRef idx="1">
            <a:schemeClr val="accent1"/>
          </a:fillRef>
          <a:effectRef idx="0">
            <a:srgbClr val="FFFFFF"/>
          </a:effectRef>
          <a:fontRef idx="minor">
            <a:schemeClr val="lt1"/>
          </a:fontRef>
        </p:style>
        <p:txBody>
          <a:bodyPr lIns="683895" tIns="0" rIns="107950" rtlCol="0" anchor="ctr"/>
          <a:p>
            <a:pPr indent="0" algn="l" fontAlgn="auto">
              <a:lnSpc>
                <a:spcPct val="130000"/>
              </a:lnSpc>
              <a:spcAft>
                <a:spcPts val="0"/>
              </a:spcAft>
            </a:pPr>
            <a:r>
              <a:rPr lang="zh-CN" altLang="en-US" sz="1400" dirty="0">
                <a:solidFill>
                  <a:schemeClr val="tx1">
                    <a:lumMod val="85000"/>
                    <a:lumOff val="15000"/>
                  </a:schemeClr>
                </a:solidFill>
                <a:sym typeface="+mn-ea"/>
              </a:rPr>
              <a:t>批量集成：处理复杂数据清洗和转换且数据量较大的场景，调度作业一般每天</a:t>
            </a:r>
            <a:r>
              <a:rPr lang="en-US" altLang="zh-CN" sz="1400" dirty="0">
                <a:solidFill>
                  <a:schemeClr val="tx1">
                    <a:lumMod val="85000"/>
                    <a:lumOff val="15000"/>
                  </a:schemeClr>
                </a:solidFill>
                <a:sym typeface="+mn-ea"/>
              </a:rPr>
              <a:t>/</a:t>
            </a:r>
            <a:r>
              <a:rPr lang="zh-CN" altLang="en-US" sz="1400" dirty="0">
                <a:solidFill>
                  <a:schemeClr val="tx1">
                    <a:lumMod val="85000"/>
                    <a:lumOff val="15000"/>
                  </a:schemeClr>
                </a:solidFill>
                <a:sym typeface="+mn-ea"/>
              </a:rPr>
              <a:t>每小时执行</a:t>
            </a:r>
            <a:endParaRPr lang="zh-CN" altLang="en-US" sz="1400" dirty="0">
              <a:solidFill>
                <a:schemeClr val="tx1">
                  <a:lumMod val="85000"/>
                  <a:lumOff val="15000"/>
                </a:schemeClr>
              </a:solidFill>
              <a:sym typeface="+mn-ea"/>
            </a:endParaRPr>
          </a:p>
        </p:txBody>
      </p:sp>
      <p:sp>
        <p:nvSpPr>
          <p:cNvPr id="32" name="圆角矩形 31"/>
          <p:cNvSpPr/>
          <p:nvPr>
            <p:custDataLst>
              <p:tags r:id="rId3"/>
            </p:custDataLst>
          </p:nvPr>
        </p:nvSpPr>
        <p:spPr>
          <a:xfrm>
            <a:off x="5620385" y="1920240"/>
            <a:ext cx="5875655" cy="882015"/>
          </a:xfrm>
          <a:prstGeom prst="roundRect">
            <a:avLst>
              <a:gd name="adj" fmla="val 19391"/>
            </a:avLst>
          </a:prstGeom>
          <a:solidFill>
            <a:schemeClr val="lt1">
              <a:lumMod val="100000"/>
              <a:alpha val="10000"/>
            </a:schemeClr>
          </a:solidFill>
          <a:ln>
            <a:gradFill>
              <a:gsLst>
                <a:gs pos="0">
                  <a:schemeClr val="accent2">
                    <a:alpha val="70000"/>
                  </a:schemeClr>
                </a:gs>
                <a:gs pos="100000">
                  <a:schemeClr val="accent2">
                    <a:alpha val="60000"/>
                  </a:schemeClr>
                </a:gs>
              </a:gsLst>
              <a:lin ang="10740000" scaled="1"/>
            </a:gradFill>
          </a:ln>
          <a:effectLst/>
        </p:spPr>
        <p:style>
          <a:lnRef idx="2">
            <a:schemeClr val="accent1">
              <a:lumMod val="75000"/>
            </a:schemeClr>
          </a:lnRef>
          <a:fillRef idx="1">
            <a:schemeClr val="accent1"/>
          </a:fillRef>
          <a:effectRef idx="0">
            <a:srgbClr val="FFFFFF"/>
          </a:effectRef>
          <a:fontRef idx="minor">
            <a:schemeClr val="lt1"/>
          </a:fontRef>
        </p:style>
        <p:txBody>
          <a:bodyPr lIns="683895" tIns="0" rIns="107950" rtlCol="0" anchor="ctr"/>
          <a:p>
            <a:pPr indent="0" algn="l" fontAlgn="auto">
              <a:lnSpc>
                <a:spcPct val="130000"/>
              </a:lnSpc>
              <a:spcAft>
                <a:spcPts val="0"/>
              </a:spcAft>
            </a:pPr>
            <a:r>
              <a:rPr lang="zh-CN" altLang="en-US" sz="1400" dirty="0">
                <a:solidFill>
                  <a:schemeClr val="tx1">
                    <a:lumMod val="85000"/>
                    <a:lumOff val="15000"/>
                  </a:schemeClr>
                </a:solidFill>
                <a:sym typeface="+mn-ea"/>
              </a:rPr>
              <a:t>数据复制同步：</a:t>
            </a:r>
            <a:r>
              <a:rPr lang="zh-CN" altLang="en-US" sz="1400" dirty="0">
                <a:solidFill>
                  <a:schemeClr val="tx1">
                    <a:lumMod val="85000"/>
                    <a:lumOff val="15000"/>
                  </a:schemeClr>
                </a:solidFill>
                <a:sym typeface="+mn-ea"/>
              </a:rPr>
              <a:t>适用干需要高可用性和对数据源影响小的场景。使用基干日志的</a:t>
            </a:r>
            <a:r>
              <a:rPr lang="en-US" altLang="zh-CN" sz="1400" dirty="0">
                <a:solidFill>
                  <a:schemeClr val="tx1">
                    <a:lumMod val="85000"/>
                    <a:lumOff val="15000"/>
                  </a:schemeClr>
                </a:solidFill>
                <a:sym typeface="+mn-ea"/>
              </a:rPr>
              <a:t>CDC</a:t>
            </a:r>
            <a:r>
              <a:rPr lang="zh-CN" altLang="en-US" sz="1400" dirty="0">
                <a:solidFill>
                  <a:schemeClr val="tx1">
                    <a:lumMod val="85000"/>
                    <a:lumOff val="15000"/>
                  </a:schemeClr>
                </a:solidFill>
                <a:sym typeface="+mn-ea"/>
              </a:rPr>
              <a:t>捕获数据变更，实时获取数据。数据复制同步不适合处理各种数据结构以及需要清理和转换复杂数据的场景。</a:t>
            </a:r>
            <a:endParaRPr lang="zh-CN" altLang="en-US" sz="1400" dirty="0">
              <a:solidFill>
                <a:schemeClr val="tx1">
                  <a:lumMod val="85000"/>
                  <a:lumOff val="15000"/>
                </a:schemeClr>
              </a:solidFill>
              <a:sym typeface="+mn-ea"/>
            </a:endParaRPr>
          </a:p>
        </p:txBody>
      </p:sp>
      <p:sp>
        <p:nvSpPr>
          <p:cNvPr id="33" name="椭圆 32"/>
          <p:cNvSpPr>
            <a:spLocks noChangeAspect="1"/>
          </p:cNvSpPr>
          <p:nvPr>
            <p:custDataLst>
              <p:tags r:id="rId4"/>
            </p:custDataLst>
          </p:nvPr>
        </p:nvSpPr>
        <p:spPr>
          <a:xfrm>
            <a:off x="5707074" y="2028963"/>
            <a:ext cx="237693" cy="237693"/>
          </a:xfrm>
          <a:prstGeom prst="ellipse">
            <a:avLst/>
          </a:prstGeom>
          <a:gradFill>
            <a:gsLst>
              <a:gs pos="0">
                <a:schemeClr val="accent2">
                  <a:alpha val="100000"/>
                </a:schemeClr>
              </a:gs>
              <a:gs pos="100000">
                <a:schemeClr val="accent2">
                  <a:alpha val="59000"/>
                </a:schemeClr>
              </a:gs>
            </a:gsLst>
            <a:lin ang="2700000" scaled="0"/>
          </a:gradFill>
          <a:ln>
            <a:no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none" numCol="1" spcCol="0" rtlCol="0" fromWordArt="0" anchor="ctr" anchorCtr="0" forceAA="0" compatLnSpc="1">
            <a:noAutofit/>
          </a:bodyPr>
          <a:p>
            <a:pPr lvl="0" algn="ctr">
              <a:buClrTx/>
              <a:buSzTx/>
              <a:buFontTx/>
            </a:pPr>
            <a:r>
              <a:rPr lang="en-US" altLang="zh-CN" dirty="0">
                <a:solidFill>
                  <a:srgbClr val="FFFFFF"/>
                </a:solidFill>
                <a:sym typeface="+mn-ea"/>
              </a:rPr>
              <a:t>2</a:t>
            </a:r>
            <a:endParaRPr lang="en-US" altLang="zh-CN" dirty="0">
              <a:solidFill>
                <a:srgbClr val="FFFFFF"/>
              </a:solidFill>
              <a:sym typeface="+mn-ea"/>
            </a:endParaRPr>
          </a:p>
        </p:txBody>
      </p:sp>
      <p:sp>
        <p:nvSpPr>
          <p:cNvPr id="34" name="圆角矩形 33"/>
          <p:cNvSpPr/>
          <p:nvPr>
            <p:custDataLst>
              <p:tags r:id="rId5"/>
            </p:custDataLst>
          </p:nvPr>
        </p:nvSpPr>
        <p:spPr>
          <a:xfrm>
            <a:off x="5607685" y="2974975"/>
            <a:ext cx="5875655" cy="919480"/>
          </a:xfrm>
          <a:prstGeom prst="roundRect">
            <a:avLst>
              <a:gd name="adj" fmla="val 19391"/>
            </a:avLst>
          </a:prstGeom>
          <a:solidFill>
            <a:schemeClr val="lt1">
              <a:lumMod val="100000"/>
              <a:alpha val="10000"/>
            </a:schemeClr>
          </a:solidFill>
          <a:ln>
            <a:gradFill>
              <a:gsLst>
                <a:gs pos="0">
                  <a:schemeClr val="accent3">
                    <a:alpha val="70000"/>
                  </a:schemeClr>
                </a:gs>
                <a:gs pos="100000">
                  <a:schemeClr val="accent3">
                    <a:alpha val="60000"/>
                  </a:schemeClr>
                </a:gs>
              </a:gsLst>
              <a:lin ang="10740000" scaled="1"/>
            </a:gradFill>
          </a:ln>
          <a:effectLst/>
        </p:spPr>
        <p:style>
          <a:lnRef idx="2">
            <a:schemeClr val="accent1">
              <a:lumMod val="75000"/>
            </a:schemeClr>
          </a:lnRef>
          <a:fillRef idx="1">
            <a:schemeClr val="accent1"/>
          </a:fillRef>
          <a:effectRef idx="0">
            <a:srgbClr val="FFFFFF"/>
          </a:effectRef>
          <a:fontRef idx="minor">
            <a:schemeClr val="lt1"/>
          </a:fontRef>
        </p:style>
        <p:txBody>
          <a:bodyPr lIns="683895" tIns="0" rIns="107950" rtlCol="0" anchor="ctr"/>
          <a:p>
            <a:pPr indent="0" algn="l" fontAlgn="auto">
              <a:lnSpc>
                <a:spcPct val="130000"/>
              </a:lnSpc>
              <a:spcAft>
                <a:spcPts val="0"/>
              </a:spcAft>
            </a:pPr>
            <a:r>
              <a:rPr lang="zh-CN" altLang="en-US" sz="1400" dirty="0">
                <a:solidFill>
                  <a:schemeClr val="tx1">
                    <a:lumMod val="85000"/>
                    <a:lumOff val="15000"/>
                  </a:schemeClr>
                </a:solidFill>
                <a:sym typeface="+mn-ea"/>
              </a:rPr>
              <a:t>消息</a:t>
            </a:r>
            <a:r>
              <a:rPr lang="zh-CN" altLang="en-US" sz="1400" dirty="0">
                <a:solidFill>
                  <a:schemeClr val="tx1">
                    <a:lumMod val="85000"/>
                    <a:lumOff val="15000"/>
                  </a:schemeClr>
                </a:solidFill>
                <a:sym typeface="+mn-ea"/>
              </a:rPr>
              <a:t>集成：通常通过</a:t>
            </a:r>
            <a:r>
              <a:rPr lang="en-US" altLang="zh-CN" sz="1400" dirty="0">
                <a:solidFill>
                  <a:schemeClr val="tx1">
                    <a:lumMod val="85000"/>
                    <a:lumOff val="15000"/>
                  </a:schemeClr>
                </a:solidFill>
                <a:sym typeface="+mn-ea"/>
              </a:rPr>
              <a:t>API</a:t>
            </a:r>
            <a:r>
              <a:rPr lang="zh-CN" altLang="en-US" sz="1400" dirty="0">
                <a:solidFill>
                  <a:schemeClr val="tx1">
                    <a:lumMod val="85000"/>
                    <a:lumOff val="15000"/>
                  </a:schemeClr>
                </a:solidFill>
                <a:sym typeface="+mn-ea"/>
              </a:rPr>
              <a:t>捕获或提取数据，适用于处理不同数据结构以及需要高可靠性和复杂转换的场景。消息集成不适合处理大量数据的场景。</a:t>
            </a:r>
            <a:endParaRPr lang="zh-CN" altLang="en-US" sz="1400" dirty="0">
              <a:solidFill>
                <a:schemeClr val="tx1">
                  <a:lumMod val="85000"/>
                  <a:lumOff val="15000"/>
                </a:schemeClr>
              </a:solidFill>
              <a:sym typeface="+mn-ea"/>
            </a:endParaRPr>
          </a:p>
        </p:txBody>
      </p:sp>
      <p:sp>
        <p:nvSpPr>
          <p:cNvPr id="35" name="椭圆 34"/>
          <p:cNvSpPr>
            <a:spLocks noChangeAspect="1"/>
          </p:cNvSpPr>
          <p:nvPr>
            <p:custDataLst>
              <p:tags r:id="rId6"/>
            </p:custDataLst>
          </p:nvPr>
        </p:nvSpPr>
        <p:spPr>
          <a:xfrm>
            <a:off x="5694374" y="3083465"/>
            <a:ext cx="237693" cy="237693"/>
          </a:xfrm>
          <a:prstGeom prst="ellipse">
            <a:avLst/>
          </a:prstGeom>
          <a:gradFill>
            <a:gsLst>
              <a:gs pos="0">
                <a:schemeClr val="accent3">
                  <a:alpha val="100000"/>
                </a:schemeClr>
              </a:gs>
              <a:gs pos="100000">
                <a:schemeClr val="accent3">
                  <a:alpha val="59000"/>
                </a:schemeClr>
              </a:gs>
            </a:gsLst>
            <a:lin ang="2700000" scaled="0"/>
          </a:gradFill>
          <a:ln>
            <a:no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none" numCol="1" spcCol="0" rtlCol="0" fromWordArt="0" anchor="ctr" anchorCtr="0" forceAA="0" compatLnSpc="1">
            <a:noAutofit/>
          </a:bodyPr>
          <a:p>
            <a:pPr lvl="0" algn="ctr">
              <a:buClrTx/>
              <a:buSzTx/>
              <a:buFontTx/>
            </a:pPr>
            <a:r>
              <a:rPr lang="en-US" altLang="zh-CN" dirty="0">
                <a:solidFill>
                  <a:srgbClr val="FFFFFF"/>
                </a:solidFill>
                <a:sym typeface="+mn-ea"/>
              </a:rPr>
              <a:t>3</a:t>
            </a:r>
            <a:endParaRPr lang="en-US" altLang="zh-CN" dirty="0">
              <a:solidFill>
                <a:srgbClr val="FFFFFF"/>
              </a:solidFill>
              <a:sym typeface="+mn-ea"/>
            </a:endParaRPr>
          </a:p>
        </p:txBody>
      </p:sp>
      <p:sp>
        <p:nvSpPr>
          <p:cNvPr id="36" name="圆角矩形 35"/>
          <p:cNvSpPr/>
          <p:nvPr>
            <p:custDataLst>
              <p:tags r:id="rId7"/>
            </p:custDataLst>
          </p:nvPr>
        </p:nvSpPr>
        <p:spPr>
          <a:xfrm>
            <a:off x="5607685" y="4067175"/>
            <a:ext cx="5875655" cy="806450"/>
          </a:xfrm>
          <a:prstGeom prst="roundRect">
            <a:avLst>
              <a:gd name="adj" fmla="val 19391"/>
            </a:avLst>
          </a:prstGeom>
          <a:solidFill>
            <a:schemeClr val="lt1">
              <a:lumMod val="100000"/>
              <a:alpha val="10000"/>
            </a:schemeClr>
          </a:solidFill>
          <a:ln>
            <a:gradFill>
              <a:gsLst>
                <a:gs pos="0">
                  <a:schemeClr val="accent4">
                    <a:alpha val="70000"/>
                  </a:schemeClr>
                </a:gs>
                <a:gs pos="100000">
                  <a:schemeClr val="accent4">
                    <a:alpha val="60000"/>
                  </a:schemeClr>
                </a:gs>
              </a:gsLst>
              <a:lin ang="10740000" scaled="1"/>
            </a:gradFill>
          </a:ln>
          <a:effectLst/>
        </p:spPr>
        <p:style>
          <a:lnRef idx="2">
            <a:schemeClr val="accent1">
              <a:lumMod val="75000"/>
            </a:schemeClr>
          </a:lnRef>
          <a:fillRef idx="1">
            <a:schemeClr val="accent1"/>
          </a:fillRef>
          <a:effectRef idx="0">
            <a:srgbClr val="FFFFFF"/>
          </a:effectRef>
          <a:fontRef idx="minor">
            <a:schemeClr val="lt1"/>
          </a:fontRef>
        </p:style>
        <p:txBody>
          <a:bodyPr lIns="683895" tIns="0" rIns="107950" rtlCol="0" anchor="ctr"/>
          <a:p>
            <a:pPr indent="0" algn="l" fontAlgn="auto">
              <a:lnSpc>
                <a:spcPct val="130000"/>
              </a:lnSpc>
              <a:spcAft>
                <a:spcPts val="0"/>
              </a:spcAft>
            </a:pPr>
            <a:r>
              <a:rPr lang="zh-CN" altLang="en-US" sz="1400" dirty="0">
                <a:solidFill>
                  <a:schemeClr val="tx1">
                    <a:lumMod val="85000"/>
                    <a:lumOff val="15000"/>
                  </a:schemeClr>
                </a:solidFill>
                <a:sym typeface="+mn-ea"/>
              </a:rPr>
              <a:t>流</a:t>
            </a:r>
            <a:r>
              <a:rPr lang="zh-CN" altLang="en-US" sz="1400" dirty="0">
                <a:solidFill>
                  <a:schemeClr val="tx1">
                    <a:lumMod val="85000"/>
                    <a:lumOff val="15000"/>
                  </a:schemeClr>
                </a:solidFill>
                <a:sym typeface="+mn-ea"/>
              </a:rPr>
              <a:t>集成：流数据的采集和处理，满足数据实时集成需求，处理每秒数万甚至数十万个事件流，有时甚至数以百万计的事件流。流集成不适合需要复杂数据清理和转换的场景。</a:t>
            </a:r>
            <a:endParaRPr lang="zh-CN" altLang="en-US" sz="1400" dirty="0">
              <a:solidFill>
                <a:schemeClr val="tx1">
                  <a:lumMod val="85000"/>
                  <a:lumOff val="15000"/>
                </a:schemeClr>
              </a:solidFill>
              <a:sym typeface="+mn-ea"/>
            </a:endParaRPr>
          </a:p>
        </p:txBody>
      </p:sp>
      <p:sp>
        <p:nvSpPr>
          <p:cNvPr id="37" name="椭圆 36"/>
          <p:cNvSpPr>
            <a:spLocks noChangeAspect="1"/>
          </p:cNvSpPr>
          <p:nvPr>
            <p:custDataLst>
              <p:tags r:id="rId8"/>
            </p:custDataLst>
          </p:nvPr>
        </p:nvSpPr>
        <p:spPr>
          <a:xfrm>
            <a:off x="5694374" y="4175433"/>
            <a:ext cx="237693" cy="237693"/>
          </a:xfrm>
          <a:prstGeom prst="ellipse">
            <a:avLst/>
          </a:prstGeom>
          <a:gradFill>
            <a:gsLst>
              <a:gs pos="0">
                <a:schemeClr val="accent4">
                  <a:alpha val="100000"/>
                </a:schemeClr>
              </a:gs>
              <a:gs pos="100000">
                <a:schemeClr val="accent4">
                  <a:alpha val="59000"/>
                </a:schemeClr>
              </a:gs>
            </a:gsLst>
            <a:lin ang="2700000" scaled="0"/>
          </a:gradFill>
          <a:ln>
            <a:no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none" numCol="1" spcCol="0" rtlCol="0" fromWordArt="0" anchor="ctr" anchorCtr="0" forceAA="0" compatLnSpc="1">
            <a:noAutofit/>
          </a:bodyPr>
          <a:p>
            <a:pPr lvl="0" algn="ctr">
              <a:buClrTx/>
              <a:buSzTx/>
              <a:buFontTx/>
            </a:pPr>
            <a:r>
              <a:rPr lang="en-US" altLang="zh-CN" dirty="0">
                <a:solidFill>
                  <a:srgbClr val="FFFFFF"/>
                </a:solidFill>
                <a:sym typeface="+mn-ea"/>
              </a:rPr>
              <a:t>4</a:t>
            </a:r>
            <a:endParaRPr lang="en-US" altLang="zh-CN" dirty="0">
              <a:solidFill>
                <a:srgbClr val="FFFFFF"/>
              </a:solidFill>
              <a:sym typeface="+mn-ea"/>
            </a:endParaRPr>
          </a:p>
        </p:txBody>
      </p:sp>
      <p:sp>
        <p:nvSpPr>
          <p:cNvPr id="38" name="圆角矩形 37"/>
          <p:cNvSpPr/>
          <p:nvPr>
            <p:custDataLst>
              <p:tags r:id="rId9"/>
            </p:custDataLst>
          </p:nvPr>
        </p:nvSpPr>
        <p:spPr>
          <a:xfrm>
            <a:off x="5607685" y="5076190"/>
            <a:ext cx="5875655" cy="1295400"/>
          </a:xfrm>
          <a:prstGeom prst="roundRect">
            <a:avLst>
              <a:gd name="adj" fmla="val 19391"/>
            </a:avLst>
          </a:prstGeom>
          <a:solidFill>
            <a:schemeClr val="lt1">
              <a:lumMod val="100000"/>
              <a:alpha val="10000"/>
            </a:schemeClr>
          </a:solidFill>
          <a:ln>
            <a:gradFill>
              <a:gsLst>
                <a:gs pos="0">
                  <a:schemeClr val="accent5">
                    <a:alpha val="70000"/>
                  </a:schemeClr>
                </a:gs>
                <a:gs pos="100000">
                  <a:schemeClr val="accent5">
                    <a:alpha val="60000"/>
                  </a:schemeClr>
                </a:gs>
              </a:gsLst>
              <a:lin ang="10740000" scaled="1"/>
            </a:gradFill>
          </a:ln>
          <a:effectLst/>
        </p:spPr>
        <p:style>
          <a:lnRef idx="2">
            <a:schemeClr val="accent1">
              <a:lumMod val="75000"/>
            </a:schemeClr>
          </a:lnRef>
          <a:fillRef idx="1">
            <a:schemeClr val="accent1"/>
          </a:fillRef>
          <a:effectRef idx="0">
            <a:srgbClr val="FFFFFF"/>
          </a:effectRef>
          <a:fontRef idx="minor">
            <a:schemeClr val="lt1"/>
          </a:fontRef>
        </p:style>
        <p:txBody>
          <a:bodyPr lIns="683895" tIns="0" rIns="107950" rtlCol="0" anchor="ctr"/>
          <a:p>
            <a:pPr indent="0" algn="l" fontAlgn="auto">
              <a:lnSpc>
                <a:spcPct val="130000"/>
              </a:lnSpc>
              <a:spcAft>
                <a:spcPts val="0"/>
              </a:spcAft>
            </a:pPr>
            <a:r>
              <a:rPr lang="zh-CN" altLang="en-US" sz="1400" dirty="0">
                <a:solidFill>
                  <a:schemeClr val="tx1">
                    <a:lumMod val="85000"/>
                    <a:lumOff val="15000"/>
                  </a:schemeClr>
                </a:solidFill>
                <a:sym typeface="+mn-ea"/>
              </a:rPr>
              <a:t>数据</a:t>
            </a:r>
            <a:r>
              <a:rPr lang="zh-CN" altLang="en-US" sz="1400" dirty="0">
                <a:solidFill>
                  <a:schemeClr val="tx1">
                    <a:lumMod val="85000"/>
                    <a:lumOff val="15000"/>
                  </a:schemeClr>
                </a:solidFill>
                <a:sym typeface="+mn-ea"/>
              </a:rPr>
              <a:t>虚拟化：对于需要低数据延迟、高灵活性和临时模式</a:t>
            </a:r>
            <a:r>
              <a:rPr lang="en-US" altLang="zh-CN" sz="1400" dirty="0">
                <a:solidFill>
                  <a:schemeClr val="tx1">
                    <a:lumMod val="85000"/>
                    <a:lumOff val="15000"/>
                  </a:schemeClr>
                </a:solidFill>
                <a:sym typeface="+mn-ea"/>
              </a:rPr>
              <a:t>(</a:t>
            </a:r>
            <a:r>
              <a:rPr lang="zh-CN" altLang="en-US" sz="1400" dirty="0">
                <a:solidFill>
                  <a:schemeClr val="tx1">
                    <a:lumMod val="85000"/>
                    <a:lumOff val="15000"/>
                  </a:schemeClr>
                </a:solidFill>
                <a:sym typeface="+mn-ea"/>
              </a:rPr>
              <a:t>不断变化下的模式</a:t>
            </a:r>
            <a:r>
              <a:rPr lang="en-US" altLang="zh-CN" sz="1400" dirty="0">
                <a:solidFill>
                  <a:schemeClr val="tx1">
                    <a:lumMod val="85000"/>
                    <a:lumOff val="15000"/>
                  </a:schemeClr>
                </a:solidFill>
                <a:sym typeface="+mn-ea"/>
              </a:rPr>
              <a:t>)</a:t>
            </a:r>
            <a:r>
              <a:rPr lang="zh-CN" altLang="en-US" sz="1400" dirty="0">
                <a:solidFill>
                  <a:schemeClr val="tx1">
                    <a:lumMod val="85000"/>
                    <a:lumOff val="15000"/>
                  </a:schemeClr>
                </a:solidFill>
                <a:sym typeface="+mn-ea"/>
              </a:rPr>
              <a:t>的消费场景，数据虚拟化是一个很好的选择。在数据虚拟化的基础上，通过共享数据访问层，分离数据源和数据湖，减少数据源变更带来的影响，同时支持数据实时消费。数据虚拟化不适合需要处理大量数据的场景。</a:t>
            </a:r>
            <a:endParaRPr lang="zh-CN" altLang="en-US" sz="1400" dirty="0">
              <a:solidFill>
                <a:schemeClr val="tx1">
                  <a:lumMod val="85000"/>
                  <a:lumOff val="15000"/>
                </a:schemeClr>
              </a:solidFill>
              <a:sym typeface="+mn-ea"/>
            </a:endParaRPr>
          </a:p>
        </p:txBody>
      </p:sp>
      <p:sp>
        <p:nvSpPr>
          <p:cNvPr id="39" name="椭圆 38"/>
          <p:cNvSpPr>
            <a:spLocks noChangeAspect="1"/>
          </p:cNvSpPr>
          <p:nvPr>
            <p:custDataLst>
              <p:tags r:id="rId10"/>
            </p:custDataLst>
          </p:nvPr>
        </p:nvSpPr>
        <p:spPr>
          <a:xfrm>
            <a:off x="5694374" y="5277560"/>
            <a:ext cx="237693" cy="237693"/>
          </a:xfrm>
          <a:prstGeom prst="ellipse">
            <a:avLst/>
          </a:prstGeom>
          <a:gradFill>
            <a:gsLst>
              <a:gs pos="0">
                <a:schemeClr val="accent5">
                  <a:alpha val="100000"/>
                </a:schemeClr>
              </a:gs>
              <a:gs pos="100000">
                <a:schemeClr val="accent5">
                  <a:alpha val="59000"/>
                </a:schemeClr>
              </a:gs>
            </a:gsLst>
            <a:lin ang="2700000" scaled="0"/>
          </a:gradFill>
          <a:ln>
            <a:no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none" numCol="1" spcCol="0" rtlCol="0" fromWordArt="0" anchor="ctr" anchorCtr="0" forceAA="0" compatLnSpc="1">
            <a:noAutofit/>
          </a:bodyPr>
          <a:p>
            <a:pPr lvl="0" algn="ctr">
              <a:buClrTx/>
              <a:buSzTx/>
              <a:buFontTx/>
            </a:pPr>
            <a:r>
              <a:rPr lang="en-US" altLang="zh-CN" dirty="0">
                <a:solidFill>
                  <a:srgbClr val="FFFFFF"/>
                </a:solidFill>
                <a:sym typeface="+mn-ea"/>
              </a:rPr>
              <a:t>5</a:t>
            </a:r>
            <a:endParaRPr lang="en-US" altLang="zh-CN" dirty="0">
              <a:solidFill>
                <a:srgbClr val="FFFFFF"/>
              </a:solidFill>
              <a:sym typeface="+mn-ea"/>
            </a:endParaRPr>
          </a:p>
        </p:txBody>
      </p:sp>
      <p:sp>
        <p:nvSpPr>
          <p:cNvPr id="44" name="椭圆 43"/>
          <p:cNvSpPr>
            <a:spLocks noChangeAspect="1"/>
          </p:cNvSpPr>
          <p:nvPr>
            <p:custDataLst>
              <p:tags r:id="rId11"/>
            </p:custDataLst>
          </p:nvPr>
        </p:nvSpPr>
        <p:spPr>
          <a:xfrm>
            <a:off x="5794069" y="1342125"/>
            <a:ext cx="237693" cy="237693"/>
          </a:xfrm>
          <a:prstGeom prst="ellipse">
            <a:avLst/>
          </a:prstGeom>
          <a:gradFill>
            <a:gsLst>
              <a:gs pos="0">
                <a:schemeClr val="accent1">
                  <a:alpha val="100000"/>
                </a:schemeClr>
              </a:gs>
              <a:gs pos="100000">
                <a:schemeClr val="accent1">
                  <a:alpha val="59000"/>
                </a:schemeClr>
              </a:gs>
            </a:gsLst>
            <a:lin ang="2700000" scaled="0"/>
          </a:gradFill>
          <a:ln>
            <a:no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none" numCol="1" spcCol="0" rtlCol="0" fromWordArt="0" anchor="ctr" anchorCtr="0" forceAA="0" compatLnSpc="1">
            <a:noAutofit/>
          </a:bodyPr>
          <a:p>
            <a:pPr lvl="0" algn="ctr">
              <a:buClrTx/>
              <a:buSzTx/>
              <a:buFontTx/>
            </a:pPr>
            <a:r>
              <a:rPr lang="en-US" altLang="zh-CN" dirty="0">
                <a:solidFill>
                  <a:srgbClr val="FFFFFF"/>
                </a:solidFill>
                <a:sym typeface="+mn-ea"/>
              </a:rPr>
              <a:t>1</a:t>
            </a:r>
            <a:endParaRPr lang="en-US" altLang="zh-CN" dirty="0">
              <a:solidFill>
                <a:srgbClr val="FFFFFF"/>
              </a:solidFill>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5" name="图片 4" descr="图片包含 游戏机&#10;&#10;AI 生成的内容可能不正确。"/>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6470"/>
            <a:ext cx="12171621" cy="6833617"/>
          </a:xfrm>
          <a:prstGeom prst="rect">
            <a:avLst/>
          </a:prstGeom>
        </p:spPr>
      </p:pic>
      <p:sp>
        <p:nvSpPr>
          <p:cNvPr id="2" name="e7d195523061f1c0" descr="e7d195523061f1c09d430b2e086820dbf734666a277b0d4b500BB7A72AB1412ED5183AD7B3816201F88CE1DA88F1BDB3B214B2C038CB098A30603A7C73162896CA56D5F2C85C2877766F9AF7CC3216D7CF634F6382D6C7BA7BC888BA9186F2798B84068E6072773E10A0296880ED9D73C76908137F952918BE4DD4EB5E4CCB40DE91FD2372AF4B64" hidden="1"/>
          <p:cNvSpPr txBox="1"/>
          <p:nvPr/>
        </p:nvSpPr>
        <p:spPr>
          <a:xfrm>
            <a:off x="-355600" y="1803400"/>
            <a:ext cx="268022" cy="1016000"/>
          </a:xfrm>
          <a:prstGeom prst="rect">
            <a:avLst/>
          </a:prstGeom>
          <a:noFill/>
        </p:spPr>
        <p:txBody>
          <a:bodyPr vert="wordArtVert"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00" b="0"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sym typeface="Arial" panose="020B0604020202020204" pitchFamily="34" charset="0"/>
              </a:rPr>
              <a:t>e7d195523061f1c09d430b2e086820dbf734666a277b0d4b500BB7A72AB1412ED5183AD7B3816201F88CE1DA88F1BDB3B214B2C038CB098A30603A7C73162896CA56D5F2C85C2877766F9AF7CC3216D7CF634F6382D6C7BA7BC888BA9186F2798B84068E6072773E10A0296880ED9D73C76908137F952918BE4DD4EB5E4CCB40DE91FD2372AF4B64</a:t>
            </a:r>
            <a:endParaRPr kumimoji="0" lang="zh-CN" altLang="en-US" sz="100" b="0"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sym typeface="Arial" panose="020B0604020202020204" pitchFamily="34" charset="0"/>
            </a:endParaRPr>
          </a:p>
        </p:txBody>
      </p:sp>
      <p:sp>
        <p:nvSpPr>
          <p:cNvPr id="33" name="文本框 32" descr="e7d195523061f1c09d430b2e086820dbf734666a277b0d4b500BB7A72AB1412ED5183AD7B3816201F88CE1DA88F1BDB3B214B2C038CB098A30603A7C73162896CA56D5F2C85C2877766F9AF7CC3216D7001672CC59609577E25D856B9353E59F45E56BECE69C0AA71C11FE729814BC255F8A1BC037BED7D320FC120CC0FDA2F0E0259AB568CF4F8C"/>
          <p:cNvSpPr txBox="1"/>
          <p:nvPr/>
        </p:nvSpPr>
        <p:spPr>
          <a:xfrm>
            <a:off x="5396212" y="2809760"/>
            <a:ext cx="1422400" cy="430530"/>
          </a:xfrm>
          <a:prstGeom prst="rect">
            <a:avLst/>
          </a:prstGeom>
          <a:noFill/>
          <a:effectLst/>
        </p:spPr>
        <p:txBody>
          <a:bodyPr wrap="none" lIns="0" tIns="0" rIns="0" bIns="0" rtlCol="0">
            <a:spAutoFit/>
          </a:bodyPr>
          <a:lstStyle>
            <a:defPPr>
              <a:defRPr lang="zh-CN"/>
            </a:defPPr>
            <a:lvl1pPr marR="0" lvl="0" indent="0" fontAlgn="auto">
              <a:lnSpc>
                <a:spcPct val="100000"/>
              </a:lnSpc>
              <a:spcBef>
                <a:spcPts val="0"/>
              </a:spcBef>
              <a:spcAft>
                <a:spcPts val="0"/>
              </a:spcAft>
              <a:buClrTx/>
              <a:buSzTx/>
              <a:buFontTx/>
              <a:buNone/>
              <a:defRPr kumimoji="0" sz="2800" b="0" i="0" u="none" strike="noStrike" cap="none" spc="600" normalizeH="0" baseline="0">
                <a:ln>
                  <a:noFill/>
                </a:ln>
                <a:solidFill>
                  <a:schemeClr val="bg1"/>
                </a:solidFill>
                <a:effectLst>
                  <a:outerShdw blurRad="86429" dist="38100" dir="2700000" algn="tl" rotWithShape="0">
                    <a:schemeClr val="accent1">
                      <a:lumMod val="50000"/>
                      <a:alpha val="40000"/>
                    </a:schemeClr>
                  </a:outerShdw>
                </a:effectLst>
                <a:uLnTx/>
                <a:uFillTx/>
                <a:latin typeface="Arial" panose="020B0604020202020204" pitchFamily="34" charset="0"/>
                <a:ea typeface="微软雅黑" panose="020B0503020204020204" pitchFamily="34" charset="-122"/>
              </a:defRPr>
            </a:lvl1pPr>
          </a:lstStyle>
          <a:p>
            <a:pPr algn="ctr"/>
            <a:r>
              <a:rPr lang="zh-CN" altLang="en-US" sz="2800" spc="0" dirty="0">
                <a:effectLst/>
                <a:sym typeface="Arial" panose="020B0604020202020204" pitchFamily="34" charset="0"/>
              </a:rPr>
              <a:t>数仓</a:t>
            </a:r>
            <a:r>
              <a:rPr lang="zh-CN" altLang="en-US" sz="2800" spc="0" dirty="0">
                <a:effectLst/>
                <a:sym typeface="Arial" panose="020B0604020202020204" pitchFamily="34" charset="0"/>
              </a:rPr>
              <a:t>构建</a:t>
            </a:r>
            <a:endParaRPr lang="zh-CN" altLang="en-US" sz="2800" spc="0" dirty="0">
              <a:effectLst/>
              <a:sym typeface="Arial" panose="020B0604020202020204" pitchFamily="34" charset="0"/>
            </a:endParaRPr>
          </a:p>
        </p:txBody>
      </p:sp>
      <p:sp>
        <p:nvSpPr>
          <p:cNvPr id="3" name="îS1ídê"/>
          <p:cNvSpPr txBox="1"/>
          <p:nvPr/>
        </p:nvSpPr>
        <p:spPr>
          <a:xfrm>
            <a:off x="5618946" y="1886430"/>
            <a:ext cx="946150" cy="922020"/>
          </a:xfrm>
          <a:prstGeom prst="rect">
            <a:avLst/>
          </a:prstGeom>
        </p:spPr>
        <p:txBody>
          <a:bodyPr vert="horz" wrap="none" lIns="91440" tIns="45720" rIns="91440" bIns="45720" rtlCol="0">
            <a:spAutoFit/>
          </a:bodyPr>
          <a:lstStyle>
            <a:lvl1pPr marL="0" indent="0" algn="l" defTabSz="914400" rtl="0" eaLnBrk="1" latinLnBrk="0" hangingPunct="1">
              <a:lnSpc>
                <a:spcPct val="100000"/>
              </a:lnSpc>
              <a:spcBef>
                <a:spcPts val="1000"/>
              </a:spcBef>
              <a:buFont typeface="Arial" panose="020B0604020202020204" pitchFamily="34" charset="0"/>
              <a:buNone/>
              <a:defRPr sz="9600" b="1" kern="1200">
                <a:gradFill>
                  <a:gsLst>
                    <a:gs pos="24000">
                      <a:schemeClr val="bg1"/>
                    </a:gs>
                    <a:gs pos="69000">
                      <a:schemeClr val="bg1">
                        <a:alpha val="0"/>
                      </a:schemeClr>
                    </a:gs>
                  </a:gsLst>
                  <a:lin ang="4800000" scaled="0"/>
                </a:gradFill>
                <a:latin typeface="+mn-lt"/>
                <a:ea typeface="+mn-ea"/>
                <a:cs typeface="+mn-cs"/>
              </a:defRPr>
            </a:lvl1pPr>
            <a:lvl2pPr marL="457200" indent="0" algn="l" defTabSz="914400" rtl="0" eaLnBrk="1" latinLnBrk="0" hangingPunct="1">
              <a:lnSpc>
                <a:spcPct val="100000"/>
              </a:lnSpc>
              <a:spcBef>
                <a:spcPts val="500"/>
              </a:spcBef>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1600" kern="1200">
                <a:solidFill>
                  <a:schemeClr val="tx1"/>
                </a:solidFill>
                <a:latin typeface="+mn-lt"/>
                <a:ea typeface="+mn-ea"/>
                <a:cs typeface="+mn-cs"/>
              </a:defRPr>
            </a:lvl3pPr>
            <a:lvl4pPr marL="1371600" indent="0" algn="l" defTabSz="914400" rtl="0" eaLnBrk="1" latinLnBrk="0" hangingPunct="1">
              <a:lnSpc>
                <a:spcPct val="10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en-US" sz="5400" b="1" i="0" u="none" strike="noStrike" kern="1200" cap="none" spc="0" normalizeH="0" baseline="0" noProof="0" dirty="0">
                <a:ln>
                  <a:noFill/>
                </a:ln>
                <a:gradFill>
                  <a:gsLst>
                    <a:gs pos="37000">
                      <a:prstClr val="white"/>
                    </a:gs>
                    <a:gs pos="100000">
                      <a:srgbClr val="FFFFFF">
                        <a:alpha val="0"/>
                      </a:srgbClr>
                    </a:gs>
                  </a:gsLst>
                  <a:lin ang="4800000" scaled="0"/>
                </a:gradFill>
                <a:effectLst/>
                <a:uLnTx/>
                <a:uFillTx/>
                <a:latin typeface="Arial" panose="020B0604020202020204" pitchFamily="34" charset="0"/>
                <a:ea typeface="微软雅黑" panose="020B0503020204020204" pitchFamily="34" charset="-122"/>
                <a:cs typeface="+mn-cs"/>
                <a:sym typeface="Arial" panose="020B0604020202020204" pitchFamily="34" charset="0"/>
              </a:rPr>
              <a:t>03</a:t>
            </a:r>
            <a:endParaRPr kumimoji="0" lang="en-GB" sz="5400" b="1" i="0" u="none" strike="noStrike" kern="1200" cap="none" spc="0" normalizeH="0" baseline="0" noProof="0" dirty="0">
              <a:ln>
                <a:noFill/>
              </a:ln>
              <a:gradFill>
                <a:gsLst>
                  <a:gs pos="37000">
                    <a:prstClr val="white"/>
                  </a:gs>
                  <a:gs pos="100000">
                    <a:srgbClr val="FFFFFF">
                      <a:alpha val="0"/>
                    </a:srgbClr>
                  </a:gs>
                </a:gsLst>
                <a:lin ang="4800000" scaled="0"/>
              </a:gra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descr="e7d195523061f1c09d430b2e086820dbf734666a277b0d4b500BB7A72AB1412ED5183AD7B3816201F88CE1DA88F1BDB3B214B2C038CB098A30603A7C73162896CA56D5F2C85C2877766F9AF7CC3216D72A30A8123260945F3CF9913B2C8132B15995C34893A847F2CEA0574BAD469374728EE5476AFD938193B7415C316CF399A89FF64C544ADAFE"/>
          <p:cNvSpPr txBox="1"/>
          <p:nvPr/>
        </p:nvSpPr>
        <p:spPr>
          <a:xfrm>
            <a:off x="658813" y="484882"/>
            <a:ext cx="1219200" cy="368935"/>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400" b="1" dirty="0">
                <a:solidFill>
                  <a:srgbClr val="0059FA">
                    <a:lumMod val="50000"/>
                  </a:srgbClr>
                </a:solidFill>
                <a:latin typeface="Arial" panose="020B0604020202020204" pitchFamily="34" charset="0"/>
                <a:ea typeface="微软雅黑" panose="020B0503020204020204" pitchFamily="34" charset="-122"/>
              </a:rPr>
              <a:t>数据仓</a:t>
            </a:r>
            <a:r>
              <a:rPr lang="zh-CN" altLang="en-US" sz="2400" b="1" dirty="0">
                <a:solidFill>
                  <a:srgbClr val="0059FA">
                    <a:lumMod val="50000"/>
                  </a:srgbClr>
                </a:solidFill>
                <a:latin typeface="Arial" panose="020B0604020202020204" pitchFamily="34" charset="0"/>
                <a:ea typeface="微软雅黑" panose="020B0503020204020204" pitchFamily="34" charset="-122"/>
              </a:rPr>
              <a:t>库</a:t>
            </a:r>
            <a:endParaRPr lang="zh-CN" altLang="en-US" sz="2400" b="1" dirty="0">
              <a:solidFill>
                <a:srgbClr val="0059FA">
                  <a:lumMod val="50000"/>
                </a:srgbClr>
              </a:solidFill>
              <a:latin typeface="Arial" panose="020B0604020202020204" pitchFamily="34" charset="0"/>
              <a:ea typeface="微软雅黑" panose="020B0503020204020204" pitchFamily="34" charset="-122"/>
            </a:endParaRPr>
          </a:p>
        </p:txBody>
      </p:sp>
      <p:grpSp>
        <p:nvGrpSpPr>
          <p:cNvPr id="3" name="组合 2"/>
          <p:cNvGrpSpPr/>
          <p:nvPr/>
        </p:nvGrpSpPr>
        <p:grpSpPr>
          <a:xfrm>
            <a:off x="10116820" y="-402590"/>
            <a:ext cx="1976755" cy="328930"/>
            <a:chOff x="4293" y="3886"/>
            <a:chExt cx="3113" cy="518"/>
          </a:xfrm>
        </p:grpSpPr>
        <p:sp>
          <p:nvSpPr>
            <p:cNvPr id="4" name="矩形 3"/>
            <p:cNvSpPr/>
            <p:nvPr/>
          </p:nvSpPr>
          <p:spPr>
            <a:xfrm>
              <a:off x="4293" y="3886"/>
              <a:ext cx="519" cy="519"/>
            </a:xfrm>
            <a:prstGeom prst="rect">
              <a:avLst/>
            </a:prstGeom>
            <a:solidFill>
              <a:srgbClr val="319DF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6" name="矩形 15"/>
            <p:cNvSpPr/>
            <p:nvPr/>
          </p:nvSpPr>
          <p:spPr>
            <a:xfrm>
              <a:off x="4812" y="3886"/>
              <a:ext cx="519" cy="519"/>
            </a:xfrm>
            <a:prstGeom prst="rect">
              <a:avLst/>
            </a:prstGeom>
            <a:solidFill>
              <a:srgbClr val="076DF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0" name="矩形 19"/>
            <p:cNvSpPr/>
            <p:nvPr/>
          </p:nvSpPr>
          <p:spPr>
            <a:xfrm>
              <a:off x="5331" y="3886"/>
              <a:ext cx="519" cy="519"/>
            </a:xfrm>
            <a:prstGeom prst="rect">
              <a:avLst/>
            </a:prstGeom>
            <a:solidFill>
              <a:srgbClr val="08B9C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3" name="矩形 22"/>
            <p:cNvSpPr/>
            <p:nvPr/>
          </p:nvSpPr>
          <p:spPr>
            <a:xfrm>
              <a:off x="5850" y="3886"/>
              <a:ext cx="519" cy="519"/>
            </a:xfrm>
            <a:prstGeom prst="rect">
              <a:avLst/>
            </a:prstGeom>
            <a:solidFill>
              <a:srgbClr val="994AD4"/>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4" name="矩形 23"/>
            <p:cNvSpPr/>
            <p:nvPr/>
          </p:nvSpPr>
          <p:spPr>
            <a:xfrm>
              <a:off x="6369" y="3886"/>
              <a:ext cx="519" cy="519"/>
            </a:xfrm>
            <a:prstGeom prst="rect">
              <a:avLst/>
            </a:prstGeom>
            <a:solidFill>
              <a:srgbClr val="CBE7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5" name="矩形 24"/>
            <p:cNvSpPr/>
            <p:nvPr/>
          </p:nvSpPr>
          <p:spPr>
            <a:xfrm>
              <a:off x="6888" y="3886"/>
              <a:ext cx="519" cy="519"/>
            </a:xfrm>
            <a:prstGeom prst="rect">
              <a:avLst/>
            </a:prstGeom>
            <a:solidFill>
              <a:srgbClr val="1FB9F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26" name="文本框 25"/>
          <p:cNvSpPr txBox="1"/>
          <p:nvPr/>
        </p:nvSpPr>
        <p:spPr>
          <a:xfrm>
            <a:off x="659130" y="1649730"/>
            <a:ext cx="10774680" cy="957580"/>
          </a:xfrm>
          <a:prstGeom prst="rect">
            <a:avLst/>
          </a:prstGeom>
          <a:noFill/>
          <a:ln>
            <a:solidFill>
              <a:schemeClr val="tx1"/>
            </a:solidFill>
            <a:prstDash val="solid"/>
          </a:ln>
        </p:spPr>
        <p:txBody>
          <a:bodyPr wrap="square" rtlCol="0">
            <a:noAutofit/>
          </a:bodyPr>
          <a:p>
            <a:r>
              <a:rPr lang="en-US" altLang="zh-CN"/>
              <a:t>         </a:t>
            </a:r>
            <a:r>
              <a:rPr lang="zh-CN" altLang="en-US"/>
              <a:t>数据仓库是一种面向</a:t>
            </a:r>
            <a:r>
              <a:rPr lang="zh-CN" altLang="en-US">
                <a:solidFill>
                  <a:srgbClr val="FF0000"/>
                </a:solidFill>
              </a:rPr>
              <a:t>分析的、集成的、相对稳定的、反映历史变化</a:t>
            </a:r>
            <a:r>
              <a:rPr lang="zh-CN" altLang="en-US"/>
              <a:t>的数据集合，用于支持企业决策分析（</a:t>
            </a:r>
            <a:r>
              <a:rPr lang="en-US" altLang="zh-CN"/>
              <a:t>OLAP</a:t>
            </a:r>
            <a:r>
              <a:rPr lang="zh-CN" altLang="en-US"/>
              <a:t>）。它是企业级的数据存储和分析解决方案，专为复杂的查询和分析操作而设计。核心目标</a:t>
            </a:r>
            <a:r>
              <a:rPr lang="zh-CN" altLang="en-US"/>
              <a:t>是整合多源数据，提供统一视图。支持历史数据存储与复杂分析</a:t>
            </a:r>
            <a:endParaRPr lang="zh-CN" altLang="en-US"/>
          </a:p>
        </p:txBody>
      </p:sp>
      <p:sp>
        <p:nvSpPr>
          <p:cNvPr id="5" name="圆柱形 4"/>
          <p:cNvSpPr/>
          <p:nvPr/>
        </p:nvSpPr>
        <p:spPr>
          <a:xfrm>
            <a:off x="704215" y="3176270"/>
            <a:ext cx="1631950" cy="505460"/>
          </a:xfrm>
          <a:prstGeom prst="can">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WMS</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系统</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6" name="圆柱形 5"/>
          <p:cNvSpPr/>
          <p:nvPr/>
        </p:nvSpPr>
        <p:spPr>
          <a:xfrm>
            <a:off x="704215" y="5229225"/>
            <a:ext cx="1631950" cy="505460"/>
          </a:xfrm>
          <a:prstGeom prst="can">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CDM</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系统</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7" name="圆柱形 6"/>
          <p:cNvSpPr/>
          <p:nvPr/>
        </p:nvSpPr>
        <p:spPr>
          <a:xfrm>
            <a:off x="704215" y="4587240"/>
            <a:ext cx="1631950" cy="505460"/>
          </a:xfrm>
          <a:prstGeom prst="can">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ERP</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系统</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8" name="圆柱形 7"/>
          <p:cNvSpPr/>
          <p:nvPr/>
        </p:nvSpPr>
        <p:spPr>
          <a:xfrm>
            <a:off x="691515" y="3881755"/>
            <a:ext cx="1631950" cy="505460"/>
          </a:xfrm>
          <a:prstGeom prst="can">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MES</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系统</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9" name="直接连接符 8"/>
          <p:cNvCxnSpPr/>
          <p:nvPr/>
        </p:nvCxnSpPr>
        <p:spPr>
          <a:xfrm>
            <a:off x="2716530" y="3140075"/>
            <a:ext cx="0" cy="2597785"/>
          </a:xfrm>
          <a:prstGeom prst="line">
            <a:avLst/>
          </a:prstGeom>
          <a:ln w="6350" cap="flat" cmpd="sng" algn="ctr">
            <a:solidFill>
              <a:schemeClr val="accent1"/>
            </a:solidFill>
            <a:prstDash val="dash"/>
            <a:miter lim="800000"/>
          </a:ln>
        </p:spPr>
        <p:style>
          <a:lnRef idx="0">
            <a:schemeClr val="accent1"/>
          </a:lnRef>
          <a:fillRef idx="0">
            <a:srgbClr val="FFFFFF"/>
          </a:fillRef>
          <a:effectRef idx="0">
            <a:srgbClr val="FFFFFF"/>
          </a:effectRef>
          <a:fontRef idx="minor">
            <a:schemeClr val="tx1"/>
          </a:fontRef>
        </p:style>
      </p:cxnSp>
      <p:sp>
        <p:nvSpPr>
          <p:cNvPr id="10" name="上弧形箭头 9"/>
          <p:cNvSpPr/>
          <p:nvPr/>
        </p:nvSpPr>
        <p:spPr>
          <a:xfrm>
            <a:off x="3424555" y="3838575"/>
            <a:ext cx="855980" cy="541020"/>
          </a:xfrm>
          <a:prstGeom prst="curved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sp>
        <p:nvSpPr>
          <p:cNvPr id="12" name="文本框 11"/>
          <p:cNvSpPr txBox="1"/>
          <p:nvPr/>
        </p:nvSpPr>
        <p:spPr>
          <a:xfrm>
            <a:off x="2904490" y="4577715"/>
            <a:ext cx="1795780" cy="1291590"/>
          </a:xfrm>
          <a:prstGeom prst="rect">
            <a:avLst/>
          </a:prstGeom>
          <a:noFill/>
        </p:spPr>
        <p:txBody>
          <a:bodyPr wrap="square" rtlCol="0">
            <a:spAutoFit/>
          </a:bodyPr>
          <a:p>
            <a:pPr algn="ctr"/>
            <a:r>
              <a:rPr lang="en-US" altLang="zh-CN" sz="2400" b="1">
                <a:solidFill>
                  <a:schemeClr val="tx1"/>
                </a:solidFill>
                <a:effectLst>
                  <a:outerShdw blurRad="38100" dist="19050" dir="2700000" algn="tl" rotWithShape="0">
                    <a:schemeClr val="dk1">
                      <a:alpha val="40000"/>
                    </a:schemeClr>
                  </a:outerShdw>
                </a:effectLst>
              </a:rPr>
              <a:t>ETL</a:t>
            </a:r>
            <a:endParaRPr lang="zh-CN" altLang="en-US" sz="2400" b="1">
              <a:solidFill>
                <a:schemeClr val="tx1"/>
              </a:solidFill>
              <a:effectLst>
                <a:outerShdw blurRad="38100" dist="19050" dir="2700000" algn="tl" rotWithShape="0">
                  <a:schemeClr val="dk1">
                    <a:alpha val="40000"/>
                  </a:schemeClr>
                </a:outerShdw>
              </a:effectLst>
            </a:endParaRPr>
          </a:p>
          <a:p>
            <a:r>
              <a:rPr lang="zh-CN" altLang="en-US"/>
              <a:t>抽取</a:t>
            </a:r>
            <a:r>
              <a:rPr lang="en-US" altLang="zh-CN"/>
              <a:t>(extract)</a:t>
            </a:r>
            <a:r>
              <a:rPr lang="zh-CN" altLang="en-US"/>
              <a:t>、</a:t>
            </a:r>
            <a:endParaRPr lang="zh-CN" altLang="en-US"/>
          </a:p>
          <a:p>
            <a:r>
              <a:rPr lang="zh-CN" altLang="en-US"/>
              <a:t>转换</a:t>
            </a:r>
            <a:r>
              <a:rPr lang="en-US" altLang="zh-CN"/>
              <a:t>(transform)</a:t>
            </a:r>
            <a:r>
              <a:rPr lang="zh-CN" altLang="en-US"/>
              <a:t>、</a:t>
            </a:r>
            <a:endParaRPr lang="zh-CN" altLang="en-US"/>
          </a:p>
          <a:p>
            <a:r>
              <a:rPr lang="zh-CN" altLang="en-US"/>
              <a:t>装载</a:t>
            </a:r>
            <a:r>
              <a:rPr lang="en-US" altLang="zh-CN"/>
              <a:t>(load)</a:t>
            </a:r>
            <a:endParaRPr lang="en-US" altLang="zh-CN"/>
          </a:p>
        </p:txBody>
      </p:sp>
      <p:sp>
        <p:nvSpPr>
          <p:cNvPr id="13" name="矩形 12"/>
          <p:cNvSpPr/>
          <p:nvPr/>
        </p:nvSpPr>
        <p:spPr>
          <a:xfrm>
            <a:off x="5419725" y="3176270"/>
            <a:ext cx="3117215" cy="2817495"/>
          </a:xfrm>
          <a:prstGeom prst="rect">
            <a:avLst/>
          </a:prstGeom>
          <a:ln w="6350" cap="flat" cmpd="sng" algn="ctr">
            <a:solidFill>
              <a:schemeClr val="accent1"/>
            </a:solidFill>
            <a:prstDash val="dash"/>
            <a:miter lim="800000"/>
          </a:ln>
          <a:extLst>
            <a:ext uri="{909E8E84-426E-40DD-AFC4-6F175D3DCCD1}">
              <a14:hiddenFill xmlns:a14="http://schemas.microsoft.com/office/drawing/2010/main">
                <a:solidFill>
                  <a:schemeClr val="accent1"/>
                </a:solidFill>
              </a14:hiddenFill>
            </a:ext>
          </a:extLst>
        </p:spPr>
        <p:style>
          <a:lnRef idx="0">
            <a:schemeClr val="accent1"/>
          </a:lnRef>
          <a:fillRef idx="0">
            <a:srgbClr val="FFFFFF"/>
          </a:fillRef>
          <a:effectRef idx="0">
            <a:srgbClr val="FFFFFF"/>
          </a:effectRef>
          <a:fontRef idx="minor">
            <a:schemeClr val="tx1"/>
          </a:fontRef>
        </p:style>
        <p:txBody>
          <a:bodyPr rtlCol="0" anchor="ctr"/>
          <a:p>
            <a:pPr algn="ctr"/>
            <a:endParaRPr lang="zh-CN" altLang="en-US"/>
          </a:p>
        </p:txBody>
      </p:sp>
      <p:cxnSp>
        <p:nvCxnSpPr>
          <p:cNvPr id="14" name="直接连接符 13"/>
          <p:cNvCxnSpPr/>
          <p:nvPr/>
        </p:nvCxnSpPr>
        <p:spPr>
          <a:xfrm>
            <a:off x="4988560" y="3176270"/>
            <a:ext cx="0" cy="2597785"/>
          </a:xfrm>
          <a:prstGeom prst="line">
            <a:avLst/>
          </a:prstGeom>
          <a:ln w="6350" cap="flat" cmpd="sng" algn="ctr">
            <a:solidFill>
              <a:schemeClr val="accent1"/>
            </a:solidFill>
            <a:prstDash val="dash"/>
            <a:miter lim="800000"/>
          </a:ln>
        </p:spPr>
        <p:style>
          <a:lnRef idx="0">
            <a:schemeClr val="accent1"/>
          </a:lnRef>
          <a:fillRef idx="0">
            <a:srgbClr val="FFFFFF"/>
          </a:fillRef>
          <a:effectRef idx="0">
            <a:srgbClr val="FFFFFF"/>
          </a:effectRef>
          <a:fontRef idx="minor">
            <a:schemeClr val="tx1"/>
          </a:fontRef>
        </p:style>
      </p:cxnSp>
      <p:sp>
        <p:nvSpPr>
          <p:cNvPr id="15" name="圆柱形 14"/>
          <p:cNvSpPr/>
          <p:nvPr/>
        </p:nvSpPr>
        <p:spPr>
          <a:xfrm>
            <a:off x="5903595" y="3326130"/>
            <a:ext cx="1053465" cy="467995"/>
          </a:xfrm>
          <a:prstGeom prst="can">
            <a:avLst/>
          </a:prstGeom>
          <a:gradFill>
            <a:gsLst>
              <a:gs pos="50000">
                <a:schemeClr val="accent1"/>
              </a:gs>
              <a:gs pos="0">
                <a:schemeClr val="accent1">
                  <a:lumMod val="25000"/>
                  <a:lumOff val="75000"/>
                </a:schemeClr>
              </a:gs>
              <a:gs pos="100000">
                <a:schemeClr val="accent1">
                  <a:lumMod val="85000"/>
                </a:schemeClr>
              </a:gs>
            </a:gsLst>
            <a:lin ang="5400000" scaled="1"/>
          </a:gra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t>ODS</a:t>
            </a:r>
            <a:endParaRPr lang="en-US" altLang="zh-CN"/>
          </a:p>
        </p:txBody>
      </p:sp>
      <p:sp>
        <p:nvSpPr>
          <p:cNvPr id="17" name="圆柱形 16"/>
          <p:cNvSpPr/>
          <p:nvPr/>
        </p:nvSpPr>
        <p:spPr>
          <a:xfrm>
            <a:off x="5903595" y="4330065"/>
            <a:ext cx="1053465" cy="467995"/>
          </a:xfrm>
          <a:prstGeom prst="can">
            <a:avLst/>
          </a:prstGeom>
          <a:gradFill>
            <a:gsLst>
              <a:gs pos="50000">
                <a:schemeClr val="accent1"/>
              </a:gs>
              <a:gs pos="0">
                <a:schemeClr val="accent1">
                  <a:lumMod val="25000"/>
                  <a:lumOff val="75000"/>
                </a:schemeClr>
              </a:gs>
              <a:gs pos="100000">
                <a:schemeClr val="accent1">
                  <a:lumMod val="85000"/>
                </a:schemeClr>
              </a:gs>
            </a:gsLst>
            <a:lin ang="5400000" scaled="1"/>
          </a:gra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t>DW</a:t>
            </a:r>
            <a:endParaRPr lang="en-US" altLang="zh-CN"/>
          </a:p>
        </p:txBody>
      </p:sp>
      <p:sp>
        <p:nvSpPr>
          <p:cNvPr id="18" name="圆柱形 17"/>
          <p:cNvSpPr/>
          <p:nvPr/>
        </p:nvSpPr>
        <p:spPr>
          <a:xfrm>
            <a:off x="5903595" y="5269865"/>
            <a:ext cx="1053465" cy="467995"/>
          </a:xfrm>
          <a:prstGeom prst="can">
            <a:avLst/>
          </a:prstGeom>
          <a:gradFill>
            <a:gsLst>
              <a:gs pos="50000">
                <a:schemeClr val="accent1"/>
              </a:gs>
              <a:gs pos="0">
                <a:schemeClr val="accent1">
                  <a:lumMod val="25000"/>
                  <a:lumOff val="75000"/>
                </a:schemeClr>
              </a:gs>
              <a:gs pos="100000">
                <a:schemeClr val="accent1">
                  <a:lumMod val="85000"/>
                </a:schemeClr>
              </a:gs>
            </a:gsLst>
            <a:lin ang="5400000" scaled="1"/>
          </a:gra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t>ADS</a:t>
            </a:r>
            <a:endParaRPr lang="en-US" altLang="zh-CN"/>
          </a:p>
        </p:txBody>
      </p:sp>
      <p:sp>
        <p:nvSpPr>
          <p:cNvPr id="19" name="下箭头 18"/>
          <p:cNvSpPr/>
          <p:nvPr/>
        </p:nvSpPr>
        <p:spPr>
          <a:xfrm>
            <a:off x="6398895" y="3845560"/>
            <a:ext cx="75565" cy="394970"/>
          </a:xfrm>
          <a:prstGeom prst="downArrow">
            <a:avLst/>
          </a:prstGeom>
          <a:solidFill>
            <a:srgbClr val="CBE7FF"/>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1" name="下箭头 20"/>
          <p:cNvSpPr/>
          <p:nvPr/>
        </p:nvSpPr>
        <p:spPr>
          <a:xfrm>
            <a:off x="6398895" y="4836795"/>
            <a:ext cx="75565" cy="394970"/>
          </a:xfrm>
          <a:prstGeom prst="downArrow">
            <a:avLst/>
          </a:prstGeom>
          <a:solidFill>
            <a:srgbClr val="CBE7FF"/>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22" name="直接连接符 21"/>
          <p:cNvCxnSpPr/>
          <p:nvPr/>
        </p:nvCxnSpPr>
        <p:spPr>
          <a:xfrm>
            <a:off x="8935720" y="3176270"/>
            <a:ext cx="0" cy="2597785"/>
          </a:xfrm>
          <a:prstGeom prst="line">
            <a:avLst/>
          </a:prstGeom>
          <a:ln w="6350" cap="flat" cmpd="sng" algn="ctr">
            <a:solidFill>
              <a:schemeClr val="accent1"/>
            </a:solidFill>
            <a:prstDash val="dash"/>
            <a:miter lim="800000"/>
          </a:ln>
        </p:spPr>
        <p:style>
          <a:lnRef idx="0">
            <a:schemeClr val="accent1"/>
          </a:lnRef>
          <a:fillRef idx="0">
            <a:srgbClr val="FFFFFF"/>
          </a:fillRef>
          <a:effectRef idx="0">
            <a:srgbClr val="FFFFFF"/>
          </a:effectRef>
          <a:fontRef idx="minor">
            <a:schemeClr val="tx1"/>
          </a:fontRef>
        </p:style>
      </p:cxnSp>
      <p:sp>
        <p:nvSpPr>
          <p:cNvPr id="29" name="文本框 28"/>
          <p:cNvSpPr txBox="1"/>
          <p:nvPr/>
        </p:nvSpPr>
        <p:spPr>
          <a:xfrm>
            <a:off x="7179310" y="3402965"/>
            <a:ext cx="1107440" cy="368300"/>
          </a:xfrm>
          <a:prstGeom prst="rect">
            <a:avLst/>
          </a:prstGeom>
          <a:noFill/>
        </p:spPr>
        <p:txBody>
          <a:bodyPr wrap="square" rtlCol="0">
            <a:spAutoFit/>
          </a:bodyPr>
          <a:p>
            <a:r>
              <a:rPr lang="zh-CN" altLang="en-US"/>
              <a:t>数据存储</a:t>
            </a:r>
            <a:endParaRPr lang="zh-CN" altLang="en-US"/>
          </a:p>
        </p:txBody>
      </p:sp>
      <p:sp>
        <p:nvSpPr>
          <p:cNvPr id="31" name="文本框 30"/>
          <p:cNvSpPr txBox="1"/>
          <p:nvPr/>
        </p:nvSpPr>
        <p:spPr>
          <a:xfrm>
            <a:off x="7179310" y="4458335"/>
            <a:ext cx="1240155" cy="339725"/>
          </a:xfrm>
          <a:prstGeom prst="rect">
            <a:avLst/>
          </a:prstGeom>
          <a:noFill/>
        </p:spPr>
        <p:txBody>
          <a:bodyPr wrap="square" rtlCol="0">
            <a:noAutofit/>
          </a:bodyPr>
          <a:p>
            <a:r>
              <a:rPr lang="zh-CN" altLang="en-US"/>
              <a:t>数据仓库</a:t>
            </a:r>
            <a:endParaRPr lang="zh-CN" altLang="en-US"/>
          </a:p>
        </p:txBody>
      </p:sp>
      <p:sp>
        <p:nvSpPr>
          <p:cNvPr id="32" name="文本框 31"/>
          <p:cNvSpPr txBox="1"/>
          <p:nvPr/>
        </p:nvSpPr>
        <p:spPr>
          <a:xfrm>
            <a:off x="7179310" y="5366385"/>
            <a:ext cx="1189355" cy="368300"/>
          </a:xfrm>
          <a:prstGeom prst="rect">
            <a:avLst/>
          </a:prstGeom>
          <a:noFill/>
        </p:spPr>
        <p:txBody>
          <a:bodyPr wrap="square" rtlCol="0">
            <a:spAutoFit/>
          </a:bodyPr>
          <a:p>
            <a:r>
              <a:rPr lang="zh-CN" altLang="en-US"/>
              <a:t>数据应用</a:t>
            </a:r>
            <a:endParaRPr lang="zh-CN" altLang="en-US"/>
          </a:p>
        </p:txBody>
      </p:sp>
      <p:sp>
        <p:nvSpPr>
          <p:cNvPr id="33" name="矩形 32"/>
          <p:cNvSpPr/>
          <p:nvPr/>
        </p:nvSpPr>
        <p:spPr>
          <a:xfrm>
            <a:off x="9523095" y="3245485"/>
            <a:ext cx="1551940" cy="534035"/>
          </a:xfrm>
          <a:prstGeom prst="rect">
            <a:avLst/>
          </a:prstGeom>
        </p:spPr>
        <p:style>
          <a:lnRef idx="2">
            <a:schemeClr val="accent1"/>
          </a:lnRef>
          <a:fillRef idx="2">
            <a:schemeClr val="accent1"/>
          </a:fillRef>
          <a:effectRef idx="0">
            <a:srgbClr val="FFFFFF"/>
          </a:effectRef>
          <a:fontRef idx="minor">
            <a:schemeClr val="lt1"/>
          </a:fontRef>
        </p:style>
        <p:txBody>
          <a:bodyPr rtlCol="0" anchor="ctr"/>
          <a:p>
            <a:pPr algn="ctr"/>
            <a:r>
              <a:rPr lang="zh-CN" altLang="en-US"/>
              <a:t>报表</a:t>
            </a:r>
            <a:r>
              <a:rPr lang="zh-CN" altLang="en-US"/>
              <a:t>展示</a:t>
            </a:r>
            <a:endParaRPr lang="zh-CN" altLang="en-US"/>
          </a:p>
        </p:txBody>
      </p:sp>
      <p:sp>
        <p:nvSpPr>
          <p:cNvPr id="34" name="矩形 33"/>
          <p:cNvSpPr/>
          <p:nvPr/>
        </p:nvSpPr>
        <p:spPr>
          <a:xfrm>
            <a:off x="9515475" y="3990340"/>
            <a:ext cx="1551940" cy="534035"/>
          </a:xfrm>
          <a:prstGeom prst="rect">
            <a:avLst/>
          </a:prstGeom>
        </p:spPr>
        <p:style>
          <a:lnRef idx="2">
            <a:schemeClr val="accent1"/>
          </a:lnRef>
          <a:fillRef idx="2">
            <a:schemeClr val="accent1"/>
          </a:fillRef>
          <a:effectRef idx="0">
            <a:srgbClr val="FFFFFF"/>
          </a:effectRef>
          <a:fontRef idx="minor">
            <a:schemeClr val="lt1"/>
          </a:fontRef>
        </p:style>
        <p:txBody>
          <a:bodyPr rtlCol="0" anchor="ctr"/>
          <a:p>
            <a:pPr algn="ctr"/>
            <a:r>
              <a:rPr lang="zh-CN" altLang="en-US"/>
              <a:t>数据分析</a:t>
            </a:r>
            <a:endParaRPr lang="zh-CN" altLang="en-US"/>
          </a:p>
        </p:txBody>
      </p:sp>
      <p:sp>
        <p:nvSpPr>
          <p:cNvPr id="35" name="矩形 34"/>
          <p:cNvSpPr/>
          <p:nvPr/>
        </p:nvSpPr>
        <p:spPr>
          <a:xfrm>
            <a:off x="9520555" y="4735830"/>
            <a:ext cx="1551940" cy="534035"/>
          </a:xfrm>
          <a:prstGeom prst="rect">
            <a:avLst/>
          </a:prstGeom>
        </p:spPr>
        <p:style>
          <a:lnRef idx="2">
            <a:schemeClr val="accent1"/>
          </a:lnRef>
          <a:fillRef idx="2">
            <a:schemeClr val="accent1"/>
          </a:fillRef>
          <a:effectRef idx="0">
            <a:srgbClr val="FFFFFF"/>
          </a:effectRef>
          <a:fontRef idx="minor">
            <a:schemeClr val="lt1"/>
          </a:fontRef>
        </p:style>
        <p:txBody>
          <a:bodyPr rtlCol="0" anchor="ctr"/>
          <a:p>
            <a:pPr algn="ctr"/>
            <a:r>
              <a:rPr lang="zh-CN" altLang="en-US"/>
              <a:t>数据挖掘</a:t>
            </a:r>
            <a:endParaRPr lang="zh-CN" altLang="en-US"/>
          </a:p>
        </p:txBody>
      </p:sp>
      <p:sp>
        <p:nvSpPr>
          <p:cNvPr id="36" name="矩形 35"/>
          <p:cNvSpPr/>
          <p:nvPr/>
        </p:nvSpPr>
        <p:spPr>
          <a:xfrm>
            <a:off x="9535160" y="5459730"/>
            <a:ext cx="1551940" cy="534035"/>
          </a:xfrm>
          <a:prstGeom prst="rect">
            <a:avLst/>
          </a:prstGeom>
        </p:spPr>
        <p:style>
          <a:lnRef idx="2">
            <a:schemeClr val="accent1"/>
          </a:lnRef>
          <a:fillRef idx="2">
            <a:schemeClr val="accent1"/>
          </a:fillRef>
          <a:effectRef idx="0">
            <a:srgbClr val="FFFFFF"/>
          </a:effectRef>
          <a:fontRef idx="minor">
            <a:schemeClr val="lt1"/>
          </a:fontRef>
        </p:style>
        <p:txBody>
          <a:bodyPr rtlCol="0" anchor="ctr"/>
          <a:p>
            <a:pPr algn="ctr"/>
            <a:r>
              <a:rPr lang="zh-CN" altLang="en-US"/>
              <a:t>数据查询</a:t>
            </a:r>
            <a:endParaRPr lang="zh-CN" altLang="en-US"/>
          </a:p>
        </p:txBody>
      </p:sp>
      <p:sp>
        <p:nvSpPr>
          <p:cNvPr id="37" name="右箭头 36"/>
          <p:cNvSpPr/>
          <p:nvPr/>
        </p:nvSpPr>
        <p:spPr>
          <a:xfrm>
            <a:off x="2592705" y="4233545"/>
            <a:ext cx="504000" cy="360000"/>
          </a:xfrm>
          <a:prstGeom prst="rightArrow">
            <a:avLst/>
          </a:prstGeom>
          <a:solidFill>
            <a:srgbClr val="319DF9"/>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8" name="右箭头 37"/>
          <p:cNvSpPr/>
          <p:nvPr/>
        </p:nvSpPr>
        <p:spPr>
          <a:xfrm>
            <a:off x="4787265" y="4227195"/>
            <a:ext cx="504000" cy="360000"/>
          </a:xfrm>
          <a:prstGeom prst="rightArrow">
            <a:avLst/>
          </a:prstGeom>
          <a:solidFill>
            <a:srgbClr val="319DF9"/>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9" name="右箭头 38"/>
          <p:cNvSpPr/>
          <p:nvPr/>
        </p:nvSpPr>
        <p:spPr>
          <a:xfrm>
            <a:off x="8724265" y="4240530"/>
            <a:ext cx="504000" cy="360000"/>
          </a:xfrm>
          <a:prstGeom prst="rightArrow">
            <a:avLst/>
          </a:prstGeom>
          <a:solidFill>
            <a:srgbClr val="319DF9"/>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组合 17"/>
          <p:cNvGrpSpPr/>
          <p:nvPr/>
        </p:nvGrpSpPr>
        <p:grpSpPr>
          <a:xfrm>
            <a:off x="10116820" y="-402590"/>
            <a:ext cx="1976755" cy="328930"/>
            <a:chOff x="4293" y="3886"/>
            <a:chExt cx="3113" cy="518"/>
          </a:xfrm>
        </p:grpSpPr>
        <p:sp>
          <p:nvSpPr>
            <p:cNvPr id="12" name="矩形 11"/>
            <p:cNvSpPr/>
            <p:nvPr/>
          </p:nvSpPr>
          <p:spPr>
            <a:xfrm>
              <a:off x="4293" y="3886"/>
              <a:ext cx="519" cy="519"/>
            </a:xfrm>
            <a:prstGeom prst="rect">
              <a:avLst/>
            </a:prstGeom>
            <a:solidFill>
              <a:srgbClr val="319DF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3" name="矩形 12"/>
            <p:cNvSpPr/>
            <p:nvPr/>
          </p:nvSpPr>
          <p:spPr>
            <a:xfrm>
              <a:off x="4812" y="3886"/>
              <a:ext cx="519" cy="519"/>
            </a:xfrm>
            <a:prstGeom prst="rect">
              <a:avLst/>
            </a:prstGeom>
            <a:solidFill>
              <a:srgbClr val="076DF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矩形 13"/>
            <p:cNvSpPr/>
            <p:nvPr/>
          </p:nvSpPr>
          <p:spPr>
            <a:xfrm>
              <a:off x="5331" y="3886"/>
              <a:ext cx="519" cy="519"/>
            </a:xfrm>
            <a:prstGeom prst="rect">
              <a:avLst/>
            </a:prstGeom>
            <a:solidFill>
              <a:srgbClr val="08B9C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矩形 14"/>
            <p:cNvSpPr/>
            <p:nvPr/>
          </p:nvSpPr>
          <p:spPr>
            <a:xfrm>
              <a:off x="5850" y="3886"/>
              <a:ext cx="519" cy="519"/>
            </a:xfrm>
            <a:prstGeom prst="rect">
              <a:avLst/>
            </a:prstGeom>
            <a:solidFill>
              <a:srgbClr val="994AD4"/>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6" name="矩形 15"/>
            <p:cNvSpPr/>
            <p:nvPr/>
          </p:nvSpPr>
          <p:spPr>
            <a:xfrm>
              <a:off x="6369" y="3886"/>
              <a:ext cx="519" cy="519"/>
            </a:xfrm>
            <a:prstGeom prst="rect">
              <a:avLst/>
            </a:prstGeom>
            <a:solidFill>
              <a:srgbClr val="CBE7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7" name="矩形 16"/>
            <p:cNvSpPr/>
            <p:nvPr/>
          </p:nvSpPr>
          <p:spPr>
            <a:xfrm>
              <a:off x="6888" y="3886"/>
              <a:ext cx="519" cy="519"/>
            </a:xfrm>
            <a:prstGeom prst="rect">
              <a:avLst/>
            </a:prstGeom>
            <a:solidFill>
              <a:srgbClr val="1FB9F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19" name="文本框 18" descr="e7d195523061f1c09d430b2e086820dbf734666a277b0d4b500BB7A72AB1412ED5183AD7B3816201F88CE1DA88F1BDB3B214B2C038CB098A30603A7C73162896CA56D5F2C85C2877766F9AF7CC3216D72A30A8123260945F3CF9913B2C8132B15995C34893A847F2CEA0574BAD469374728EE5476AFD938193B7415C316CF399A89FF64C544ADAFE"/>
          <p:cNvSpPr txBox="1"/>
          <p:nvPr/>
        </p:nvSpPr>
        <p:spPr>
          <a:xfrm>
            <a:off x="658813" y="484882"/>
            <a:ext cx="1219200" cy="368935"/>
          </a:xfrm>
          <a:prstGeom prst="rect">
            <a:avLst/>
          </a:prstGeom>
          <a:noFill/>
        </p:spPr>
        <p:txBody>
          <a:bodyPr wrap="none" lIns="0" tIns="0" rIns="0" bIns="0" rtlCol="0">
            <a:spAutoFit/>
          </a:bodyPr>
          <a:p>
            <a:pPr marL="0" marR="0" lvl="0" indent="0" algn="l" defTabSz="914400" rtl="0" eaLnBrk="1" fontAlgn="auto" latinLnBrk="0" hangingPunct="1">
              <a:lnSpc>
                <a:spcPct val="100000"/>
              </a:lnSpc>
              <a:spcBef>
                <a:spcPts val="0"/>
              </a:spcBef>
              <a:spcAft>
                <a:spcPts val="0"/>
              </a:spcAft>
              <a:buClrTx/>
              <a:buSzTx/>
              <a:buFontTx/>
              <a:buNone/>
              <a:defRPr/>
            </a:pPr>
            <a:r>
              <a:rPr lang="zh-CN" altLang="en-US" sz="2400" b="1" dirty="0">
                <a:solidFill>
                  <a:srgbClr val="0059FA">
                    <a:lumMod val="50000"/>
                  </a:srgbClr>
                </a:solidFill>
                <a:latin typeface="Arial" panose="020B0604020202020204" pitchFamily="34" charset="0"/>
                <a:ea typeface="微软雅黑" panose="020B0503020204020204" pitchFamily="34" charset="-122"/>
              </a:rPr>
              <a:t>数仓</a:t>
            </a:r>
            <a:r>
              <a:rPr lang="zh-CN" altLang="en-US" sz="2400" b="1" dirty="0">
                <a:solidFill>
                  <a:srgbClr val="0059FA">
                    <a:lumMod val="50000"/>
                  </a:srgbClr>
                </a:solidFill>
                <a:latin typeface="Arial" panose="020B0604020202020204" pitchFamily="34" charset="0"/>
                <a:ea typeface="微软雅黑" panose="020B0503020204020204" pitchFamily="34" charset="-122"/>
              </a:rPr>
              <a:t>建模</a:t>
            </a:r>
            <a:endParaRPr lang="zh-CN" altLang="en-US" sz="2400" b="1" dirty="0">
              <a:solidFill>
                <a:srgbClr val="0059FA">
                  <a:lumMod val="50000"/>
                </a:srgbClr>
              </a:solidFill>
              <a:latin typeface="Arial" panose="020B0604020202020204" pitchFamily="34" charset="0"/>
              <a:ea typeface="微软雅黑" panose="020B0503020204020204" pitchFamily="34" charset="-122"/>
            </a:endParaRPr>
          </a:p>
        </p:txBody>
      </p:sp>
      <p:sp>
        <p:nvSpPr>
          <p:cNvPr id="3" name="文本框 2"/>
          <p:cNvSpPr txBox="1"/>
          <p:nvPr/>
        </p:nvSpPr>
        <p:spPr>
          <a:xfrm>
            <a:off x="710565" y="5681345"/>
            <a:ext cx="10863580" cy="1346200"/>
          </a:xfrm>
          <a:prstGeom prst="rect">
            <a:avLst/>
          </a:prstGeom>
          <a:noFill/>
        </p:spPr>
        <p:txBody>
          <a:bodyPr wrap="square" rtlCol="0">
            <a:noAutofit/>
          </a:bodyPr>
          <a:p>
            <a:r>
              <a:rPr lang="zh-CN" altLang="en-US"/>
              <a:t>数仓建模的流程分为物理建模、领域建模、逻辑建模、物理建模，具体来讲是</a:t>
            </a:r>
            <a:r>
              <a:rPr lang="en-US" altLang="zh-CN"/>
              <a:t>7</a:t>
            </a:r>
            <a:r>
              <a:rPr lang="zh-CN" altLang="en-US"/>
              <a:t>个步骤，梳理业务流程、划分主题域、指标体系建立、表实体关系调研、维度梳理、数仓分层、物理模型</a:t>
            </a:r>
            <a:endParaRPr lang="zh-CN" altLang="en-US"/>
          </a:p>
        </p:txBody>
      </p:sp>
      <p:sp>
        <p:nvSpPr>
          <p:cNvPr id="4" name="圆角矩形 3"/>
          <p:cNvSpPr/>
          <p:nvPr/>
        </p:nvSpPr>
        <p:spPr>
          <a:xfrm>
            <a:off x="869315" y="4467860"/>
            <a:ext cx="1070610" cy="711835"/>
          </a:xfrm>
          <a:prstGeom prst="roundRect">
            <a:avLst/>
          </a:prstGeom>
          <a:solidFill>
            <a:schemeClr val="bg2">
              <a:lumMod val="90000"/>
              <a:alpha val="76000"/>
            </a:schemeClr>
          </a:solidFill>
          <a:ln>
            <a:solidFill>
              <a:schemeClr val="accent2">
                <a:lumMod val="20000"/>
                <a:lumOff val="8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400" b="1">
                <a:solidFill>
                  <a:schemeClr val="tx1"/>
                </a:solidFill>
              </a:rPr>
              <a:t>业务</a:t>
            </a:r>
            <a:endParaRPr lang="zh-CN" altLang="en-US" sz="2400" b="1">
              <a:solidFill>
                <a:schemeClr val="tx1"/>
              </a:solidFill>
            </a:endParaRPr>
          </a:p>
          <a:p>
            <a:pPr algn="ctr"/>
            <a:r>
              <a:rPr lang="zh-CN" altLang="en-US" sz="2400" b="1">
                <a:solidFill>
                  <a:schemeClr val="tx1"/>
                </a:solidFill>
              </a:rPr>
              <a:t>建模</a:t>
            </a:r>
            <a:endParaRPr lang="zh-CN" altLang="en-US" sz="2400" b="1">
              <a:solidFill>
                <a:schemeClr val="tx1"/>
              </a:solidFill>
            </a:endParaRPr>
          </a:p>
        </p:txBody>
      </p:sp>
      <p:sp>
        <p:nvSpPr>
          <p:cNvPr id="5" name="圆角矩形 4"/>
          <p:cNvSpPr/>
          <p:nvPr/>
        </p:nvSpPr>
        <p:spPr>
          <a:xfrm>
            <a:off x="2515235" y="4467860"/>
            <a:ext cx="966470" cy="711835"/>
          </a:xfrm>
          <a:prstGeom prst="roundRect">
            <a:avLst/>
          </a:prstGeom>
          <a:solidFill>
            <a:schemeClr val="bg2">
              <a:lumMod val="75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400" b="1">
                <a:solidFill>
                  <a:schemeClr val="tx1"/>
                </a:solidFill>
              </a:rPr>
              <a:t>领域</a:t>
            </a:r>
            <a:endParaRPr lang="zh-CN" altLang="en-US" sz="2400" b="1">
              <a:solidFill>
                <a:schemeClr val="tx1"/>
              </a:solidFill>
            </a:endParaRPr>
          </a:p>
          <a:p>
            <a:pPr algn="ctr"/>
            <a:r>
              <a:rPr lang="zh-CN" altLang="en-US" sz="2400" b="1">
                <a:solidFill>
                  <a:schemeClr val="tx1"/>
                </a:solidFill>
              </a:rPr>
              <a:t>建模</a:t>
            </a:r>
            <a:endParaRPr lang="zh-CN" altLang="en-US" sz="2400" b="1">
              <a:solidFill>
                <a:schemeClr val="tx1"/>
              </a:solidFill>
            </a:endParaRPr>
          </a:p>
        </p:txBody>
      </p:sp>
      <p:sp>
        <p:nvSpPr>
          <p:cNvPr id="6" name="圆角矩形 5"/>
          <p:cNvSpPr/>
          <p:nvPr/>
        </p:nvSpPr>
        <p:spPr>
          <a:xfrm>
            <a:off x="4161790" y="4467860"/>
            <a:ext cx="4886960" cy="711835"/>
          </a:xfrm>
          <a:prstGeom prst="roundRect">
            <a:avLst/>
          </a:prstGeom>
          <a:solidFill>
            <a:schemeClr val="bg2">
              <a:lumMod val="5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400" b="1"/>
              <a:t>逻辑</a:t>
            </a:r>
            <a:endParaRPr lang="zh-CN" altLang="en-US" sz="2400" b="1"/>
          </a:p>
          <a:p>
            <a:pPr algn="ctr"/>
            <a:r>
              <a:rPr lang="zh-CN" altLang="en-US" sz="2400" b="1"/>
              <a:t>建模</a:t>
            </a:r>
            <a:endParaRPr lang="zh-CN" altLang="en-US" sz="2400" b="1"/>
          </a:p>
        </p:txBody>
      </p:sp>
      <p:sp>
        <p:nvSpPr>
          <p:cNvPr id="9" name="圆角矩形 8"/>
          <p:cNvSpPr/>
          <p:nvPr/>
        </p:nvSpPr>
        <p:spPr>
          <a:xfrm>
            <a:off x="9904095" y="4467860"/>
            <a:ext cx="1070610" cy="711835"/>
          </a:xfrm>
          <a:prstGeom prst="roundRect">
            <a:avLst/>
          </a:prstGeom>
          <a:solidFill>
            <a:schemeClr val="bg2">
              <a:lumMod val="25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400" b="1"/>
              <a:t>物理</a:t>
            </a:r>
            <a:endParaRPr lang="zh-CN" altLang="en-US" sz="2400" b="1"/>
          </a:p>
          <a:p>
            <a:pPr algn="ctr"/>
            <a:r>
              <a:rPr lang="zh-CN" altLang="en-US" sz="2400" b="1"/>
              <a:t>建模</a:t>
            </a:r>
            <a:endParaRPr lang="zh-CN" altLang="en-US" sz="2400" b="1"/>
          </a:p>
        </p:txBody>
      </p:sp>
      <p:sp>
        <p:nvSpPr>
          <p:cNvPr id="10" name="文本框 9"/>
          <p:cNvSpPr txBox="1"/>
          <p:nvPr/>
        </p:nvSpPr>
        <p:spPr>
          <a:xfrm>
            <a:off x="854710" y="3387090"/>
            <a:ext cx="1085215" cy="715010"/>
          </a:xfrm>
          <a:prstGeom prst="rect">
            <a:avLst/>
          </a:prstGeom>
          <a:noFill/>
        </p:spPr>
        <p:txBody>
          <a:bodyPr wrap="square" rtlCol="0">
            <a:noAutofit/>
          </a:bodyPr>
          <a:p>
            <a:pPr algn="ctr"/>
            <a:r>
              <a:rPr lang="zh-CN" altLang="en-US" sz="2000" b="1"/>
              <a:t>梳理业务流程</a:t>
            </a:r>
            <a:endParaRPr lang="zh-CN" altLang="en-US" sz="2000" b="1"/>
          </a:p>
        </p:txBody>
      </p:sp>
      <p:sp>
        <p:nvSpPr>
          <p:cNvPr id="22" name="文本框 21"/>
          <p:cNvSpPr txBox="1"/>
          <p:nvPr/>
        </p:nvSpPr>
        <p:spPr>
          <a:xfrm>
            <a:off x="2407920" y="2905125"/>
            <a:ext cx="1085215" cy="715010"/>
          </a:xfrm>
          <a:prstGeom prst="rect">
            <a:avLst/>
          </a:prstGeom>
          <a:noFill/>
        </p:spPr>
        <p:txBody>
          <a:bodyPr wrap="square" rtlCol="0">
            <a:noAutofit/>
          </a:bodyPr>
          <a:p>
            <a:pPr algn="ctr"/>
            <a:r>
              <a:rPr lang="zh-CN" altLang="en-US" sz="2000" b="1"/>
              <a:t>数仓分域</a:t>
            </a:r>
            <a:r>
              <a:rPr lang="en-US" altLang="zh-CN" sz="2000" b="1"/>
              <a:t>/</a:t>
            </a:r>
            <a:r>
              <a:rPr lang="zh-CN" altLang="en-US" sz="2000" b="1"/>
              <a:t>主题</a:t>
            </a:r>
            <a:endParaRPr lang="zh-CN" altLang="en-US" sz="2000" b="1"/>
          </a:p>
        </p:txBody>
      </p:sp>
      <p:sp>
        <p:nvSpPr>
          <p:cNvPr id="23" name="文本框 22"/>
          <p:cNvSpPr txBox="1"/>
          <p:nvPr/>
        </p:nvSpPr>
        <p:spPr>
          <a:xfrm>
            <a:off x="3777615" y="2352040"/>
            <a:ext cx="1085215" cy="715010"/>
          </a:xfrm>
          <a:prstGeom prst="rect">
            <a:avLst/>
          </a:prstGeom>
          <a:noFill/>
        </p:spPr>
        <p:txBody>
          <a:bodyPr wrap="square" rtlCol="0">
            <a:noAutofit/>
          </a:bodyPr>
          <a:p>
            <a:pPr algn="ctr"/>
            <a:r>
              <a:rPr lang="zh-CN" altLang="en-US" sz="2000" b="1"/>
              <a:t>指标体系</a:t>
            </a:r>
            <a:r>
              <a:rPr lang="zh-CN" altLang="en-US" sz="2000" b="1"/>
              <a:t>梳理</a:t>
            </a:r>
            <a:endParaRPr lang="zh-CN" altLang="en-US" sz="2000" b="1"/>
          </a:p>
        </p:txBody>
      </p:sp>
      <p:sp>
        <p:nvSpPr>
          <p:cNvPr id="24" name="文本框 23"/>
          <p:cNvSpPr txBox="1"/>
          <p:nvPr/>
        </p:nvSpPr>
        <p:spPr>
          <a:xfrm>
            <a:off x="5099050" y="2352040"/>
            <a:ext cx="1085215" cy="715010"/>
          </a:xfrm>
          <a:prstGeom prst="rect">
            <a:avLst/>
          </a:prstGeom>
          <a:noFill/>
        </p:spPr>
        <p:txBody>
          <a:bodyPr wrap="square" rtlCol="0">
            <a:noAutofit/>
          </a:bodyPr>
          <a:p>
            <a:pPr algn="ctr"/>
            <a:r>
              <a:rPr lang="zh-CN" altLang="en-US" sz="2000" b="1"/>
              <a:t>实体关系</a:t>
            </a:r>
            <a:r>
              <a:rPr lang="zh-CN" altLang="en-US" sz="2000" b="1"/>
              <a:t>调研</a:t>
            </a:r>
            <a:endParaRPr lang="zh-CN" altLang="en-US" sz="2000" b="1"/>
          </a:p>
        </p:txBody>
      </p:sp>
      <p:sp>
        <p:nvSpPr>
          <p:cNvPr id="25" name="文本框 24"/>
          <p:cNvSpPr txBox="1"/>
          <p:nvPr/>
        </p:nvSpPr>
        <p:spPr>
          <a:xfrm>
            <a:off x="6420485" y="2352040"/>
            <a:ext cx="1457960" cy="553720"/>
          </a:xfrm>
          <a:prstGeom prst="rect">
            <a:avLst/>
          </a:prstGeom>
          <a:noFill/>
        </p:spPr>
        <p:txBody>
          <a:bodyPr wrap="square" rtlCol="0">
            <a:noAutofit/>
          </a:bodyPr>
          <a:p>
            <a:pPr algn="ctr"/>
            <a:r>
              <a:rPr lang="zh-CN" altLang="en-US" sz="2000" b="1"/>
              <a:t>维度梳理</a:t>
            </a:r>
            <a:endParaRPr lang="zh-CN" altLang="en-US" sz="2000" b="1"/>
          </a:p>
        </p:txBody>
      </p:sp>
      <p:sp>
        <p:nvSpPr>
          <p:cNvPr id="26" name="文本框 25"/>
          <p:cNvSpPr txBox="1"/>
          <p:nvPr/>
        </p:nvSpPr>
        <p:spPr>
          <a:xfrm>
            <a:off x="7964170" y="2352040"/>
            <a:ext cx="1457960" cy="553720"/>
          </a:xfrm>
          <a:prstGeom prst="rect">
            <a:avLst/>
          </a:prstGeom>
          <a:noFill/>
        </p:spPr>
        <p:txBody>
          <a:bodyPr wrap="square" rtlCol="0">
            <a:noAutofit/>
          </a:bodyPr>
          <a:p>
            <a:pPr algn="ctr"/>
            <a:r>
              <a:rPr lang="zh-CN" altLang="en-US" sz="2000" b="1"/>
              <a:t>数仓分层</a:t>
            </a:r>
            <a:endParaRPr lang="zh-CN" altLang="en-US" sz="2000" b="1"/>
          </a:p>
        </p:txBody>
      </p:sp>
      <p:cxnSp>
        <p:nvCxnSpPr>
          <p:cNvPr id="27" name="肘形连接符 26"/>
          <p:cNvCxnSpPr/>
          <p:nvPr/>
        </p:nvCxnSpPr>
        <p:spPr>
          <a:xfrm flipV="1">
            <a:off x="7964170" y="1619250"/>
            <a:ext cx="3322955" cy="524510"/>
          </a:xfrm>
          <a:prstGeom prst="bentConnector3">
            <a:avLst>
              <a:gd name="adj1" fmla="val 42728"/>
            </a:avLst>
          </a:prstGeom>
          <a:ln w="127000">
            <a:gradFill>
              <a:gsLst>
                <a:gs pos="0">
                  <a:schemeClr val="accent1">
                    <a:lumMod val="5000"/>
                    <a:lumOff val="95000"/>
                  </a:schemeClr>
                </a:gs>
                <a:gs pos="99000">
                  <a:schemeClr val="bg2">
                    <a:lumMod val="75000"/>
                  </a:schemeClr>
                </a:gs>
                <a:gs pos="94000">
                  <a:schemeClr val="bg2">
                    <a:lumMod val="25000"/>
                  </a:schemeClr>
                </a:gs>
                <a:gs pos="53000">
                  <a:schemeClr val="bg2">
                    <a:lumMod val="25000"/>
                  </a:schemeClr>
                </a:gs>
                <a:gs pos="95000">
                  <a:schemeClr val="bg2">
                    <a:lumMod val="75000"/>
                  </a:schemeClr>
                </a:gs>
                <a:gs pos="100000">
                  <a:srgbClr val="3566E6">
                    <a:alpha val="100000"/>
                  </a:srgbClr>
                </a:gs>
                <a:gs pos="100000">
                  <a:srgbClr val="5286EE">
                    <a:alpha val="100000"/>
                  </a:srgbClr>
                </a:gs>
                <a:gs pos="100000">
                  <a:schemeClr val="accent1">
                    <a:lumMod val="45000"/>
                    <a:lumOff val="55000"/>
                  </a:schemeClr>
                </a:gs>
                <a:gs pos="100000">
                  <a:schemeClr val="bg2">
                    <a:lumMod val="25000"/>
                  </a:schemeClr>
                </a:gs>
              </a:gsLst>
              <a:lin ang="4920000" scaled="0"/>
            </a:gradFill>
          </a:ln>
        </p:spPr>
        <p:style>
          <a:lnRef idx="2">
            <a:schemeClr val="accent1"/>
          </a:lnRef>
          <a:fillRef idx="0">
            <a:srgbClr val="FFFFFF"/>
          </a:fillRef>
          <a:effectRef idx="0">
            <a:srgbClr val="FFFFFF"/>
          </a:effectRef>
          <a:fontRef idx="minor">
            <a:schemeClr val="tx1"/>
          </a:fontRef>
        </p:style>
      </p:cxnSp>
      <p:cxnSp>
        <p:nvCxnSpPr>
          <p:cNvPr id="20" name="肘形连接符 19"/>
          <p:cNvCxnSpPr/>
          <p:nvPr/>
        </p:nvCxnSpPr>
        <p:spPr>
          <a:xfrm flipV="1">
            <a:off x="2265680" y="2143760"/>
            <a:ext cx="7033260" cy="572135"/>
          </a:xfrm>
          <a:prstGeom prst="bentConnector3">
            <a:avLst>
              <a:gd name="adj1" fmla="val 20765"/>
            </a:avLst>
          </a:prstGeom>
          <a:ln w="127000">
            <a:gradFill>
              <a:gsLst>
                <a:gs pos="0">
                  <a:schemeClr val="accent1">
                    <a:lumMod val="5000"/>
                    <a:lumOff val="95000"/>
                  </a:schemeClr>
                </a:gs>
                <a:gs pos="99000">
                  <a:schemeClr val="bg2">
                    <a:lumMod val="75000"/>
                  </a:schemeClr>
                </a:gs>
                <a:gs pos="100000">
                  <a:schemeClr val="bg2">
                    <a:lumMod val="50000"/>
                  </a:schemeClr>
                </a:gs>
                <a:gs pos="53000">
                  <a:schemeClr val="bg2">
                    <a:lumMod val="50000"/>
                  </a:schemeClr>
                </a:gs>
                <a:gs pos="94000">
                  <a:schemeClr val="bg2">
                    <a:lumMod val="50000"/>
                  </a:schemeClr>
                </a:gs>
                <a:gs pos="100000">
                  <a:srgbClr val="3566E6">
                    <a:alpha val="100000"/>
                  </a:srgbClr>
                </a:gs>
                <a:gs pos="100000">
                  <a:srgbClr val="5286EE">
                    <a:alpha val="100000"/>
                  </a:srgbClr>
                </a:gs>
                <a:gs pos="100000">
                  <a:schemeClr val="accent1">
                    <a:lumMod val="45000"/>
                    <a:lumOff val="55000"/>
                  </a:schemeClr>
                </a:gs>
                <a:gs pos="100000">
                  <a:schemeClr val="bg2">
                    <a:lumMod val="50000"/>
                  </a:schemeClr>
                </a:gs>
              </a:gsLst>
              <a:lin ang="5160000" scaled="0"/>
            </a:gradFill>
          </a:ln>
        </p:spPr>
        <p:style>
          <a:lnRef idx="2">
            <a:schemeClr val="accent1"/>
          </a:lnRef>
          <a:fillRef idx="0">
            <a:srgbClr val="FFFFFF"/>
          </a:fillRef>
          <a:effectRef idx="0">
            <a:srgbClr val="FFFFFF"/>
          </a:effectRef>
          <a:fontRef idx="minor">
            <a:schemeClr val="tx1"/>
          </a:fontRef>
        </p:style>
      </p:cxnSp>
      <p:cxnSp>
        <p:nvCxnSpPr>
          <p:cNvPr id="8" name="肘形连接符 7"/>
          <p:cNvCxnSpPr/>
          <p:nvPr/>
        </p:nvCxnSpPr>
        <p:spPr>
          <a:xfrm flipV="1">
            <a:off x="799465" y="2715895"/>
            <a:ext cx="2854960" cy="537210"/>
          </a:xfrm>
          <a:prstGeom prst="bentConnector3">
            <a:avLst>
              <a:gd name="adj1" fmla="val 50022"/>
            </a:avLst>
          </a:prstGeom>
          <a:ln w="127000">
            <a:gradFill>
              <a:gsLst>
                <a:gs pos="0">
                  <a:schemeClr val="accent1">
                    <a:lumMod val="5000"/>
                    <a:lumOff val="95000"/>
                  </a:schemeClr>
                </a:gs>
                <a:gs pos="99000">
                  <a:schemeClr val="bg2">
                    <a:lumMod val="75000"/>
                  </a:schemeClr>
                </a:gs>
                <a:gs pos="53000">
                  <a:schemeClr val="bg2">
                    <a:lumMod val="75000"/>
                  </a:schemeClr>
                </a:gs>
                <a:gs pos="95000">
                  <a:schemeClr val="bg2">
                    <a:lumMod val="75000"/>
                  </a:schemeClr>
                </a:gs>
                <a:gs pos="100000">
                  <a:srgbClr val="3566E6">
                    <a:alpha val="100000"/>
                  </a:srgbClr>
                </a:gs>
                <a:gs pos="100000">
                  <a:srgbClr val="5286EE">
                    <a:alpha val="100000"/>
                  </a:srgbClr>
                </a:gs>
                <a:gs pos="100000">
                  <a:schemeClr val="accent1">
                    <a:lumMod val="45000"/>
                    <a:lumOff val="55000"/>
                  </a:schemeClr>
                </a:gs>
                <a:gs pos="100000">
                  <a:schemeClr val="accent1">
                    <a:lumMod val="30000"/>
                    <a:lumOff val="70000"/>
                  </a:schemeClr>
                </a:gs>
              </a:gsLst>
              <a:lin ang="5160000" scaled="0"/>
            </a:gradFill>
          </a:ln>
        </p:spPr>
        <p:style>
          <a:lnRef idx="2">
            <a:schemeClr val="accent1"/>
          </a:lnRef>
          <a:fillRef idx="0">
            <a:srgbClr val="FFFFFF"/>
          </a:fillRef>
          <a:effectRef idx="0">
            <a:srgbClr val="FFFFFF"/>
          </a:effectRef>
          <a:fontRef idx="minor">
            <a:schemeClr val="tx1"/>
          </a:fontRef>
        </p:style>
      </p:cxnSp>
      <p:sp>
        <p:nvSpPr>
          <p:cNvPr id="29" name="文本框 28"/>
          <p:cNvSpPr txBox="1"/>
          <p:nvPr/>
        </p:nvSpPr>
        <p:spPr>
          <a:xfrm>
            <a:off x="9647555" y="1871980"/>
            <a:ext cx="1457960" cy="553720"/>
          </a:xfrm>
          <a:prstGeom prst="rect">
            <a:avLst/>
          </a:prstGeom>
          <a:noFill/>
        </p:spPr>
        <p:txBody>
          <a:bodyPr wrap="square" rtlCol="0">
            <a:noAutofit/>
          </a:bodyPr>
          <a:p>
            <a:pPr algn="ctr"/>
            <a:r>
              <a:rPr lang="zh-CN" altLang="en-US" sz="2000" b="1"/>
              <a:t>模型</a:t>
            </a:r>
            <a:r>
              <a:rPr lang="zh-CN" altLang="en-US" sz="2000" b="1"/>
              <a:t>建立</a:t>
            </a:r>
            <a:endParaRPr lang="zh-CN" altLang="en-US" sz="2000" b="1"/>
          </a:p>
        </p:txBody>
      </p:sp>
      <p:sp>
        <p:nvSpPr>
          <p:cNvPr id="30" name="右箭头 29"/>
          <p:cNvSpPr/>
          <p:nvPr/>
        </p:nvSpPr>
        <p:spPr>
          <a:xfrm>
            <a:off x="2023745" y="4695825"/>
            <a:ext cx="407035" cy="255905"/>
          </a:xfrm>
          <a:prstGeom prst="rightArrow">
            <a:avLst/>
          </a:prstGeom>
          <a:solidFill>
            <a:schemeClr val="bg2">
              <a:lumMod val="9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1" name="右箭头 30"/>
          <p:cNvSpPr/>
          <p:nvPr/>
        </p:nvSpPr>
        <p:spPr>
          <a:xfrm>
            <a:off x="3585845" y="4695825"/>
            <a:ext cx="407035" cy="255905"/>
          </a:xfrm>
          <a:prstGeom prst="rightArrow">
            <a:avLst/>
          </a:prstGeom>
          <a:solidFill>
            <a:schemeClr val="bg2">
              <a:lumMod val="75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2" name="右箭头 31"/>
          <p:cNvSpPr/>
          <p:nvPr/>
        </p:nvSpPr>
        <p:spPr>
          <a:xfrm>
            <a:off x="9272905" y="4695825"/>
            <a:ext cx="407035" cy="255905"/>
          </a:xfrm>
          <a:prstGeom prst="rightArrow">
            <a:avLst/>
          </a:prstGeom>
          <a:solidFill>
            <a:schemeClr val="bg2">
              <a:lumMod val="5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33" name="直接连接符 32"/>
          <p:cNvCxnSpPr/>
          <p:nvPr/>
        </p:nvCxnSpPr>
        <p:spPr>
          <a:xfrm flipH="1">
            <a:off x="2146935" y="2696210"/>
            <a:ext cx="34290" cy="2567940"/>
          </a:xfrm>
          <a:prstGeom prst="line">
            <a:avLst/>
          </a:prstGeom>
          <a:ln w="6350" cap="flat" cmpd="sng" algn="ctr">
            <a:solidFill>
              <a:schemeClr val="accent1"/>
            </a:solidFill>
            <a:prstDash val="dash"/>
            <a:miter lim="800000"/>
          </a:ln>
        </p:spPr>
        <p:style>
          <a:lnRef idx="0">
            <a:schemeClr val="accent1"/>
          </a:lnRef>
          <a:fillRef idx="0">
            <a:srgbClr val="FFFFFF"/>
          </a:fillRef>
          <a:effectRef idx="0">
            <a:srgbClr val="FFFFFF"/>
          </a:effectRef>
          <a:fontRef idx="minor">
            <a:schemeClr val="tx1"/>
          </a:fontRef>
        </p:style>
      </p:cxnSp>
      <p:cxnSp>
        <p:nvCxnSpPr>
          <p:cNvPr id="36" name="直接连接符 35"/>
          <p:cNvCxnSpPr/>
          <p:nvPr/>
        </p:nvCxnSpPr>
        <p:spPr>
          <a:xfrm flipH="1">
            <a:off x="3775710" y="2236470"/>
            <a:ext cx="36195" cy="3082925"/>
          </a:xfrm>
          <a:prstGeom prst="line">
            <a:avLst/>
          </a:prstGeom>
          <a:ln w="6350" cap="flat" cmpd="sng" algn="ctr">
            <a:solidFill>
              <a:schemeClr val="accent1"/>
            </a:solidFill>
            <a:prstDash val="dash"/>
            <a:miter lim="800000"/>
          </a:ln>
        </p:spPr>
        <p:style>
          <a:lnRef idx="0">
            <a:schemeClr val="accent1"/>
          </a:lnRef>
          <a:fillRef idx="0">
            <a:srgbClr val="FFFFFF"/>
          </a:fillRef>
          <a:effectRef idx="0">
            <a:srgbClr val="FFFFFF"/>
          </a:effectRef>
          <a:fontRef idx="minor">
            <a:schemeClr val="tx1"/>
          </a:fontRef>
        </p:style>
      </p:cxnSp>
      <p:cxnSp>
        <p:nvCxnSpPr>
          <p:cNvPr id="37" name="直接连接符 36"/>
          <p:cNvCxnSpPr/>
          <p:nvPr/>
        </p:nvCxnSpPr>
        <p:spPr>
          <a:xfrm flipH="1">
            <a:off x="9395460" y="1623060"/>
            <a:ext cx="39370" cy="3571875"/>
          </a:xfrm>
          <a:prstGeom prst="line">
            <a:avLst/>
          </a:prstGeom>
          <a:ln w="6350" cap="flat" cmpd="sng" algn="ctr">
            <a:solidFill>
              <a:schemeClr val="accent1"/>
            </a:solidFill>
            <a:prstDash val="dash"/>
            <a:miter lim="800000"/>
          </a:ln>
        </p:spPr>
        <p:style>
          <a:lnRef idx="0">
            <a:schemeClr val="accent1"/>
          </a:lnRef>
          <a:fillRef idx="0">
            <a:srgbClr val="FFFFFF"/>
          </a:fillRef>
          <a:effectRef idx="0">
            <a:srgbClr val="FFFFFF"/>
          </a:effectRef>
          <a:fontRef idx="minor">
            <a:schemeClr val="tx1"/>
          </a:fontRef>
        </p:style>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descr="e7d195523061f1c09d430b2e086820dbf734666a277b0d4b500BB7A72AB1412ED5183AD7B3816201F88CE1DA88F1BDB3B214B2C038CB098A30603A7C73162896CA56D5F2C85C2877766F9AF7CC3216D72A30A8123260945F3CF9913B2C8132B15995C34893A847F2CEA0574BAD469374728EE5476AFD938193B7415C316CF399A89FF64C544ADAFE"/>
          <p:cNvSpPr txBox="1"/>
          <p:nvPr/>
        </p:nvSpPr>
        <p:spPr>
          <a:xfrm>
            <a:off x="658813" y="484882"/>
            <a:ext cx="2133600" cy="368935"/>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400" b="1" dirty="0">
                <a:solidFill>
                  <a:srgbClr val="0059FA">
                    <a:lumMod val="50000"/>
                  </a:srgbClr>
                </a:solidFill>
                <a:latin typeface="Arial" panose="020B0604020202020204" pitchFamily="34" charset="0"/>
                <a:ea typeface="微软雅黑" panose="020B0503020204020204" pitchFamily="34" charset="-122"/>
                <a:sym typeface="+mn-ea"/>
              </a:rPr>
              <a:t>数仓分层的原因</a:t>
            </a:r>
            <a:endParaRPr lang="zh-CN" altLang="en-US" sz="2400" b="1" dirty="0">
              <a:solidFill>
                <a:srgbClr val="0059FA">
                  <a:lumMod val="50000"/>
                </a:srgbClr>
              </a:solidFill>
              <a:latin typeface="Arial" panose="020B0604020202020204" pitchFamily="34" charset="0"/>
              <a:ea typeface="微软雅黑" panose="020B0503020204020204" pitchFamily="34" charset="-122"/>
            </a:endParaRPr>
          </a:p>
        </p:txBody>
      </p:sp>
      <p:grpSp>
        <p:nvGrpSpPr>
          <p:cNvPr id="3" name="组合 2"/>
          <p:cNvGrpSpPr/>
          <p:nvPr/>
        </p:nvGrpSpPr>
        <p:grpSpPr>
          <a:xfrm>
            <a:off x="10116820" y="-402590"/>
            <a:ext cx="1976755" cy="328930"/>
            <a:chOff x="4293" y="3886"/>
            <a:chExt cx="3113" cy="518"/>
          </a:xfrm>
        </p:grpSpPr>
        <p:sp>
          <p:nvSpPr>
            <p:cNvPr id="4" name="矩形 3"/>
            <p:cNvSpPr/>
            <p:nvPr/>
          </p:nvSpPr>
          <p:spPr>
            <a:xfrm>
              <a:off x="4293" y="3886"/>
              <a:ext cx="519" cy="519"/>
            </a:xfrm>
            <a:prstGeom prst="rect">
              <a:avLst/>
            </a:prstGeom>
            <a:solidFill>
              <a:srgbClr val="319DF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6" name="矩形 15"/>
            <p:cNvSpPr/>
            <p:nvPr/>
          </p:nvSpPr>
          <p:spPr>
            <a:xfrm>
              <a:off x="4812" y="3886"/>
              <a:ext cx="519" cy="519"/>
            </a:xfrm>
            <a:prstGeom prst="rect">
              <a:avLst/>
            </a:prstGeom>
            <a:solidFill>
              <a:srgbClr val="076DF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0" name="矩形 19"/>
            <p:cNvSpPr/>
            <p:nvPr/>
          </p:nvSpPr>
          <p:spPr>
            <a:xfrm>
              <a:off x="5331" y="3886"/>
              <a:ext cx="519" cy="519"/>
            </a:xfrm>
            <a:prstGeom prst="rect">
              <a:avLst/>
            </a:prstGeom>
            <a:solidFill>
              <a:srgbClr val="08B9C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3" name="矩形 22"/>
            <p:cNvSpPr/>
            <p:nvPr/>
          </p:nvSpPr>
          <p:spPr>
            <a:xfrm>
              <a:off x="5850" y="3886"/>
              <a:ext cx="519" cy="519"/>
            </a:xfrm>
            <a:prstGeom prst="rect">
              <a:avLst/>
            </a:prstGeom>
            <a:solidFill>
              <a:srgbClr val="994AD4"/>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4" name="矩形 23"/>
            <p:cNvSpPr/>
            <p:nvPr/>
          </p:nvSpPr>
          <p:spPr>
            <a:xfrm>
              <a:off x="6369" y="3886"/>
              <a:ext cx="519" cy="519"/>
            </a:xfrm>
            <a:prstGeom prst="rect">
              <a:avLst/>
            </a:prstGeom>
            <a:solidFill>
              <a:srgbClr val="CBE7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5" name="矩形 24"/>
            <p:cNvSpPr/>
            <p:nvPr/>
          </p:nvSpPr>
          <p:spPr>
            <a:xfrm>
              <a:off x="6888" y="3886"/>
              <a:ext cx="519" cy="519"/>
            </a:xfrm>
            <a:prstGeom prst="rect">
              <a:avLst/>
            </a:prstGeom>
            <a:solidFill>
              <a:srgbClr val="1FB9F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6" name="圆角矩形 5"/>
          <p:cNvSpPr/>
          <p:nvPr/>
        </p:nvSpPr>
        <p:spPr>
          <a:xfrm>
            <a:off x="600075" y="1356360"/>
            <a:ext cx="1915160" cy="83121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nchorCtr="0"/>
          <a:p>
            <a:pPr algn="ctr"/>
            <a:r>
              <a:rPr lang="zh-CN" altLang="en-US" b="1" dirty="0">
                <a:solidFill>
                  <a:schemeClr val="bg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sym typeface="+mn-ea"/>
              </a:rPr>
              <a:t>清晰数据结构</a:t>
            </a:r>
            <a:endParaRPr lang="zh-CN" altLang="en-US" b="1" dirty="0">
              <a:solidFill>
                <a:schemeClr val="bg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sym typeface="+mn-ea"/>
            </a:endParaRPr>
          </a:p>
        </p:txBody>
      </p:sp>
      <p:sp>
        <p:nvSpPr>
          <p:cNvPr id="7" name="文本框 6"/>
          <p:cNvSpPr txBox="1"/>
          <p:nvPr/>
        </p:nvSpPr>
        <p:spPr>
          <a:xfrm>
            <a:off x="612775" y="2407920"/>
            <a:ext cx="2012950" cy="4097655"/>
          </a:xfrm>
          <a:prstGeom prst="rect">
            <a:avLst/>
          </a:prstGeom>
          <a:ln w="6350" cap="flat" cmpd="sng" algn="ctr">
            <a:solidFill>
              <a:schemeClr val="accent1"/>
            </a:solidFill>
            <a:prstDash val="dash"/>
            <a:miter lim="800000"/>
          </a:ln>
        </p:spPr>
        <p:style>
          <a:lnRef idx="0">
            <a:schemeClr val="accent1"/>
          </a:lnRef>
          <a:fillRef idx="0">
            <a:srgbClr val="FFFFFF"/>
          </a:fillRef>
          <a:effectRef idx="0">
            <a:srgbClr val="FFFFFF"/>
          </a:effectRef>
          <a:fontRef idx="minor">
            <a:schemeClr val="tx1"/>
          </a:fontRef>
        </p:style>
        <p:txBody>
          <a:bodyPr wrap="square" rtlCol="0" anchor="ctr" anchorCtr="0">
            <a:noAutofit/>
          </a:bodyPr>
          <a:p>
            <a:pPr algn="l"/>
            <a:r>
              <a:rPr lang="zh-CN" altLang="en-US" dirty="0">
                <a:sym typeface="+mn-ea"/>
              </a:rPr>
              <a:t>每一个数据分层都有它的作用域，这样我们在使用表的时候能更方便地定位和理解。</a:t>
            </a:r>
            <a:endParaRPr lang="zh-CN" altLang="en-US"/>
          </a:p>
        </p:txBody>
      </p:sp>
      <p:sp>
        <p:nvSpPr>
          <p:cNvPr id="9" name="圆角矩形 8"/>
          <p:cNvSpPr/>
          <p:nvPr/>
        </p:nvSpPr>
        <p:spPr>
          <a:xfrm>
            <a:off x="2792730" y="1356360"/>
            <a:ext cx="1915160" cy="83121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nchorCtr="0"/>
          <a:p>
            <a:pPr algn="ctr"/>
            <a:r>
              <a:rPr lang="zh-CN" altLang="en-US" b="1" dirty="0">
                <a:latin typeface="微软雅黑" panose="020B0503020204020204" pitchFamily="34" charset="-122"/>
                <a:ea typeface="微软雅黑" panose="020B0503020204020204" pitchFamily="34" charset="-122"/>
                <a:sym typeface="+mn-ea"/>
              </a:rPr>
              <a:t>方便数据血缘追踪</a:t>
            </a:r>
            <a:endParaRPr lang="zh-CN" altLang="en-US"/>
          </a:p>
        </p:txBody>
      </p:sp>
      <p:sp>
        <p:nvSpPr>
          <p:cNvPr id="13" name="文本框 12"/>
          <p:cNvSpPr txBox="1"/>
          <p:nvPr/>
        </p:nvSpPr>
        <p:spPr>
          <a:xfrm>
            <a:off x="2792730" y="2409190"/>
            <a:ext cx="2012950" cy="4098925"/>
          </a:xfrm>
          <a:prstGeom prst="rect">
            <a:avLst/>
          </a:prstGeom>
          <a:ln w="6350" cap="flat" cmpd="sng" algn="ctr">
            <a:solidFill>
              <a:schemeClr val="accent1"/>
            </a:solidFill>
            <a:prstDash val="dash"/>
            <a:miter lim="800000"/>
          </a:ln>
        </p:spPr>
        <p:style>
          <a:lnRef idx="0">
            <a:schemeClr val="accent1"/>
          </a:lnRef>
          <a:fillRef idx="0">
            <a:srgbClr val="FFFFFF"/>
          </a:fillRef>
          <a:effectRef idx="0">
            <a:srgbClr val="FFFFFF"/>
          </a:effectRef>
          <a:fontRef idx="minor">
            <a:schemeClr val="tx1"/>
          </a:fontRef>
        </p:style>
        <p:txBody>
          <a:bodyPr wrap="square" rtlCol="0" anchor="ctr" anchorCtr="0">
            <a:noAutofit/>
          </a:bodyPr>
          <a:p>
            <a:r>
              <a:rPr lang="zh-CN" altLang="en-US" dirty="0">
                <a:sym typeface="+mn-ea"/>
              </a:rPr>
              <a:t>简单来说，我们最终给业务呈现的是一个能直接使用业务表，但是它的来源有很多，如果有一张来源表出问题了，我们希望能够快速准确地定位到问题，并清楚它的危害范围。</a:t>
            </a:r>
            <a:endParaRPr lang="zh-CN" altLang="en-US"/>
          </a:p>
        </p:txBody>
      </p:sp>
      <p:sp>
        <p:nvSpPr>
          <p:cNvPr id="15" name="圆角矩形 14"/>
          <p:cNvSpPr/>
          <p:nvPr/>
        </p:nvSpPr>
        <p:spPr>
          <a:xfrm>
            <a:off x="9618980" y="1323340"/>
            <a:ext cx="1915160" cy="83121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nchorCtr="0"/>
          <a:p>
            <a:pPr algn="ctr"/>
            <a:r>
              <a:rPr lang="zh-CN" altLang="en-US" b="1" dirty="0">
                <a:latin typeface="微软雅黑" panose="020B0503020204020204" pitchFamily="34" charset="-122"/>
                <a:ea typeface="微软雅黑" panose="020B0503020204020204" pitchFamily="34" charset="-122"/>
                <a:sym typeface="+mn-ea"/>
              </a:rPr>
              <a:t>屏蔽原始数据的异常</a:t>
            </a:r>
            <a:endParaRPr lang="zh-CN" altLang="en-US" b="1" dirty="0">
              <a:latin typeface="微软雅黑" panose="020B0503020204020204" pitchFamily="34" charset="-122"/>
              <a:ea typeface="微软雅黑" panose="020B0503020204020204" pitchFamily="34" charset="-122"/>
            </a:endParaRPr>
          </a:p>
        </p:txBody>
      </p:sp>
      <p:sp>
        <p:nvSpPr>
          <p:cNvPr id="17" name="圆角矩形 16"/>
          <p:cNvSpPr/>
          <p:nvPr/>
        </p:nvSpPr>
        <p:spPr>
          <a:xfrm>
            <a:off x="7265670" y="1356360"/>
            <a:ext cx="1915160" cy="83121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nchorCtr="0"/>
          <a:p>
            <a:pPr algn="ctr"/>
            <a:r>
              <a:rPr lang="zh-CN" altLang="en-US" b="1" dirty="0">
                <a:latin typeface="微软雅黑" panose="020B0503020204020204" pitchFamily="34" charset="-122"/>
                <a:ea typeface="微软雅黑" panose="020B0503020204020204" pitchFamily="34" charset="-122"/>
                <a:sym typeface="+mn-ea"/>
              </a:rPr>
              <a:t>把复杂问题简单化</a:t>
            </a:r>
            <a:endParaRPr lang="zh-CN" altLang="en-US" b="1" dirty="0">
              <a:latin typeface="微软雅黑" panose="020B0503020204020204" pitchFamily="34" charset="-122"/>
              <a:ea typeface="微软雅黑" panose="020B0503020204020204" pitchFamily="34" charset="-122"/>
            </a:endParaRPr>
          </a:p>
        </p:txBody>
      </p:sp>
      <p:sp>
        <p:nvSpPr>
          <p:cNvPr id="18" name="圆角矩形 17"/>
          <p:cNvSpPr/>
          <p:nvPr/>
        </p:nvSpPr>
        <p:spPr>
          <a:xfrm>
            <a:off x="5011420" y="1356360"/>
            <a:ext cx="1915160" cy="83121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nchorCtr="0"/>
          <a:p>
            <a:pPr algn="ctr"/>
            <a:r>
              <a:rPr lang="zh-CN" altLang="en-US" b="1" dirty="0">
                <a:latin typeface="微软雅黑" panose="020B0503020204020204" pitchFamily="34" charset="-122"/>
                <a:ea typeface="微软雅黑" panose="020B0503020204020204" pitchFamily="34" charset="-122"/>
                <a:sym typeface="+mn-ea"/>
              </a:rPr>
              <a:t>减少重复</a:t>
            </a:r>
            <a:r>
              <a:rPr lang="zh-CN" altLang="en-US" b="1" dirty="0">
                <a:latin typeface="微软雅黑" panose="020B0503020204020204" pitchFamily="34" charset="-122"/>
                <a:ea typeface="微软雅黑" panose="020B0503020204020204" pitchFamily="34" charset="-122"/>
                <a:sym typeface="+mn-ea"/>
              </a:rPr>
              <a:t>开发</a:t>
            </a:r>
            <a:endParaRPr lang="zh-CN" altLang="en-US"/>
          </a:p>
        </p:txBody>
      </p:sp>
      <p:sp>
        <p:nvSpPr>
          <p:cNvPr id="19" name="文本框 18"/>
          <p:cNvSpPr txBox="1"/>
          <p:nvPr/>
        </p:nvSpPr>
        <p:spPr>
          <a:xfrm>
            <a:off x="5011420" y="2409825"/>
            <a:ext cx="2012950" cy="4098290"/>
          </a:xfrm>
          <a:prstGeom prst="rect">
            <a:avLst/>
          </a:prstGeom>
          <a:ln w="6350" cap="flat" cmpd="sng" algn="ctr">
            <a:solidFill>
              <a:schemeClr val="accent1"/>
            </a:solidFill>
            <a:prstDash val="dash"/>
            <a:miter lim="800000"/>
          </a:ln>
        </p:spPr>
        <p:style>
          <a:lnRef idx="0">
            <a:schemeClr val="accent1"/>
          </a:lnRef>
          <a:fillRef idx="0">
            <a:srgbClr val="FFFFFF"/>
          </a:fillRef>
          <a:effectRef idx="0">
            <a:srgbClr val="FFFFFF"/>
          </a:effectRef>
          <a:fontRef idx="minor">
            <a:schemeClr val="tx1"/>
          </a:fontRef>
        </p:style>
        <p:txBody>
          <a:bodyPr wrap="square" rtlCol="0" anchor="ctr" anchorCtr="0">
            <a:noAutofit/>
          </a:bodyPr>
          <a:p>
            <a:r>
              <a:rPr lang="zh-CN" altLang="en-US" dirty="0">
                <a:sym typeface="+mn-ea"/>
              </a:rPr>
              <a:t>规范数据分层，开发一些通用的中间层数据，能够减少极大的重复计算。</a:t>
            </a:r>
            <a:endParaRPr lang="zh-CN" altLang="en-US"/>
          </a:p>
        </p:txBody>
      </p:sp>
      <p:sp>
        <p:nvSpPr>
          <p:cNvPr id="21" name="文本框 20"/>
          <p:cNvSpPr txBox="1"/>
          <p:nvPr/>
        </p:nvSpPr>
        <p:spPr>
          <a:xfrm>
            <a:off x="7230110" y="2409825"/>
            <a:ext cx="2182495" cy="4098290"/>
          </a:xfrm>
          <a:prstGeom prst="rect">
            <a:avLst/>
          </a:prstGeom>
          <a:ln w="6350" cap="flat" cmpd="sng" algn="ctr">
            <a:solidFill>
              <a:schemeClr val="accent1"/>
            </a:solidFill>
            <a:prstDash val="dash"/>
            <a:miter lim="800000"/>
          </a:ln>
        </p:spPr>
        <p:style>
          <a:lnRef idx="0">
            <a:schemeClr val="accent1"/>
          </a:lnRef>
          <a:fillRef idx="0">
            <a:srgbClr val="FFFFFF"/>
          </a:fillRef>
          <a:effectRef idx="0">
            <a:srgbClr val="FFFFFF"/>
          </a:effectRef>
          <a:fontRef idx="minor">
            <a:schemeClr val="tx1"/>
          </a:fontRef>
        </p:style>
        <p:txBody>
          <a:bodyPr wrap="square" rtlCol="0" anchor="ctr" anchorCtr="0">
            <a:noAutofit/>
          </a:bodyPr>
          <a:p>
            <a:pPr>
              <a:lnSpc>
                <a:spcPct val="150000"/>
              </a:lnSpc>
            </a:pPr>
            <a:r>
              <a:rPr lang="zh-CN" altLang="en-US" dirty="0">
                <a:sym typeface="+mn-ea"/>
              </a:rPr>
              <a:t>将一个复杂的任务分解成多个步骤来完成，每一层只处理单一的步骤，比较简单和容易理解。而且便于维护数据的准确性，不用修复所有的数据，只需要从有问题的步骤开始修复。</a:t>
            </a:r>
            <a:endParaRPr lang="zh-CN" altLang="en-US" dirty="0"/>
          </a:p>
          <a:p>
            <a:endParaRPr lang="zh-CN" altLang="en-US"/>
          </a:p>
        </p:txBody>
      </p:sp>
      <p:sp>
        <p:nvSpPr>
          <p:cNvPr id="22" name="文本框 21"/>
          <p:cNvSpPr txBox="1"/>
          <p:nvPr/>
        </p:nvSpPr>
        <p:spPr>
          <a:xfrm>
            <a:off x="9618980" y="2408555"/>
            <a:ext cx="2073275" cy="4098290"/>
          </a:xfrm>
          <a:prstGeom prst="rect">
            <a:avLst/>
          </a:prstGeom>
          <a:ln w="6350" cap="flat" cmpd="sng" algn="ctr">
            <a:solidFill>
              <a:schemeClr val="accent1"/>
            </a:solidFill>
            <a:prstDash val="dash"/>
            <a:miter lim="800000"/>
          </a:ln>
        </p:spPr>
        <p:style>
          <a:lnRef idx="0">
            <a:schemeClr val="accent1"/>
          </a:lnRef>
          <a:fillRef idx="0">
            <a:srgbClr val="FFFFFF"/>
          </a:fillRef>
          <a:effectRef idx="0">
            <a:srgbClr val="FFFFFF"/>
          </a:effectRef>
          <a:fontRef idx="minor">
            <a:schemeClr val="tx1"/>
          </a:fontRef>
        </p:style>
        <p:txBody>
          <a:bodyPr wrap="square" rtlCol="0" anchor="ctr" anchorCtr="0">
            <a:noAutofit/>
          </a:bodyPr>
          <a:p>
            <a:r>
              <a:rPr lang="zh-CN" altLang="en-US" dirty="0">
                <a:sym typeface="+mn-ea"/>
              </a:rPr>
              <a:t>屏蔽业务的影响，不必改一次业务就需要重新接入数据</a:t>
            </a:r>
            <a:endParaRPr lang="zh-CN" altLang="en-US"/>
          </a:p>
        </p:txBody>
      </p:sp>
      <p:sp>
        <p:nvSpPr>
          <p:cNvPr id="29" name="下箭头 28"/>
          <p:cNvSpPr/>
          <p:nvPr/>
        </p:nvSpPr>
        <p:spPr>
          <a:xfrm>
            <a:off x="1540510" y="2202180"/>
            <a:ext cx="75565" cy="186055"/>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4" name="下箭头 33"/>
          <p:cNvSpPr/>
          <p:nvPr/>
        </p:nvSpPr>
        <p:spPr>
          <a:xfrm>
            <a:off x="3721735" y="2181225"/>
            <a:ext cx="75565" cy="200660"/>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5" name="下箭头 34"/>
          <p:cNvSpPr/>
          <p:nvPr/>
        </p:nvSpPr>
        <p:spPr>
          <a:xfrm>
            <a:off x="5972175" y="2167890"/>
            <a:ext cx="90170" cy="241300"/>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6" name="下箭头 35"/>
          <p:cNvSpPr/>
          <p:nvPr/>
        </p:nvSpPr>
        <p:spPr>
          <a:xfrm>
            <a:off x="8209280" y="2181225"/>
            <a:ext cx="75565" cy="200660"/>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7" name="下箭头 36"/>
          <p:cNvSpPr/>
          <p:nvPr/>
        </p:nvSpPr>
        <p:spPr>
          <a:xfrm>
            <a:off x="10453370" y="2160905"/>
            <a:ext cx="75565" cy="241300"/>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组合 17"/>
          <p:cNvGrpSpPr/>
          <p:nvPr/>
        </p:nvGrpSpPr>
        <p:grpSpPr>
          <a:xfrm>
            <a:off x="10116820" y="-402590"/>
            <a:ext cx="1976755" cy="328930"/>
            <a:chOff x="4293" y="3886"/>
            <a:chExt cx="3113" cy="518"/>
          </a:xfrm>
        </p:grpSpPr>
        <p:sp>
          <p:nvSpPr>
            <p:cNvPr id="12" name="矩形 11"/>
            <p:cNvSpPr/>
            <p:nvPr/>
          </p:nvSpPr>
          <p:spPr>
            <a:xfrm>
              <a:off x="4293" y="3886"/>
              <a:ext cx="519" cy="519"/>
            </a:xfrm>
            <a:prstGeom prst="rect">
              <a:avLst/>
            </a:prstGeom>
            <a:solidFill>
              <a:srgbClr val="319DF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3" name="矩形 12"/>
            <p:cNvSpPr/>
            <p:nvPr/>
          </p:nvSpPr>
          <p:spPr>
            <a:xfrm>
              <a:off x="4812" y="3886"/>
              <a:ext cx="519" cy="519"/>
            </a:xfrm>
            <a:prstGeom prst="rect">
              <a:avLst/>
            </a:prstGeom>
            <a:solidFill>
              <a:srgbClr val="076DF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矩形 13"/>
            <p:cNvSpPr/>
            <p:nvPr/>
          </p:nvSpPr>
          <p:spPr>
            <a:xfrm>
              <a:off x="5331" y="3886"/>
              <a:ext cx="519" cy="519"/>
            </a:xfrm>
            <a:prstGeom prst="rect">
              <a:avLst/>
            </a:prstGeom>
            <a:solidFill>
              <a:srgbClr val="08B9C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矩形 14"/>
            <p:cNvSpPr/>
            <p:nvPr/>
          </p:nvSpPr>
          <p:spPr>
            <a:xfrm>
              <a:off x="5850" y="3886"/>
              <a:ext cx="519" cy="519"/>
            </a:xfrm>
            <a:prstGeom prst="rect">
              <a:avLst/>
            </a:prstGeom>
            <a:solidFill>
              <a:srgbClr val="994AD4"/>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6" name="矩形 15"/>
            <p:cNvSpPr/>
            <p:nvPr/>
          </p:nvSpPr>
          <p:spPr>
            <a:xfrm>
              <a:off x="6369" y="3886"/>
              <a:ext cx="519" cy="519"/>
            </a:xfrm>
            <a:prstGeom prst="rect">
              <a:avLst/>
            </a:prstGeom>
            <a:solidFill>
              <a:srgbClr val="CBE7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7" name="矩形 16"/>
            <p:cNvSpPr/>
            <p:nvPr/>
          </p:nvSpPr>
          <p:spPr>
            <a:xfrm>
              <a:off x="6888" y="3886"/>
              <a:ext cx="519" cy="519"/>
            </a:xfrm>
            <a:prstGeom prst="rect">
              <a:avLst/>
            </a:prstGeom>
            <a:solidFill>
              <a:srgbClr val="1FB9F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19" name="文本框 18" descr="e7d195523061f1c09d430b2e086820dbf734666a277b0d4b500BB7A72AB1412ED5183AD7B3816201F88CE1DA88F1BDB3B214B2C038CB098A30603A7C73162896CA56D5F2C85C2877766F9AF7CC3216D72A30A8123260945F3CF9913B2C8132B15995C34893A847F2CEA0574BAD469374728EE5476AFD938193B7415C316CF399A89FF64C544ADAFE"/>
          <p:cNvSpPr txBox="1"/>
          <p:nvPr/>
        </p:nvSpPr>
        <p:spPr>
          <a:xfrm>
            <a:off x="658813" y="484882"/>
            <a:ext cx="1219200" cy="368935"/>
          </a:xfrm>
          <a:prstGeom prst="rect">
            <a:avLst/>
          </a:prstGeom>
          <a:noFill/>
        </p:spPr>
        <p:txBody>
          <a:bodyPr wrap="none" lIns="0" tIns="0" rIns="0" bIns="0" rtlCol="0">
            <a:spAutoFit/>
          </a:bodyPr>
          <a:p>
            <a:pPr marL="0" marR="0" lvl="0" indent="0" algn="l" defTabSz="914400" rtl="0" eaLnBrk="1" fontAlgn="auto" latinLnBrk="0" hangingPunct="1">
              <a:lnSpc>
                <a:spcPct val="100000"/>
              </a:lnSpc>
              <a:spcBef>
                <a:spcPts val="0"/>
              </a:spcBef>
              <a:spcAft>
                <a:spcPts val="0"/>
              </a:spcAft>
              <a:buClrTx/>
              <a:buSzTx/>
              <a:buFontTx/>
              <a:buNone/>
              <a:defRPr/>
            </a:pPr>
            <a:r>
              <a:rPr lang="zh-CN" altLang="en-US" sz="2400" b="1" dirty="0">
                <a:solidFill>
                  <a:srgbClr val="0059FA">
                    <a:lumMod val="50000"/>
                  </a:srgbClr>
                </a:solidFill>
                <a:latin typeface="Arial" panose="020B0604020202020204" pitchFamily="34" charset="0"/>
                <a:ea typeface="微软雅黑" panose="020B0503020204020204" pitchFamily="34" charset="-122"/>
              </a:rPr>
              <a:t>数据分</a:t>
            </a:r>
            <a:r>
              <a:rPr lang="zh-CN" altLang="en-US" sz="2400" b="1" dirty="0">
                <a:solidFill>
                  <a:srgbClr val="0059FA">
                    <a:lumMod val="50000"/>
                  </a:srgbClr>
                </a:solidFill>
                <a:latin typeface="Arial" panose="020B0604020202020204" pitchFamily="34" charset="0"/>
                <a:ea typeface="微软雅黑" panose="020B0503020204020204" pitchFamily="34" charset="-122"/>
              </a:rPr>
              <a:t>层</a:t>
            </a:r>
            <a:endParaRPr lang="zh-CN" altLang="en-US" sz="2400" b="1" dirty="0">
              <a:solidFill>
                <a:srgbClr val="0059FA">
                  <a:lumMod val="50000"/>
                </a:srgbClr>
              </a:solidFill>
              <a:latin typeface="Arial" panose="020B0604020202020204" pitchFamily="34" charset="0"/>
              <a:ea typeface="微软雅黑" panose="020B0503020204020204" pitchFamily="34" charset="-122"/>
            </a:endParaRPr>
          </a:p>
        </p:txBody>
      </p:sp>
      <p:sp>
        <p:nvSpPr>
          <p:cNvPr id="28" name="文本框 27"/>
          <p:cNvSpPr txBox="1"/>
          <p:nvPr/>
        </p:nvSpPr>
        <p:spPr>
          <a:xfrm>
            <a:off x="660400" y="976630"/>
            <a:ext cx="10819130" cy="5354320"/>
          </a:xfrm>
          <a:prstGeom prst="rect">
            <a:avLst/>
          </a:prstGeom>
          <a:noFill/>
          <a:ln w="12700">
            <a:solidFill>
              <a:schemeClr val="tx1"/>
            </a:solidFill>
            <a:prstDash val="solid"/>
          </a:ln>
        </p:spPr>
        <p:txBody>
          <a:bodyPr wrap="square" rtlCol="0">
            <a:noAutofit/>
          </a:bodyPr>
          <a:p>
            <a:pPr indent="457200" fontAlgn="auto"/>
            <a:r>
              <a:rPr lang="zh-CN" altLang="en-US">
                <a:effectLst>
                  <a:outerShdw blurRad="38100" dist="19050" dir="2700000" algn="tl" rotWithShape="0">
                    <a:schemeClr val="dk1">
                      <a:alpha val="40000"/>
                    </a:schemeClr>
                  </a:outerShdw>
                </a:effectLst>
                <a:latin typeface="黑体" panose="02010609060101010101" charset="-122"/>
                <a:ea typeface="黑体" panose="02010609060101010101" charset="-122"/>
                <a:sym typeface="+mn-ea"/>
              </a:rPr>
              <a:t>数据分层每个企业根据自己的业务需求可以分成不同的层次，但是最基础的分层思想，理论上数据分为三个层，原始数据</a:t>
            </a:r>
            <a:r>
              <a:rPr lang="zh-CN" altLang="en-US">
                <a:effectLst>
                  <a:outerShdw blurRad="38100" dist="19050" dir="2700000" algn="tl" rotWithShape="0">
                    <a:schemeClr val="dk1">
                      <a:alpha val="40000"/>
                    </a:schemeClr>
                  </a:outerShdw>
                </a:effectLst>
                <a:latin typeface="黑体" panose="02010609060101010101" charset="-122"/>
                <a:ea typeface="黑体" panose="02010609060101010101" charset="-122"/>
                <a:sym typeface="+mn-ea"/>
              </a:rPr>
              <a:t>层、数据仓库层和数据服务层。基于这个基础分层之上添加新的层次，来满足不同的业务需求。</a:t>
            </a:r>
            <a:endParaRPr lang="zh-CN" altLang="en-US">
              <a:effectLst>
                <a:outerShdw blurRad="38100" dist="19050" dir="2700000" algn="tl" rotWithShape="0">
                  <a:schemeClr val="dk1">
                    <a:alpha val="40000"/>
                  </a:schemeClr>
                </a:outerShdw>
              </a:effectLst>
              <a:latin typeface="黑体" panose="02010609060101010101" charset="-122"/>
              <a:ea typeface="黑体" panose="02010609060101010101" charset="-122"/>
              <a:sym typeface="+mn-ea"/>
            </a:endParaRPr>
          </a:p>
          <a:p>
            <a:pPr algn="l">
              <a:lnSpc>
                <a:spcPct val="150000"/>
              </a:lnSpc>
              <a:buClrTx/>
              <a:buSzTx/>
              <a:buFontTx/>
            </a:pPr>
            <a:r>
              <a:rPr sz="2000" b="1" dirty="0" err="1">
                <a:effectLst>
                  <a:outerShdw blurRad="38100" dist="19050" dir="2700000" algn="tl" rotWithShape="0">
                    <a:schemeClr val="dk1">
                      <a:alpha val="40000"/>
                    </a:schemeClr>
                  </a:outerShdw>
                </a:effectLst>
                <a:latin typeface="黑体" panose="02010609060101010101" charset="-122"/>
                <a:ea typeface="黑体" panose="02010609060101010101" charset="-122"/>
                <a:sym typeface="+mn-ea"/>
              </a:rPr>
              <a:t>数据运营层</a:t>
            </a:r>
            <a:r>
              <a:rPr sz="2000" b="1" dirty="0">
                <a:effectLst>
                  <a:outerShdw blurRad="38100" dist="19050" dir="2700000" algn="tl" rotWithShape="0">
                    <a:schemeClr val="dk1">
                      <a:alpha val="40000"/>
                    </a:schemeClr>
                  </a:outerShdw>
                </a:effectLst>
                <a:latin typeface="黑体" panose="02010609060101010101" charset="-122"/>
                <a:ea typeface="黑体" panose="02010609060101010101" charset="-122"/>
                <a:sym typeface="+mn-ea"/>
              </a:rPr>
              <a:t>(ODS)</a:t>
            </a:r>
            <a:endParaRPr sz="2000" b="1" dirty="0">
              <a:effectLst>
                <a:outerShdw blurRad="38100" dist="19050" dir="2700000" algn="tl" rotWithShape="0">
                  <a:schemeClr val="dk1">
                    <a:alpha val="40000"/>
                  </a:schemeClr>
                </a:outerShdw>
              </a:effectLst>
              <a:latin typeface="黑体" panose="02010609060101010101" charset="-122"/>
              <a:ea typeface="黑体" panose="02010609060101010101" charset="-122"/>
            </a:endParaRPr>
          </a:p>
          <a:p>
            <a:pPr algn="l">
              <a:lnSpc>
                <a:spcPct val="150000"/>
              </a:lnSpc>
              <a:buClrTx/>
              <a:buSzTx/>
              <a:buFontTx/>
            </a:pPr>
            <a:r>
              <a:rPr dirty="0">
                <a:effectLst>
                  <a:outerShdw blurRad="38100" dist="19050" dir="2700000" algn="tl" rotWithShape="0">
                    <a:schemeClr val="dk1">
                      <a:alpha val="40000"/>
                    </a:schemeClr>
                  </a:outerShdw>
                </a:effectLst>
                <a:latin typeface="宋体" panose="02010600030101010101" pitchFamily="2" charset="-122"/>
                <a:cs typeface="宋体" panose="02010600030101010101" pitchFamily="2" charset="-122"/>
                <a:sym typeface="+mn-ea"/>
              </a:rPr>
              <a:t>Operate data store(</a:t>
            </a:r>
            <a:r>
              <a:rPr dirty="0" err="1">
                <a:effectLst>
                  <a:outerShdw blurRad="38100" dist="19050" dir="2700000" algn="tl" rotWithShape="0">
                    <a:schemeClr val="dk1">
                      <a:alpha val="40000"/>
                    </a:schemeClr>
                  </a:outerShdw>
                </a:effectLst>
                <a:latin typeface="宋体" panose="02010600030101010101" pitchFamily="2" charset="-122"/>
                <a:cs typeface="宋体" panose="02010600030101010101" pitchFamily="2" charset="-122"/>
                <a:sym typeface="+mn-ea"/>
              </a:rPr>
              <a:t>操作数据-存储</a:t>
            </a:r>
            <a:r>
              <a:rPr dirty="0">
                <a:effectLst>
                  <a:outerShdw blurRad="38100" dist="19050" dir="2700000" algn="tl" rotWithShape="0">
                    <a:schemeClr val="dk1">
                      <a:alpha val="40000"/>
                    </a:schemeClr>
                  </a:outerShdw>
                </a:effectLst>
                <a:latin typeface="宋体" panose="02010600030101010101" pitchFamily="2" charset="-122"/>
                <a:cs typeface="宋体" panose="02010600030101010101" pitchFamily="2" charset="-122"/>
                <a:sym typeface="+mn-ea"/>
              </a:rPr>
              <a:t>)，是最接近数据源中数据的一层，</a:t>
            </a:r>
            <a:r>
              <a:rPr>
                <a:effectLst>
                  <a:outerShdw blurRad="38100" dist="19050" dir="2700000" algn="tl" rotWithShape="0">
                    <a:schemeClr val="dk1">
                      <a:alpha val="40000"/>
                    </a:schemeClr>
                  </a:outerShdw>
                </a:effectLst>
                <a:latin typeface="宋体" panose="02010600030101010101" pitchFamily="2" charset="-122"/>
                <a:cs typeface="宋体" panose="02010600030101010101" pitchFamily="2" charset="-122"/>
                <a:sym typeface="+mn-ea"/>
              </a:rPr>
              <a:t>从业务系统增量抽取、保留时间由业务需求决定、可分表进行周期存储、数据不做清洗转换与业务系统数据模型保持一致、按主题逻辑划分</a:t>
            </a:r>
            <a:endParaRPr>
              <a:effectLst>
                <a:outerShdw blurRad="38100" dist="19050" dir="2700000" algn="tl" rotWithShape="0">
                  <a:schemeClr val="dk1">
                    <a:alpha val="40000"/>
                  </a:schemeClr>
                </a:outerShdw>
              </a:effectLst>
              <a:latin typeface="宋体" panose="02010600030101010101" pitchFamily="2" charset="-122"/>
              <a:cs typeface="宋体" panose="02010600030101010101" pitchFamily="2" charset="-122"/>
            </a:endParaRPr>
          </a:p>
          <a:p>
            <a:pPr algn="l">
              <a:lnSpc>
                <a:spcPct val="150000"/>
              </a:lnSpc>
              <a:buClrTx/>
              <a:buSzTx/>
              <a:buFontTx/>
            </a:pPr>
            <a:r>
              <a:rPr dirty="0">
                <a:effectLst>
                  <a:outerShdw blurRad="38100" dist="19050" dir="2700000" algn="tl" rotWithShape="0">
                    <a:schemeClr val="dk1">
                      <a:alpha val="40000"/>
                    </a:schemeClr>
                  </a:outerShdw>
                </a:effectLst>
                <a:latin typeface="宋体" panose="02010600030101010101" pitchFamily="2" charset="-122"/>
                <a:cs typeface="宋体" panose="02010600030101010101" pitchFamily="2" charset="-122"/>
                <a:sym typeface="+mn-ea"/>
              </a:rPr>
              <a:t>，经过抽取、洗净、传输，</a:t>
            </a:r>
            <a:r>
              <a:rPr dirty="0">
                <a:effectLst>
                  <a:outerShdw blurRad="38100" dist="19050" dir="2700000" algn="tl" rotWithShape="0">
                    <a:schemeClr val="dk1">
                      <a:alpha val="40000"/>
                    </a:schemeClr>
                  </a:outerShdw>
                </a:effectLst>
                <a:latin typeface="宋体" panose="02010600030101010101" pitchFamily="2" charset="-122"/>
                <a:cs typeface="宋体" panose="02010600030101010101" pitchFamily="2" charset="-122"/>
              </a:rPr>
              <a:t>也就是E</a:t>
            </a:r>
            <a:r>
              <a:rPr dirty="0">
                <a:effectLst>
                  <a:outerShdw blurRad="38100" dist="19050" dir="2700000" algn="tl" rotWithShape="0">
                    <a:schemeClr val="dk1">
                      <a:alpha val="40000"/>
                    </a:schemeClr>
                  </a:outerShdw>
                </a:effectLst>
                <a:latin typeface="宋体" panose="02010600030101010101" pitchFamily="2" charset="-122"/>
                <a:cs typeface="宋体" panose="02010600030101010101" pitchFamily="2" charset="-122"/>
                <a:sym typeface="+mn-ea"/>
              </a:rPr>
              <a:t>TL之后，装入ODS层。本层的数据，总体上大多是按照源头业务系统的分类方式而分类的。</a:t>
            </a:r>
            <a:r>
              <a:rPr>
                <a:effectLst>
                  <a:outerShdw blurRad="38100" dist="19050" dir="2700000" algn="tl" rotWithShape="0">
                    <a:schemeClr val="dk1">
                      <a:alpha val="40000"/>
                    </a:schemeClr>
                  </a:outerShdw>
                </a:effectLst>
                <a:latin typeface="宋体" panose="02010600030101010101" pitchFamily="2" charset="-122"/>
                <a:cs typeface="宋体" panose="02010600030101010101" pitchFamily="2" charset="-122"/>
                <a:sym typeface="+mn-ea"/>
              </a:rPr>
              <a:t>ODS层是数据仓库准备区，为DWD层提供基础原始数据，可减少对业务系统的影响</a:t>
            </a:r>
            <a:r>
              <a:rPr lang="zh-CN">
                <a:effectLst>
                  <a:outerShdw blurRad="38100" dist="19050" dir="2700000" algn="tl" rotWithShape="0">
                    <a:schemeClr val="dk1">
                      <a:alpha val="40000"/>
                    </a:schemeClr>
                  </a:outerShdw>
                </a:effectLst>
                <a:latin typeface="宋体" panose="02010600030101010101" pitchFamily="2" charset="-122"/>
                <a:cs typeface="宋体" panose="02010600030101010101" pitchFamily="2" charset="-122"/>
                <a:sym typeface="+mn-ea"/>
              </a:rPr>
              <a:t>。</a:t>
            </a:r>
            <a:endParaRPr lang="zh-CN">
              <a:effectLst>
                <a:outerShdw blurRad="38100" dist="19050" dir="2700000" algn="tl" rotWithShape="0">
                  <a:schemeClr val="dk1">
                    <a:alpha val="40000"/>
                  </a:schemeClr>
                </a:outerShdw>
              </a:effectLst>
              <a:latin typeface="宋体" panose="02010600030101010101" pitchFamily="2" charset="-122"/>
              <a:cs typeface="宋体" panose="02010600030101010101" pitchFamily="2" charset="-122"/>
              <a:sym typeface="+mn-ea"/>
            </a:endParaRPr>
          </a:p>
          <a:p>
            <a:pPr algn="l">
              <a:lnSpc>
                <a:spcPct val="150000"/>
              </a:lnSpc>
              <a:buClrTx/>
              <a:buSzTx/>
              <a:buFontTx/>
            </a:pPr>
            <a:r>
              <a:rPr sz="2000" b="1" dirty="0" err="1">
                <a:effectLst>
                  <a:outerShdw blurRad="38100" dist="19050" dir="2700000" algn="tl" rotWithShape="0">
                    <a:schemeClr val="dk1">
                      <a:alpha val="40000"/>
                    </a:schemeClr>
                  </a:outerShdw>
                </a:effectLst>
                <a:latin typeface="黑体" panose="02010609060101010101" charset="-122"/>
                <a:ea typeface="黑体" panose="02010609060101010101" charset="-122"/>
                <a:sym typeface="+mn-ea"/>
              </a:rPr>
              <a:t>数据仓库层(DW)</a:t>
            </a:r>
            <a:endParaRPr sz="2000" b="1" dirty="0" err="1">
              <a:effectLst>
                <a:outerShdw blurRad="38100" dist="19050" dir="2700000" algn="tl" rotWithShape="0">
                  <a:schemeClr val="dk1">
                    <a:alpha val="40000"/>
                  </a:schemeClr>
                </a:outerShdw>
              </a:effectLst>
              <a:latin typeface="黑体" panose="02010609060101010101" charset="-122"/>
              <a:ea typeface="黑体" panose="02010609060101010101" charset="-122"/>
            </a:endParaRPr>
          </a:p>
          <a:p>
            <a:pPr algn="l">
              <a:lnSpc>
                <a:spcPct val="150000"/>
              </a:lnSpc>
              <a:buClrTx/>
              <a:buSzTx/>
              <a:buFontTx/>
              <a:buNone/>
            </a:pPr>
            <a:r>
              <a:rPr dirty="0">
                <a:effectLst>
                  <a:outerShdw blurRad="38100" dist="19050" dir="2700000" algn="tl" rotWithShape="0">
                    <a:schemeClr val="dk1">
                      <a:alpha val="40000"/>
                    </a:schemeClr>
                  </a:outerShdw>
                </a:effectLst>
                <a:latin typeface="黑体" panose="02010609060101010101" charset="-122"/>
                <a:ea typeface="黑体" panose="02010609060101010101" charset="-122"/>
                <a:sym typeface="+mn-ea"/>
              </a:rPr>
              <a:t>Data warehouse(</a:t>
            </a:r>
            <a:r>
              <a:rPr dirty="0" err="1">
                <a:effectLst>
                  <a:outerShdw blurRad="38100" dist="19050" dir="2700000" algn="tl" rotWithShape="0">
                    <a:schemeClr val="dk1">
                      <a:alpha val="40000"/>
                    </a:schemeClr>
                  </a:outerShdw>
                </a:effectLst>
                <a:latin typeface="黑体" panose="02010609060101010101" charset="-122"/>
                <a:ea typeface="黑体" panose="02010609060101010101" charset="-122"/>
                <a:sym typeface="+mn-ea"/>
              </a:rPr>
              <a:t>数据仓库</a:t>
            </a:r>
            <a:r>
              <a:rPr dirty="0">
                <a:effectLst>
                  <a:outerShdw blurRad="38100" dist="19050" dir="2700000" algn="tl" rotWithShape="0">
                    <a:schemeClr val="dk1">
                      <a:alpha val="40000"/>
                    </a:schemeClr>
                  </a:outerShdw>
                </a:effectLst>
                <a:latin typeface="黑体" panose="02010609060101010101" charset="-122"/>
                <a:ea typeface="黑体" panose="02010609060101010101" charset="-122"/>
                <a:sym typeface="+mn-ea"/>
              </a:rPr>
              <a:t>)</a:t>
            </a:r>
            <a:r>
              <a:rPr lang="zh-CN" dirty="0">
                <a:effectLst/>
                <a:latin typeface="黑体" panose="02010609060101010101" charset="-122"/>
                <a:ea typeface="黑体" panose="02010609060101010101" charset="-122"/>
                <a:sym typeface="+mn-ea"/>
              </a:rPr>
              <a:t>是在</a:t>
            </a:r>
            <a:r>
              <a:rPr dirty="0">
                <a:effectLst>
                  <a:outerShdw blurRad="38100" dist="19050" dir="2700000" algn="tl" rotWithShape="0">
                    <a:schemeClr val="dk1">
                      <a:alpha val="40000"/>
                    </a:schemeClr>
                  </a:outerShdw>
                </a:effectLst>
                <a:latin typeface="宋体" panose="02010600030101010101" pitchFamily="2" charset="-122"/>
                <a:cs typeface="宋体" panose="02010600030101010101" pitchFamily="2" charset="-122"/>
                <a:sym typeface="+mn-ea"/>
              </a:rPr>
              <a:t>从ODS层中获得的数据按照主题建立各种数据模型。例如以客户为主题的数据集中，便可以结合客户基础信息、客户行为，进行结合分析，产生数据集。在这里，我们需要了解四个概念：</a:t>
            </a:r>
            <a:r>
              <a:rPr b="1" dirty="0">
                <a:solidFill>
                  <a:srgbClr val="FF0000"/>
                </a:solidFill>
                <a:effectLst>
                  <a:outerShdw blurRad="38100" dist="19050" dir="2700000" algn="tl" rotWithShape="0">
                    <a:schemeClr val="dk1">
                      <a:alpha val="40000"/>
                    </a:schemeClr>
                  </a:outerShdw>
                </a:effectLst>
                <a:latin typeface="宋体" panose="02010600030101010101" pitchFamily="2" charset="-122"/>
                <a:cs typeface="宋体" panose="02010600030101010101" pitchFamily="2" charset="-122"/>
                <a:sym typeface="+mn-ea"/>
              </a:rPr>
              <a:t>维(dimension)、</a:t>
            </a:r>
            <a:r>
              <a:rPr b="1" dirty="0" err="1">
                <a:solidFill>
                  <a:srgbClr val="FF0000"/>
                </a:solidFill>
                <a:effectLst>
                  <a:outerShdw blurRad="38100" dist="19050" dir="2700000" algn="tl" rotWithShape="0">
                    <a:schemeClr val="dk1">
                      <a:alpha val="40000"/>
                    </a:schemeClr>
                  </a:outerShdw>
                </a:effectLst>
                <a:latin typeface="宋体" panose="02010600030101010101" pitchFamily="2" charset="-122"/>
                <a:cs typeface="宋体" panose="02010600030101010101" pitchFamily="2" charset="-122"/>
                <a:sym typeface="+mn-ea"/>
              </a:rPr>
              <a:t>事实</a:t>
            </a:r>
            <a:r>
              <a:rPr b="1" dirty="0">
                <a:solidFill>
                  <a:srgbClr val="FF0000"/>
                </a:solidFill>
                <a:effectLst>
                  <a:outerShdw blurRad="38100" dist="19050" dir="2700000" algn="tl" rotWithShape="0">
                    <a:schemeClr val="dk1">
                      <a:alpha val="40000"/>
                    </a:schemeClr>
                  </a:outerShdw>
                </a:effectLst>
                <a:latin typeface="宋体" panose="02010600030101010101" pitchFamily="2" charset="-122"/>
                <a:cs typeface="宋体" panose="02010600030101010101" pitchFamily="2" charset="-122"/>
                <a:sym typeface="+mn-ea"/>
              </a:rPr>
              <a:t>(Fact)、</a:t>
            </a:r>
            <a:r>
              <a:rPr b="1" dirty="0" err="1">
                <a:solidFill>
                  <a:srgbClr val="FF0000"/>
                </a:solidFill>
                <a:effectLst>
                  <a:outerShdw blurRad="38100" dist="19050" dir="2700000" algn="tl" rotWithShape="0">
                    <a:schemeClr val="dk1">
                      <a:alpha val="40000"/>
                    </a:schemeClr>
                  </a:outerShdw>
                </a:effectLst>
                <a:latin typeface="宋体" panose="02010600030101010101" pitchFamily="2" charset="-122"/>
                <a:cs typeface="宋体" panose="02010600030101010101" pitchFamily="2" charset="-122"/>
                <a:sym typeface="+mn-ea"/>
              </a:rPr>
              <a:t>指标</a:t>
            </a:r>
            <a:r>
              <a:rPr b="1" dirty="0">
                <a:solidFill>
                  <a:srgbClr val="FF0000"/>
                </a:solidFill>
                <a:effectLst>
                  <a:outerShdw blurRad="38100" dist="19050" dir="2700000" algn="tl" rotWithShape="0">
                    <a:schemeClr val="dk1">
                      <a:alpha val="40000"/>
                    </a:schemeClr>
                  </a:outerShdw>
                </a:effectLst>
                <a:latin typeface="宋体" panose="02010600030101010101" pitchFamily="2" charset="-122"/>
                <a:cs typeface="宋体" panose="02010600030101010101" pitchFamily="2" charset="-122"/>
                <a:sym typeface="+mn-ea"/>
              </a:rPr>
              <a:t>(Index)</a:t>
            </a:r>
            <a:r>
              <a:rPr b="1" dirty="0" err="1">
                <a:solidFill>
                  <a:srgbClr val="FF0000"/>
                </a:solidFill>
                <a:effectLst>
                  <a:outerShdw blurRad="38100" dist="19050" dir="2700000" algn="tl" rotWithShape="0">
                    <a:schemeClr val="dk1">
                      <a:alpha val="40000"/>
                    </a:schemeClr>
                  </a:outerShdw>
                </a:effectLst>
                <a:latin typeface="宋体" panose="02010600030101010101" pitchFamily="2" charset="-122"/>
                <a:cs typeface="宋体" panose="02010600030101010101" pitchFamily="2" charset="-122"/>
                <a:sym typeface="+mn-ea"/>
              </a:rPr>
              <a:t>和粒度</a:t>
            </a:r>
            <a:r>
              <a:rPr b="1" dirty="0">
                <a:solidFill>
                  <a:srgbClr val="FF0000"/>
                </a:solidFill>
                <a:effectLst>
                  <a:outerShdw blurRad="38100" dist="19050" dir="2700000" algn="tl" rotWithShape="0">
                    <a:schemeClr val="dk1">
                      <a:alpha val="40000"/>
                    </a:schemeClr>
                  </a:outerShdw>
                </a:effectLst>
                <a:latin typeface="宋体" panose="02010600030101010101" pitchFamily="2" charset="-122"/>
                <a:cs typeface="宋体" panose="02010600030101010101" pitchFamily="2" charset="-122"/>
                <a:sym typeface="+mn-ea"/>
              </a:rPr>
              <a:t>( Granularity)</a:t>
            </a:r>
            <a:r>
              <a:rPr dirty="0">
                <a:effectLst>
                  <a:outerShdw blurRad="38100" dist="19050" dir="2700000" algn="tl" rotWithShape="0">
                    <a:schemeClr val="dk1">
                      <a:alpha val="40000"/>
                    </a:schemeClr>
                  </a:outerShdw>
                </a:effectLst>
                <a:latin typeface="宋体" panose="02010600030101010101" pitchFamily="2" charset="-122"/>
                <a:cs typeface="宋体" panose="02010600030101010101" pitchFamily="2" charset="-122"/>
                <a:sym typeface="+mn-ea"/>
              </a:rPr>
              <a:t>。</a:t>
            </a:r>
            <a:endParaRPr dirty="0">
              <a:effectLst>
                <a:outerShdw blurRad="38100" dist="19050" dir="2700000" algn="tl" rotWithShape="0">
                  <a:schemeClr val="dk1">
                    <a:alpha val="40000"/>
                  </a:schemeClr>
                </a:outerShdw>
              </a:effectLst>
              <a:latin typeface="宋体" panose="02010600030101010101" pitchFamily="2" charset="-122"/>
              <a:cs typeface="宋体" panose="02010600030101010101" pitchFamily="2" charset="-122"/>
            </a:endParaRPr>
          </a:p>
          <a:p>
            <a:pPr algn="l">
              <a:lnSpc>
                <a:spcPct val="150000"/>
              </a:lnSpc>
              <a:buClrTx/>
              <a:buSzTx/>
              <a:buFontTx/>
              <a:buNone/>
            </a:pPr>
            <a:r>
              <a:rPr dirty="0" err="1">
                <a:effectLst>
                  <a:outerShdw blurRad="38100" dist="19050" dir="2700000" algn="tl" rotWithShape="0">
                    <a:schemeClr val="dk1">
                      <a:alpha val="40000"/>
                    </a:schemeClr>
                  </a:outerShdw>
                </a:effectLst>
                <a:latin typeface="宋体" panose="02010600030101010101" pitchFamily="2" charset="-122"/>
                <a:cs typeface="宋体" panose="02010600030101010101" pitchFamily="2" charset="-122"/>
                <a:sym typeface="+mn-ea"/>
              </a:rPr>
              <a:t>DW数据分层，由下到上为</a:t>
            </a:r>
            <a:r>
              <a:rPr dirty="0">
                <a:effectLst>
                  <a:outerShdw blurRad="38100" dist="19050" dir="2700000" algn="tl" rotWithShape="0">
                    <a:schemeClr val="dk1">
                      <a:alpha val="40000"/>
                    </a:schemeClr>
                  </a:outerShdw>
                </a:effectLst>
                <a:latin typeface="宋体" panose="02010600030101010101" pitchFamily="2" charset="-122"/>
                <a:cs typeface="宋体" panose="02010600030101010101" pitchFamily="2" charset="-122"/>
                <a:sym typeface="+mn-ea"/>
              </a:rPr>
              <a:t> DWD</a:t>
            </a:r>
            <a:r>
              <a:rPr lang="en-US" dirty="0">
                <a:effectLst>
                  <a:outerShdw blurRad="38100" dist="19050" dir="2700000" algn="tl" rotWithShape="0">
                    <a:schemeClr val="dk1">
                      <a:alpha val="40000"/>
                    </a:schemeClr>
                  </a:outerShdw>
                </a:effectLst>
                <a:latin typeface="宋体" panose="02010600030101010101" pitchFamily="2" charset="-122"/>
                <a:cs typeface="宋体" panose="02010600030101010101" pitchFamily="2" charset="-122"/>
                <a:sym typeface="+mn-ea"/>
              </a:rPr>
              <a:t>/</a:t>
            </a:r>
            <a:r>
              <a:rPr dirty="0">
                <a:effectLst>
                  <a:outerShdw blurRad="38100" dist="19050" dir="2700000" algn="tl" rotWithShape="0">
                    <a:schemeClr val="dk1">
                      <a:alpha val="40000"/>
                    </a:schemeClr>
                  </a:outerShdw>
                </a:effectLst>
                <a:latin typeface="宋体" panose="02010600030101010101" pitchFamily="2" charset="-122"/>
                <a:cs typeface="宋体" panose="02010600030101010101" pitchFamily="2" charset="-122"/>
                <a:sym typeface="+mn-ea"/>
              </a:rPr>
              <a:t>D</a:t>
            </a:r>
            <a:r>
              <a:rPr lang="en-US" dirty="0">
                <a:effectLst>
                  <a:outerShdw blurRad="38100" dist="19050" dir="2700000" algn="tl" rotWithShape="0">
                    <a:schemeClr val="dk1">
                      <a:alpha val="40000"/>
                    </a:schemeClr>
                  </a:outerShdw>
                </a:effectLst>
                <a:latin typeface="宋体" panose="02010600030101010101" pitchFamily="2" charset="-122"/>
                <a:cs typeface="宋体" panose="02010600030101010101" pitchFamily="2" charset="-122"/>
                <a:sym typeface="+mn-ea"/>
              </a:rPr>
              <a:t>IM</a:t>
            </a:r>
            <a:r>
              <a:rPr dirty="0">
                <a:effectLst>
                  <a:outerShdw blurRad="38100" dist="19050" dir="2700000" algn="tl" rotWithShape="0">
                    <a:schemeClr val="dk1">
                      <a:alpha val="40000"/>
                    </a:schemeClr>
                  </a:outerShdw>
                </a:effectLst>
                <a:latin typeface="宋体" panose="02010600030101010101" pitchFamily="2" charset="-122"/>
                <a:cs typeface="宋体" panose="02010600030101010101" pitchFamily="2" charset="-122"/>
                <a:sym typeface="+mn-ea"/>
              </a:rPr>
              <a:t>,DWS</a:t>
            </a:r>
            <a:endParaRPr dirty="0">
              <a:effectLst>
                <a:outerShdw blurRad="38100" dist="19050" dir="2700000" algn="tl" rotWithShape="0">
                  <a:schemeClr val="dk1">
                    <a:alpha val="40000"/>
                  </a:schemeClr>
                </a:outerShdw>
              </a:effectLst>
              <a:latin typeface="宋体" panose="02010600030101010101" pitchFamily="2" charset="-122"/>
              <a:cs typeface="宋体" panose="02010600030101010101" pitchFamily="2" charset="-122"/>
            </a:endParaRPr>
          </a:p>
          <a:p>
            <a:pPr algn="l">
              <a:lnSpc>
                <a:spcPct val="150000"/>
              </a:lnSpc>
              <a:buClrTx/>
              <a:buSzTx/>
              <a:buFontTx/>
              <a:buNone/>
            </a:pPr>
            <a:endParaRPr dirty="0">
              <a:effectLst>
                <a:outerShdw blurRad="38100" dist="19050" dir="2700000" algn="tl" rotWithShape="0">
                  <a:schemeClr val="dk1">
                    <a:alpha val="40000"/>
                  </a:schemeClr>
                </a:outerShdw>
              </a:effectLst>
              <a:latin typeface="宋体" panose="02010600030101010101" pitchFamily="2" charset="-122"/>
              <a:cs typeface="宋体" panose="02010600030101010101" pitchFamily="2" charset="-122"/>
            </a:endParaRPr>
          </a:p>
          <a:p>
            <a:pPr algn="l">
              <a:lnSpc>
                <a:spcPct val="150000"/>
              </a:lnSpc>
              <a:buClrTx/>
              <a:buSzTx/>
              <a:buFontTx/>
            </a:pPr>
            <a:endParaRPr lang="zh-CN">
              <a:effectLst>
                <a:outerShdw blurRad="38100" dist="19050" dir="2700000" algn="tl" rotWithShape="0">
                  <a:schemeClr val="dk1">
                    <a:alpha val="40000"/>
                  </a:schemeClr>
                </a:outerShdw>
              </a:effectLst>
              <a:latin typeface="宋体" panose="02010600030101010101" pitchFamily="2" charset="-122"/>
              <a:cs typeface="宋体" panose="02010600030101010101" pitchFamily="2" charset="-122"/>
              <a:sym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组合 17"/>
          <p:cNvGrpSpPr/>
          <p:nvPr/>
        </p:nvGrpSpPr>
        <p:grpSpPr>
          <a:xfrm>
            <a:off x="10116820" y="-402590"/>
            <a:ext cx="1976755" cy="328930"/>
            <a:chOff x="4293" y="3886"/>
            <a:chExt cx="3113" cy="518"/>
          </a:xfrm>
        </p:grpSpPr>
        <p:sp>
          <p:nvSpPr>
            <p:cNvPr id="12" name="矩形 11"/>
            <p:cNvSpPr/>
            <p:nvPr/>
          </p:nvSpPr>
          <p:spPr>
            <a:xfrm>
              <a:off x="4293" y="3886"/>
              <a:ext cx="519" cy="519"/>
            </a:xfrm>
            <a:prstGeom prst="rect">
              <a:avLst/>
            </a:prstGeom>
            <a:solidFill>
              <a:srgbClr val="319DF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3" name="矩形 12"/>
            <p:cNvSpPr/>
            <p:nvPr/>
          </p:nvSpPr>
          <p:spPr>
            <a:xfrm>
              <a:off x="4812" y="3886"/>
              <a:ext cx="519" cy="519"/>
            </a:xfrm>
            <a:prstGeom prst="rect">
              <a:avLst/>
            </a:prstGeom>
            <a:solidFill>
              <a:srgbClr val="076DF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矩形 13"/>
            <p:cNvSpPr/>
            <p:nvPr/>
          </p:nvSpPr>
          <p:spPr>
            <a:xfrm>
              <a:off x="5331" y="3886"/>
              <a:ext cx="519" cy="519"/>
            </a:xfrm>
            <a:prstGeom prst="rect">
              <a:avLst/>
            </a:prstGeom>
            <a:solidFill>
              <a:srgbClr val="08B9C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矩形 14"/>
            <p:cNvSpPr/>
            <p:nvPr/>
          </p:nvSpPr>
          <p:spPr>
            <a:xfrm>
              <a:off x="5850" y="3886"/>
              <a:ext cx="519" cy="519"/>
            </a:xfrm>
            <a:prstGeom prst="rect">
              <a:avLst/>
            </a:prstGeom>
            <a:solidFill>
              <a:srgbClr val="994AD4"/>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6" name="矩形 15"/>
            <p:cNvSpPr/>
            <p:nvPr/>
          </p:nvSpPr>
          <p:spPr>
            <a:xfrm>
              <a:off x="6369" y="3886"/>
              <a:ext cx="519" cy="519"/>
            </a:xfrm>
            <a:prstGeom prst="rect">
              <a:avLst/>
            </a:prstGeom>
            <a:solidFill>
              <a:srgbClr val="CBE7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7" name="矩形 16"/>
            <p:cNvSpPr/>
            <p:nvPr/>
          </p:nvSpPr>
          <p:spPr>
            <a:xfrm>
              <a:off x="6888" y="3886"/>
              <a:ext cx="519" cy="519"/>
            </a:xfrm>
            <a:prstGeom prst="rect">
              <a:avLst/>
            </a:prstGeom>
            <a:solidFill>
              <a:srgbClr val="1FB9F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11" name="文本框 10"/>
          <p:cNvSpPr txBox="1"/>
          <p:nvPr/>
        </p:nvSpPr>
        <p:spPr>
          <a:xfrm>
            <a:off x="659130" y="854075"/>
            <a:ext cx="10820400" cy="5938520"/>
          </a:xfrm>
          <a:prstGeom prst="rect">
            <a:avLst/>
          </a:prstGeom>
          <a:noFill/>
          <a:ln w="12700">
            <a:solidFill>
              <a:schemeClr val="tx1"/>
            </a:solidFill>
            <a:prstDash val="solid"/>
          </a:ln>
        </p:spPr>
        <p:txBody>
          <a:bodyPr wrap="square" rtlCol="0">
            <a:noAutofit/>
          </a:bodyPr>
          <a:p>
            <a:pPr algn="l">
              <a:lnSpc>
                <a:spcPct val="150000"/>
              </a:lnSpc>
              <a:buClrTx/>
              <a:buSzTx/>
              <a:buFontTx/>
              <a:buNone/>
            </a:pPr>
            <a:r>
              <a:rPr sz="2000" b="1" dirty="0" err="1">
                <a:effectLst>
                  <a:outerShdw blurRad="38100" dist="19050" dir="2700000" algn="tl" rotWithShape="0">
                    <a:schemeClr val="dk1">
                      <a:alpha val="40000"/>
                    </a:schemeClr>
                  </a:outerShdw>
                </a:effectLst>
                <a:latin typeface="黑体" panose="02010609060101010101" charset="-122"/>
                <a:ea typeface="黑体" panose="02010609060101010101" charset="-122"/>
                <a:sym typeface="+mn-ea"/>
              </a:rPr>
              <a:t>数据仓库层(DW)</a:t>
            </a:r>
            <a:endParaRPr sz="2000" b="1" dirty="0" err="1">
              <a:effectLst>
                <a:outerShdw blurRad="38100" dist="19050" dir="2700000" algn="tl" rotWithShape="0">
                  <a:schemeClr val="dk1">
                    <a:alpha val="40000"/>
                  </a:schemeClr>
                </a:outerShdw>
              </a:effectLst>
              <a:latin typeface="黑体" panose="02010609060101010101" charset="-122"/>
              <a:ea typeface="黑体" panose="02010609060101010101" charset="-122"/>
              <a:sym typeface="+mn-ea"/>
            </a:endParaRPr>
          </a:p>
          <a:p>
            <a:pPr algn="l">
              <a:lnSpc>
                <a:spcPct val="150000"/>
              </a:lnSpc>
              <a:buClrTx/>
              <a:buSzTx/>
              <a:buFontTx/>
              <a:buNone/>
            </a:pPr>
            <a:r>
              <a:rPr b="1" dirty="0">
                <a:effectLst>
                  <a:outerShdw blurRad="38100" dist="19050" dir="2700000" algn="tl" rotWithShape="0">
                    <a:schemeClr val="dk1">
                      <a:alpha val="40000"/>
                    </a:schemeClr>
                  </a:outerShdw>
                </a:effectLst>
                <a:latin typeface="宋体" panose="02010600030101010101" pitchFamily="2" charset="-122"/>
                <a:cs typeface="宋体" panose="02010600030101010101" pitchFamily="2" charset="-122"/>
                <a:sym typeface="+mn-ea"/>
              </a:rPr>
              <a:t>DWD</a:t>
            </a:r>
            <a:r>
              <a:rPr dirty="0">
                <a:effectLst>
                  <a:outerShdw blurRad="38100" dist="19050" dir="2700000" algn="tl" rotWithShape="0">
                    <a:schemeClr val="dk1">
                      <a:alpha val="40000"/>
                    </a:schemeClr>
                  </a:outerShdw>
                </a:effectLst>
                <a:latin typeface="宋体" panose="02010600030101010101" pitchFamily="2" charset="-122"/>
                <a:cs typeface="宋体" panose="02010600030101010101" pitchFamily="2" charset="-122"/>
                <a:sym typeface="+mn-ea"/>
              </a:rPr>
              <a:t>：data warehouse detail </a:t>
            </a:r>
            <a:r>
              <a:rPr lang="zh-CN" dirty="0">
                <a:effectLst>
                  <a:outerShdw blurRad="38100" dist="19050" dir="2700000" algn="tl" rotWithShape="0">
                    <a:schemeClr val="dk1">
                      <a:alpha val="40000"/>
                    </a:schemeClr>
                  </a:outerShdw>
                </a:effectLst>
                <a:latin typeface="宋体" panose="02010600030101010101" pitchFamily="2" charset="-122"/>
                <a:cs typeface="宋体" panose="02010600030101010101" pitchFamily="2" charset="-122"/>
                <a:sym typeface="+mn-ea"/>
              </a:rPr>
              <a:t>明细</a:t>
            </a:r>
            <a:r>
              <a:rPr dirty="0">
                <a:effectLst>
                  <a:outerShdw blurRad="38100" dist="19050" dir="2700000" algn="tl" rotWithShape="0">
                    <a:schemeClr val="dk1">
                      <a:alpha val="40000"/>
                    </a:schemeClr>
                  </a:outerShdw>
                </a:effectLst>
                <a:latin typeface="宋体" panose="02010600030101010101" pitchFamily="2" charset="-122"/>
                <a:cs typeface="宋体" panose="02010600030101010101" pitchFamily="2" charset="-122"/>
                <a:sym typeface="+mn-ea"/>
              </a:rPr>
              <a:t>数据层，是业务层与数据仓库的隔离层。</a:t>
            </a:r>
            <a:r>
              <a:rPr>
                <a:effectLst>
                  <a:outerShdw blurRad="38100" dist="19050" dir="2700000" algn="tl" rotWithShape="0">
                    <a:schemeClr val="dk1">
                      <a:alpha val="40000"/>
                    </a:schemeClr>
                  </a:outerShdw>
                </a:effectLst>
                <a:latin typeface="宋体" panose="02010600030101010101" pitchFamily="2" charset="-122"/>
                <a:cs typeface="宋体" panose="02010600030101010101" pitchFamily="2" charset="-122"/>
                <a:sym typeface="+mn-ea"/>
              </a:rPr>
              <a:t>数据模型与ODS层一致，不做清洗转换处理、为支持数据重跑可额外增加数据业务日期字段、可按年月日进行分表、用增量ODS层数据和前一天DWD相关表进行merge处理</a:t>
            </a:r>
            <a:endParaRPr dirty="0">
              <a:effectLst>
                <a:outerShdw blurRad="38100" dist="19050" dir="2700000" algn="tl" rotWithShape="0">
                  <a:schemeClr val="dk1">
                    <a:alpha val="40000"/>
                  </a:schemeClr>
                </a:outerShdw>
              </a:effectLst>
              <a:latin typeface="宋体" panose="02010600030101010101" pitchFamily="2" charset="-122"/>
              <a:cs typeface="宋体" panose="02010600030101010101" pitchFamily="2" charset="-122"/>
              <a:sym typeface="+mn-ea"/>
            </a:endParaRPr>
          </a:p>
          <a:p>
            <a:pPr algn="l">
              <a:lnSpc>
                <a:spcPct val="150000"/>
              </a:lnSpc>
              <a:buClrTx/>
              <a:buSzTx/>
              <a:buFontTx/>
              <a:buNone/>
            </a:pPr>
            <a:r>
              <a:rPr b="1" dirty="0">
                <a:effectLst>
                  <a:outerShdw blurRad="38100" dist="19050" dir="2700000" algn="tl" rotWithShape="0">
                    <a:schemeClr val="dk1">
                      <a:alpha val="40000"/>
                    </a:schemeClr>
                  </a:outerShdw>
                </a:effectLst>
                <a:latin typeface="宋体" panose="02010600030101010101" pitchFamily="2" charset="-122"/>
                <a:cs typeface="宋体" panose="02010600030101010101" pitchFamily="2" charset="-122"/>
                <a:sym typeface="+mn-ea"/>
              </a:rPr>
              <a:t>DIM</a:t>
            </a:r>
            <a:r>
              <a:rPr dirty="0">
                <a:effectLst>
                  <a:outerShdw blurRad="38100" dist="19050" dir="2700000" algn="tl" rotWithShape="0">
                    <a:schemeClr val="dk1">
                      <a:alpha val="40000"/>
                    </a:schemeClr>
                  </a:outerShdw>
                </a:effectLst>
                <a:latin typeface="宋体" panose="02010600030101010101" pitchFamily="2" charset="-122"/>
                <a:cs typeface="宋体" panose="02010600030101010101" pitchFamily="2" charset="-122"/>
                <a:sym typeface="+mn-ea"/>
              </a:rPr>
              <a:t>：Dimension Layer，维度表层,是数据仓库中的核心组成部分，专门用于存储和管理业务过程中的维度数据，为数据分析提供丰富的上下文信息，描述业务实体的属性信息（如时间、地点、产品等），是缓慢变化维(SCD)处理机制</a:t>
            </a:r>
            <a:endParaRPr b="1" dirty="0">
              <a:effectLst>
                <a:outerShdw blurRad="38100" dist="19050" dir="2700000" algn="tl" rotWithShape="0">
                  <a:schemeClr val="dk1">
                    <a:alpha val="40000"/>
                  </a:schemeClr>
                </a:outerShdw>
              </a:effectLst>
              <a:latin typeface="宋体" panose="02010600030101010101" pitchFamily="2" charset="-122"/>
              <a:cs typeface="宋体" panose="02010600030101010101" pitchFamily="2" charset="-122"/>
              <a:sym typeface="+mn-ea"/>
            </a:endParaRPr>
          </a:p>
          <a:p>
            <a:pPr algn="l">
              <a:lnSpc>
                <a:spcPct val="150000"/>
              </a:lnSpc>
              <a:buClrTx/>
              <a:buSzTx/>
              <a:buFontTx/>
            </a:pPr>
            <a:r>
              <a:rPr b="1" dirty="0">
                <a:effectLst>
                  <a:outerShdw blurRad="38100" dist="19050" dir="2700000" algn="tl" rotWithShape="0">
                    <a:schemeClr val="dk1">
                      <a:alpha val="40000"/>
                    </a:schemeClr>
                  </a:outerShdw>
                </a:effectLst>
                <a:latin typeface="宋体" panose="02010600030101010101" pitchFamily="2" charset="-122"/>
                <a:cs typeface="宋体" panose="02010600030101010101" pitchFamily="2" charset="-122"/>
                <a:sym typeface="+mn-ea"/>
              </a:rPr>
              <a:t>DWS</a:t>
            </a:r>
            <a:r>
              <a:rPr dirty="0">
                <a:effectLst>
                  <a:outerShdw blurRad="38100" dist="19050" dir="2700000" algn="tl" rotWithShape="0">
                    <a:schemeClr val="dk1">
                      <a:alpha val="40000"/>
                    </a:schemeClr>
                  </a:outerShdw>
                </a:effectLst>
                <a:latin typeface="宋体" panose="02010600030101010101" pitchFamily="2" charset="-122"/>
                <a:cs typeface="宋体" panose="02010600030101010101" pitchFamily="2" charset="-122"/>
                <a:sym typeface="+mn-ea"/>
              </a:rPr>
              <a:t>：data warehouse service 服务数据层，基于</a:t>
            </a:r>
            <a:r>
              <a:rPr lang="en-US" dirty="0">
                <a:effectLst>
                  <a:outerShdw blurRad="38100" dist="19050" dir="2700000" algn="tl" rotWithShape="0">
                    <a:schemeClr val="dk1">
                      <a:alpha val="40000"/>
                    </a:schemeClr>
                  </a:outerShdw>
                </a:effectLst>
                <a:latin typeface="宋体" panose="02010600030101010101" pitchFamily="2" charset="-122"/>
                <a:cs typeface="宋体" panose="02010600030101010101" pitchFamily="2" charset="-122"/>
                <a:sym typeface="+mn-ea"/>
              </a:rPr>
              <a:t>DWD</a:t>
            </a:r>
            <a:r>
              <a:rPr dirty="0">
                <a:effectLst>
                  <a:outerShdw blurRad="38100" dist="19050" dir="2700000" algn="tl" rotWithShape="0">
                    <a:schemeClr val="dk1">
                      <a:alpha val="40000"/>
                    </a:schemeClr>
                  </a:outerShdw>
                </a:effectLst>
                <a:latin typeface="宋体" panose="02010600030101010101" pitchFamily="2" charset="-122"/>
                <a:cs typeface="宋体" panose="02010600030101010101" pitchFamily="2" charset="-122"/>
                <a:sym typeface="+mn-ea"/>
              </a:rPr>
              <a:t>上的基础数据，</a:t>
            </a:r>
            <a:r>
              <a:rPr>
                <a:effectLst>
                  <a:outerShdw blurRad="38100" dist="19050" dir="2700000" algn="tl" rotWithShape="0">
                    <a:schemeClr val="dk1">
                      <a:alpha val="40000"/>
                    </a:schemeClr>
                  </a:outerShdw>
                </a:effectLst>
                <a:latin typeface="宋体" panose="02010600030101010101" pitchFamily="2" charset="-122"/>
                <a:cs typeface="宋体" panose="02010600030101010101" pitchFamily="2" charset="-122"/>
                <a:sym typeface="+mn-ea"/>
              </a:rPr>
              <a:t>聚合、汇总增加派生事实</a:t>
            </a:r>
            <a:r>
              <a:rPr lang="zh-CN">
                <a:effectLst>
                  <a:outerShdw blurRad="38100" dist="19050" dir="2700000" algn="tl" rotWithShape="0">
                    <a:schemeClr val="dk1">
                      <a:alpha val="40000"/>
                    </a:schemeClr>
                  </a:outerShdw>
                </a:effectLst>
                <a:latin typeface="宋体" panose="02010600030101010101" pitchFamily="2" charset="-122"/>
                <a:cs typeface="宋体" panose="02010600030101010101" pitchFamily="2" charset="-122"/>
                <a:sym typeface="+mn-ea"/>
              </a:rPr>
              <a:t>，</a:t>
            </a:r>
            <a:r>
              <a:rPr>
                <a:effectLst>
                  <a:outerShdw blurRad="38100" dist="19050" dir="2700000" algn="tl" rotWithShape="0">
                    <a:schemeClr val="dk1">
                      <a:alpha val="40000"/>
                    </a:schemeClr>
                  </a:outerShdw>
                </a:effectLst>
                <a:latin typeface="宋体" panose="02010600030101010101" pitchFamily="2" charset="-122"/>
                <a:cs typeface="宋体" panose="02010600030101010101" pitchFamily="2" charset="-122"/>
                <a:sym typeface="+mn-ea"/>
              </a:rPr>
              <a:t>关联其它主题的事实表，DW层可能会跨主题域</a:t>
            </a:r>
            <a:r>
              <a:rPr dirty="0">
                <a:effectLst>
                  <a:outerShdw blurRad="38100" dist="19050" dir="2700000" algn="tl" rotWithShape="0">
                    <a:schemeClr val="dk1">
                      <a:alpha val="40000"/>
                    </a:schemeClr>
                  </a:outerShdw>
                </a:effectLst>
                <a:latin typeface="宋体" panose="02010600030101010101" pitchFamily="2" charset="-122"/>
                <a:cs typeface="宋体" panose="02010600030101010101" pitchFamily="2" charset="-122"/>
                <a:sym typeface="+mn-ea"/>
              </a:rPr>
              <a:t>，按照各个维度进行高粒度汇总聚合后分析某一个主题域的服务数据</a:t>
            </a:r>
            <a:r>
              <a:rPr lang="zh-CN" dirty="0">
                <a:effectLst>
                  <a:outerShdw blurRad="38100" dist="19050" dir="2700000" algn="tl" rotWithShape="0">
                    <a:schemeClr val="dk1">
                      <a:alpha val="40000"/>
                    </a:schemeClr>
                  </a:outerShdw>
                </a:effectLst>
                <a:latin typeface="宋体" panose="02010600030101010101" pitchFamily="2" charset="-122"/>
                <a:cs typeface="宋体" panose="02010600030101010101" pitchFamily="2" charset="-122"/>
                <a:sym typeface="+mn-ea"/>
              </a:rPr>
              <a:t>。</a:t>
            </a:r>
            <a:endParaRPr dirty="0">
              <a:effectLst>
                <a:outerShdw blurRad="38100" dist="19050" dir="2700000" algn="tl" rotWithShape="0">
                  <a:schemeClr val="dk1">
                    <a:alpha val="40000"/>
                  </a:schemeClr>
                </a:outerShdw>
              </a:effectLst>
              <a:latin typeface="宋体" panose="02010600030101010101" pitchFamily="2" charset="-122"/>
              <a:cs typeface="宋体" panose="02010600030101010101" pitchFamily="2" charset="-122"/>
              <a:sym typeface="+mn-ea"/>
            </a:endParaRPr>
          </a:p>
          <a:p>
            <a:pPr algn="l">
              <a:lnSpc>
                <a:spcPct val="150000"/>
              </a:lnSpc>
              <a:buClrTx/>
              <a:buSzTx/>
              <a:buFontTx/>
            </a:pPr>
            <a:endParaRPr dirty="0" err="1">
              <a:effectLst>
                <a:outerShdw blurRad="38100" dist="19050" dir="2700000" algn="tl" rotWithShape="0">
                  <a:schemeClr val="dk1">
                    <a:alpha val="40000"/>
                  </a:schemeClr>
                </a:outerShdw>
              </a:effectLst>
              <a:latin typeface="黑体" panose="02010609060101010101" charset="-122"/>
              <a:ea typeface="黑体" panose="02010609060101010101" charset="-122"/>
              <a:sym typeface="+mn-ea"/>
            </a:endParaRPr>
          </a:p>
          <a:p>
            <a:pPr algn="l">
              <a:lnSpc>
                <a:spcPct val="150000"/>
              </a:lnSpc>
              <a:buClrTx/>
              <a:buSzTx/>
              <a:buFontTx/>
            </a:pPr>
            <a:r>
              <a:rPr sz="2000" b="1" dirty="0" err="1">
                <a:effectLst>
                  <a:outerShdw blurRad="38100" dist="19050" dir="2700000" algn="tl" rotWithShape="0">
                    <a:schemeClr val="dk1">
                      <a:alpha val="40000"/>
                    </a:schemeClr>
                  </a:outerShdw>
                </a:effectLst>
                <a:latin typeface="黑体" panose="02010609060101010101" charset="-122"/>
                <a:ea typeface="黑体" panose="02010609060101010101" charset="-122"/>
                <a:sym typeface="+mn-ea"/>
              </a:rPr>
              <a:t>数据服务层/应用层(ADS)</a:t>
            </a:r>
            <a:endParaRPr sz="2000" b="1" dirty="0" err="1">
              <a:effectLst>
                <a:outerShdw blurRad="38100" dist="19050" dir="2700000" algn="tl" rotWithShape="0">
                  <a:schemeClr val="dk1">
                    <a:alpha val="40000"/>
                  </a:schemeClr>
                </a:outerShdw>
              </a:effectLst>
              <a:latin typeface="黑体" panose="02010609060101010101" charset="-122"/>
              <a:ea typeface="黑体" panose="02010609060101010101" charset="-122"/>
            </a:endParaRPr>
          </a:p>
          <a:p>
            <a:pPr algn="l">
              <a:lnSpc>
                <a:spcPct val="150000"/>
              </a:lnSpc>
              <a:buClrTx/>
              <a:buSzTx/>
              <a:buFontTx/>
            </a:pPr>
            <a:r>
              <a:rPr dirty="0">
                <a:effectLst>
                  <a:outerShdw blurRad="38100" dist="19050" dir="2700000" algn="tl" rotWithShape="0">
                    <a:schemeClr val="dk1">
                      <a:alpha val="40000"/>
                    </a:schemeClr>
                  </a:outerShdw>
                </a:effectLst>
                <a:latin typeface="宋体" panose="02010600030101010101" pitchFamily="2" charset="-122"/>
                <a:cs typeface="宋体" panose="02010600030101010101" pitchFamily="2" charset="-122"/>
                <a:sym typeface="+mn-ea"/>
              </a:rPr>
              <a:t>Application Data Service(</a:t>
            </a:r>
            <a:r>
              <a:rPr dirty="0" err="1">
                <a:effectLst>
                  <a:outerShdw blurRad="38100" dist="19050" dir="2700000" algn="tl" rotWithShape="0">
                    <a:schemeClr val="dk1">
                      <a:alpha val="40000"/>
                    </a:schemeClr>
                  </a:outerShdw>
                </a:effectLst>
                <a:latin typeface="宋体" panose="02010600030101010101" pitchFamily="2" charset="-122"/>
                <a:cs typeface="宋体" panose="02010600030101010101" pitchFamily="2" charset="-122"/>
                <a:sym typeface="+mn-ea"/>
              </a:rPr>
              <a:t>应用数据服务</a:t>
            </a:r>
            <a:r>
              <a:rPr dirty="0">
                <a:effectLst>
                  <a:outerShdw blurRad="38100" dist="19050" dir="2700000" algn="tl" rotWithShape="0">
                    <a:schemeClr val="dk1">
                      <a:alpha val="40000"/>
                    </a:schemeClr>
                  </a:outerShdw>
                </a:effectLst>
                <a:latin typeface="宋体" panose="02010600030101010101" pitchFamily="2" charset="-122"/>
                <a:cs typeface="宋体" panose="02010600030101010101" pitchFamily="2" charset="-122"/>
                <a:sym typeface="+mn-ea"/>
              </a:rPr>
              <a:t>)。该层主要是提供数据产品和数据分析使用的数据，一般会存放在ES、MySQL等系统中供线上系统使用，也可能会存在Hive或者Druid中供数据分析和数据挖掘使用。例如：我们经常说的报表数据，或者说那种大宽表，一般就放在这里。</a:t>
            </a:r>
            <a:endParaRPr dirty="0">
              <a:effectLst>
                <a:outerShdw blurRad="38100" dist="19050" dir="2700000" algn="tl" rotWithShape="0">
                  <a:schemeClr val="dk1">
                    <a:alpha val="40000"/>
                  </a:schemeClr>
                </a:outerShdw>
              </a:effectLst>
              <a:latin typeface="宋体" panose="02010600030101010101" pitchFamily="2" charset="-122"/>
              <a:cs typeface="宋体" panose="02010600030101010101" pitchFamily="2" charset="-122"/>
              <a:sym typeface="+mn-ea"/>
            </a:endParaRPr>
          </a:p>
          <a:p>
            <a:pPr algn="l">
              <a:lnSpc>
                <a:spcPct val="150000"/>
              </a:lnSpc>
              <a:buClrTx/>
              <a:buSzTx/>
              <a:buFontTx/>
            </a:pPr>
            <a:endParaRPr dirty="0">
              <a:effectLst>
                <a:outerShdw blurRad="38100" dist="19050" dir="2700000" algn="tl" rotWithShape="0">
                  <a:schemeClr val="dk1">
                    <a:alpha val="40000"/>
                  </a:schemeClr>
                </a:outerShdw>
              </a:effectLst>
              <a:latin typeface="宋体" panose="02010600030101010101" pitchFamily="2" charset="-122"/>
              <a:cs typeface="宋体" panose="02010600030101010101" pitchFamily="2" charset="-122"/>
            </a:endParaRPr>
          </a:p>
          <a:p>
            <a:pPr algn="l">
              <a:lnSpc>
                <a:spcPct val="150000"/>
              </a:lnSpc>
              <a:buClrTx/>
              <a:buSzTx/>
              <a:buFontTx/>
            </a:pPr>
            <a:endParaRPr dirty="0">
              <a:effectLst>
                <a:outerShdw blurRad="38100" dist="19050" dir="2700000" algn="tl" rotWithShape="0">
                  <a:schemeClr val="dk1">
                    <a:alpha val="40000"/>
                  </a:schemeClr>
                </a:outerShdw>
              </a:effectLst>
              <a:latin typeface="宋体" panose="02010600030101010101" pitchFamily="2" charset="-122"/>
              <a:cs typeface="宋体" panose="02010600030101010101" pitchFamily="2" charset="-122"/>
            </a:endParaRPr>
          </a:p>
        </p:txBody>
      </p:sp>
      <p:sp>
        <p:nvSpPr>
          <p:cNvPr id="19" name="文本框 18" descr="e7d195523061f1c09d430b2e086820dbf734666a277b0d4b500BB7A72AB1412ED5183AD7B3816201F88CE1DA88F1BDB3B214B2C038CB098A30603A7C73162896CA56D5F2C85C2877766F9AF7CC3216D72A30A8123260945F3CF9913B2C8132B15995C34893A847F2CEA0574BAD469374728EE5476AFD938193B7415C316CF399A89FF64C544ADAFE"/>
          <p:cNvSpPr txBox="1"/>
          <p:nvPr/>
        </p:nvSpPr>
        <p:spPr>
          <a:xfrm>
            <a:off x="658813" y="484882"/>
            <a:ext cx="1219200" cy="368935"/>
          </a:xfrm>
          <a:prstGeom prst="rect">
            <a:avLst/>
          </a:prstGeom>
          <a:noFill/>
        </p:spPr>
        <p:txBody>
          <a:bodyPr wrap="none" lIns="0" tIns="0" rIns="0" bIns="0" rtlCol="0">
            <a:spAutoFit/>
          </a:bodyPr>
          <a:p>
            <a:pPr marL="0" marR="0" lvl="0" indent="0" algn="l" defTabSz="914400" rtl="0" eaLnBrk="1" fontAlgn="auto" latinLnBrk="0" hangingPunct="1">
              <a:lnSpc>
                <a:spcPct val="100000"/>
              </a:lnSpc>
              <a:spcBef>
                <a:spcPts val="0"/>
              </a:spcBef>
              <a:spcAft>
                <a:spcPts val="0"/>
              </a:spcAft>
              <a:buClrTx/>
              <a:buSzTx/>
              <a:buFontTx/>
              <a:buNone/>
              <a:defRPr/>
            </a:pPr>
            <a:r>
              <a:rPr lang="zh-CN" altLang="en-US" sz="2400" b="1" dirty="0">
                <a:solidFill>
                  <a:srgbClr val="0059FA">
                    <a:lumMod val="50000"/>
                  </a:srgbClr>
                </a:solidFill>
                <a:latin typeface="Arial" panose="020B0604020202020204" pitchFamily="34" charset="0"/>
                <a:ea typeface="微软雅黑" panose="020B0503020204020204" pitchFamily="34" charset="-122"/>
              </a:rPr>
              <a:t>数据</a:t>
            </a:r>
            <a:r>
              <a:rPr lang="zh-CN" altLang="en-US" sz="2400" b="1" dirty="0">
                <a:solidFill>
                  <a:srgbClr val="0059FA">
                    <a:lumMod val="50000"/>
                  </a:srgbClr>
                </a:solidFill>
                <a:latin typeface="Arial" panose="020B0604020202020204" pitchFamily="34" charset="0"/>
                <a:ea typeface="微软雅黑" panose="020B0503020204020204" pitchFamily="34" charset="-122"/>
              </a:rPr>
              <a:t>分层</a:t>
            </a:r>
            <a:endParaRPr lang="zh-CN" altLang="en-US" sz="2400" b="1" dirty="0">
              <a:solidFill>
                <a:srgbClr val="0059FA">
                  <a:lumMod val="50000"/>
                </a:srgbClr>
              </a:solidFill>
              <a:latin typeface="Arial" panose="020B0604020202020204" pitchFamily="34" charset="0"/>
              <a:ea typeface="微软雅黑" panose="020B0503020204020204" pitchFamily="34"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组合 17"/>
          <p:cNvGrpSpPr/>
          <p:nvPr/>
        </p:nvGrpSpPr>
        <p:grpSpPr>
          <a:xfrm>
            <a:off x="10116820" y="-402590"/>
            <a:ext cx="1976755" cy="328930"/>
            <a:chOff x="4293" y="3886"/>
            <a:chExt cx="3113" cy="518"/>
          </a:xfrm>
        </p:grpSpPr>
        <p:sp>
          <p:nvSpPr>
            <p:cNvPr id="12" name="矩形 11"/>
            <p:cNvSpPr/>
            <p:nvPr/>
          </p:nvSpPr>
          <p:spPr>
            <a:xfrm>
              <a:off x="4293" y="3886"/>
              <a:ext cx="519" cy="519"/>
            </a:xfrm>
            <a:prstGeom prst="rect">
              <a:avLst/>
            </a:prstGeom>
            <a:solidFill>
              <a:srgbClr val="319DF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3" name="矩形 12"/>
            <p:cNvSpPr/>
            <p:nvPr/>
          </p:nvSpPr>
          <p:spPr>
            <a:xfrm>
              <a:off x="4812" y="3886"/>
              <a:ext cx="519" cy="519"/>
            </a:xfrm>
            <a:prstGeom prst="rect">
              <a:avLst/>
            </a:prstGeom>
            <a:solidFill>
              <a:srgbClr val="076DF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矩形 13"/>
            <p:cNvSpPr/>
            <p:nvPr/>
          </p:nvSpPr>
          <p:spPr>
            <a:xfrm>
              <a:off x="5331" y="3886"/>
              <a:ext cx="519" cy="519"/>
            </a:xfrm>
            <a:prstGeom prst="rect">
              <a:avLst/>
            </a:prstGeom>
            <a:solidFill>
              <a:srgbClr val="08B9C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矩形 14"/>
            <p:cNvSpPr/>
            <p:nvPr/>
          </p:nvSpPr>
          <p:spPr>
            <a:xfrm>
              <a:off x="5850" y="3886"/>
              <a:ext cx="519" cy="519"/>
            </a:xfrm>
            <a:prstGeom prst="rect">
              <a:avLst/>
            </a:prstGeom>
            <a:solidFill>
              <a:srgbClr val="994AD4"/>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6" name="矩形 15"/>
            <p:cNvSpPr/>
            <p:nvPr/>
          </p:nvSpPr>
          <p:spPr>
            <a:xfrm>
              <a:off x="6369" y="3886"/>
              <a:ext cx="519" cy="519"/>
            </a:xfrm>
            <a:prstGeom prst="rect">
              <a:avLst/>
            </a:prstGeom>
            <a:solidFill>
              <a:srgbClr val="CBE7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7" name="矩形 16"/>
            <p:cNvSpPr/>
            <p:nvPr/>
          </p:nvSpPr>
          <p:spPr>
            <a:xfrm>
              <a:off x="6888" y="3886"/>
              <a:ext cx="519" cy="519"/>
            </a:xfrm>
            <a:prstGeom prst="rect">
              <a:avLst/>
            </a:prstGeom>
            <a:solidFill>
              <a:srgbClr val="1FB9F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19" name="文本框 18" descr="e7d195523061f1c09d430b2e086820dbf734666a277b0d4b500BB7A72AB1412ED5183AD7B3816201F88CE1DA88F1BDB3B214B2C038CB098A30603A7C73162896CA56D5F2C85C2877766F9AF7CC3216D72A30A8123260945F3CF9913B2C8132B15995C34893A847F2CEA0574BAD469374728EE5476AFD938193B7415C316CF399A89FF64C544ADAFE"/>
          <p:cNvSpPr txBox="1"/>
          <p:nvPr/>
        </p:nvSpPr>
        <p:spPr>
          <a:xfrm>
            <a:off x="658813" y="484882"/>
            <a:ext cx="2438400" cy="368935"/>
          </a:xfrm>
          <a:prstGeom prst="rect">
            <a:avLst/>
          </a:prstGeom>
          <a:noFill/>
        </p:spPr>
        <p:txBody>
          <a:bodyPr wrap="none" lIns="0" tIns="0" rIns="0" bIns="0" rtlCol="0">
            <a:spAutoFit/>
          </a:bodyPr>
          <a:p>
            <a:pPr marL="0" marR="0" lvl="0" indent="0" algn="l" defTabSz="914400" rtl="0" eaLnBrk="1" fontAlgn="auto" latinLnBrk="0" hangingPunct="1">
              <a:lnSpc>
                <a:spcPct val="100000"/>
              </a:lnSpc>
              <a:spcBef>
                <a:spcPts val="0"/>
              </a:spcBef>
              <a:spcAft>
                <a:spcPts val="0"/>
              </a:spcAft>
              <a:buClrTx/>
              <a:buSzTx/>
              <a:buFontTx/>
              <a:buNone/>
              <a:defRPr/>
            </a:pPr>
            <a:r>
              <a:rPr lang="zh-CN" altLang="en-US" sz="2400" b="1" dirty="0">
                <a:solidFill>
                  <a:srgbClr val="0059FA">
                    <a:lumMod val="50000"/>
                  </a:srgbClr>
                </a:solidFill>
                <a:latin typeface="Arial" panose="020B0604020202020204" pitchFamily="34" charset="0"/>
                <a:ea typeface="微软雅黑" panose="020B0503020204020204" pitchFamily="34" charset="-122"/>
              </a:rPr>
              <a:t>数据建模</a:t>
            </a:r>
            <a:r>
              <a:rPr lang="zh-CN" altLang="en-US" sz="2400" b="1" dirty="0">
                <a:solidFill>
                  <a:srgbClr val="0059FA">
                    <a:lumMod val="50000"/>
                  </a:srgbClr>
                </a:solidFill>
                <a:latin typeface="Arial" panose="020B0604020202020204" pitchFamily="34" charset="0"/>
                <a:ea typeface="微软雅黑" panose="020B0503020204020204" pitchFamily="34" charset="-122"/>
              </a:rPr>
              <a:t>基础原则</a:t>
            </a:r>
            <a:endParaRPr lang="zh-CN" altLang="en-US" sz="2400" b="1" dirty="0">
              <a:solidFill>
                <a:srgbClr val="0059FA">
                  <a:lumMod val="50000"/>
                </a:srgbClr>
              </a:solidFill>
              <a:latin typeface="Arial" panose="020B0604020202020204" pitchFamily="34" charset="0"/>
              <a:ea typeface="微软雅黑" panose="020B0503020204020204" pitchFamily="34" charset="-122"/>
            </a:endParaRPr>
          </a:p>
        </p:txBody>
      </p:sp>
      <p:sp>
        <p:nvSpPr>
          <p:cNvPr id="2" name="文本框 1"/>
          <p:cNvSpPr txBox="1"/>
          <p:nvPr/>
        </p:nvSpPr>
        <p:spPr>
          <a:xfrm>
            <a:off x="659130" y="1057910"/>
            <a:ext cx="11153140" cy="1009015"/>
          </a:xfrm>
          <a:prstGeom prst="rect">
            <a:avLst/>
          </a:prstGeom>
          <a:noFill/>
        </p:spPr>
        <p:txBody>
          <a:bodyPr wrap="square" rtlCol="0">
            <a:noAutofit/>
          </a:bodyPr>
          <a:p>
            <a:r>
              <a:rPr lang="zh-CN" altLang="en-US" sz="2400" b="1"/>
              <a:t>数据模型</a:t>
            </a:r>
            <a:r>
              <a:rPr lang="en-US" altLang="zh-CN" sz="2400" b="1"/>
              <a:t> DM – Data Model</a:t>
            </a:r>
            <a:endParaRPr lang="en-US" altLang="zh-CN" sz="2400" b="1"/>
          </a:p>
          <a:p>
            <a:r>
              <a:rPr lang="en-US" altLang="zh-CN"/>
              <a:t>• </a:t>
            </a:r>
            <a:r>
              <a:rPr lang="zh-CN" altLang="en-US"/>
              <a:t>数据模型一般多指在设计和建立数据库时，用于提供数据表示和操作手段的形式架构</a:t>
            </a:r>
            <a:endParaRPr lang="zh-CN" altLang="en-US"/>
          </a:p>
          <a:p>
            <a:r>
              <a:rPr lang="en-US" altLang="zh-CN"/>
              <a:t>• </a:t>
            </a:r>
            <a:r>
              <a:rPr lang="zh-CN" altLang="en-US"/>
              <a:t>使用数据模型，可以提供一些良好的特性，以适应特定场景</a:t>
            </a:r>
            <a:endParaRPr lang="zh-CN" altLang="en-US"/>
          </a:p>
        </p:txBody>
      </p:sp>
      <p:sp>
        <p:nvSpPr>
          <p:cNvPr id="3" name="文本框 2"/>
          <p:cNvSpPr txBox="1"/>
          <p:nvPr/>
        </p:nvSpPr>
        <p:spPr>
          <a:xfrm>
            <a:off x="621030" y="2066925"/>
            <a:ext cx="5861050" cy="4264025"/>
          </a:xfrm>
          <a:prstGeom prst="rect">
            <a:avLst/>
          </a:prstGeom>
          <a:noFill/>
        </p:spPr>
        <p:txBody>
          <a:bodyPr wrap="square" rtlCol="0">
            <a:noAutofit/>
          </a:bodyPr>
          <a:p>
            <a:r>
              <a:rPr lang="zh-CN" altLang="en-US" sz="2400" b="1"/>
              <a:t>数据模型的层次</a:t>
            </a:r>
            <a:endParaRPr lang="zh-CN" altLang="en-US" sz="2400" b="1"/>
          </a:p>
          <a:p>
            <a:r>
              <a:rPr lang="en-US" altLang="zh-CN"/>
              <a:t>• </a:t>
            </a:r>
            <a:r>
              <a:rPr lang="zh-CN" altLang="en-US"/>
              <a:t>定义了重要的业务概念和彼此的关系</a:t>
            </a:r>
            <a:endParaRPr lang="zh-CN" altLang="en-US"/>
          </a:p>
          <a:p>
            <a:r>
              <a:rPr lang="en-US" altLang="zh-CN"/>
              <a:t>• </a:t>
            </a:r>
            <a:r>
              <a:rPr lang="zh-CN" altLang="en-US"/>
              <a:t>由核心实体或其集合，及实体间的业务关系组成</a:t>
            </a:r>
            <a:endParaRPr lang="zh-CN" altLang="en-US"/>
          </a:p>
          <a:p>
            <a:r>
              <a:rPr lang="en-US" altLang="zh-CN"/>
              <a:t>• </a:t>
            </a:r>
            <a:r>
              <a:rPr lang="zh-CN" altLang="en-US"/>
              <a:t>类似行业数据模型</a:t>
            </a:r>
            <a:endParaRPr lang="zh-CN" altLang="en-US"/>
          </a:p>
          <a:p>
            <a:endParaRPr lang="zh-CN" altLang="en-US"/>
          </a:p>
          <a:p>
            <a:endParaRPr lang="zh-CN" altLang="en-US"/>
          </a:p>
          <a:p>
            <a:r>
              <a:rPr lang="en-US" altLang="zh-CN"/>
              <a:t>• </a:t>
            </a:r>
            <a:r>
              <a:rPr lang="zh-CN" altLang="en-US"/>
              <a:t>对概念数据模型的进一步分解和细化</a:t>
            </a:r>
            <a:endParaRPr lang="zh-CN" altLang="en-US"/>
          </a:p>
          <a:p>
            <a:r>
              <a:rPr lang="en-US" altLang="zh-CN"/>
              <a:t>• </a:t>
            </a:r>
            <a:r>
              <a:rPr lang="zh-CN" altLang="en-US"/>
              <a:t>描述实体、属性、以及实体与实体之间的关系</a:t>
            </a:r>
            <a:endParaRPr lang="zh-CN" altLang="en-US"/>
          </a:p>
          <a:p>
            <a:endParaRPr lang="zh-CN" altLang="en-US"/>
          </a:p>
          <a:p>
            <a:endParaRPr lang="zh-CN" altLang="en-US"/>
          </a:p>
          <a:p>
            <a:r>
              <a:rPr lang="en-US" altLang="zh-CN"/>
              <a:t>• </a:t>
            </a:r>
            <a:r>
              <a:rPr lang="zh-CN" altLang="en-US"/>
              <a:t>描述模型实体的细节，对数据冗余与性能进行平衡</a:t>
            </a:r>
            <a:endParaRPr lang="zh-CN" altLang="en-US"/>
          </a:p>
          <a:p>
            <a:r>
              <a:rPr lang="en-US" altLang="zh-CN"/>
              <a:t>• </a:t>
            </a:r>
            <a:r>
              <a:rPr lang="zh-CN" altLang="en-US"/>
              <a:t>关注数据库的物理实现，解决细节技术问题</a:t>
            </a:r>
            <a:endParaRPr lang="zh-CN" altLang="en-US"/>
          </a:p>
          <a:p>
            <a:r>
              <a:rPr lang="en-US" altLang="zh-CN"/>
              <a:t>• </a:t>
            </a:r>
            <a:r>
              <a:rPr lang="zh-CN" altLang="en-US"/>
              <a:t>需要考虑数据类型、长度、索引等因素</a:t>
            </a:r>
            <a:endParaRPr lang="zh-CN" altLang="en-US"/>
          </a:p>
          <a:p>
            <a:r>
              <a:rPr lang="en-US" altLang="zh-CN"/>
              <a:t>• </a:t>
            </a:r>
            <a:r>
              <a:rPr lang="zh-CN" altLang="en-US"/>
              <a:t>需确定数据平台和架构</a:t>
            </a:r>
            <a:endParaRPr lang="zh-CN" altLang="en-US"/>
          </a:p>
        </p:txBody>
      </p:sp>
      <p:sp>
        <p:nvSpPr>
          <p:cNvPr id="4" name="立方体 3"/>
          <p:cNvSpPr/>
          <p:nvPr/>
        </p:nvSpPr>
        <p:spPr>
          <a:xfrm>
            <a:off x="7584440" y="2026920"/>
            <a:ext cx="1435100" cy="1280160"/>
          </a:xfrm>
          <a:prstGeom prst="cube">
            <a:avLst/>
          </a:prstGeom>
          <a:solidFill>
            <a:schemeClr val="bg2">
              <a:lumMod val="50000"/>
              <a:alpha val="96000"/>
            </a:schemeClr>
          </a:solidFill>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概念</a:t>
            </a:r>
            <a:r>
              <a:rPr lang="zh-CN" altLang="en-US"/>
              <a:t>模型</a:t>
            </a:r>
            <a:endParaRPr lang="zh-CN" altLang="en-US"/>
          </a:p>
        </p:txBody>
      </p:sp>
      <p:sp>
        <p:nvSpPr>
          <p:cNvPr id="5" name="立方体 4"/>
          <p:cNvSpPr/>
          <p:nvPr/>
        </p:nvSpPr>
        <p:spPr>
          <a:xfrm>
            <a:off x="7510780" y="4994910"/>
            <a:ext cx="1435100" cy="1280160"/>
          </a:xfrm>
          <a:prstGeom prst="cube">
            <a:avLst/>
          </a:prstGeom>
          <a:solidFill>
            <a:schemeClr val="bg2">
              <a:lumMod val="50000"/>
              <a:alpha val="96000"/>
            </a:schemeClr>
          </a:solidFill>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物理模型</a:t>
            </a:r>
            <a:endParaRPr lang="zh-CN" altLang="en-US"/>
          </a:p>
        </p:txBody>
      </p:sp>
      <p:sp>
        <p:nvSpPr>
          <p:cNvPr id="6" name="立方体 5"/>
          <p:cNvSpPr/>
          <p:nvPr/>
        </p:nvSpPr>
        <p:spPr>
          <a:xfrm>
            <a:off x="7510780" y="3510915"/>
            <a:ext cx="1435100" cy="1280160"/>
          </a:xfrm>
          <a:prstGeom prst="cube">
            <a:avLst/>
          </a:prstGeom>
          <a:solidFill>
            <a:schemeClr val="bg2">
              <a:lumMod val="50000"/>
              <a:alpha val="96000"/>
            </a:schemeClr>
          </a:solidFill>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逻辑模型</a:t>
            </a:r>
            <a:endParaRPr lang="zh-CN" altLang="en-US"/>
          </a:p>
        </p:txBody>
      </p:sp>
      <p:cxnSp>
        <p:nvCxnSpPr>
          <p:cNvPr id="7" name="直接连接符 6"/>
          <p:cNvCxnSpPr/>
          <p:nvPr/>
        </p:nvCxnSpPr>
        <p:spPr>
          <a:xfrm>
            <a:off x="636270" y="4643120"/>
            <a:ext cx="6042025" cy="29845"/>
          </a:xfrm>
          <a:prstGeom prst="line">
            <a:avLst/>
          </a:prstGeom>
          <a:ln w="6350" cap="flat" cmpd="sng" algn="ctr">
            <a:solidFill>
              <a:schemeClr val="accent1"/>
            </a:solidFill>
            <a:prstDash val="dash"/>
            <a:miter lim="800000"/>
          </a:ln>
        </p:spPr>
        <p:style>
          <a:lnRef idx="0">
            <a:schemeClr val="accent1"/>
          </a:lnRef>
          <a:fillRef idx="0">
            <a:srgbClr val="FFFFFF"/>
          </a:fillRef>
          <a:effectRef idx="0">
            <a:srgbClr val="FFFFFF"/>
          </a:effectRef>
          <a:fontRef idx="minor">
            <a:schemeClr val="tx1"/>
          </a:fontRef>
        </p:style>
      </p:cxnSp>
      <p:cxnSp>
        <p:nvCxnSpPr>
          <p:cNvPr id="8" name="直接连接符 7"/>
          <p:cNvCxnSpPr/>
          <p:nvPr/>
        </p:nvCxnSpPr>
        <p:spPr>
          <a:xfrm>
            <a:off x="659130" y="3591560"/>
            <a:ext cx="6042025" cy="29845"/>
          </a:xfrm>
          <a:prstGeom prst="line">
            <a:avLst/>
          </a:prstGeom>
          <a:ln w="6350" cap="flat" cmpd="sng" algn="ctr">
            <a:solidFill>
              <a:schemeClr val="accent1"/>
            </a:solidFill>
            <a:prstDash val="dash"/>
            <a:miter lim="800000"/>
          </a:ln>
        </p:spPr>
        <p:style>
          <a:lnRef idx="0">
            <a:schemeClr val="accent1"/>
          </a:lnRef>
          <a:fillRef idx="0">
            <a:srgbClr val="FFFFFF"/>
          </a:fillRef>
          <a:effectRef idx="0">
            <a:srgbClr val="FFFFFF"/>
          </a:effectRef>
          <a:fontRef idx="minor">
            <a:schemeClr val="tx1"/>
          </a:fontRef>
        </p:style>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组合 17"/>
          <p:cNvGrpSpPr/>
          <p:nvPr/>
        </p:nvGrpSpPr>
        <p:grpSpPr>
          <a:xfrm>
            <a:off x="10116820" y="-402590"/>
            <a:ext cx="1976755" cy="328930"/>
            <a:chOff x="4293" y="3886"/>
            <a:chExt cx="3113" cy="518"/>
          </a:xfrm>
        </p:grpSpPr>
        <p:sp>
          <p:nvSpPr>
            <p:cNvPr id="12" name="矩形 11"/>
            <p:cNvSpPr/>
            <p:nvPr/>
          </p:nvSpPr>
          <p:spPr>
            <a:xfrm>
              <a:off x="4293" y="3886"/>
              <a:ext cx="519" cy="519"/>
            </a:xfrm>
            <a:prstGeom prst="rect">
              <a:avLst/>
            </a:prstGeom>
            <a:solidFill>
              <a:srgbClr val="319DF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3" name="矩形 12"/>
            <p:cNvSpPr/>
            <p:nvPr/>
          </p:nvSpPr>
          <p:spPr>
            <a:xfrm>
              <a:off x="4812" y="3886"/>
              <a:ext cx="519" cy="519"/>
            </a:xfrm>
            <a:prstGeom prst="rect">
              <a:avLst/>
            </a:prstGeom>
            <a:solidFill>
              <a:srgbClr val="076DF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矩形 13"/>
            <p:cNvSpPr/>
            <p:nvPr/>
          </p:nvSpPr>
          <p:spPr>
            <a:xfrm>
              <a:off x="5331" y="3886"/>
              <a:ext cx="519" cy="519"/>
            </a:xfrm>
            <a:prstGeom prst="rect">
              <a:avLst/>
            </a:prstGeom>
            <a:solidFill>
              <a:srgbClr val="08B9C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矩形 14"/>
            <p:cNvSpPr/>
            <p:nvPr/>
          </p:nvSpPr>
          <p:spPr>
            <a:xfrm>
              <a:off x="5850" y="3886"/>
              <a:ext cx="519" cy="519"/>
            </a:xfrm>
            <a:prstGeom prst="rect">
              <a:avLst/>
            </a:prstGeom>
            <a:solidFill>
              <a:srgbClr val="994AD4"/>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6" name="矩形 15"/>
            <p:cNvSpPr/>
            <p:nvPr/>
          </p:nvSpPr>
          <p:spPr>
            <a:xfrm>
              <a:off x="6369" y="3886"/>
              <a:ext cx="519" cy="519"/>
            </a:xfrm>
            <a:prstGeom prst="rect">
              <a:avLst/>
            </a:prstGeom>
            <a:solidFill>
              <a:srgbClr val="CBE7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7" name="矩形 16"/>
            <p:cNvSpPr/>
            <p:nvPr/>
          </p:nvSpPr>
          <p:spPr>
            <a:xfrm>
              <a:off x="6888" y="3886"/>
              <a:ext cx="519" cy="519"/>
            </a:xfrm>
            <a:prstGeom prst="rect">
              <a:avLst/>
            </a:prstGeom>
            <a:solidFill>
              <a:srgbClr val="1FB9F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19" name="文本框 18" descr="e7d195523061f1c09d430b2e086820dbf734666a277b0d4b500BB7A72AB1412ED5183AD7B3816201F88CE1DA88F1BDB3B214B2C038CB098A30603A7C73162896CA56D5F2C85C2877766F9AF7CC3216D72A30A8123260945F3CF9913B2C8132B15995C34893A847F2CEA0574BAD469374728EE5476AFD938193B7415C316CF399A89FF64C544ADAFE"/>
          <p:cNvSpPr txBox="1"/>
          <p:nvPr/>
        </p:nvSpPr>
        <p:spPr>
          <a:xfrm>
            <a:off x="658813" y="484882"/>
            <a:ext cx="1219200" cy="368935"/>
          </a:xfrm>
          <a:prstGeom prst="rect">
            <a:avLst/>
          </a:prstGeom>
          <a:noFill/>
        </p:spPr>
        <p:txBody>
          <a:bodyPr wrap="none" lIns="0" tIns="0" rIns="0" bIns="0" rtlCol="0">
            <a:spAutoFit/>
          </a:bodyPr>
          <a:p>
            <a:pPr marL="0" marR="0" lvl="0" indent="0" algn="l" defTabSz="914400" rtl="0" eaLnBrk="1" fontAlgn="auto" latinLnBrk="0" hangingPunct="1">
              <a:lnSpc>
                <a:spcPct val="100000"/>
              </a:lnSpc>
              <a:spcBef>
                <a:spcPts val="0"/>
              </a:spcBef>
              <a:spcAft>
                <a:spcPts val="0"/>
              </a:spcAft>
              <a:buClrTx/>
              <a:buSzTx/>
              <a:buFontTx/>
              <a:buNone/>
              <a:defRPr/>
            </a:pPr>
            <a:r>
              <a:rPr lang="zh-CN" altLang="en-US" sz="2400" b="1" dirty="0">
                <a:solidFill>
                  <a:srgbClr val="0059FA">
                    <a:lumMod val="50000"/>
                  </a:srgbClr>
                </a:solidFill>
                <a:latin typeface="Arial" panose="020B0604020202020204" pitchFamily="34" charset="0"/>
                <a:ea typeface="微软雅黑" panose="020B0503020204020204" pitchFamily="34" charset="-122"/>
              </a:rPr>
              <a:t>关系模型</a:t>
            </a:r>
            <a:endParaRPr lang="zh-CN" altLang="en-US" sz="2400" b="1" dirty="0">
              <a:solidFill>
                <a:srgbClr val="0059FA">
                  <a:lumMod val="50000"/>
                </a:srgbClr>
              </a:solidFill>
              <a:latin typeface="Arial" panose="020B0604020202020204" pitchFamily="34" charset="0"/>
              <a:ea typeface="微软雅黑" panose="020B0503020204020204" pitchFamily="34" charset="-122"/>
            </a:endParaRPr>
          </a:p>
        </p:txBody>
      </p:sp>
      <p:sp>
        <p:nvSpPr>
          <p:cNvPr id="2" name="文本框 1"/>
          <p:cNvSpPr txBox="1"/>
          <p:nvPr/>
        </p:nvSpPr>
        <p:spPr>
          <a:xfrm>
            <a:off x="659130" y="992505"/>
            <a:ext cx="5866765" cy="1039495"/>
          </a:xfrm>
          <a:prstGeom prst="rect">
            <a:avLst/>
          </a:prstGeom>
          <a:noFill/>
        </p:spPr>
        <p:txBody>
          <a:bodyPr wrap="square" rtlCol="0">
            <a:noAutofit/>
          </a:bodyPr>
          <a:p>
            <a:r>
              <a:rPr lang="zh-CN" altLang="en-US"/>
              <a:t>关系数据模型的规范化是一种组织数据的技术</a:t>
            </a:r>
            <a:endParaRPr lang="zh-CN" altLang="en-US"/>
          </a:p>
          <a:p>
            <a:r>
              <a:rPr lang="en-US" altLang="zh-CN"/>
              <a:t>• </a:t>
            </a:r>
            <a:r>
              <a:rPr lang="zh-CN" altLang="en-US"/>
              <a:t>规范化方法对表进行分节，以消除数据冗余，避免异常更新，提高数据完整性</a:t>
            </a:r>
            <a:endParaRPr lang="zh-CN" altLang="en-US"/>
          </a:p>
          <a:p>
            <a:r>
              <a:rPr lang="en-US" altLang="zh-CN"/>
              <a:t>• </a:t>
            </a:r>
            <a:r>
              <a:rPr lang="zh-CN" altLang="en-US"/>
              <a:t>通过实体关系（</a:t>
            </a:r>
            <a:r>
              <a:rPr lang="en-US" altLang="zh-CN"/>
              <a:t> E-R</a:t>
            </a:r>
            <a:r>
              <a:rPr lang="zh-CN" altLang="en-US"/>
              <a:t>：</a:t>
            </a:r>
            <a:r>
              <a:rPr lang="en-US" altLang="zh-CN"/>
              <a:t>Entity-Relationship Model</a:t>
            </a:r>
            <a:r>
              <a:rPr lang="en-US" altLang="zh-CN"/>
              <a:t> </a:t>
            </a:r>
            <a:r>
              <a:rPr lang="zh-CN" altLang="en-US"/>
              <a:t>）描述企业业务和业务规则</a:t>
            </a:r>
            <a:endParaRPr lang="zh-CN" altLang="en-US"/>
          </a:p>
        </p:txBody>
      </p:sp>
      <p:sp>
        <p:nvSpPr>
          <p:cNvPr id="3" name="文本框 2"/>
          <p:cNvSpPr txBox="1"/>
          <p:nvPr/>
        </p:nvSpPr>
        <p:spPr>
          <a:xfrm>
            <a:off x="658495" y="2542540"/>
            <a:ext cx="5867400" cy="2364740"/>
          </a:xfrm>
          <a:prstGeom prst="rect">
            <a:avLst/>
          </a:prstGeom>
          <a:noFill/>
        </p:spPr>
        <p:txBody>
          <a:bodyPr wrap="square" rtlCol="0">
            <a:noAutofit/>
          </a:bodyPr>
          <a:p>
            <a:r>
              <a:rPr lang="en-US" altLang="zh-CN">
                <a:latin typeface="Arial" panose="020B0604020202020204" pitchFamily="34" charset="0"/>
                <a:cs typeface="Arial" panose="020B0604020202020204" pitchFamily="34" charset="0"/>
              </a:rPr>
              <a:t>√</a:t>
            </a:r>
            <a:r>
              <a:rPr lang="en-US" altLang="zh-CN"/>
              <a:t>   </a:t>
            </a:r>
            <a:r>
              <a:rPr lang="zh-CN" altLang="en-US" sz="2000" b="1"/>
              <a:t>实体</a:t>
            </a:r>
            <a:endParaRPr lang="zh-CN" altLang="en-US"/>
          </a:p>
          <a:p>
            <a:r>
              <a:rPr lang="zh-CN" altLang="en-US"/>
              <a:t>客观存在并且可以相互区别的事物称为实体</a:t>
            </a:r>
            <a:endParaRPr lang="zh-CN" altLang="en-US"/>
          </a:p>
          <a:p>
            <a:r>
              <a:rPr lang="en-US" altLang="en-US">
                <a:latin typeface="Arial" panose="020B0604020202020204" pitchFamily="34" charset="0"/>
                <a:cs typeface="Arial" panose="020B0604020202020204" pitchFamily="34" charset="0"/>
              </a:rPr>
              <a:t>√</a:t>
            </a:r>
            <a:r>
              <a:rPr lang="en-US" altLang="zh-CN"/>
              <a:t>   </a:t>
            </a:r>
            <a:r>
              <a:rPr lang="zh-CN" altLang="en-US" sz="2000" b="1"/>
              <a:t>关系</a:t>
            </a:r>
            <a:endParaRPr lang="zh-CN" altLang="en-US"/>
          </a:p>
          <a:p>
            <a:r>
              <a:rPr lang="zh-CN" altLang="en-US"/>
              <a:t>描述实体间的关联性，实体间的关系基本上有三种：一对一，一对多，多对多</a:t>
            </a:r>
            <a:endParaRPr lang="zh-CN" altLang="en-US"/>
          </a:p>
          <a:p>
            <a:r>
              <a:rPr lang="en-US" altLang="en-US">
                <a:latin typeface="Arial" panose="020B0604020202020204" pitchFamily="34" charset="0"/>
                <a:cs typeface="Arial" panose="020B0604020202020204" pitchFamily="34" charset="0"/>
              </a:rPr>
              <a:t>√  </a:t>
            </a:r>
            <a:r>
              <a:rPr lang="zh-CN" altLang="en-US" sz="2000" b="1"/>
              <a:t>属性</a:t>
            </a:r>
            <a:endParaRPr lang="zh-CN" altLang="en-US"/>
          </a:p>
          <a:p>
            <a:r>
              <a:rPr lang="zh-CN" altLang="en-US"/>
              <a:t>一个属性是在数据模型中用来描述一个事物的最基本元素。是描述一个事物或交易在数据元素级上的抽象定义</a:t>
            </a:r>
            <a:endParaRPr lang="zh-CN" altLang="en-US"/>
          </a:p>
          <a:p>
            <a:endParaRPr lang="zh-CN" altLang="en-US"/>
          </a:p>
        </p:txBody>
      </p:sp>
      <p:sp>
        <p:nvSpPr>
          <p:cNvPr id="9" name="文本框 8"/>
          <p:cNvSpPr txBox="1"/>
          <p:nvPr/>
        </p:nvSpPr>
        <p:spPr>
          <a:xfrm>
            <a:off x="659130" y="5057140"/>
            <a:ext cx="5589905" cy="1506855"/>
          </a:xfrm>
          <a:prstGeom prst="rect">
            <a:avLst/>
          </a:prstGeom>
          <a:noFill/>
        </p:spPr>
        <p:txBody>
          <a:bodyPr wrap="square" rtlCol="0">
            <a:spAutoFit/>
          </a:bodyPr>
          <a:p>
            <a:r>
              <a:rPr lang="zh-CN" altLang="en-US" sz="2000" b="1"/>
              <a:t>在范式理论上符合</a:t>
            </a:r>
            <a:r>
              <a:rPr lang="en-US" altLang="zh-CN" sz="2000" b="1"/>
              <a:t> 3NF</a:t>
            </a:r>
            <a:endParaRPr lang="en-US" altLang="zh-CN" sz="2000" b="1"/>
          </a:p>
          <a:p>
            <a:r>
              <a:rPr lang="zh-CN" altLang="en-US"/>
              <a:t>－每个属性值唯一，不具有多义性</a:t>
            </a:r>
            <a:r>
              <a:rPr lang="en-US" altLang="zh-CN"/>
              <a:t> </a:t>
            </a:r>
            <a:r>
              <a:rPr lang="zh-CN" altLang="en-US"/>
              <a:t>；</a:t>
            </a:r>
            <a:endParaRPr lang="zh-CN" altLang="en-US"/>
          </a:p>
          <a:p>
            <a:r>
              <a:rPr lang="zh-CN" altLang="en-US"/>
              <a:t>－每个非主属性必须完全依赖于整个主键，而非部分主键</a:t>
            </a:r>
            <a:r>
              <a:rPr lang="en-US" altLang="zh-CN"/>
              <a:t> </a:t>
            </a:r>
            <a:r>
              <a:rPr lang="zh-CN" altLang="en-US"/>
              <a:t>；</a:t>
            </a:r>
            <a:endParaRPr lang="zh-CN" altLang="en-US"/>
          </a:p>
          <a:p>
            <a:r>
              <a:rPr lang="zh-CN" altLang="en-US"/>
              <a:t>－每个非主属性不能依赖于其他关系中的属性</a:t>
            </a:r>
            <a:endParaRPr lang="zh-CN" altLang="en-US"/>
          </a:p>
        </p:txBody>
      </p:sp>
      <p:pic>
        <p:nvPicPr>
          <p:cNvPr id="10" name="图片 9"/>
          <p:cNvPicPr>
            <a:picLocks noChangeAspect="1"/>
          </p:cNvPicPr>
          <p:nvPr/>
        </p:nvPicPr>
        <p:blipFill>
          <a:blip r:embed="rId1"/>
          <a:stretch>
            <a:fillRect/>
          </a:stretch>
        </p:blipFill>
        <p:spPr>
          <a:xfrm>
            <a:off x="7099300" y="1157605"/>
            <a:ext cx="4498340" cy="543369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组合 17"/>
          <p:cNvGrpSpPr/>
          <p:nvPr/>
        </p:nvGrpSpPr>
        <p:grpSpPr>
          <a:xfrm>
            <a:off x="10116820" y="-402590"/>
            <a:ext cx="1976755" cy="328930"/>
            <a:chOff x="4293" y="3886"/>
            <a:chExt cx="3113" cy="518"/>
          </a:xfrm>
        </p:grpSpPr>
        <p:sp>
          <p:nvSpPr>
            <p:cNvPr id="12" name="矩形 11"/>
            <p:cNvSpPr/>
            <p:nvPr/>
          </p:nvSpPr>
          <p:spPr>
            <a:xfrm>
              <a:off x="4293" y="3886"/>
              <a:ext cx="519" cy="519"/>
            </a:xfrm>
            <a:prstGeom prst="rect">
              <a:avLst/>
            </a:prstGeom>
            <a:solidFill>
              <a:srgbClr val="319DF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3" name="矩形 12"/>
            <p:cNvSpPr/>
            <p:nvPr/>
          </p:nvSpPr>
          <p:spPr>
            <a:xfrm>
              <a:off x="4812" y="3886"/>
              <a:ext cx="519" cy="519"/>
            </a:xfrm>
            <a:prstGeom prst="rect">
              <a:avLst/>
            </a:prstGeom>
            <a:solidFill>
              <a:srgbClr val="076DF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矩形 13"/>
            <p:cNvSpPr/>
            <p:nvPr/>
          </p:nvSpPr>
          <p:spPr>
            <a:xfrm>
              <a:off x="5331" y="3886"/>
              <a:ext cx="519" cy="519"/>
            </a:xfrm>
            <a:prstGeom prst="rect">
              <a:avLst/>
            </a:prstGeom>
            <a:solidFill>
              <a:srgbClr val="08B9C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矩形 14"/>
            <p:cNvSpPr/>
            <p:nvPr/>
          </p:nvSpPr>
          <p:spPr>
            <a:xfrm>
              <a:off x="5850" y="3886"/>
              <a:ext cx="519" cy="519"/>
            </a:xfrm>
            <a:prstGeom prst="rect">
              <a:avLst/>
            </a:prstGeom>
            <a:solidFill>
              <a:srgbClr val="994AD4"/>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6" name="矩形 15"/>
            <p:cNvSpPr/>
            <p:nvPr/>
          </p:nvSpPr>
          <p:spPr>
            <a:xfrm>
              <a:off x="6369" y="3886"/>
              <a:ext cx="519" cy="519"/>
            </a:xfrm>
            <a:prstGeom prst="rect">
              <a:avLst/>
            </a:prstGeom>
            <a:solidFill>
              <a:srgbClr val="CBE7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7" name="矩形 16"/>
            <p:cNvSpPr/>
            <p:nvPr/>
          </p:nvSpPr>
          <p:spPr>
            <a:xfrm>
              <a:off x="6888" y="3886"/>
              <a:ext cx="519" cy="519"/>
            </a:xfrm>
            <a:prstGeom prst="rect">
              <a:avLst/>
            </a:prstGeom>
            <a:solidFill>
              <a:srgbClr val="1FB9F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19" name="文本框 18" descr="e7d195523061f1c09d430b2e086820dbf734666a277b0d4b500BB7A72AB1412ED5183AD7B3816201F88CE1DA88F1BDB3B214B2C038CB098A30603A7C73162896CA56D5F2C85C2877766F9AF7CC3216D72A30A8123260945F3CF9913B2C8132B15995C34893A847F2CEA0574BAD469374728EE5476AFD938193B7415C316CF399A89FF64C544ADAFE"/>
          <p:cNvSpPr txBox="1"/>
          <p:nvPr/>
        </p:nvSpPr>
        <p:spPr>
          <a:xfrm>
            <a:off x="658813" y="484882"/>
            <a:ext cx="1219200" cy="368935"/>
          </a:xfrm>
          <a:prstGeom prst="rect">
            <a:avLst/>
          </a:prstGeom>
          <a:noFill/>
        </p:spPr>
        <p:txBody>
          <a:bodyPr wrap="none" lIns="0" tIns="0" rIns="0" bIns="0" rtlCol="0">
            <a:spAutoFit/>
          </a:bodyPr>
          <a:p>
            <a:pPr marL="0" marR="0" lvl="0" indent="0" algn="l" defTabSz="914400" rtl="0" eaLnBrk="1" fontAlgn="auto" latinLnBrk="0" hangingPunct="1">
              <a:lnSpc>
                <a:spcPct val="100000"/>
              </a:lnSpc>
              <a:spcBef>
                <a:spcPts val="0"/>
              </a:spcBef>
              <a:spcAft>
                <a:spcPts val="0"/>
              </a:spcAft>
              <a:buClrTx/>
              <a:buSzTx/>
              <a:buFontTx/>
              <a:buNone/>
              <a:defRPr/>
            </a:pPr>
            <a:r>
              <a:rPr lang="zh-CN" altLang="en-US" sz="2400" b="1" dirty="0">
                <a:solidFill>
                  <a:srgbClr val="0059FA">
                    <a:lumMod val="50000"/>
                  </a:srgbClr>
                </a:solidFill>
                <a:latin typeface="Arial" panose="020B0604020202020204" pitchFamily="34" charset="0"/>
                <a:ea typeface="微软雅黑" panose="020B0503020204020204" pitchFamily="34" charset="-122"/>
              </a:rPr>
              <a:t>维度模型</a:t>
            </a:r>
            <a:endParaRPr lang="zh-CN" altLang="en-US" sz="2400" b="1" dirty="0">
              <a:solidFill>
                <a:srgbClr val="0059FA">
                  <a:lumMod val="50000"/>
                </a:srgbClr>
              </a:solidFill>
              <a:latin typeface="Arial" panose="020B0604020202020204" pitchFamily="34" charset="0"/>
              <a:ea typeface="微软雅黑" panose="020B0503020204020204" pitchFamily="34" charset="-122"/>
            </a:endParaRPr>
          </a:p>
        </p:txBody>
      </p:sp>
      <p:sp>
        <p:nvSpPr>
          <p:cNvPr id="2" name="文本框 1"/>
          <p:cNvSpPr txBox="1"/>
          <p:nvPr/>
        </p:nvSpPr>
        <p:spPr>
          <a:xfrm>
            <a:off x="659130" y="992505"/>
            <a:ext cx="11157585" cy="5351780"/>
          </a:xfrm>
          <a:prstGeom prst="rect">
            <a:avLst/>
          </a:prstGeom>
          <a:noFill/>
        </p:spPr>
        <p:txBody>
          <a:bodyPr wrap="square" rtlCol="0">
            <a:noAutofit/>
          </a:bodyPr>
          <a:p>
            <a:r>
              <a:rPr lang="en-US" altLang="zh-CN" sz="2400"/>
              <a:t>• </a:t>
            </a:r>
            <a:r>
              <a:rPr lang="zh-CN" altLang="en-US" sz="2400"/>
              <a:t>维度模型一种趋于支持最终用户的、从</a:t>
            </a:r>
            <a:r>
              <a:rPr lang="zh-CN" altLang="en-US" sz="2400" b="1"/>
              <a:t>分析决策的需求</a:t>
            </a:r>
            <a:r>
              <a:rPr lang="zh-CN" altLang="en-US" sz="2400"/>
              <a:t>出发的数据模型</a:t>
            </a:r>
            <a:endParaRPr lang="zh-CN" altLang="en-US" sz="2400"/>
          </a:p>
          <a:p>
            <a:endParaRPr lang="zh-CN" altLang="en-US" sz="2400"/>
          </a:p>
          <a:p>
            <a:r>
              <a:rPr lang="en-US" altLang="zh-CN" sz="2400"/>
              <a:t>• </a:t>
            </a:r>
            <a:r>
              <a:rPr lang="zh-CN" altLang="en-US" sz="2400"/>
              <a:t>关注用户如何更快速地完成需求分析，同时具有较好的大规模复杂查询响应能力</a:t>
            </a:r>
            <a:endParaRPr lang="zh-CN" altLang="en-US" sz="2400"/>
          </a:p>
          <a:p>
            <a:endParaRPr lang="zh-CN" altLang="en-US" sz="2400"/>
          </a:p>
          <a:p>
            <a:r>
              <a:rPr lang="en-US" altLang="zh-CN" sz="2400"/>
              <a:t>• </a:t>
            </a:r>
            <a:r>
              <a:rPr lang="zh-CN" altLang="en-US" sz="2400"/>
              <a:t>特点：易理解、高性能、易扩展</a:t>
            </a:r>
            <a:endParaRPr lang="zh-CN" altLang="en-US" sz="2400"/>
          </a:p>
          <a:p>
            <a:endParaRPr lang="zh-CN" altLang="en-US" sz="2400"/>
          </a:p>
          <a:p>
            <a:r>
              <a:rPr lang="en-US" altLang="zh-CN" sz="2400"/>
              <a:t>• </a:t>
            </a:r>
            <a:r>
              <a:rPr lang="zh-CN" altLang="en-US" sz="2400"/>
              <a:t>维度模型将表分为维度表和事实表：</a:t>
            </a:r>
            <a:endParaRPr lang="zh-CN" altLang="en-US" sz="2400"/>
          </a:p>
          <a:p>
            <a:endParaRPr lang="zh-CN" altLang="en-US" sz="2400"/>
          </a:p>
          <a:p>
            <a:r>
              <a:rPr lang="zh-CN" altLang="en-US" sz="2400"/>
              <a:t>－维度表</a:t>
            </a:r>
            <a:r>
              <a:rPr lang="en-US" altLang="zh-CN" sz="2400"/>
              <a:t> (Dimension) </a:t>
            </a:r>
            <a:r>
              <a:rPr lang="zh-CN" altLang="en-US" sz="2400"/>
              <a:t>：对数据进行分类的表，用于从特定的角度观察数据。维度是事实表的入口点或链接，充当</a:t>
            </a:r>
            <a:r>
              <a:rPr lang="en-US" altLang="zh-CN" sz="2400"/>
              <a:t>“</a:t>
            </a:r>
            <a:r>
              <a:rPr lang="zh-CN" altLang="en-US" sz="2400"/>
              <a:t>查询</a:t>
            </a:r>
            <a:r>
              <a:rPr lang="en-US" altLang="zh-CN" sz="2400"/>
              <a:t>”</a:t>
            </a:r>
            <a:r>
              <a:rPr lang="zh-CN" altLang="en-US" sz="2400"/>
              <a:t>或</a:t>
            </a:r>
            <a:r>
              <a:rPr lang="en-US" altLang="zh-CN" sz="2400"/>
              <a:t>“</a:t>
            </a:r>
            <a:r>
              <a:rPr lang="zh-CN" altLang="en-US" sz="2400"/>
              <a:t>报表</a:t>
            </a:r>
            <a:r>
              <a:rPr lang="en-US" altLang="zh-CN" sz="2400"/>
              <a:t>”</a:t>
            </a:r>
            <a:r>
              <a:rPr lang="zh-CN" altLang="en-US" sz="2400"/>
              <a:t>约束的主要来源；维度通常是高度反范式的，通常占总数据的</a:t>
            </a:r>
            <a:r>
              <a:rPr lang="en-US" altLang="zh-CN" sz="2400"/>
              <a:t> 10% </a:t>
            </a:r>
            <a:r>
              <a:rPr lang="zh-CN" altLang="en-US" sz="2400"/>
              <a:t>左右。例如：时间、地区、产品等</a:t>
            </a:r>
            <a:endParaRPr lang="zh-CN" altLang="en-US" sz="2400"/>
          </a:p>
          <a:p>
            <a:r>
              <a:rPr lang="zh-CN" altLang="en-US" sz="2400"/>
              <a:t>－度量表</a:t>
            </a:r>
            <a:r>
              <a:rPr lang="en-US" altLang="zh-CN" sz="2400"/>
              <a:t> (Measure) </a:t>
            </a:r>
            <a:r>
              <a:rPr lang="zh-CN" altLang="en-US" sz="2400"/>
              <a:t>：又叫事实表</a:t>
            </a:r>
            <a:r>
              <a:rPr lang="en-US" altLang="zh-CN" sz="2400"/>
              <a:t> (Fact) </a:t>
            </a:r>
            <a:r>
              <a:rPr lang="zh-CN" altLang="en-US" sz="2400"/>
              <a:t>，是维度建模中最基本的表，存放业务度量数据，例如数量、金额、汇总等流水和快照数据</a:t>
            </a:r>
            <a:endParaRPr lang="zh-CN" altLang="en-US" sz="24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组合 17"/>
          <p:cNvGrpSpPr/>
          <p:nvPr/>
        </p:nvGrpSpPr>
        <p:grpSpPr>
          <a:xfrm>
            <a:off x="10116820" y="-402590"/>
            <a:ext cx="1976755" cy="328930"/>
            <a:chOff x="4293" y="3886"/>
            <a:chExt cx="3113" cy="518"/>
          </a:xfrm>
        </p:grpSpPr>
        <p:sp>
          <p:nvSpPr>
            <p:cNvPr id="12" name="矩形 11"/>
            <p:cNvSpPr/>
            <p:nvPr/>
          </p:nvSpPr>
          <p:spPr>
            <a:xfrm>
              <a:off x="4293" y="3886"/>
              <a:ext cx="519" cy="519"/>
            </a:xfrm>
            <a:prstGeom prst="rect">
              <a:avLst/>
            </a:prstGeom>
            <a:solidFill>
              <a:srgbClr val="319DF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3" name="矩形 12"/>
            <p:cNvSpPr/>
            <p:nvPr/>
          </p:nvSpPr>
          <p:spPr>
            <a:xfrm>
              <a:off x="4812" y="3886"/>
              <a:ext cx="519" cy="519"/>
            </a:xfrm>
            <a:prstGeom prst="rect">
              <a:avLst/>
            </a:prstGeom>
            <a:solidFill>
              <a:srgbClr val="076DF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矩形 13"/>
            <p:cNvSpPr/>
            <p:nvPr/>
          </p:nvSpPr>
          <p:spPr>
            <a:xfrm>
              <a:off x="5331" y="3886"/>
              <a:ext cx="519" cy="519"/>
            </a:xfrm>
            <a:prstGeom prst="rect">
              <a:avLst/>
            </a:prstGeom>
            <a:solidFill>
              <a:srgbClr val="08B9C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矩形 14"/>
            <p:cNvSpPr/>
            <p:nvPr/>
          </p:nvSpPr>
          <p:spPr>
            <a:xfrm>
              <a:off x="5850" y="3886"/>
              <a:ext cx="519" cy="519"/>
            </a:xfrm>
            <a:prstGeom prst="rect">
              <a:avLst/>
            </a:prstGeom>
            <a:solidFill>
              <a:srgbClr val="994AD4"/>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6" name="矩形 15"/>
            <p:cNvSpPr/>
            <p:nvPr/>
          </p:nvSpPr>
          <p:spPr>
            <a:xfrm>
              <a:off x="6369" y="3886"/>
              <a:ext cx="519" cy="519"/>
            </a:xfrm>
            <a:prstGeom prst="rect">
              <a:avLst/>
            </a:prstGeom>
            <a:solidFill>
              <a:srgbClr val="CBE7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7" name="矩形 16"/>
            <p:cNvSpPr/>
            <p:nvPr/>
          </p:nvSpPr>
          <p:spPr>
            <a:xfrm>
              <a:off x="6888" y="3886"/>
              <a:ext cx="519" cy="519"/>
            </a:xfrm>
            <a:prstGeom prst="rect">
              <a:avLst/>
            </a:prstGeom>
            <a:solidFill>
              <a:srgbClr val="1FB9F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19" name="文本框 18" descr="e7d195523061f1c09d430b2e086820dbf734666a277b0d4b500BB7A72AB1412ED5183AD7B3816201F88CE1DA88F1BDB3B214B2C038CB098A30603A7C73162896CA56D5F2C85C2877766F9AF7CC3216D72A30A8123260945F3CF9913B2C8132B15995C34893A847F2CEA0574BAD469374728EE5476AFD938193B7415C316CF399A89FF64C544ADAFE"/>
          <p:cNvSpPr txBox="1"/>
          <p:nvPr/>
        </p:nvSpPr>
        <p:spPr>
          <a:xfrm>
            <a:off x="658813" y="484882"/>
            <a:ext cx="1219200" cy="368935"/>
          </a:xfrm>
          <a:prstGeom prst="rect">
            <a:avLst/>
          </a:prstGeom>
          <a:noFill/>
        </p:spPr>
        <p:txBody>
          <a:bodyPr wrap="none" lIns="0" tIns="0" rIns="0" bIns="0" rtlCol="0">
            <a:spAutoFit/>
          </a:bodyPr>
          <a:p>
            <a:pPr marL="0" marR="0" lvl="0" indent="0" algn="l" defTabSz="914400" rtl="0" eaLnBrk="1" fontAlgn="auto" latinLnBrk="0" hangingPunct="1">
              <a:lnSpc>
                <a:spcPct val="100000"/>
              </a:lnSpc>
              <a:spcBef>
                <a:spcPts val="0"/>
              </a:spcBef>
              <a:spcAft>
                <a:spcPts val="0"/>
              </a:spcAft>
              <a:buClrTx/>
              <a:buSzTx/>
              <a:buFontTx/>
              <a:buNone/>
              <a:defRPr/>
            </a:pPr>
            <a:r>
              <a:rPr lang="zh-CN" altLang="en-US" sz="2400" b="1" dirty="0">
                <a:solidFill>
                  <a:srgbClr val="0059FA">
                    <a:lumMod val="50000"/>
                  </a:srgbClr>
                </a:solidFill>
                <a:latin typeface="Arial" panose="020B0604020202020204" pitchFamily="34" charset="0"/>
                <a:ea typeface="微软雅黑" panose="020B0503020204020204" pitchFamily="34" charset="-122"/>
              </a:rPr>
              <a:t>维度模型</a:t>
            </a:r>
            <a:endParaRPr lang="zh-CN" altLang="en-US" sz="2400" b="1" dirty="0">
              <a:solidFill>
                <a:srgbClr val="0059FA">
                  <a:lumMod val="50000"/>
                </a:srgbClr>
              </a:solidFill>
              <a:latin typeface="Arial" panose="020B0604020202020204" pitchFamily="34" charset="0"/>
              <a:ea typeface="微软雅黑" panose="020B0503020204020204" pitchFamily="34" charset="-122"/>
            </a:endParaRPr>
          </a:p>
        </p:txBody>
      </p:sp>
      <p:pic>
        <p:nvPicPr>
          <p:cNvPr id="3" name="图片 2"/>
          <p:cNvPicPr>
            <a:picLocks noChangeAspect="1"/>
          </p:cNvPicPr>
          <p:nvPr/>
        </p:nvPicPr>
        <p:blipFill>
          <a:blip r:embed="rId1"/>
          <a:stretch>
            <a:fillRect/>
          </a:stretch>
        </p:blipFill>
        <p:spPr>
          <a:xfrm>
            <a:off x="1101090" y="4396740"/>
            <a:ext cx="4615180" cy="2157730"/>
          </a:xfrm>
          <a:prstGeom prst="rect">
            <a:avLst/>
          </a:prstGeom>
        </p:spPr>
      </p:pic>
      <p:pic>
        <p:nvPicPr>
          <p:cNvPr id="4" name="图片 3"/>
          <p:cNvPicPr>
            <a:picLocks noChangeAspect="1"/>
          </p:cNvPicPr>
          <p:nvPr/>
        </p:nvPicPr>
        <p:blipFill>
          <a:blip r:embed="rId2"/>
          <a:stretch>
            <a:fillRect/>
          </a:stretch>
        </p:blipFill>
        <p:spPr>
          <a:xfrm>
            <a:off x="7383780" y="996315"/>
            <a:ext cx="4215130" cy="5558155"/>
          </a:xfrm>
          <a:prstGeom prst="rect">
            <a:avLst/>
          </a:prstGeom>
        </p:spPr>
      </p:pic>
      <p:sp>
        <p:nvSpPr>
          <p:cNvPr id="5" name="文本框 4"/>
          <p:cNvSpPr txBox="1"/>
          <p:nvPr/>
        </p:nvSpPr>
        <p:spPr>
          <a:xfrm>
            <a:off x="774700" y="996315"/>
            <a:ext cx="5683250" cy="3197860"/>
          </a:xfrm>
          <a:prstGeom prst="rect">
            <a:avLst/>
          </a:prstGeom>
          <a:noFill/>
        </p:spPr>
        <p:txBody>
          <a:bodyPr wrap="square" rtlCol="0">
            <a:noAutofit/>
          </a:bodyPr>
          <a:p>
            <a:r>
              <a:rPr lang="zh-CN" altLang="en-US" sz="2000" b="1"/>
              <a:t>事实表</a:t>
            </a:r>
            <a:endParaRPr lang="zh-CN" altLang="en-US" sz="2000" b="1"/>
          </a:p>
          <a:p>
            <a:pPr marL="285750" indent="-285750">
              <a:buFont typeface="Arial" panose="020B0604020202020204" pitchFamily="34" charset="0"/>
              <a:buChar char="•"/>
            </a:pPr>
            <a:r>
              <a:rPr lang="zh-CN" altLang="en-US"/>
              <a:t>数仓</a:t>
            </a:r>
            <a:r>
              <a:rPr lang="en-US" altLang="zh-CN"/>
              <a:t> / </a:t>
            </a:r>
            <a:r>
              <a:rPr lang="zh-CN" altLang="en-US"/>
              <a:t>数集维度建模的核心，围绕业务过程进行设计</a:t>
            </a:r>
            <a:endParaRPr lang="zh-CN" altLang="en-US"/>
          </a:p>
          <a:p>
            <a:pPr marL="285750" indent="-285750">
              <a:buFont typeface="Arial" panose="020B0604020202020204" pitchFamily="34" charset="0"/>
              <a:buChar char="•"/>
            </a:pPr>
            <a:r>
              <a:rPr lang="zh-CN" altLang="en-US"/>
              <a:t>通过获取表述业务过程的度量来表达业务过程</a:t>
            </a:r>
            <a:endParaRPr lang="zh-CN" altLang="en-US"/>
          </a:p>
          <a:p>
            <a:pPr marL="285750" indent="-285750">
              <a:buFont typeface="Arial" panose="020B0604020202020204" pitchFamily="34" charset="0"/>
              <a:buChar char="•"/>
            </a:pPr>
            <a:r>
              <a:rPr lang="zh-CN" altLang="en-US"/>
              <a:t>包含了应用的维度和与业务过程有关的度量</a:t>
            </a:r>
            <a:endParaRPr lang="zh-CN" altLang="en-US"/>
          </a:p>
          <a:p>
            <a:endParaRPr lang="zh-CN" altLang="en-US"/>
          </a:p>
          <a:p>
            <a:r>
              <a:rPr lang="zh-CN" altLang="en-US" sz="2000" b="1"/>
              <a:t>维度表</a:t>
            </a:r>
            <a:endParaRPr lang="zh-CN" altLang="en-US" sz="2000" b="1"/>
          </a:p>
          <a:p>
            <a:pPr marL="285750" indent="-285750">
              <a:buFont typeface="Arial" panose="020B0604020202020204" pitchFamily="34" charset="0"/>
              <a:buChar char="•"/>
            </a:pPr>
            <a:r>
              <a:rPr lang="zh-CN" altLang="en-US"/>
              <a:t>包含描述业务过程属性的表</a:t>
            </a:r>
            <a:endParaRPr lang="en-US" altLang="zh-CN"/>
          </a:p>
          <a:p>
            <a:pPr marL="285750" indent="-285750">
              <a:buFont typeface="Arial" panose="020B0604020202020204" pitchFamily="34" charset="0"/>
              <a:buChar char="•"/>
            </a:pPr>
            <a:r>
              <a:rPr lang="zh-CN" altLang="en-US"/>
              <a:t>为事实表提供上下文和描述性信息</a:t>
            </a:r>
            <a:endParaRPr lang="en-US" altLang="zh-CN"/>
          </a:p>
          <a:p>
            <a:pPr marL="285750" indent="-285750">
              <a:buFont typeface="Arial" panose="020B0604020202020204" pitchFamily="34" charset="0"/>
              <a:buChar char="•"/>
            </a:pPr>
            <a:r>
              <a:rPr lang="zh-CN" altLang="en-US"/>
              <a:t>通常包含相对静态的数据</a:t>
            </a:r>
            <a:endParaRPr lang="en-US" altLang="zh-CN"/>
          </a:p>
          <a:p>
            <a:pPr marL="285750" indent="-285750">
              <a:buFont typeface="Arial" panose="020B0604020202020204" pitchFamily="34" charset="0"/>
              <a:buChar char="•"/>
            </a:pPr>
            <a:r>
              <a:rPr lang="zh-CN" altLang="en-US"/>
              <a:t>比事实表小得多</a:t>
            </a:r>
            <a:r>
              <a:rPr lang="en-US" altLang="zh-CN"/>
              <a:t>(</a:t>
            </a:r>
            <a:r>
              <a:rPr lang="zh-CN" altLang="en-US"/>
              <a:t>行数和数据量</a:t>
            </a:r>
            <a:r>
              <a:rPr lang="en-US" altLang="zh-CN"/>
              <a:t>)</a:t>
            </a:r>
            <a:endParaRPr lang="en-US" altLang="zh-CN"/>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5" name="图片 4" descr="图片包含 游戏机&#10;&#10;AI 生成的内容可能不正确。"/>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20"/>
            <a:ext cx="12171621" cy="6833617"/>
          </a:xfrm>
          <a:prstGeom prst="rect">
            <a:avLst/>
          </a:prstGeom>
        </p:spPr>
      </p:pic>
      <p:sp>
        <p:nvSpPr>
          <p:cNvPr id="2" name="e7d195523061f1c0" descr="e7d195523061f1c09d430b2e086820dbf734666a277b0d4b500BB7A72AB1412ED5183AD7B3816201F88CE1DA88F1BDB3B214B2C038CB098A30603A7C73162896CA56D5F2C85C2877766F9AF7CC3216D7CF634F6382D6C7BA7BC888BA9186F2798B84068E6072773E10A0296880ED9D73C76908137F952918BE4DD4EB5E4CCB40DE91FD2372AF4B64" hidden="1"/>
          <p:cNvSpPr txBox="1"/>
          <p:nvPr/>
        </p:nvSpPr>
        <p:spPr>
          <a:xfrm>
            <a:off x="-355600" y="1803400"/>
            <a:ext cx="268022" cy="1016000"/>
          </a:xfrm>
          <a:prstGeom prst="rect">
            <a:avLst/>
          </a:prstGeom>
          <a:noFill/>
        </p:spPr>
        <p:txBody>
          <a:bodyPr vert="wordArtVert"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00" b="0"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sym typeface="Arial" panose="020B0604020202020204" pitchFamily="34" charset="0"/>
              </a:rPr>
              <a:t>e7d195523061f1c09d430b2e086820dbf734666a277b0d4b500BB7A72AB1412ED5183AD7B3816201F88CE1DA88F1BDB3B214B2C038CB098A30603A7C73162896CA56D5F2C85C2877766F9AF7CC3216D7CF634F6382D6C7BA7BC888BA9186F2798B84068E6072773E10A0296880ED9D73C76908137F952918BE4DD4EB5E4CCB40DE91FD2372AF4B64</a:t>
            </a:r>
            <a:endParaRPr kumimoji="0" lang="zh-CN" altLang="en-US" sz="100" b="0"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sym typeface="Arial" panose="020B0604020202020204" pitchFamily="34" charset="0"/>
            </a:endParaRPr>
          </a:p>
        </p:txBody>
      </p:sp>
      <p:sp>
        <p:nvSpPr>
          <p:cNvPr id="33" name="文本框 32" descr="e7d195523061f1c09d430b2e086820dbf734666a277b0d4b500BB7A72AB1412ED5183AD7B3816201F88CE1DA88F1BDB3B214B2C038CB098A30603A7C73162896CA56D5F2C85C2877766F9AF7CC3216D7001672CC59609577E25D856B9353E59F45E56BECE69C0AA71C11FE729814BC255F8A1BC037BED7D320FC120CC0FDA2F0E0259AB568CF4F8C"/>
          <p:cNvSpPr txBox="1"/>
          <p:nvPr/>
        </p:nvSpPr>
        <p:spPr>
          <a:xfrm>
            <a:off x="5396212" y="2809760"/>
            <a:ext cx="1422400" cy="430530"/>
          </a:xfrm>
          <a:prstGeom prst="rect">
            <a:avLst/>
          </a:prstGeom>
          <a:noFill/>
          <a:effectLst/>
        </p:spPr>
        <p:txBody>
          <a:bodyPr wrap="none" lIns="0" tIns="0" rIns="0" bIns="0" rtlCol="0">
            <a:spAutoFit/>
          </a:bodyPr>
          <a:lstStyle>
            <a:defPPr>
              <a:defRPr lang="zh-CN"/>
            </a:defPPr>
            <a:lvl1pPr marR="0" lvl="0" indent="0" fontAlgn="auto">
              <a:lnSpc>
                <a:spcPct val="100000"/>
              </a:lnSpc>
              <a:spcBef>
                <a:spcPts val="0"/>
              </a:spcBef>
              <a:spcAft>
                <a:spcPts val="0"/>
              </a:spcAft>
              <a:buClrTx/>
              <a:buSzTx/>
              <a:buFontTx/>
              <a:buNone/>
              <a:defRPr kumimoji="0" sz="2800" b="0" i="0" u="none" strike="noStrike" cap="none" spc="600" normalizeH="0" baseline="0">
                <a:ln>
                  <a:noFill/>
                </a:ln>
                <a:solidFill>
                  <a:schemeClr val="bg1"/>
                </a:solidFill>
                <a:effectLst>
                  <a:outerShdw blurRad="86429" dist="38100" dir="2700000" algn="tl" rotWithShape="0">
                    <a:schemeClr val="accent1">
                      <a:lumMod val="50000"/>
                      <a:alpha val="40000"/>
                    </a:schemeClr>
                  </a:outerShdw>
                </a:effectLst>
                <a:uLnTx/>
                <a:uFillTx/>
                <a:latin typeface="Arial" panose="020B0604020202020204" pitchFamily="34" charset="0"/>
                <a:ea typeface="微软雅黑" panose="020B0503020204020204" pitchFamily="34" charset="-122"/>
              </a:defRPr>
            </a:lvl1pPr>
          </a:lstStyle>
          <a:p>
            <a:pPr algn="ctr"/>
            <a:r>
              <a:rPr lang="zh-CN" altLang="en-US" sz="2800" spc="0" dirty="0">
                <a:effectLst/>
                <a:sym typeface="Arial" panose="020B0604020202020204" pitchFamily="34" charset="0"/>
              </a:rPr>
              <a:t>案例</a:t>
            </a:r>
            <a:r>
              <a:rPr lang="zh-CN" altLang="en-US" sz="2800" spc="0" dirty="0">
                <a:effectLst/>
                <a:sym typeface="Arial" panose="020B0604020202020204" pitchFamily="34" charset="0"/>
              </a:rPr>
              <a:t>说明</a:t>
            </a:r>
            <a:endParaRPr lang="zh-CN" altLang="en-US" sz="2800" spc="0" dirty="0">
              <a:effectLst/>
              <a:sym typeface="Arial" panose="020B0604020202020204" pitchFamily="34" charset="0"/>
            </a:endParaRPr>
          </a:p>
        </p:txBody>
      </p:sp>
      <p:sp>
        <p:nvSpPr>
          <p:cNvPr id="3" name="îS1ídê"/>
          <p:cNvSpPr txBox="1"/>
          <p:nvPr/>
        </p:nvSpPr>
        <p:spPr>
          <a:xfrm>
            <a:off x="5618946" y="1886430"/>
            <a:ext cx="946150" cy="922020"/>
          </a:xfrm>
          <a:prstGeom prst="rect">
            <a:avLst/>
          </a:prstGeom>
        </p:spPr>
        <p:txBody>
          <a:bodyPr vert="horz" wrap="none" lIns="91440" tIns="45720" rIns="91440" bIns="45720" rtlCol="0">
            <a:spAutoFit/>
          </a:bodyPr>
          <a:lstStyle>
            <a:lvl1pPr marL="0" indent="0" algn="l" defTabSz="914400" rtl="0" eaLnBrk="1" latinLnBrk="0" hangingPunct="1">
              <a:lnSpc>
                <a:spcPct val="100000"/>
              </a:lnSpc>
              <a:spcBef>
                <a:spcPts val="1000"/>
              </a:spcBef>
              <a:buFont typeface="Arial" panose="020B0604020202020204" pitchFamily="34" charset="0"/>
              <a:buNone/>
              <a:defRPr sz="9600" b="1" kern="1200">
                <a:gradFill>
                  <a:gsLst>
                    <a:gs pos="24000">
                      <a:schemeClr val="bg1"/>
                    </a:gs>
                    <a:gs pos="69000">
                      <a:schemeClr val="bg1">
                        <a:alpha val="0"/>
                      </a:schemeClr>
                    </a:gs>
                  </a:gsLst>
                  <a:lin ang="4800000" scaled="0"/>
                </a:gradFill>
                <a:latin typeface="+mn-lt"/>
                <a:ea typeface="+mn-ea"/>
                <a:cs typeface="+mn-cs"/>
              </a:defRPr>
            </a:lvl1pPr>
            <a:lvl2pPr marL="457200" indent="0" algn="l" defTabSz="914400" rtl="0" eaLnBrk="1" latinLnBrk="0" hangingPunct="1">
              <a:lnSpc>
                <a:spcPct val="100000"/>
              </a:lnSpc>
              <a:spcBef>
                <a:spcPts val="500"/>
              </a:spcBef>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1600" kern="1200">
                <a:solidFill>
                  <a:schemeClr val="tx1"/>
                </a:solidFill>
                <a:latin typeface="+mn-lt"/>
                <a:ea typeface="+mn-ea"/>
                <a:cs typeface="+mn-cs"/>
              </a:defRPr>
            </a:lvl3pPr>
            <a:lvl4pPr marL="1371600" indent="0" algn="l" defTabSz="914400" rtl="0" eaLnBrk="1" latinLnBrk="0" hangingPunct="1">
              <a:lnSpc>
                <a:spcPct val="10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en-US" sz="5400" b="1" i="0" u="none" strike="noStrike" kern="1200" cap="none" spc="0" normalizeH="0" baseline="0" noProof="0" dirty="0">
                <a:ln>
                  <a:noFill/>
                </a:ln>
                <a:gradFill>
                  <a:gsLst>
                    <a:gs pos="37000">
                      <a:prstClr val="white"/>
                    </a:gs>
                    <a:gs pos="100000">
                      <a:srgbClr val="FFFFFF">
                        <a:alpha val="0"/>
                      </a:srgbClr>
                    </a:gs>
                  </a:gsLst>
                  <a:lin ang="4800000" scaled="0"/>
                </a:gradFill>
                <a:effectLst/>
                <a:uLnTx/>
                <a:uFillTx/>
                <a:latin typeface="Arial" panose="020B0604020202020204" pitchFamily="34" charset="0"/>
                <a:ea typeface="微软雅黑" panose="020B0503020204020204" pitchFamily="34" charset="-122"/>
                <a:cs typeface="+mn-cs"/>
                <a:sym typeface="Arial" panose="020B0604020202020204" pitchFamily="34" charset="0"/>
              </a:rPr>
              <a:t>04</a:t>
            </a:r>
            <a:endParaRPr kumimoji="0" lang="en-GB" sz="5400" b="1" i="0" u="none" strike="noStrike" kern="1200" cap="none" spc="0" normalizeH="0" baseline="0" noProof="0" dirty="0">
              <a:ln>
                <a:noFill/>
              </a:ln>
              <a:gradFill>
                <a:gsLst>
                  <a:gs pos="37000">
                    <a:prstClr val="white"/>
                  </a:gs>
                  <a:gs pos="100000">
                    <a:srgbClr val="FFFFFF">
                      <a:alpha val="0"/>
                    </a:srgbClr>
                  </a:gs>
                </a:gsLst>
                <a:lin ang="4800000" scaled="0"/>
              </a:gra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descr="e7d195523061f1c09d430b2e086820dbf734666a277b0d4b500BB7A72AB1412ED5183AD7B3816201F88CE1DA88F1BDB3B214B2C038CB098A30603A7C73162896CA56D5F2C85C2877766F9AF7CC3216D72A30A8123260945F3CF9913B2C8132B15995C34893A847F2CEA0574BAD469374728EE5476AFD938193B7415C316CF399A89FF64C544ADAFE"/>
          <p:cNvSpPr txBox="1"/>
          <p:nvPr/>
        </p:nvSpPr>
        <p:spPr>
          <a:xfrm>
            <a:off x="658813" y="484882"/>
            <a:ext cx="1625600" cy="368935"/>
          </a:xfrm>
          <a:prstGeom prst="rect">
            <a:avLst/>
          </a:prstGeom>
          <a:noFill/>
        </p:spPr>
        <p:txBody>
          <a:bodyPr wrap="none" lIns="0" tIns="0" rIns="0" bIns="0" rtlCol="0">
            <a:spAutoFit/>
          </a:bodyPr>
          <a:p>
            <a:pPr marL="0" marR="0" lvl="0" indent="0" algn="l" defTabSz="914400" rtl="0" eaLnBrk="1" fontAlgn="auto" latinLnBrk="0" hangingPunct="1">
              <a:lnSpc>
                <a:spcPct val="100000"/>
              </a:lnSpc>
              <a:spcBef>
                <a:spcPts val="0"/>
              </a:spcBef>
              <a:spcAft>
                <a:spcPts val="0"/>
              </a:spcAft>
              <a:buClrTx/>
              <a:buSzTx/>
              <a:buFontTx/>
              <a:buNone/>
              <a:defRPr/>
            </a:pPr>
            <a:r>
              <a:rPr lang="zh-CN" altLang="en-US" sz="2400" b="1" dirty="0">
                <a:solidFill>
                  <a:srgbClr val="0059FA">
                    <a:lumMod val="50000"/>
                  </a:srgbClr>
                </a:solidFill>
                <a:latin typeface="Arial" panose="020B0604020202020204" pitchFamily="34" charset="0"/>
                <a:ea typeface="微软雅黑" panose="020B0503020204020204" pitchFamily="34" charset="-122"/>
              </a:rPr>
              <a:t>数仓架构</a:t>
            </a:r>
            <a:r>
              <a:rPr lang="en-US" altLang="zh-CN" sz="2400" b="1" dirty="0">
                <a:solidFill>
                  <a:srgbClr val="0059FA">
                    <a:lumMod val="50000"/>
                  </a:srgbClr>
                </a:solidFill>
                <a:latin typeface="Arial" panose="020B0604020202020204" pitchFamily="34" charset="0"/>
                <a:ea typeface="微软雅黑" panose="020B0503020204020204" pitchFamily="34" charset="-122"/>
              </a:rPr>
              <a:t>-</a:t>
            </a:r>
            <a:r>
              <a:rPr lang="zh-CN" altLang="en-US" sz="2400" b="1" dirty="0">
                <a:solidFill>
                  <a:srgbClr val="0059FA">
                    <a:lumMod val="50000"/>
                  </a:srgbClr>
                </a:solidFill>
                <a:latin typeface="Arial" panose="020B0604020202020204" pitchFamily="34" charset="0"/>
                <a:ea typeface="微软雅黑" panose="020B0503020204020204" pitchFamily="34" charset="-122"/>
              </a:rPr>
              <a:t>例</a:t>
            </a:r>
            <a:endParaRPr lang="zh-CN" altLang="en-US" sz="2400" b="1" dirty="0">
              <a:solidFill>
                <a:srgbClr val="0059FA">
                  <a:lumMod val="50000"/>
                </a:srgbClr>
              </a:solidFill>
              <a:latin typeface="Arial" panose="020B0604020202020204" pitchFamily="34" charset="0"/>
              <a:ea typeface="微软雅黑" panose="020B0503020204020204" pitchFamily="34" charset="-122"/>
            </a:endParaRPr>
          </a:p>
        </p:txBody>
      </p:sp>
      <p:sp>
        <p:nvSpPr>
          <p:cNvPr id="3" name="文本框 2"/>
          <p:cNvSpPr txBox="1"/>
          <p:nvPr/>
        </p:nvSpPr>
        <p:spPr>
          <a:xfrm>
            <a:off x="2085340" y="3653790"/>
            <a:ext cx="10659745" cy="3555365"/>
          </a:xfrm>
          <a:prstGeom prst="rect">
            <a:avLst/>
          </a:prstGeom>
          <a:noFill/>
        </p:spPr>
        <p:txBody>
          <a:bodyPr wrap="square" rtlCol="0" anchor="t">
            <a:noAutofit/>
          </a:bodyPr>
          <a:p>
            <a:endParaRPr lang="zh-CN" altLang="en-US" sz="1000">
              <a:latin typeface="微软雅黑" panose="020B0503020204020204" pitchFamily="34" charset="-122"/>
              <a:ea typeface="微软雅黑" panose="020B0503020204020204" pitchFamily="34" charset="-122"/>
            </a:endParaRPr>
          </a:p>
        </p:txBody>
      </p:sp>
      <p:grpSp>
        <p:nvGrpSpPr>
          <p:cNvPr id="18" name="组合 17"/>
          <p:cNvGrpSpPr/>
          <p:nvPr/>
        </p:nvGrpSpPr>
        <p:grpSpPr>
          <a:xfrm>
            <a:off x="10116820" y="-402590"/>
            <a:ext cx="1976755" cy="328930"/>
            <a:chOff x="4293" y="3886"/>
            <a:chExt cx="3113" cy="518"/>
          </a:xfrm>
        </p:grpSpPr>
        <p:sp>
          <p:nvSpPr>
            <p:cNvPr id="12" name="矩形 11"/>
            <p:cNvSpPr/>
            <p:nvPr/>
          </p:nvSpPr>
          <p:spPr>
            <a:xfrm>
              <a:off x="4293" y="3886"/>
              <a:ext cx="519" cy="519"/>
            </a:xfrm>
            <a:prstGeom prst="rect">
              <a:avLst/>
            </a:prstGeom>
            <a:solidFill>
              <a:srgbClr val="319DF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3" name="矩形 12"/>
            <p:cNvSpPr/>
            <p:nvPr/>
          </p:nvSpPr>
          <p:spPr>
            <a:xfrm>
              <a:off x="4812" y="3886"/>
              <a:ext cx="519" cy="519"/>
            </a:xfrm>
            <a:prstGeom prst="rect">
              <a:avLst/>
            </a:prstGeom>
            <a:solidFill>
              <a:srgbClr val="076DF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矩形 4"/>
            <p:cNvSpPr/>
            <p:nvPr/>
          </p:nvSpPr>
          <p:spPr>
            <a:xfrm>
              <a:off x="5331" y="3886"/>
              <a:ext cx="519" cy="519"/>
            </a:xfrm>
            <a:prstGeom prst="rect">
              <a:avLst/>
            </a:prstGeom>
            <a:solidFill>
              <a:srgbClr val="08B9C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矩形 10"/>
            <p:cNvSpPr/>
            <p:nvPr/>
          </p:nvSpPr>
          <p:spPr>
            <a:xfrm>
              <a:off x="5850" y="3886"/>
              <a:ext cx="519" cy="519"/>
            </a:xfrm>
            <a:prstGeom prst="rect">
              <a:avLst/>
            </a:prstGeom>
            <a:solidFill>
              <a:srgbClr val="994AD4"/>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0" name="矩形 19"/>
            <p:cNvSpPr/>
            <p:nvPr/>
          </p:nvSpPr>
          <p:spPr>
            <a:xfrm>
              <a:off x="6369" y="3886"/>
              <a:ext cx="519" cy="519"/>
            </a:xfrm>
            <a:prstGeom prst="rect">
              <a:avLst/>
            </a:prstGeom>
            <a:solidFill>
              <a:srgbClr val="CBE7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1" name="矩形 20"/>
            <p:cNvSpPr/>
            <p:nvPr/>
          </p:nvSpPr>
          <p:spPr>
            <a:xfrm>
              <a:off x="6888" y="3886"/>
              <a:ext cx="519" cy="519"/>
            </a:xfrm>
            <a:prstGeom prst="rect">
              <a:avLst/>
            </a:prstGeom>
            <a:solidFill>
              <a:srgbClr val="1FB9F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pic>
        <p:nvPicPr>
          <p:cNvPr id="24" name="图片 23"/>
          <p:cNvPicPr>
            <a:picLocks noChangeAspect="1"/>
          </p:cNvPicPr>
          <p:nvPr/>
        </p:nvPicPr>
        <p:blipFill>
          <a:blip r:embed="rId1"/>
          <a:stretch>
            <a:fillRect/>
          </a:stretch>
        </p:blipFill>
        <p:spPr>
          <a:xfrm>
            <a:off x="1570990" y="1064895"/>
            <a:ext cx="9054465" cy="539305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descr="e7d195523061f1c09d430b2e086820dbf734666a277b0d4b500BB7A72AB1412ED5183AD7B3816201F88CE1DA88F1BDB3B214B2C038CB098A30603A7C73162896CA56D5F2C85C2877766F9AF7CC3216D72A30A8123260945F3CF9913B2C8132B15995C34893A847F2CEA0574BAD469374728EE5476AFD938193B7415C316CF399A89FF64C544ADAFE"/>
          <p:cNvSpPr txBox="1"/>
          <p:nvPr/>
        </p:nvSpPr>
        <p:spPr>
          <a:xfrm>
            <a:off x="658813" y="484882"/>
            <a:ext cx="1219200" cy="368935"/>
          </a:xfrm>
          <a:prstGeom prst="rect">
            <a:avLst/>
          </a:prstGeom>
          <a:noFill/>
        </p:spPr>
        <p:txBody>
          <a:bodyPr wrap="none" lIns="0" tIns="0" rIns="0" bIns="0" rtlCol="0">
            <a:spAutoFit/>
          </a:bodyPr>
          <a:p>
            <a:pPr marL="0" marR="0" lvl="0" indent="0" algn="l" defTabSz="914400" rtl="0" eaLnBrk="1" fontAlgn="auto" latinLnBrk="0" hangingPunct="1">
              <a:lnSpc>
                <a:spcPct val="100000"/>
              </a:lnSpc>
              <a:spcBef>
                <a:spcPts val="0"/>
              </a:spcBef>
              <a:spcAft>
                <a:spcPts val="0"/>
              </a:spcAft>
              <a:buClrTx/>
              <a:buSzTx/>
              <a:buFontTx/>
              <a:buNone/>
              <a:defRPr/>
            </a:pPr>
            <a:r>
              <a:rPr lang="zh-CN" altLang="en-US" sz="2400" b="1" dirty="0">
                <a:solidFill>
                  <a:srgbClr val="0059FA">
                    <a:lumMod val="50000"/>
                  </a:srgbClr>
                </a:solidFill>
                <a:latin typeface="Arial" panose="020B0604020202020204" pitchFamily="34" charset="0"/>
                <a:ea typeface="微软雅黑" panose="020B0503020204020204" pitchFamily="34" charset="-122"/>
              </a:rPr>
              <a:t>调研</a:t>
            </a:r>
            <a:r>
              <a:rPr lang="zh-CN" altLang="en-US" sz="2400" b="1" dirty="0">
                <a:solidFill>
                  <a:srgbClr val="0059FA">
                    <a:lumMod val="50000"/>
                  </a:srgbClr>
                </a:solidFill>
                <a:latin typeface="Arial" panose="020B0604020202020204" pitchFamily="34" charset="0"/>
                <a:ea typeface="微软雅黑" panose="020B0503020204020204" pitchFamily="34" charset="-122"/>
              </a:rPr>
              <a:t>问卷</a:t>
            </a:r>
            <a:endParaRPr lang="zh-CN" altLang="en-US" sz="2400" b="1" dirty="0">
              <a:solidFill>
                <a:srgbClr val="0059FA">
                  <a:lumMod val="50000"/>
                </a:srgbClr>
              </a:solidFill>
              <a:latin typeface="Arial" panose="020B0604020202020204" pitchFamily="34" charset="0"/>
              <a:ea typeface="微软雅黑" panose="020B0503020204020204" pitchFamily="34" charset="-122"/>
            </a:endParaRPr>
          </a:p>
        </p:txBody>
      </p:sp>
      <p:sp>
        <p:nvSpPr>
          <p:cNvPr id="3" name="文本框 2"/>
          <p:cNvSpPr txBox="1"/>
          <p:nvPr/>
        </p:nvSpPr>
        <p:spPr>
          <a:xfrm>
            <a:off x="2085340" y="3653790"/>
            <a:ext cx="10659745" cy="3555365"/>
          </a:xfrm>
          <a:prstGeom prst="rect">
            <a:avLst/>
          </a:prstGeom>
          <a:noFill/>
        </p:spPr>
        <p:txBody>
          <a:bodyPr wrap="square" rtlCol="0" anchor="t">
            <a:noAutofit/>
          </a:bodyPr>
          <a:p>
            <a:endParaRPr lang="zh-CN" altLang="en-US" sz="1000">
              <a:latin typeface="微软雅黑" panose="020B0503020204020204" pitchFamily="34" charset="-122"/>
              <a:ea typeface="微软雅黑" panose="020B0503020204020204" pitchFamily="34" charset="-122"/>
            </a:endParaRPr>
          </a:p>
        </p:txBody>
      </p:sp>
      <p:grpSp>
        <p:nvGrpSpPr>
          <p:cNvPr id="18" name="组合 17"/>
          <p:cNvGrpSpPr/>
          <p:nvPr/>
        </p:nvGrpSpPr>
        <p:grpSpPr>
          <a:xfrm>
            <a:off x="10116820" y="-402590"/>
            <a:ext cx="1976755" cy="328930"/>
            <a:chOff x="4293" y="3886"/>
            <a:chExt cx="3113" cy="518"/>
          </a:xfrm>
        </p:grpSpPr>
        <p:sp>
          <p:nvSpPr>
            <p:cNvPr id="12" name="矩形 11"/>
            <p:cNvSpPr/>
            <p:nvPr/>
          </p:nvSpPr>
          <p:spPr>
            <a:xfrm>
              <a:off x="4293" y="3886"/>
              <a:ext cx="519" cy="519"/>
            </a:xfrm>
            <a:prstGeom prst="rect">
              <a:avLst/>
            </a:prstGeom>
            <a:solidFill>
              <a:srgbClr val="319DF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3" name="矩形 12"/>
            <p:cNvSpPr/>
            <p:nvPr/>
          </p:nvSpPr>
          <p:spPr>
            <a:xfrm>
              <a:off x="4812" y="3886"/>
              <a:ext cx="519" cy="519"/>
            </a:xfrm>
            <a:prstGeom prst="rect">
              <a:avLst/>
            </a:prstGeom>
            <a:solidFill>
              <a:srgbClr val="076DF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矩形 4"/>
            <p:cNvSpPr/>
            <p:nvPr/>
          </p:nvSpPr>
          <p:spPr>
            <a:xfrm>
              <a:off x="5331" y="3886"/>
              <a:ext cx="519" cy="519"/>
            </a:xfrm>
            <a:prstGeom prst="rect">
              <a:avLst/>
            </a:prstGeom>
            <a:solidFill>
              <a:srgbClr val="08B9C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矩形 10"/>
            <p:cNvSpPr/>
            <p:nvPr/>
          </p:nvSpPr>
          <p:spPr>
            <a:xfrm>
              <a:off x="5850" y="3886"/>
              <a:ext cx="519" cy="519"/>
            </a:xfrm>
            <a:prstGeom prst="rect">
              <a:avLst/>
            </a:prstGeom>
            <a:solidFill>
              <a:srgbClr val="994AD4"/>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0" name="矩形 19"/>
            <p:cNvSpPr/>
            <p:nvPr/>
          </p:nvSpPr>
          <p:spPr>
            <a:xfrm>
              <a:off x="6369" y="3886"/>
              <a:ext cx="519" cy="519"/>
            </a:xfrm>
            <a:prstGeom prst="rect">
              <a:avLst/>
            </a:prstGeom>
            <a:solidFill>
              <a:srgbClr val="CBE7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1" name="矩形 20"/>
            <p:cNvSpPr/>
            <p:nvPr/>
          </p:nvSpPr>
          <p:spPr>
            <a:xfrm>
              <a:off x="6888" y="3886"/>
              <a:ext cx="519" cy="519"/>
            </a:xfrm>
            <a:prstGeom prst="rect">
              <a:avLst/>
            </a:prstGeom>
            <a:solidFill>
              <a:srgbClr val="1FB9F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pic>
        <p:nvPicPr>
          <p:cNvPr id="4" name="图片 3"/>
          <p:cNvPicPr>
            <a:picLocks noChangeAspect="1"/>
          </p:cNvPicPr>
          <p:nvPr/>
        </p:nvPicPr>
        <p:blipFill>
          <a:blip r:embed="rId1"/>
          <a:stretch>
            <a:fillRect/>
          </a:stretch>
        </p:blipFill>
        <p:spPr>
          <a:xfrm>
            <a:off x="2725420" y="1078865"/>
            <a:ext cx="6273800" cy="565594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13" name="图片 12" descr="图片包含 游戏机&#10;&#10;AI 生成的内容可能不正确。"/>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6470"/>
            <a:ext cx="12171621" cy="6833617"/>
          </a:xfrm>
          <a:prstGeom prst="rect">
            <a:avLst/>
          </a:prstGeom>
        </p:spPr>
      </p:pic>
      <p:sp>
        <p:nvSpPr>
          <p:cNvPr id="2" name="文本框 1" descr="e7d195523061f1c09d430b2e086820dbf734666a277b0d4b500BB7A72AB1412ED5183AD7B3816201F88CE1DA88F1BDB3B214B2C038CB098A30603A7C73162896CA56D5F2C85C2877766F9AF7CC3216D7CF634F6382D6C7BA7BC888BA9186F2798B84068E6072773E10A0296880ED9D73C76908137F952918BE4DD4EB5E4CCB40DE91FD2372AF4B64"/>
          <p:cNvSpPr txBox="1"/>
          <p:nvPr/>
        </p:nvSpPr>
        <p:spPr>
          <a:xfrm>
            <a:off x="4842387" y="5920753"/>
            <a:ext cx="2507226" cy="153888"/>
          </a:xfrm>
          <a:prstGeom prst="rect">
            <a:avLst/>
          </a:prstGeom>
          <a:noFill/>
        </p:spPr>
        <p:txBody>
          <a:bodyPr wrap="square" lIns="0" tIns="0" rIns="0" bIns="0"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chemeClr val="bg1"/>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构建明日数据世界</a:t>
            </a:r>
            <a:endParaRPr kumimoji="0" lang="zh-CN" altLang="en-US" sz="1000" b="0" i="0" u="none" strike="noStrike" kern="1200" cap="none" spc="0" normalizeH="0" baseline="0" noProof="0" dirty="0">
              <a:ln>
                <a:noFill/>
              </a:ln>
              <a:solidFill>
                <a:schemeClr val="bg1"/>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90950" y="5561126"/>
            <a:ext cx="4610100" cy="342900"/>
          </a:xfrm>
          <a:prstGeom prst="rect">
            <a:avLst/>
          </a:prstGeom>
        </p:spPr>
      </p:pic>
      <p:pic>
        <p:nvPicPr>
          <p:cNvPr id="9" name="图片 8" descr="手机屏幕的截图&#10;&#10;AI 生成的内容可能不正确。"/>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43499" y="635311"/>
            <a:ext cx="1905000" cy="508000"/>
          </a:xfrm>
          <a:prstGeom prst="rect">
            <a:avLst/>
          </a:prstGeom>
        </p:spPr>
      </p:pic>
      <p:sp>
        <p:nvSpPr>
          <p:cNvPr id="10" name="文本框 9"/>
          <p:cNvSpPr txBox="1"/>
          <p:nvPr/>
        </p:nvSpPr>
        <p:spPr>
          <a:xfrm>
            <a:off x="65936" y="2353528"/>
            <a:ext cx="12105685" cy="646331"/>
          </a:xfrm>
          <a:prstGeom prst="rect">
            <a:avLst/>
          </a:prstGeom>
          <a:noFill/>
        </p:spPr>
        <p:txBody>
          <a:bodyPr wrap="square">
            <a:spAutoFit/>
          </a:bodyPr>
          <a:lstStyle/>
          <a:p>
            <a:pPr algn="ctr"/>
            <a:r>
              <a:rPr lang="en-US" altLang="zh-CN" sz="3600" b="1" kern="0" spc="0" dirty="0">
                <a:solidFill>
                  <a:schemeClr val="bg1"/>
                </a:solidFill>
                <a:cs typeface="微软雅黑" panose="020B0503020204020204" pitchFamily="34" charset="-122"/>
              </a:rPr>
              <a:t>Thank you</a:t>
            </a:r>
            <a:endParaRPr lang="zh-CN" altLang="en-US" sz="3600" b="1" kern="0" spc="0" dirty="0">
              <a:solidFill>
                <a:schemeClr val="bg1"/>
              </a:solidFill>
              <a:cs typeface="微软雅黑" panose="020B0503020204020204" pitchFamily="34" charset="-122"/>
            </a:endParaRPr>
          </a:p>
        </p:txBody>
      </p:sp>
    </p:spTree>
  </p:cSld>
  <p:clrMapOvr>
    <a:masterClrMapping/>
  </p:clrMapOvr>
</p:sld>
</file>

<file path=ppt/tags/tag1.xml><?xml version="1.0" encoding="utf-8"?>
<p:tagLst xmlns:p="http://schemas.openxmlformats.org/presentationml/2006/main">
  <p:tag name="KSO_WM_DIAGRAM_VIRTUALLY_FRAME" val="{&quot;height&quot;:370.05,&quot;left&quot;:94.85,&quot;top&quot;:184.85,&quot;width&quot;:807.15}"/>
</p:tagLst>
</file>

<file path=ppt/tags/tag2.xml><?xml version="1.0" encoding="utf-8"?>
<p:tagLst xmlns:p="http://schemas.openxmlformats.org/presentationml/2006/main">
  <p:tag name="KSO_WM_DIAGRAM_VIRTUALLY_FRAME" val="{&quot;height&quot;:370.05,&quot;left&quot;:94.85,&quot;top&quot;:184.85,&quot;width&quot;:807.15}"/>
</p:tagLst>
</file>

<file path=ppt/tags/tag3.xml><?xml version="1.0" encoding="utf-8"?>
<p:tagLst xmlns:p="http://schemas.openxmlformats.org/presentationml/2006/main">
  <p:tag name="KSO_WM_DIAGRAM_VIRTUALLY_FRAME" val="{&quot;height&quot;:370.05,&quot;left&quot;:94.85,&quot;top&quot;:184.85,&quot;width&quot;:807.15}"/>
</p:tagLst>
</file>

<file path=ppt/tags/tag4.xml><?xml version="1.0" encoding="utf-8"?>
<p:tagLst xmlns:p="http://schemas.openxmlformats.org/presentationml/2006/main">
  <p:tag name="KSO_WM_DIAGRAM_VIRTUALLY_FRAME" val="{&quot;height&quot;:370.05,&quot;left&quot;:94.85,&quot;top&quot;:184.85,&quot;width&quot;:807.15}"/>
</p:tagLst>
</file>

<file path=ppt/tags/tag5.xml><?xml version="1.0" encoding="utf-8"?>
<p:tagLst xmlns:p="http://schemas.openxmlformats.org/presentationml/2006/main">
  <p:tag name="KSO_WM_DIAGRAM_VIRTUALLY_FRAME" val="{&quot;height&quot;:370.05,&quot;left&quot;:94.85,&quot;top&quot;:184.85,&quot;width&quot;:807.15}"/>
</p:tagLst>
</file>

<file path=ppt/tags/tag6.xml><?xml version="1.0" encoding="utf-8"?>
<p:tagLst xmlns:p="http://schemas.openxmlformats.org/presentationml/2006/main">
  <p:tag name="KSO_WM_DIAGRAM_VIRTUALLY_FRAME" val="{&quot;height&quot;:370.05,&quot;left&quot;:94.85,&quot;top&quot;:184.85,&quot;width&quot;:807.15}"/>
</p:tagLst>
</file>

<file path=ppt/tags/tag7.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924_2*l_h_i*1_1_3"/>
  <p:tag name="KSO_WM_TEMPLATE_CATEGORY" val="diagram"/>
  <p:tag name="KSO_WM_TEMPLATE_INDEX" val="20230924"/>
  <p:tag name="KSO_WM_UNIT_LAYERLEVEL" val="1_1_1"/>
  <p:tag name="KSO_WM_TAG_VERSION" val="3.0"/>
  <p:tag name="KSO_WM_DIAGRAM_VERSION" val="3"/>
  <p:tag name="KSO_WM_DIAGRAM_COLOR_TRICK" val="2"/>
  <p:tag name="KSO_WM_DIAGRAM_COLOR_TEXT_CAN_REMOVE" val="n"/>
  <p:tag name="KSO_WM_DIAGRAM_GROUP_CODE" val="l1-1"/>
  <p:tag name="KSO_WM_UNIT_TYPE" val="l_h_i"/>
  <p:tag name="KSO_WM_UNIT_INDEX" val="1_1_3"/>
  <p:tag name="KSO_WM_DIAGRAM_MAX_ITEMCNT" val="6"/>
  <p:tag name="KSO_WM_DIAGRAM_MIN_ITEMCNT" val="2"/>
  <p:tag name="KSO_WM_DIAGRAM_VIRTUALLY_FRAME" val="{&quot;height&quot;:446.78409448818894,&quot;left&quot;:32.741943359375,&quot;top&quot;:72.61590551181102,&quot;width&quot;:894.558056640625}"/>
  <p:tag name="KSO_WM_DIAGRAM_COLOR_MATCH_VALUE" val="{&quot;shape&quot;:{&quot;fill&quot;:{&quot;gradient&quot;:[{&quot;brightness&quot;:0.20000000298023224,&quot;colorType&quot;:1,&quot;foreColorIndex&quot;:5,&quot;pos&quot;:0,&quot;transparency&quot;:0},{&quot;brightness&quot;:0,&quot;colorType&quot;:1,&quot;foreColorIndex&quot;:5,&quot;pos&quot;:1,&quot;transparency&quot;:0}],&quot;type&quot;:3},&quot;glow&quot;:{&quot;colorType&quot;:0},&quot;line&quot;:{&quot;type&quot;:0},&quot;shadow&quot;:{&quot;brightness&quot;:0.800000011920929,&quot;colorType&quot;:1,&quot;foreColorIndex&quot;:5,&quot;transparency&quot;:0.699999988079071},&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5,6,7,8,9,10]}"/>
</p:tagLst>
</file>

<file path=ppt/tags/tag8.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924_2*l_h_i*1_1_2"/>
  <p:tag name="KSO_WM_TEMPLATE_CATEGORY" val="diagram"/>
  <p:tag name="KSO_WM_TEMPLATE_INDEX" val="20230924"/>
  <p:tag name="KSO_WM_UNIT_LAYERLEVEL" val="1_1_1"/>
  <p:tag name="KSO_WM_TAG_VERSION" val="3.0"/>
  <p:tag name="KSO_WM_DIAGRAM_VERSION" val="3"/>
  <p:tag name="KSO_WM_DIAGRAM_COLOR_TRICK" val="2"/>
  <p:tag name="KSO_WM_DIAGRAM_COLOR_TEXT_CAN_REMOVE" val="n"/>
  <p:tag name="KSO_WM_DIAGRAM_GROUP_CODE" val="l1-1"/>
  <p:tag name="KSO_WM_UNIT_TYPE" val="l_h_i"/>
  <p:tag name="KSO_WM_UNIT_INDEX" val="1_1_2"/>
  <p:tag name="KSO_WM_DIAGRAM_MAX_ITEMCNT" val="6"/>
  <p:tag name="KSO_WM_DIAGRAM_MIN_ITEMCNT" val="2"/>
  <p:tag name="KSO_WM_DIAGRAM_VIRTUALLY_FRAME" val="{&quot;height&quot;:446.78409448818894,&quot;left&quot;:32.741943359375,&quot;top&quot;:72.61590551181102,&quot;width&quot;:894.558056640625}"/>
  <p:tag name="KSO_WM_DIAGRAM_COLOR_MATCH_VALUE" val="{&quot;shape&quot;:{&quot;fill&quot;:{&quot;gradient&quot;:[{&quot;brightness&quot;:0.20000000298023224,&quot;colorType&quot;:1,&quot;foreColorIndex&quot;:5,&quot;pos&quot;:0,&quot;transparency&quot;:0},{&quot;brightness&quot;:0,&quot;colorType&quot;:1,&quot;foreColorIndex&quot;:5,&quot;pos&quot;:1,&quot;transparency&quot;:0}],&quot;type&quot;:3},&quot;glow&quot;:{&quot;colorType&quot;:0},&quot;line&quot;:{&quot;type&quot;:0},&quot;shadow&quot;:{&quot;brightness&quot;:0.800000011920929,&quot;colorType&quot;:1,&quot;foreColorIndex&quot;:5,&quot;transparency&quot;:0.699999988079071},&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5,6,7,8,9,10]}"/>
</p:tagLst>
</file>

<file path=ppt/tags/tag9.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924_2*l_h_i*1_1_1"/>
  <p:tag name="KSO_WM_TEMPLATE_CATEGORY" val="diagram"/>
  <p:tag name="KSO_WM_TEMPLATE_INDEX" val="20230924"/>
  <p:tag name="KSO_WM_UNIT_LAYERLEVEL" val="1_1_1"/>
  <p:tag name="KSO_WM_TAG_VERSION" val="3.0"/>
  <p:tag name="KSO_WM_DIAGRAM_VERSION" val="3"/>
  <p:tag name="KSO_WM_DIAGRAM_COLOR_TRICK" val="2"/>
  <p:tag name="KSO_WM_DIAGRAM_COLOR_TEXT_CAN_REMOVE" val="n"/>
  <p:tag name="KSO_WM_DIAGRAM_GROUP_CODE" val="l1-1"/>
  <p:tag name="KSO_WM_UNIT_TYPE" val="l_h_i"/>
  <p:tag name="KSO_WM_UNIT_INDEX" val="1_1_1"/>
  <p:tag name="KSO_WM_DIAGRAM_MAX_ITEMCNT" val="6"/>
  <p:tag name="KSO_WM_DIAGRAM_MIN_ITEMCNT" val="2"/>
  <p:tag name="KSO_WM_DIAGRAM_VIRTUALLY_FRAME" val="{&quot;height&quot;:446.78409448818894,&quot;left&quot;:32.741943359375,&quot;top&quot;:72.61590551181102,&quot;width&quot;:894.558056640625}"/>
  <p:tag name="KSO_WM_DIAGRAM_COLOR_MATCH_VALUE" val="{&quot;shape&quot;:{&quot;fill&quot;:{&quot;type&quot;:0},&quot;glow&quot;:{&quot;colorType&quot;:0},&quot;line&quot;:{&quot;solidLine&quot;:{&quot;brightness&quot;:0,&quot;colorType&quot;:2,&quot;rgb&quot;:&quot;#ffffff&quot;,&quot;transparency&quot;:0.5},&quot;type&quot;:1},&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5,6,7,8,9,10]}"/>
</p:tagLst>
</file>

<file path=ppt/tags/tag10.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0924_2*l_h_f*1_1_1"/>
  <p:tag name="KSO_WM_TEMPLATE_CATEGORY" val="diagram"/>
  <p:tag name="KSO_WM_TEMPLATE_INDEX" val="20230924"/>
  <p:tag name="KSO_WM_UNIT_LAYERLEVEL" val="1_1_1"/>
  <p:tag name="KSO_WM_TAG_VERSION" val="3.0"/>
  <p:tag name="KSO_WM_BEAUTIFY_FLAG" val="#wm#"/>
  <p:tag name="KSO_WM_DIAGRAM_VERSION" val="3"/>
  <p:tag name="KSO_WM_DIAGRAM_COLOR_TRICK" val="2"/>
  <p:tag name="KSO_WM_DIAGRAM_COLOR_TEXT_CAN_REMOVE" val="n"/>
  <p:tag name="KSO_WM_DIAGRAM_GROUP_CODE" val="l1-1"/>
  <p:tag name="KSO_WM_DIAGRAM_MAX_ITEMCNT" val="6"/>
  <p:tag name="KSO_WM_DIAGRAM_MIN_ITEMCNT" val="2"/>
  <p:tag name="KSO_WM_DIAGRAM_VIRTUALLY_FRAME" val="{&quot;height&quot;:446.78409448818894,&quot;left&quot;:32.741943359375,&quot;top&quot;:72.61590551181102,&quot;width&quot;:894.5580566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输入你的智能图形项正文，文字是您思想的提炼"/>
  <p:tag name="KSO_WM_DIAGRAM_USE_COLOR_VALUE" val="{&quot;color_scheme&quot;:1,&quot;color_type&quot;:1,&quot;theme_color_indexes&quot;:[5,6,7,8,9,10]}"/>
</p:tagLst>
</file>

<file path=ppt/tags/tag11.xml><?xml version="1.0" encoding="utf-8"?>
<p:tagLst xmlns:p="http://schemas.openxmlformats.org/presentationml/2006/main">
  <p:tag name="KSO_WM_DIAGRAM_VERSION" val="3"/>
  <p:tag name="KSO_WM_DIAGRAM_COLOR_TRICK" val="2"/>
  <p:tag name="KSO_WM_DIAGRAM_COLOR_TEXT_CAN_REMOVE" val="n"/>
  <p:tag name="KSO_WM_UNIT_VALUE" val="96*96"/>
  <p:tag name="KSO_WM_UNIT_HIGHLIGHT" val="0"/>
  <p:tag name="KSO_WM_UNIT_COMPATIBLE" val="0"/>
  <p:tag name="KSO_WM_UNIT_DIAGRAM_ISNUMVISUAL" val="0"/>
  <p:tag name="KSO_WM_UNIT_DIAGRAM_ISREFERUNIT" val="0"/>
  <p:tag name="KSO_WM_DIAGRAM_GROUP_CODE" val="l1-1"/>
  <p:tag name="KSO_WM_UNIT_TYPE" val="l_h_x"/>
  <p:tag name="KSO_WM_UNIT_INDEX" val="1_1_1"/>
  <p:tag name="KSO_WM_UNIT_ID" val="diagram20230924_2*l_h_x*1_1_1"/>
  <p:tag name="KSO_WM_TEMPLATE_CATEGORY" val="diagram"/>
  <p:tag name="KSO_WM_TEMPLATE_INDEX" val="20230924"/>
  <p:tag name="KSO_WM_UNIT_LAYERLEVEL" val="1_1_1"/>
  <p:tag name="KSO_WM_TAG_VERSION" val="3.0"/>
  <p:tag name="KSO_WM_BEAUTIFY_FLAG" val="#wm#"/>
  <p:tag name="KSO_WM_DIAGRAM_MAX_ITEMCNT" val="6"/>
  <p:tag name="KSO_WM_DIAGRAM_MIN_ITEMCNT" val="2"/>
  <p:tag name="KSO_WM_DIAGRAM_VIRTUALLY_FRAME" val="{&quot;height&quot;:446.78409448818894,&quot;left&quot;:32.741943359375,&quot;top&quot;:72.61590551181102,&quot;width&quot;:894.55805664062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5,6,7,8,9,10]}"/>
</p:tagLst>
</file>

<file path=ppt/tags/tag12.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0924_2*l_h_a*1_1_1"/>
  <p:tag name="KSO_WM_TEMPLATE_CATEGORY" val="diagram"/>
  <p:tag name="KSO_WM_TEMPLATE_INDEX" val="20230924"/>
  <p:tag name="KSO_WM_UNIT_LAYERLEVEL" val="1_1_1"/>
  <p:tag name="KSO_WM_TAG_VERSION" val="3.0"/>
  <p:tag name="KSO_WM_BEAUTIFY_FLAG" val="#wm#"/>
  <p:tag name="KSO_WM_DIAGRAM_VERSION" val="3"/>
  <p:tag name="KSO_WM_DIAGRAM_COLOR_TRICK" val="2"/>
  <p:tag name="KSO_WM_DIAGRAM_COLOR_TEXT_CAN_REMOVE" val="n"/>
  <p:tag name="KSO_WM_DIAGRAM_GROUP_CODE" val="l1-1"/>
  <p:tag name="KSO_WM_DIAGRAM_MAX_ITEMCNT" val="6"/>
  <p:tag name="KSO_WM_DIAGRAM_MIN_ITEMCNT" val="2"/>
  <p:tag name="KSO_WM_DIAGRAM_VIRTUALLY_FRAME" val="{&quot;height&quot;:446.78409448818894,&quot;left&quot;:32.741943359375,&quot;top&quot;:72.61590551181102,&quot;width&quot;:894.5580566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项标题"/>
  <p:tag name="KSO_WM_DIAGRAM_USE_COLOR_VALUE" val="{&quot;color_scheme&quot;:1,&quot;color_type&quot;:1,&quot;theme_color_indexes&quot;:[5,6,7,8,9,10]}"/>
</p:tagLst>
</file>

<file path=ppt/tags/tag13.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924_2*l_h_i*1_3_1"/>
  <p:tag name="KSO_WM_TEMPLATE_CATEGORY" val="diagram"/>
  <p:tag name="KSO_WM_TEMPLATE_INDEX" val="20230924"/>
  <p:tag name="KSO_WM_UNIT_LAYERLEVEL" val="1_1_1"/>
  <p:tag name="KSO_WM_TAG_VERSION" val="3.0"/>
  <p:tag name="KSO_WM_DIAGRAM_VERSION" val="3"/>
  <p:tag name="KSO_WM_DIAGRAM_COLOR_TRICK" val="2"/>
  <p:tag name="KSO_WM_DIAGRAM_COLOR_TEXT_CAN_REMOVE" val="n"/>
  <p:tag name="KSO_WM_DIAGRAM_GROUP_CODE" val="l1-1"/>
  <p:tag name="KSO_WM_UNIT_TYPE" val="l_h_i"/>
  <p:tag name="KSO_WM_UNIT_INDEX" val="1_3_1"/>
  <p:tag name="KSO_WM_DIAGRAM_MAX_ITEMCNT" val="6"/>
  <p:tag name="KSO_WM_DIAGRAM_MIN_ITEMCNT" val="2"/>
  <p:tag name="KSO_WM_DIAGRAM_VIRTUALLY_FRAME" val="{&quot;height&quot;:446.78409448818894,&quot;left&quot;:32.741943359375,&quot;top&quot;:72.61590551181102,&quot;width&quot;:894.558056640625}"/>
  <p:tag name="KSO_WM_DIAGRAM_COLOR_MATCH_VALUE" val="{&quot;shape&quot;:{&quot;fill&quot;:{&quot;type&quot;:0},&quot;glow&quot;:{&quot;colorType&quot;:0},&quot;line&quot;:{&quot;solidLine&quot;:{&quot;brightness&quot;:0,&quot;colorType&quot;:2,&quot;rgb&quot;:&quot;#ffffff&quot;,&quot;transparency&quot;:0.5},&quot;type&quot;:1},&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5,6,7,8,9,10]}"/>
</p:tagLst>
</file>

<file path=ppt/tags/tag14.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924_2*l_h_i*1_2_3"/>
  <p:tag name="KSO_WM_TEMPLATE_CATEGORY" val="diagram"/>
  <p:tag name="KSO_WM_TEMPLATE_INDEX" val="20230924"/>
  <p:tag name="KSO_WM_UNIT_LAYERLEVEL" val="1_1_1"/>
  <p:tag name="KSO_WM_TAG_VERSION" val="3.0"/>
  <p:tag name="KSO_WM_DIAGRAM_VERSION" val="3"/>
  <p:tag name="KSO_WM_DIAGRAM_COLOR_TRICK" val="2"/>
  <p:tag name="KSO_WM_DIAGRAM_COLOR_TEXT_CAN_REMOVE" val="n"/>
  <p:tag name="KSO_WM_DIAGRAM_GROUP_CODE" val="l1-1"/>
  <p:tag name="KSO_WM_UNIT_TYPE" val="l_h_i"/>
  <p:tag name="KSO_WM_UNIT_INDEX" val="1_2_3"/>
  <p:tag name="KSO_WM_DIAGRAM_MAX_ITEMCNT" val="6"/>
  <p:tag name="KSO_WM_DIAGRAM_MIN_ITEMCNT" val="2"/>
  <p:tag name="KSO_WM_DIAGRAM_VIRTUALLY_FRAME" val="{&quot;height&quot;:446.78409448818894,&quot;left&quot;:32.741943359375,&quot;top&quot;:72.61590551181102,&quot;width&quot;:894.558056640625}"/>
  <p:tag name="KSO_WM_DIAGRAM_COLOR_MATCH_VALUE" val="{&quot;shape&quot;:{&quot;fill&quot;:{&quot;gradient&quot;:[{&quot;brightness&quot;:0.10000000149011612,&quot;colorType&quot;:1,&quot;foreColorIndex&quot;:6,&quot;pos&quot;:0,&quot;transparency&quot;:0},{&quot;brightness&quot;:0,&quot;colorType&quot;:1,&quot;foreColorIndex&quot;:6,&quot;pos&quot;:1,&quot;transparency&quot;:0}],&quot;type&quot;:3},&quot;glow&quot;:{&quot;colorType&quot;:0},&quot;line&quot;:{&quot;type&quot;:0},&quot;shadow&quot;:{&quot;brightness&quot;:0.800000011920929,&quot;colorType&quot;:1,&quot;foreColorIndex&quot;:8,&quot;transparency&quot;:0.699999988079071},&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5,6,7,8,9,10]}"/>
</p:tagLst>
</file>

<file path=ppt/tags/tag15.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924_2*l_h_i*1_2_2"/>
  <p:tag name="KSO_WM_TEMPLATE_CATEGORY" val="diagram"/>
  <p:tag name="KSO_WM_TEMPLATE_INDEX" val="20230924"/>
  <p:tag name="KSO_WM_UNIT_LAYERLEVEL" val="1_1_1"/>
  <p:tag name="KSO_WM_TAG_VERSION" val="3.0"/>
  <p:tag name="KSO_WM_DIAGRAM_VERSION" val="3"/>
  <p:tag name="KSO_WM_DIAGRAM_COLOR_TRICK" val="2"/>
  <p:tag name="KSO_WM_DIAGRAM_COLOR_TEXT_CAN_REMOVE" val="n"/>
  <p:tag name="KSO_WM_DIAGRAM_GROUP_CODE" val="l1-1"/>
  <p:tag name="KSO_WM_UNIT_TYPE" val="l_h_i"/>
  <p:tag name="KSO_WM_UNIT_INDEX" val="1_2_2"/>
  <p:tag name="KSO_WM_DIAGRAM_MAX_ITEMCNT" val="6"/>
  <p:tag name="KSO_WM_DIAGRAM_MIN_ITEMCNT" val="2"/>
  <p:tag name="KSO_WM_DIAGRAM_VIRTUALLY_FRAME" val="{&quot;height&quot;:446.78409448818894,&quot;left&quot;:32.741943359375,&quot;top&quot;:72.61590551181102,&quot;width&quot;:894.558056640625}"/>
  <p:tag name="KSO_WM_DIAGRAM_COLOR_MATCH_VALUE" val="{&quot;shape&quot;:{&quot;fill&quot;:{&quot;gradient&quot;:[{&quot;brightness&quot;:0.10000000149011612,&quot;colorType&quot;:1,&quot;foreColorIndex&quot;:6,&quot;pos&quot;:0,&quot;transparency&quot;:0},{&quot;brightness&quot;:0,&quot;colorType&quot;:1,&quot;foreColorIndex&quot;:6,&quot;pos&quot;:1,&quot;transparency&quot;:0}],&quot;type&quot;:3},&quot;glow&quot;:{&quot;colorType&quot;:0},&quot;line&quot;:{&quot;type&quot;:0},&quot;shadow&quot;:{&quot;brightness&quot;:0.800000011920929,&quot;colorType&quot;:1,&quot;foreColorIndex&quot;:8,&quot;transparency&quot;:0.699999988079071},&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5,6,7,8,9,10]}"/>
</p:tagLst>
</file>

<file path=ppt/tags/tag16.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924_2*l_h_i*1_2_1"/>
  <p:tag name="KSO_WM_TEMPLATE_CATEGORY" val="diagram"/>
  <p:tag name="KSO_WM_TEMPLATE_INDEX" val="20230924"/>
  <p:tag name="KSO_WM_UNIT_LAYERLEVEL" val="1_1_1"/>
  <p:tag name="KSO_WM_TAG_VERSION" val="3.0"/>
  <p:tag name="KSO_WM_DIAGRAM_VERSION" val="3"/>
  <p:tag name="KSO_WM_DIAGRAM_COLOR_TRICK" val="2"/>
  <p:tag name="KSO_WM_DIAGRAM_COLOR_TEXT_CAN_REMOVE" val="n"/>
  <p:tag name="KSO_WM_DIAGRAM_GROUP_CODE" val="l1-1"/>
  <p:tag name="KSO_WM_UNIT_TYPE" val="l_h_i"/>
  <p:tag name="KSO_WM_UNIT_INDEX" val="1_2_1"/>
  <p:tag name="KSO_WM_DIAGRAM_MAX_ITEMCNT" val="6"/>
  <p:tag name="KSO_WM_DIAGRAM_MIN_ITEMCNT" val="2"/>
  <p:tag name="KSO_WM_DIAGRAM_VIRTUALLY_FRAME" val="{&quot;height&quot;:446.78409448818894,&quot;left&quot;:32.741943359375,&quot;top&quot;:72.61590551181102,&quot;width&quot;:894.558056640625}"/>
  <p:tag name="KSO_WM_DIAGRAM_COLOR_MATCH_VALUE" val="{&quot;shape&quot;:{&quot;fill&quot;:{&quot;type&quot;:0},&quot;glow&quot;:{&quot;colorType&quot;:0},&quot;line&quot;:{&quot;solidLine&quot;:{&quot;brightness&quot;:0,&quot;colorType&quot;:2,&quot;rgb&quot;:&quot;#ffffff&quot;,&quot;transparency&quot;:0.5},&quot;type&quot;:1},&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5,6,7,8,9,10]}"/>
</p:tagLst>
</file>

<file path=ppt/tags/tag17.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0924_2*l_h_f*1_2_1"/>
  <p:tag name="KSO_WM_TEMPLATE_CATEGORY" val="diagram"/>
  <p:tag name="KSO_WM_TEMPLATE_INDEX" val="20230924"/>
  <p:tag name="KSO_WM_UNIT_LAYERLEVEL" val="1_1_1"/>
  <p:tag name="KSO_WM_TAG_VERSION" val="3.0"/>
  <p:tag name="KSO_WM_BEAUTIFY_FLAG" val="#wm#"/>
  <p:tag name="KSO_WM_DIAGRAM_VERSION" val="3"/>
  <p:tag name="KSO_WM_DIAGRAM_COLOR_TRICK" val="2"/>
  <p:tag name="KSO_WM_DIAGRAM_COLOR_TEXT_CAN_REMOVE" val="n"/>
  <p:tag name="KSO_WM_DIAGRAM_GROUP_CODE" val="l1-1"/>
  <p:tag name="KSO_WM_DIAGRAM_MAX_ITEMCNT" val="6"/>
  <p:tag name="KSO_WM_DIAGRAM_MIN_ITEMCNT" val="2"/>
  <p:tag name="KSO_WM_DIAGRAM_VIRTUALLY_FRAME" val="{&quot;height&quot;:446.78409448818894,&quot;left&quot;:32.741943359375,&quot;top&quot;:72.61590551181102,&quot;width&quot;:894.5580566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根据需要可酌情增减文字，以便观者准确地理解您传达的思想"/>
  <p:tag name="KSO_WM_DIAGRAM_USE_COLOR_VALUE" val="{&quot;color_scheme&quot;:1,&quot;color_type&quot;:1,&quot;theme_color_indexes&quot;:[5,6,7,8,9,10]}"/>
</p:tagLst>
</file>

<file path=ppt/tags/tag18.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0924_2*l_h_a*1_2_1"/>
  <p:tag name="KSO_WM_TEMPLATE_CATEGORY" val="diagram"/>
  <p:tag name="KSO_WM_TEMPLATE_INDEX" val="20230924"/>
  <p:tag name="KSO_WM_UNIT_LAYERLEVEL" val="1_1_1"/>
  <p:tag name="KSO_WM_TAG_VERSION" val="3.0"/>
  <p:tag name="KSO_WM_BEAUTIFY_FLAG" val="#wm#"/>
  <p:tag name="KSO_WM_DIAGRAM_VERSION" val="3"/>
  <p:tag name="KSO_WM_DIAGRAM_COLOR_TRICK" val="2"/>
  <p:tag name="KSO_WM_DIAGRAM_COLOR_TEXT_CAN_REMOVE" val="n"/>
  <p:tag name="KSO_WM_DIAGRAM_GROUP_CODE" val="l1-1"/>
  <p:tag name="KSO_WM_DIAGRAM_MAX_ITEMCNT" val="6"/>
  <p:tag name="KSO_WM_DIAGRAM_MIN_ITEMCNT" val="2"/>
  <p:tag name="KSO_WM_DIAGRAM_VIRTUALLY_FRAME" val="{&quot;height&quot;:446.78409448818894,&quot;left&quot;:32.741943359375,&quot;top&quot;:72.61590551181102,&quot;width&quot;:894.5580566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项标题"/>
  <p:tag name="KSO_WM_DIAGRAM_USE_COLOR_VALUE" val="{&quot;color_scheme&quot;:1,&quot;color_type&quot;:1,&quot;theme_color_indexes&quot;:[5,6,7,8,9,10]}"/>
</p:tagLst>
</file>

<file path=ppt/tags/tag19.xml><?xml version="1.0" encoding="utf-8"?>
<p:tagLst xmlns:p="http://schemas.openxmlformats.org/presentationml/2006/main">
  <p:tag name="KSO_WM_DIAGRAM_VERSION" val="3"/>
  <p:tag name="KSO_WM_DIAGRAM_COLOR_TRICK" val="2"/>
  <p:tag name="KSO_WM_DIAGRAM_COLOR_TEXT_CAN_REMOVE" val="n"/>
  <p:tag name="KSO_WM_UNIT_VALUE" val="89*96"/>
  <p:tag name="KSO_WM_UNIT_HIGHLIGHT" val="0"/>
  <p:tag name="KSO_WM_UNIT_COMPATIBLE" val="0"/>
  <p:tag name="KSO_WM_UNIT_DIAGRAM_ISNUMVISUAL" val="0"/>
  <p:tag name="KSO_WM_UNIT_DIAGRAM_ISREFERUNIT" val="0"/>
  <p:tag name="KSO_WM_DIAGRAM_GROUP_CODE" val="l1-1"/>
  <p:tag name="KSO_WM_UNIT_TYPE" val="l_h_x"/>
  <p:tag name="KSO_WM_UNIT_INDEX" val="1_2_1"/>
  <p:tag name="KSO_WM_UNIT_ID" val="diagram20230924_2*l_h_x*1_2_1"/>
  <p:tag name="KSO_WM_TEMPLATE_CATEGORY" val="diagram"/>
  <p:tag name="KSO_WM_TEMPLATE_INDEX" val="20230924"/>
  <p:tag name="KSO_WM_UNIT_LAYERLEVEL" val="1_1_1"/>
  <p:tag name="KSO_WM_TAG_VERSION" val="3.0"/>
  <p:tag name="KSO_WM_BEAUTIFY_FLAG" val="#wm#"/>
  <p:tag name="KSO_WM_DIAGRAM_MAX_ITEMCNT" val="6"/>
  <p:tag name="KSO_WM_DIAGRAM_MIN_ITEMCNT" val="2"/>
  <p:tag name="KSO_WM_DIAGRAM_VIRTUALLY_FRAME" val="{&quot;height&quot;:446.78409448818894,&quot;left&quot;:32.741943359375,&quot;top&quot;:72.61590551181102,&quot;width&quot;:894.55805664062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5,6,7,8,9,10]}"/>
</p:tagLst>
</file>

<file path=ppt/tags/tag20.xml><?xml version="1.0" encoding="utf-8"?>
<p:tagLst xmlns:p="http://schemas.openxmlformats.org/presentationml/2006/main">
  <p:tag name="KSO_WM_DIAGRAM_VIRTUALLY_FRAME" val="{&quot;height&quot;:418.79999389648435,&quot;left&quot;:441.55,&quot;top&quot;:84.97500305175781,&quot;width&quot;:463.7250061035156}"/>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5151_4*l_h_f*1_1_1"/>
  <p:tag name="KSO_WM_TEMPLATE_CATEGORY" val="diagram"/>
  <p:tag name="KSO_WM_TEMPLATE_INDEX" val="20235151"/>
  <p:tag name="KSO_WM_UNIT_LAYERLEVEL" val="1_1_1"/>
  <p:tag name="KSO_WM_TAG_VERSION" val="3.0"/>
  <p:tag name="KSO_WM_BEAUTIFY_FLAG" val="#wm#"/>
  <p:tag name="KSO_WM_UNIT_TEXT_TYPE" val="1"/>
  <p:tag name="KSO_WM_DIAGRAM_MAX_ITEMCNT" val="12"/>
  <p:tag name="KSO_WM_DIAGRAM_MIN_ITEMCNT" val="2"/>
  <p:tag name="KSO_WM_DIAGRAM_COLOR_MATCH_VALUE" val="{&quot;shape&quot;:{&quot;fill&quot;:{&quot;solid&quot;:{&quot;brightness&quot;:0,&quot;colorType&quot;:1,&quot;foreColorIndex&quot;:2,&quot;transparency&quot;:0.8999999761581421},&quot;type&quot;:1},&quot;glow&quot;:{&quot;colorType&quot;:0},&quot;line&quot;:{&quot;gradient&quot;:[{&quot;brightness&quot;:0,&quot;colorType&quot;:1,&quot;foreColorIndex&quot;:5,&quot;pos&quot;:0,&quot;transparency&quot;:0.30000001192092896},{&quot;brightness&quot;:0,&quot;colorType&quot;:1,&quot;foreColorIndex&quot;:5,&quot;pos&quot;:1,&quot;transparency&quot;:0.4000000059604645}],&quot;type&quot;:2},&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168"/>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
  <p:tag name="KSO_WM_UNIT_FILL_TYPE" val="1"/>
  <p:tag name="KSO_WM_UNIT_FILL_FORE_SCHEMECOLOR_INDEX" val="2"/>
  <p:tag name="KSO_WM_UNIT_FILL_FORE_SCHEMECOLOR_INDEX_BRIGHTNESS" val="0"/>
  <p:tag name="KSO_WM_UNIT_TEXT_FILL_FORE_SCHEMECOLOR_INDEX" val="1"/>
  <p:tag name="KSO_WM_UNIT_TEXT_FILL_TYPE" val="1"/>
  <p:tag name="KSO_WM_DIAGRAM_USE_COLOR_VALUE" val="{&quot;color_scheme&quot;:1,&quot;color_type&quot;:1,&quot;theme_color_indexes&quot;:[5,6,7,8,9,10]}"/>
</p:tagLst>
</file>

<file path=ppt/tags/tag21.xml><?xml version="1.0" encoding="utf-8"?>
<p:tagLst xmlns:p="http://schemas.openxmlformats.org/presentationml/2006/main">
  <p:tag name="KSO_WM_DIAGRAM_VIRTUALLY_FRAME" val="{&quot;height&quot;:418.79999389648435,&quot;left&quot;:441.55,&quot;top&quot;:84.97500305175781,&quot;width&quot;:463.7250061035156}"/>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5151_4*l_h_f*1_2_1"/>
  <p:tag name="KSO_WM_TEMPLATE_CATEGORY" val="diagram"/>
  <p:tag name="KSO_WM_TEMPLATE_INDEX" val="20235151"/>
  <p:tag name="KSO_WM_UNIT_LAYERLEVEL" val="1_1_1"/>
  <p:tag name="KSO_WM_TAG_VERSION" val="3.0"/>
  <p:tag name="KSO_WM_BEAUTIFY_FLAG" val="#wm#"/>
  <p:tag name="KSO_WM_UNIT_TEXT_TYPE" val="1"/>
  <p:tag name="KSO_WM_DIAGRAM_MAX_ITEMCNT" val="12"/>
  <p:tag name="KSO_WM_DIAGRAM_MIN_ITEMCNT" val="2"/>
  <p:tag name="KSO_WM_DIAGRAM_COLOR_MATCH_VALUE" val="{&quot;shape&quot;:{&quot;fill&quot;:{&quot;solid&quot;:{&quot;brightness&quot;:0,&quot;colorType&quot;:1,&quot;foreColorIndex&quot;:2,&quot;transparency&quot;:0.8999999761581421},&quot;type&quot;:1},&quot;glow&quot;:{&quot;colorType&quot;:0},&quot;line&quot;:{&quot;gradient&quot;:[{&quot;brightness&quot;:0,&quot;colorType&quot;:1,&quot;foreColorIndex&quot;:5,&quot;pos&quot;:0,&quot;transparency&quot;:0.30000001192092896},{&quot;brightness&quot;:0,&quot;colorType&quot;:1,&quot;foreColorIndex&quot;:5,&quot;pos&quot;:1,&quot;transparency&quot;:0.4000000059604645}],&quot;type&quot;:2},&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168"/>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
  <p:tag name="KSO_WM_UNIT_FILL_TYPE" val="1"/>
  <p:tag name="KSO_WM_UNIT_FILL_FORE_SCHEMECOLOR_INDEX" val="2"/>
  <p:tag name="KSO_WM_UNIT_FILL_FORE_SCHEMECOLOR_INDEX_BRIGHTNESS" val="0"/>
  <p:tag name="KSO_WM_UNIT_TEXT_FILL_FORE_SCHEMECOLOR_INDEX" val="1"/>
  <p:tag name="KSO_WM_UNIT_TEXT_FILL_TYPE" val="1"/>
  <p:tag name="KSO_WM_DIAGRAM_USE_COLOR_VALUE" val="{&quot;color_scheme&quot;:1,&quot;color_type&quot;:1,&quot;theme_color_indexes&quot;:[5,6,7,8,9,10]}"/>
</p:tagLst>
</file>

<file path=ppt/tags/tag22.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ID" val="diagram20235151_4*l_h_i*1_2_1"/>
  <p:tag name="KSO_WM_TEMPLATE_CATEGORY" val="diagram"/>
  <p:tag name="KSO_WM_TEMPLATE_INDEX" val="20235151"/>
  <p:tag name="KSO_WM_UNIT_LAYERLEVEL" val="1_1_1"/>
  <p:tag name="KSO_WM_TAG_VERSION" val="3.0"/>
  <p:tag name="KSO_WM_BEAUTIFY_FLAG" val="#wm#"/>
  <p:tag name="KSO_WM_DIAGRAM_MAX_ITEMCNT" val="12"/>
  <p:tag name="KSO_WM_DIAGRAM_MIN_ITEMCNT" val="2"/>
  <p:tag name="KSO_WM_DIAGRAM_VIRTUALLY_FRAME" val="{&quot;height&quot;:418.79999389648435,&quot;left&quot;:441.55,&quot;top&quot;:84.97500305175781,&quot;width&quot;:463.7250061035156}"/>
  <p:tag name="KSO_WM_DIAGRAM_COLOR_MATCH_VALUE" val="{&quot;shape&quot;:{&quot;fill&quot;:{&quot;gradient&quot;:[{&quot;brightness&quot;:0,&quot;colorType&quot;:1,&quot;foreColorIndex&quot;:5,&quot;pos&quot;:0,&quot;transparency&quot;:0},{&quot;brightness&quot;:0,&quot;colorType&quot;:1,&quot;foreColorIndex&quot;:5,&quot;pos&quot;:1,&quot;transparency&quot;:0.4099999964237213}],&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5,6,7,8,9,10]}"/>
</p:tagLst>
</file>

<file path=ppt/tags/tag23.xml><?xml version="1.0" encoding="utf-8"?>
<p:tagLst xmlns:p="http://schemas.openxmlformats.org/presentationml/2006/main">
  <p:tag name="KSO_WM_DIAGRAM_VIRTUALLY_FRAME" val="{&quot;height&quot;:418.79999389648435,&quot;left&quot;:441.55,&quot;top&quot;:84.97500305175781,&quot;width&quot;:463.7250061035156}"/>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5151_4*l_h_f*1_3_1"/>
  <p:tag name="KSO_WM_TEMPLATE_CATEGORY" val="diagram"/>
  <p:tag name="KSO_WM_TEMPLATE_INDEX" val="20235151"/>
  <p:tag name="KSO_WM_UNIT_LAYERLEVEL" val="1_1_1"/>
  <p:tag name="KSO_WM_TAG_VERSION" val="3.0"/>
  <p:tag name="KSO_WM_BEAUTIFY_FLAG" val="#wm#"/>
  <p:tag name="KSO_WM_UNIT_TEXT_TYPE" val="1"/>
  <p:tag name="KSO_WM_DIAGRAM_MAX_ITEMCNT" val="12"/>
  <p:tag name="KSO_WM_DIAGRAM_MIN_ITEMCNT" val="2"/>
  <p:tag name="KSO_WM_DIAGRAM_COLOR_MATCH_VALUE" val="{&quot;shape&quot;:{&quot;fill&quot;:{&quot;solid&quot;:{&quot;brightness&quot;:0,&quot;colorType&quot;:1,&quot;foreColorIndex&quot;:2,&quot;transparency&quot;:0.8999999761581421},&quot;type&quot;:1},&quot;glow&quot;:{&quot;colorType&quot;:0},&quot;line&quot;:{&quot;gradient&quot;:[{&quot;brightness&quot;:0,&quot;colorType&quot;:1,&quot;foreColorIndex&quot;:5,&quot;pos&quot;:0,&quot;transparency&quot;:0.30000001192092896},{&quot;brightness&quot;:0,&quot;colorType&quot;:1,&quot;foreColorIndex&quot;:5,&quot;pos&quot;:1,&quot;transparency&quot;:0.4000000059604645}],&quot;type&quot;:2},&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
  <p:tag name="KSO_WM_UNIT_FILL_TYPE" val="1"/>
  <p:tag name="KSO_WM_UNIT_FILL_FORE_SCHEMECOLOR_INDEX" val="2"/>
  <p:tag name="KSO_WM_UNIT_FILL_FORE_SCHEMECOLOR_INDEX_BRIGHTNESS" val="0"/>
  <p:tag name="KSO_WM_UNIT_TEXT_FILL_FORE_SCHEMECOLOR_INDEX" val="1"/>
  <p:tag name="KSO_WM_UNIT_TEXT_FILL_TYPE" val="1"/>
  <p:tag name="KSO_WM_DIAGRAM_USE_COLOR_VALUE" val="{&quot;color_scheme&quot;:1,&quot;color_type&quot;:1,&quot;theme_color_indexes&quot;:[5,6,7,8,9,10]}"/>
</p:tagLst>
</file>

<file path=ppt/tags/tag24.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3_1"/>
  <p:tag name="KSO_WM_UNIT_ID" val="diagram20235151_4*l_h_i*1_3_1"/>
  <p:tag name="KSO_WM_TEMPLATE_CATEGORY" val="diagram"/>
  <p:tag name="KSO_WM_TEMPLATE_INDEX" val="20235151"/>
  <p:tag name="KSO_WM_UNIT_LAYERLEVEL" val="1_1_1"/>
  <p:tag name="KSO_WM_TAG_VERSION" val="3.0"/>
  <p:tag name="KSO_WM_BEAUTIFY_FLAG" val="#wm#"/>
  <p:tag name="KSO_WM_DIAGRAM_MAX_ITEMCNT" val="12"/>
  <p:tag name="KSO_WM_DIAGRAM_MIN_ITEMCNT" val="2"/>
  <p:tag name="KSO_WM_DIAGRAM_VIRTUALLY_FRAME" val="{&quot;height&quot;:418.79999389648435,&quot;left&quot;:441.55,&quot;top&quot;:84.97500305175781,&quot;width&quot;:463.7250061035156}"/>
  <p:tag name="KSO_WM_DIAGRAM_COLOR_MATCH_VALUE" val="{&quot;shape&quot;:{&quot;fill&quot;:{&quot;gradient&quot;:[{&quot;brightness&quot;:0,&quot;colorType&quot;:1,&quot;foreColorIndex&quot;:5,&quot;pos&quot;:0,&quot;transparency&quot;:0},{&quot;brightness&quot;:0,&quot;colorType&quot;:1,&quot;foreColorIndex&quot;:5,&quot;pos&quot;:1,&quot;transparency&quot;:0.4099999964237213}],&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5,6,7,8,9,10]}"/>
</p:tagLst>
</file>

<file path=ppt/tags/tag25.xml><?xml version="1.0" encoding="utf-8"?>
<p:tagLst xmlns:p="http://schemas.openxmlformats.org/presentationml/2006/main">
  <p:tag name="KSO_WM_DIAGRAM_VIRTUALLY_FRAME" val="{&quot;height&quot;:418.79999389648435,&quot;left&quot;:441.55,&quot;top&quot;:84.97500305175781,&quot;width&quot;:463.7250061035156}"/>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20235151_4*l_h_f*1_4_1"/>
  <p:tag name="KSO_WM_TEMPLATE_CATEGORY" val="diagram"/>
  <p:tag name="KSO_WM_TEMPLATE_INDEX" val="20235151"/>
  <p:tag name="KSO_WM_UNIT_LAYERLEVEL" val="1_1_1"/>
  <p:tag name="KSO_WM_TAG_VERSION" val="3.0"/>
  <p:tag name="KSO_WM_BEAUTIFY_FLAG" val="#wm#"/>
  <p:tag name="KSO_WM_UNIT_TEXT_TYPE" val="1"/>
  <p:tag name="KSO_WM_DIAGRAM_MAX_ITEMCNT" val="12"/>
  <p:tag name="KSO_WM_DIAGRAM_MIN_ITEMCNT" val="2"/>
  <p:tag name="KSO_WM_DIAGRAM_COLOR_MATCH_VALUE" val="{&quot;shape&quot;:{&quot;fill&quot;:{&quot;solid&quot;:{&quot;brightness&quot;:0,&quot;colorType&quot;:1,&quot;foreColorIndex&quot;:2,&quot;transparency&quot;:0.8999999761581421},&quot;type&quot;:1},&quot;glow&quot;:{&quot;colorType&quot;:0},&quot;line&quot;:{&quot;gradient&quot;:[{&quot;brightness&quot;:0,&quot;colorType&quot;:1,&quot;foreColorIndex&quot;:5,&quot;pos&quot;:0,&quot;transparency&quot;:0.30000001192092896},{&quot;brightness&quot;:0,&quot;colorType&quot;:1,&quot;foreColorIndex&quot;:5,&quot;pos&quot;:1,&quot;transparency&quot;:0.4000000059604645}],&quot;type&quot;:2},&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
  <p:tag name="KSO_WM_UNIT_FILL_TYPE" val="1"/>
  <p:tag name="KSO_WM_UNIT_FILL_FORE_SCHEMECOLOR_INDEX" val="2"/>
  <p:tag name="KSO_WM_UNIT_FILL_FORE_SCHEMECOLOR_INDEX_BRIGHTNESS" val="0"/>
  <p:tag name="KSO_WM_UNIT_TEXT_FILL_FORE_SCHEMECOLOR_INDEX" val="1"/>
  <p:tag name="KSO_WM_UNIT_TEXT_FILL_TYPE" val="1"/>
  <p:tag name="KSO_WM_DIAGRAM_USE_COLOR_VALUE" val="{&quot;color_scheme&quot;:1,&quot;color_type&quot;:1,&quot;theme_color_indexes&quot;:[5,6,7,8,9,10]}"/>
</p:tagLst>
</file>

<file path=ppt/tags/tag26.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4_1"/>
  <p:tag name="KSO_WM_UNIT_ID" val="diagram20235151_4*l_h_i*1_4_1"/>
  <p:tag name="KSO_WM_TEMPLATE_CATEGORY" val="diagram"/>
  <p:tag name="KSO_WM_TEMPLATE_INDEX" val="20235151"/>
  <p:tag name="KSO_WM_UNIT_LAYERLEVEL" val="1_1_1"/>
  <p:tag name="KSO_WM_TAG_VERSION" val="3.0"/>
  <p:tag name="KSO_WM_BEAUTIFY_FLAG" val="#wm#"/>
  <p:tag name="KSO_WM_DIAGRAM_MAX_ITEMCNT" val="12"/>
  <p:tag name="KSO_WM_DIAGRAM_MIN_ITEMCNT" val="2"/>
  <p:tag name="KSO_WM_DIAGRAM_VIRTUALLY_FRAME" val="{&quot;height&quot;:418.79999389648435,&quot;left&quot;:441.55,&quot;top&quot;:84.97500305175781,&quot;width&quot;:463.7250061035156}"/>
  <p:tag name="KSO_WM_DIAGRAM_COLOR_MATCH_VALUE" val="{&quot;shape&quot;:{&quot;fill&quot;:{&quot;gradient&quot;:[{&quot;brightness&quot;:0,&quot;colorType&quot;:1,&quot;foreColorIndex&quot;:5,&quot;pos&quot;:0,&quot;transparency&quot;:0},{&quot;brightness&quot;:0,&quot;colorType&quot;:1,&quot;foreColorIndex&quot;:5,&quot;pos&quot;:1,&quot;transparency&quot;:0.4099999964237213}],&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5,6,7,8,9,10]}"/>
</p:tagLst>
</file>

<file path=ppt/tags/tag27.xml><?xml version="1.0" encoding="utf-8"?>
<p:tagLst xmlns:p="http://schemas.openxmlformats.org/presentationml/2006/main">
  <p:tag name="KSO_WM_DIAGRAM_VIRTUALLY_FRAME" val="{&quot;height&quot;:418.79999389648435,&quot;left&quot;:441.55,&quot;top&quot;:84.97500305175781,&quot;width&quot;:463.7250061035156}"/>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5_1"/>
  <p:tag name="KSO_WM_UNIT_ID" val="diagram20235151_4*l_h_f*1_5_1"/>
  <p:tag name="KSO_WM_TEMPLATE_CATEGORY" val="diagram"/>
  <p:tag name="KSO_WM_TEMPLATE_INDEX" val="20235151"/>
  <p:tag name="KSO_WM_UNIT_LAYERLEVEL" val="1_1_1"/>
  <p:tag name="KSO_WM_TAG_VERSION" val="3.0"/>
  <p:tag name="KSO_WM_BEAUTIFY_FLAG" val="#wm#"/>
  <p:tag name="KSO_WM_UNIT_TEXT_TYPE" val="1"/>
  <p:tag name="KSO_WM_DIAGRAM_MAX_ITEMCNT" val="12"/>
  <p:tag name="KSO_WM_DIAGRAM_MIN_ITEMCNT" val="2"/>
  <p:tag name="KSO_WM_DIAGRAM_COLOR_MATCH_VALUE" val="{&quot;shape&quot;:{&quot;fill&quot;:{&quot;solid&quot;:{&quot;brightness&quot;:0,&quot;colorType&quot;:1,&quot;foreColorIndex&quot;:2,&quot;transparency&quot;:0.8999999761581421},&quot;type&quot;:1},&quot;glow&quot;:{&quot;colorType&quot;:0},&quot;line&quot;:{&quot;gradient&quot;:[{&quot;brightness&quot;:0,&quot;colorType&quot;:1,&quot;foreColorIndex&quot;:5,&quot;pos&quot;:0,&quot;transparency&quot;:0.30000001192092896},{&quot;brightness&quot;:0,&quot;colorType&quot;:1,&quot;foreColorIndex&quot;:5,&quot;pos&quot;:1,&quot;transparency&quot;:0.4000000059604645}],&quot;type&quot;:2},&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168"/>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
  <p:tag name="KSO_WM_UNIT_FILL_TYPE" val="1"/>
  <p:tag name="KSO_WM_UNIT_FILL_FORE_SCHEMECOLOR_INDEX" val="2"/>
  <p:tag name="KSO_WM_UNIT_FILL_FORE_SCHEMECOLOR_INDEX_BRIGHTNESS" val="0"/>
  <p:tag name="KSO_WM_UNIT_TEXT_FILL_FORE_SCHEMECOLOR_INDEX" val="1"/>
  <p:tag name="KSO_WM_UNIT_TEXT_FILL_TYPE" val="1"/>
  <p:tag name="KSO_WM_DIAGRAM_USE_COLOR_VALUE" val="{&quot;color_scheme&quot;:1,&quot;color_type&quot;:1,&quot;theme_color_indexes&quot;:[5,6,7,8,9,10]}"/>
</p:tagLst>
</file>

<file path=ppt/tags/tag28.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5_1"/>
  <p:tag name="KSO_WM_UNIT_ID" val="diagram20235151_4*l_h_i*1_5_1"/>
  <p:tag name="KSO_WM_TEMPLATE_CATEGORY" val="diagram"/>
  <p:tag name="KSO_WM_TEMPLATE_INDEX" val="20235151"/>
  <p:tag name="KSO_WM_UNIT_LAYERLEVEL" val="1_1_1"/>
  <p:tag name="KSO_WM_TAG_VERSION" val="3.0"/>
  <p:tag name="KSO_WM_BEAUTIFY_FLAG" val="#wm#"/>
  <p:tag name="KSO_WM_DIAGRAM_MAX_ITEMCNT" val="12"/>
  <p:tag name="KSO_WM_DIAGRAM_MIN_ITEMCNT" val="2"/>
  <p:tag name="KSO_WM_DIAGRAM_VIRTUALLY_FRAME" val="{&quot;height&quot;:418.79999389648435,&quot;left&quot;:441.55,&quot;top&quot;:84.97500305175781,&quot;width&quot;:463.7250061035156}"/>
  <p:tag name="KSO_WM_DIAGRAM_COLOR_MATCH_VALUE" val="{&quot;shape&quot;:{&quot;fill&quot;:{&quot;gradient&quot;:[{&quot;brightness&quot;:0,&quot;colorType&quot;:1,&quot;foreColorIndex&quot;:5,&quot;pos&quot;:0,&quot;transparency&quot;:0},{&quot;brightness&quot;:0,&quot;colorType&quot;:1,&quot;foreColorIndex&quot;:5,&quot;pos&quot;:1,&quot;transparency&quot;:0.4099999964237213}],&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5,6,7,8,9,10]}"/>
</p:tagLst>
</file>

<file path=ppt/tags/tag29.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diagram20235151_4*l_h_i*1_1_1"/>
  <p:tag name="KSO_WM_TEMPLATE_CATEGORY" val="diagram"/>
  <p:tag name="KSO_WM_TEMPLATE_INDEX" val="20235151"/>
  <p:tag name="KSO_WM_UNIT_LAYERLEVEL" val="1_1_1"/>
  <p:tag name="KSO_WM_TAG_VERSION" val="3.0"/>
  <p:tag name="KSO_WM_DIAGRAM_MAX_ITEMCNT" val="12"/>
  <p:tag name="KSO_WM_DIAGRAM_MIN_ITEMCNT" val="2"/>
  <p:tag name="KSO_WM_DIAGRAM_VIRTUALLY_FRAME" val="{&quot;height&quot;:418.79999389648435,&quot;left&quot;:442.5749938964844,&quot;top&quot;:84.97500305175781,&quot;width&quot;:462.70001220703125}"/>
  <p:tag name="KSO_WM_DIAGRAM_COLOR_MATCH_VALUE" val="{&quot;shape&quot;:{&quot;fill&quot;:{&quot;gradient&quot;:[{&quot;brightness&quot;:0,&quot;colorType&quot;:1,&quot;foreColorIndex&quot;:5,&quot;pos&quot;:0,&quot;transparency&quot;:0},{&quot;brightness&quot;:0,&quot;colorType&quot;:1,&quot;foreColorIndex&quot;:5,&quot;pos&quot;:1,&quot;transparency&quot;:0.4099999964237213}],&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5,6,7,8,9,10]}"/>
</p:tagLst>
</file>

<file path=ppt/tags/tag31.xml><?xml version="1.0" encoding="utf-8"?>
<p:tagLst xmlns:p="http://schemas.openxmlformats.org/presentationml/2006/main">
  <p:tag name="resource_record_key" val="{&quot;70&quot;:[3403266,3322227,3318477,3319062,3327356,3312207,3314169,3314135,3333433]}"/>
</p:tagLst>
</file>

<file path=ppt/theme/theme1.xml><?xml version="1.0" encoding="utf-8"?>
<a:theme xmlns:a="http://schemas.openxmlformats.org/drawingml/2006/main" name="Office 主题​​">
  <a:themeElements>
    <a:clrScheme name="自定义 2">
      <a:dk1>
        <a:sysClr val="windowText" lastClr="000000"/>
      </a:dk1>
      <a:lt1>
        <a:sysClr val="window" lastClr="FFFFFF"/>
      </a:lt1>
      <a:dk2>
        <a:srgbClr val="2D3847"/>
      </a:dk2>
      <a:lt2>
        <a:srgbClr val="ECF0FD"/>
      </a:lt2>
      <a:accent1>
        <a:srgbClr val="0186F8"/>
      </a:accent1>
      <a:accent2>
        <a:srgbClr val="0077FA"/>
      </a:accent2>
      <a:accent3>
        <a:srgbClr val="0CC2F5"/>
      </a:accent3>
      <a:accent4>
        <a:srgbClr val="2D3847"/>
      </a:accent4>
      <a:accent5>
        <a:srgbClr val="8A96A8"/>
      </a:accent5>
      <a:accent6>
        <a:srgbClr val="DDE4F0"/>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自定义 2">
      <a:dk1>
        <a:sysClr val="windowText" lastClr="000000"/>
      </a:dk1>
      <a:lt1>
        <a:sysClr val="window" lastClr="FFFFFF"/>
      </a:lt1>
      <a:dk2>
        <a:srgbClr val="2D3847"/>
      </a:dk2>
      <a:lt2>
        <a:srgbClr val="ECF0FD"/>
      </a:lt2>
      <a:accent1>
        <a:srgbClr val="0186F8"/>
      </a:accent1>
      <a:accent2>
        <a:srgbClr val="0077FA"/>
      </a:accent2>
      <a:accent3>
        <a:srgbClr val="0CC2F5"/>
      </a:accent3>
      <a:accent4>
        <a:srgbClr val="2D3847"/>
      </a:accent4>
      <a:accent5>
        <a:srgbClr val="8A96A8"/>
      </a:accent5>
      <a:accent6>
        <a:srgbClr val="DDE4F0"/>
      </a:accent6>
      <a:hlink>
        <a:srgbClr val="0563C1"/>
      </a:hlink>
      <a:folHlink>
        <a:srgbClr val="954F72"/>
      </a:folHlink>
    </a:clrScheme>
    <a:fontScheme name="字体">
      <a:majorFont>
        <a:latin typeface="思源黑体 CN Bold"/>
        <a:ea typeface="思源黑体 CN Bold"/>
        <a:cs typeface=""/>
      </a:majorFont>
      <a:minorFont>
        <a:latin typeface="Arial"/>
        <a:ea typeface="思源黑体 CN Regular"/>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spAutoFit/>
      </a:bodyPr>
      <a:lstStyle>
        <a:defPPr marL="0" marR="0" indent="0" algn="l" defTabSz="914400" rtl="0" eaLnBrk="1" fontAlgn="auto" latinLnBrk="0" hangingPunct="1">
          <a:lnSpc>
            <a:spcPct val="100000"/>
          </a:lnSpc>
          <a:spcBef>
            <a:spcPts val="0"/>
          </a:spcBef>
          <a:spcAft>
            <a:spcPts val="0"/>
          </a:spcAft>
          <a:buClrTx/>
          <a:buSzTx/>
          <a:buFontTx/>
          <a:buNone/>
          <a:defRPr kumimoji="0" sz="12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Theme">
  <a:themeElements>
    <a:clrScheme name="自定义 2">
      <a:dk1>
        <a:sysClr val="windowText" lastClr="000000"/>
      </a:dk1>
      <a:lt1>
        <a:sysClr val="window" lastClr="FFFFFF"/>
      </a:lt1>
      <a:dk2>
        <a:srgbClr val="2D3847"/>
      </a:dk2>
      <a:lt2>
        <a:srgbClr val="ECF0FD"/>
      </a:lt2>
      <a:accent1>
        <a:srgbClr val="0180FF"/>
      </a:accent1>
      <a:accent2>
        <a:srgbClr val="0059FA"/>
      </a:accent2>
      <a:accent3>
        <a:srgbClr val="0CC2F5"/>
      </a:accent3>
      <a:accent4>
        <a:srgbClr val="2D3847"/>
      </a:accent4>
      <a:accent5>
        <a:srgbClr val="8A96A8"/>
      </a:accent5>
      <a:accent6>
        <a:srgbClr val="DDE4F0"/>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Office 主题​​">
  <a:themeElements>
    <a:clrScheme name="自定义 2">
      <a:dk1>
        <a:sysClr val="windowText" lastClr="000000"/>
      </a:dk1>
      <a:lt1>
        <a:sysClr val="window" lastClr="FFFFFF"/>
      </a:lt1>
      <a:dk2>
        <a:srgbClr val="2D3847"/>
      </a:dk2>
      <a:lt2>
        <a:srgbClr val="ECF0FD"/>
      </a:lt2>
      <a:accent1>
        <a:srgbClr val="0186F8"/>
      </a:accent1>
      <a:accent2>
        <a:srgbClr val="0077FA"/>
      </a:accent2>
      <a:accent3>
        <a:srgbClr val="0CC2F5"/>
      </a:accent3>
      <a:accent4>
        <a:srgbClr val="2D3847"/>
      </a:accent4>
      <a:accent5>
        <a:srgbClr val="8A96A8"/>
      </a:accent5>
      <a:accent6>
        <a:srgbClr val="DDE4F0"/>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30.xml"/></Relationships>
</file>

<file path=customXml/item1.xml><?xml version="1.0" encoding="utf-8"?>
<e7d195523061f1c0 xmlns="http://e7d195523061f1c0/custom/data/def">
  <_7b1dac89e7d195523061f1c0316ecb71 xmlns="">e7d195523061f1c09d430b2e086820dbf734666a277b0d4b500BB7A72AB1412ED5183AD7B3816201F88CE1DA88F1BDB3B214B2C038CB098A30603A7C73162896CA56D5F2C85C2877766F9AF7CC3216D7CF634F6382D6C7BA7BC888BA9186F2798B84068E6072773E10A0296880ED9D73C76908137F952918BE4DD4EB5E4CCB40DE91FD2372AF4B64</_7b1dac89e7d195523061f1c0316ecb71>
</e7d195523061f1c0>
</file>

<file path=customXml/itemProps30.xml><?xml version="1.0" encoding="utf-8"?>
<ds:datastoreItem xmlns:ds="http://schemas.openxmlformats.org/officeDocument/2006/customXml" ds:itemID="{1A2F3187-6972-4BD7-B7D5-B79120CF5B65}">
  <ds:schemaRefs/>
</ds:datastoreItem>
</file>

<file path=docProps/app.xml><?xml version="1.0" encoding="utf-8"?>
<Properties xmlns="http://schemas.openxmlformats.org/officeDocument/2006/extended-properties" xmlns:vt="http://schemas.openxmlformats.org/officeDocument/2006/docPropsVTypes">
  <TotalTime>0</TotalTime>
  <Words>5488</Words>
  <Application>WPS 演示</Application>
  <PresentationFormat>宽屏</PresentationFormat>
  <Paragraphs>294</Paragraphs>
  <Slides>21</Slides>
  <Notes>0</Notes>
  <HiddenSlides>0</HiddenSlides>
  <MMClips>1</MMClips>
  <ScaleCrop>false</ScaleCrop>
  <HeadingPairs>
    <vt:vector size="6" baseType="variant">
      <vt:variant>
        <vt:lpstr>已用的字体</vt:lpstr>
      </vt:variant>
      <vt:variant>
        <vt:i4>16</vt:i4>
      </vt:variant>
      <vt:variant>
        <vt:lpstr>主题</vt:lpstr>
      </vt:variant>
      <vt:variant>
        <vt:i4>4</vt:i4>
      </vt:variant>
      <vt:variant>
        <vt:lpstr>幻灯片标题</vt:lpstr>
      </vt:variant>
      <vt:variant>
        <vt:i4>21</vt:i4>
      </vt:variant>
    </vt:vector>
  </HeadingPairs>
  <TitlesOfParts>
    <vt:vector size="41" baseType="lpstr">
      <vt:lpstr>Arial</vt:lpstr>
      <vt:lpstr>宋体</vt:lpstr>
      <vt:lpstr>Wingdings</vt:lpstr>
      <vt:lpstr>微软雅黑</vt:lpstr>
      <vt:lpstr>Times New Roman</vt:lpstr>
      <vt:lpstr>ArialUnicodeMS</vt:lpstr>
      <vt:lpstr>Segoe Print</vt:lpstr>
      <vt:lpstr>Arial</vt:lpstr>
      <vt:lpstr>思源黑体 CN Regular</vt:lpstr>
      <vt:lpstr>黑体</vt:lpstr>
      <vt:lpstr>Arial Unicode MS</vt:lpstr>
      <vt:lpstr>思源黑体 CN Bold</vt:lpstr>
      <vt:lpstr>等线</vt:lpstr>
      <vt:lpstr>Calibri</vt:lpstr>
      <vt:lpstr>等线 Light</vt:lpstr>
      <vt:lpstr>Calibri Light</vt:lpstr>
      <vt:lpstr>Office 主题​​</vt:lpstr>
      <vt:lpstr>1_Office 主题​​</vt:lpstr>
      <vt:lpstr>1_Office Theme</vt:lpstr>
      <vt:lpstr>2_Office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©PPTSTORE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xiaojiang.pan</dc:creator>
  <dc:description>©PPTSTORE 版权所有</dc:description>
  <cp:lastModifiedBy>薆雪</cp:lastModifiedBy>
  <cp:revision>445</cp:revision>
  <dcterms:created xsi:type="dcterms:W3CDTF">2021-10-09T11:24:00Z</dcterms:created>
  <dcterms:modified xsi:type="dcterms:W3CDTF">2025-07-11T01:06:47Z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1DD26640DE274A168D5BE285248E2257_13</vt:lpwstr>
  </property>
  <property fmtid="{D5CDD505-2E9C-101B-9397-08002B2CF9AE}" pid="3" name="KSOProductBuildVer">
    <vt:lpwstr>2052-12.1.0.20754</vt:lpwstr>
  </property>
</Properties>
</file>