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2.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notesSlides/notesSlide3.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4.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5.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notesSlides/notesSlide6.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7.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8.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9.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10.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11.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notesSlides/notesSlide12.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17.xml" ContentType="application/vnd.openxmlformats-officedocument.presentationml.tags+xml"/>
  <Override PartName="/ppt/tags/tag118.xml" ContentType="application/vnd.openxmlformats-officedocument.presentationml.tags+xml"/>
  <Override PartName="/ppt/notesSlides/notesSlide14.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notesSlides/notesSlide15.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16.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18.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19.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notesSlides/notesSlide20.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notesSlides/notesSlide21.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notesSlides/notesSlide22.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3" r:id="rId2"/>
  </p:sldMasterIdLst>
  <p:notesMasterIdLst>
    <p:notesMasterId r:id="rId26"/>
  </p:notesMasterIdLst>
  <p:handoutMasterIdLst>
    <p:handoutMasterId r:id="rId27"/>
  </p:handoutMasterIdLst>
  <p:sldIdLst>
    <p:sldId id="259" r:id="rId3"/>
    <p:sldId id="798" r:id="rId4"/>
    <p:sldId id="397" r:id="rId5"/>
    <p:sldId id="782" r:id="rId6"/>
    <p:sldId id="781" r:id="rId7"/>
    <p:sldId id="780" r:id="rId8"/>
    <p:sldId id="785" r:id="rId9"/>
    <p:sldId id="810" r:id="rId10"/>
    <p:sldId id="809" r:id="rId11"/>
    <p:sldId id="808" r:id="rId12"/>
    <p:sldId id="794" r:id="rId13"/>
    <p:sldId id="787" r:id="rId14"/>
    <p:sldId id="788" r:id="rId15"/>
    <p:sldId id="262" r:id="rId16"/>
    <p:sldId id="357" r:id="rId17"/>
    <p:sldId id="358" r:id="rId18"/>
    <p:sldId id="467" r:id="rId19"/>
    <p:sldId id="801" r:id="rId20"/>
    <p:sldId id="802" r:id="rId21"/>
    <p:sldId id="804" r:id="rId22"/>
    <p:sldId id="805" r:id="rId23"/>
    <p:sldId id="803" r:id="rId24"/>
    <p:sldId id="258" r:id="rId25"/>
  </p:sldIdLst>
  <p:sldSz cx="12192000" cy="6858000"/>
  <p:notesSz cx="6858000" cy="9144000"/>
  <p:embeddedFontLst>
    <p:embeddedFont>
      <p:font typeface="Impact" panose="020B0806030902050204" pitchFamily="34" charset="0"/>
      <p:regular r:id="rId28"/>
    </p:embeddedFont>
    <p:embeddedFont>
      <p:font typeface="Microsoft JhengHei" panose="020B0604030504040204" pitchFamily="34" charset="-120"/>
      <p:regular r:id="rId29"/>
      <p:bold r:id="rId30"/>
    </p:embeddedFont>
    <p:embeddedFont>
      <p:font typeface="Tahoma" panose="020B0604030504040204" pitchFamily="34" charset="0"/>
      <p:regular r:id="rId31"/>
      <p:bold r:id="rId32"/>
    </p:embeddedFont>
    <p:embeddedFont>
      <p:font typeface="Verdana" panose="020B0604030504040204" pitchFamily="34" charset="0"/>
      <p:regular r:id="rId33"/>
      <p:bold r:id="rId34"/>
      <p:italic r:id="rId35"/>
      <p:boldItalic r:id="rId36"/>
    </p:embeddedFont>
    <p:embeddedFont>
      <p:font typeface="华文中宋" panose="02010600040101010101" pitchFamily="2" charset="-122"/>
      <p:regular r:id="rId37"/>
    </p:embeddedFont>
    <p:embeddedFont>
      <p:font typeface="微软雅黑" panose="020B0503020204020204" pitchFamily="34" charset="-122"/>
      <p:regular r:id="rId38"/>
      <p:bold r:id="rId39"/>
    </p:embeddedFont>
    <p:embeddedFont>
      <p:font typeface="幼圆" panose="02010509060101010101" pitchFamily="49" charset="-122"/>
      <p:regular r:id="rId40"/>
    </p:embeddedFont>
  </p:embeddedFontLst>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3"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rid nurjamil" initials="fn" lastIdx="1" clrIdx="0"/>
  <p:cmAuthor id="2" name="kingsoft" initials="k"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D85F7"/>
    <a:srgbClr val="DEA700"/>
    <a:srgbClr val="A87F00"/>
    <a:srgbClr val="F9F18F"/>
    <a:srgbClr val="AEA8F9"/>
    <a:srgbClr val="F67A8F"/>
    <a:srgbClr val="FFDB6B"/>
    <a:srgbClr val="A2E6AC"/>
    <a:srgbClr val="187BFF"/>
    <a:srgbClr val="3787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67" autoAdjust="0"/>
  </p:normalViewPr>
  <p:slideViewPr>
    <p:cSldViewPr showGuides="1">
      <p:cViewPr varScale="1">
        <p:scale>
          <a:sx n="88" d="100"/>
          <a:sy n="88" d="100"/>
        </p:scale>
        <p:origin x="1052" y="68"/>
      </p:cViewPr>
      <p:guideLst>
        <p:guide orient="horz" pos="210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19.xml"/><Relationship Id="rId34" Type="http://schemas.openxmlformats.org/officeDocument/2006/relationships/font" Target="fonts/font7.fntdata"/><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tags" Target="tags/tag1.xml"/></Relationships>
</file>

<file path=ppt/charts/_rels/chart1.xml.rels><?xml version="1.0" encoding="UTF-8" standalone="yes"?>
<Relationships xmlns="http://schemas.openxmlformats.org/package/2006/relationships"><Relationship Id="rId2" Type="http://schemas.openxmlformats.org/officeDocument/2006/relationships/oleObject" Target="file:///D:\&#39033;&#30446;&#25991;&#26723;\14-&#26118;&#23665;&#20892;&#21830;&#25968;&#25454;&#39033;&#30446;\&#24046;&#24322;&#20998;&#26512;\&#26680;&#24515;&#31995;&#32479;&#24046;&#24322;&#20998;&#26512;\&#23458;&#25143;&#31867;&#25968;&#25454;&#26631;&#20934;_&#21021;&#29256;_hexinchayifenxi.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42"/>
  <c:clrMapOvr bg1="lt1" tx1="dk1" bg2="lt2" tx2="dk2" accent1="accent1" accent2="accent2" accent3="accent3" accent4="accent4" accent5="accent5" accent6="accent6" hlink="hlink" folHlink="folHlink"/>
  <c:chart>
    <c:title>
      <c:tx>
        <c:rich>
          <a:bodyPr rot="0" spcFirstLastPara="0" vertOverflow="ellipsis" vert="horz" wrap="square" anchor="ctr" anchorCtr="1"/>
          <a:lstStyle/>
          <a:p>
            <a:pPr>
              <a:defRPr lang="zh-CN" altLang="en-US" sz="1600" b="1" i="0" u="none" strike="noStrike" kern="1200" baseline="0" dirty="0" smtClean="0">
                <a:solidFill>
                  <a:schemeClr val="tx1"/>
                </a:solidFill>
                <a:latin typeface="+mj-lt"/>
                <a:ea typeface="+mj-ea"/>
                <a:cs typeface="+mj-cs"/>
              </a:defRPr>
            </a:pPr>
            <a:r>
              <a:rPr lang="zh-CN" altLang="en-US" sz="1600" b="1" baseline="0" dirty="0">
                <a:solidFill>
                  <a:schemeClr val="tx1"/>
                </a:solidFill>
                <a:latin typeface="+mj-lt"/>
                <a:ea typeface="+mj-ea"/>
                <a:cs typeface="+mj-cs"/>
              </a:rPr>
              <a:t>核心系统客户主题差异分析结果</a:t>
            </a:r>
          </a:p>
        </c:rich>
      </c:tx>
      <c:layout>
        <c:manualLayout>
          <c:xMode val="edge"/>
          <c:yMode val="edge"/>
          <c:x val="0.141451668555613"/>
          <c:y val="2.9082554693210305E-2"/>
        </c:manualLayout>
      </c:layout>
      <c:overlay val="1"/>
    </c:title>
    <c:autoTitleDeleted val="0"/>
    <c:plotArea>
      <c:layout>
        <c:manualLayout>
          <c:layoutTarget val="inner"/>
          <c:xMode val="edge"/>
          <c:yMode val="edge"/>
          <c:x val="0.26160673916418703"/>
          <c:y val="0.12982158796390797"/>
          <c:w val="0.45578172927694005"/>
          <c:h val="0.47418112209233498"/>
        </c:manualLayout>
      </c:layout>
      <c:pieChart>
        <c:varyColors val="1"/>
        <c:ser>
          <c:idx val="0"/>
          <c:order val="0"/>
          <c:tx>
            <c:strRef>
              <c:f>Sheet1!$F$2</c:f>
              <c:strCache>
                <c:ptCount val="1"/>
                <c:pt idx="0">
                  <c:v>标准数</c:v>
                </c:pt>
              </c:strCache>
            </c:strRef>
          </c:tx>
          <c:explosion val="8"/>
          <c:dPt>
            <c:idx val="0"/>
            <c:bubble3D val="0"/>
            <c:extLst>
              <c:ext xmlns:c16="http://schemas.microsoft.com/office/drawing/2014/chart" uri="{C3380CC4-5D6E-409C-BE32-E72D297353CC}">
                <c16:uniqueId val="{00000000-C7FE-4C7C-AADE-6532C1F38FCE}"/>
              </c:ext>
            </c:extLst>
          </c:dPt>
          <c:dPt>
            <c:idx val="1"/>
            <c:bubble3D val="0"/>
            <c:extLst>
              <c:ext xmlns:c16="http://schemas.microsoft.com/office/drawing/2014/chart" uri="{C3380CC4-5D6E-409C-BE32-E72D297353CC}">
                <c16:uniqueId val="{00000001-C7FE-4C7C-AADE-6532C1F38FCE}"/>
              </c:ext>
            </c:extLst>
          </c:dPt>
          <c:dPt>
            <c:idx val="2"/>
            <c:bubble3D val="0"/>
            <c:extLst>
              <c:ext xmlns:c16="http://schemas.microsoft.com/office/drawing/2014/chart" uri="{C3380CC4-5D6E-409C-BE32-E72D297353CC}">
                <c16:uniqueId val="{00000002-C7FE-4C7C-AADE-6532C1F38FCE}"/>
              </c:ext>
            </c:extLst>
          </c:dPt>
          <c:dPt>
            <c:idx val="3"/>
            <c:bubble3D val="0"/>
            <c:extLst>
              <c:ext xmlns:c16="http://schemas.microsoft.com/office/drawing/2014/chart" uri="{C3380CC4-5D6E-409C-BE32-E72D297353CC}">
                <c16:uniqueId val="{00000003-C7FE-4C7C-AADE-6532C1F38FCE}"/>
              </c:ext>
            </c:extLst>
          </c:dPt>
          <c:dPt>
            <c:idx val="4"/>
            <c:bubble3D val="0"/>
            <c:extLst>
              <c:ext xmlns:c16="http://schemas.microsoft.com/office/drawing/2014/chart" uri="{C3380CC4-5D6E-409C-BE32-E72D297353CC}">
                <c16:uniqueId val="{00000004-C7FE-4C7C-AADE-6532C1F38FCE}"/>
              </c:ext>
            </c:extLst>
          </c:dPt>
          <c:dLbls>
            <c:dLbl>
              <c:idx val="0"/>
              <c:layout>
                <c:manualLayout>
                  <c:x val="-0.12514784354643504"/>
                  <c:y val="9.7381784550528011E-2"/>
                </c:manualLayout>
              </c:layout>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0-C7FE-4C7C-AADE-6532C1F38FCE}"/>
                </c:ext>
              </c:extLst>
            </c:dLbl>
            <c:dLbl>
              <c:idx val="1"/>
              <c:layout>
                <c:manualLayout>
                  <c:x val="-9.219028418005322E-2"/>
                  <c:y val="-3.7315753815049507E-2"/>
                </c:manualLayout>
              </c:layout>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1-C7FE-4C7C-AADE-6532C1F38FCE}"/>
                </c:ext>
              </c:extLst>
            </c:dLbl>
            <c:dLbl>
              <c:idx val="2"/>
              <c:layout>
                <c:manualLayout>
                  <c:x val="-7.0431419985290414E-2"/>
                  <c:y val="-9.3245099741943713E-2"/>
                </c:manualLayout>
              </c:layout>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2-C7FE-4C7C-AADE-6532C1F38FCE}"/>
                </c:ext>
              </c:extLst>
            </c:dLbl>
            <c:dLbl>
              <c:idx val="4"/>
              <c:layout>
                <c:manualLayout>
                  <c:x val="0.12942711439787902"/>
                  <c:y val="4.6358093066772806E-2"/>
                </c:manualLayout>
              </c:layout>
              <c:dLblPos val="bestFit"/>
              <c:showLegendKey val="1"/>
              <c:showVal val="1"/>
              <c:showCatName val="1"/>
              <c:showSerName val="1"/>
              <c:showPercent val="1"/>
              <c:showBubbleSize val="1"/>
              <c:extLst>
                <c:ext xmlns:c15="http://schemas.microsoft.com/office/drawing/2012/chart" uri="{CE6537A1-D6FC-4f65-9D91-7224C49458BB}"/>
                <c:ext xmlns:c16="http://schemas.microsoft.com/office/drawing/2014/chart" uri="{C3380CC4-5D6E-409C-BE32-E72D297353CC}">
                  <c16:uniqueId val="{00000004-C7FE-4C7C-AADE-6532C1F38FCE}"/>
                </c:ext>
              </c:extLst>
            </c:dLbl>
            <c:spPr>
              <a:noFill/>
              <a:ln>
                <a:noFill/>
              </a:ln>
              <a:effectLst/>
            </c:spPr>
            <c:txPr>
              <a:bodyPr rot="0" spcFirstLastPara="0" vertOverflow="ellipsis" vert="horz" wrap="square" lIns="38100" tIns="19050" rIns="38100" bIns="19050" anchor="ctr" anchorCtr="1"/>
              <a:lstStyle/>
              <a:p>
                <a:pPr>
                  <a:defRPr lang="zh-CN" sz="1800" b="0" i="0" u="none" strike="noStrike" kern="1200" baseline="0">
                    <a:solidFill>
                      <a:schemeClr val="lt1"/>
                    </a:solidFill>
                    <a:latin typeface="+mn-lt"/>
                    <a:ea typeface="+mn-ea"/>
                    <a:cs typeface="+mn-cs"/>
                  </a:defRPr>
                </a:pPr>
                <a:endParaRPr lang="zh-CN"/>
              </a:p>
            </c:txPr>
            <c:dLblPos val="bestFit"/>
            <c:showLegendKey val="1"/>
            <c:showVal val="1"/>
            <c:showCatName val="1"/>
            <c:showSerName val="1"/>
            <c:showPercent val="1"/>
            <c:showBubbleSize val="1"/>
            <c:showLeaderLines val="1"/>
            <c:extLst>
              <c:ext xmlns:c15="http://schemas.microsoft.com/office/drawing/2012/chart" uri="{CE6537A1-D6FC-4f65-9D91-7224C49458BB}"/>
            </c:extLst>
          </c:dLbls>
          <c:cat>
            <c:strRef>
              <c:f>Sheet1!$E$3:$E$7</c:f>
              <c:strCache>
                <c:ptCount val="5"/>
                <c:pt idx="0">
                  <c:v>存在，一致</c:v>
                </c:pt>
                <c:pt idx="1">
                  <c:v>存在，不一致</c:v>
                </c:pt>
                <c:pt idx="2">
                  <c:v>不存在，加工可得</c:v>
                </c:pt>
                <c:pt idx="3">
                  <c:v>暂不存在</c:v>
                </c:pt>
                <c:pt idx="4">
                  <c:v>本系统无业务</c:v>
                </c:pt>
              </c:strCache>
            </c:strRef>
          </c:cat>
          <c:val>
            <c:numRef>
              <c:f>Sheet1!$F$3:$F$7</c:f>
              <c:numCache>
                <c:formatCode>General</c:formatCode>
                <c:ptCount val="5"/>
                <c:pt idx="0">
                  <c:v>78</c:v>
                </c:pt>
                <c:pt idx="1">
                  <c:v>19</c:v>
                </c:pt>
                <c:pt idx="2">
                  <c:v>22</c:v>
                </c:pt>
                <c:pt idx="3">
                  <c:v>65</c:v>
                </c:pt>
                <c:pt idx="4">
                  <c:v>98</c:v>
                </c:pt>
              </c:numCache>
            </c:numRef>
          </c:val>
          <c:extLst>
            <c:ext xmlns:c16="http://schemas.microsoft.com/office/drawing/2014/chart" uri="{C3380CC4-5D6E-409C-BE32-E72D297353CC}">
              <c16:uniqueId val="{00000005-C7FE-4C7C-AADE-6532C1F38FCE}"/>
            </c:ext>
          </c:extLst>
        </c:ser>
        <c:dLbls>
          <c:showLegendKey val="1"/>
          <c:showVal val="1"/>
          <c:showCatName val="1"/>
          <c:showSerName val="1"/>
          <c:showPercent val="1"/>
          <c:showBubbleSize val="1"/>
          <c:showLeaderLines val="1"/>
        </c:dLbls>
        <c:firstSliceAng val="0"/>
      </c:pieChart>
    </c:plotArea>
    <c:legend>
      <c:legendPos val="t"/>
      <c:layout>
        <c:manualLayout>
          <c:xMode val="edge"/>
          <c:yMode val="edge"/>
          <c:x val="0.20839319261225703"/>
          <c:y val="0.63859286556311012"/>
          <c:w val="0.54101486467237503"/>
          <c:h val="0.31731960060631204"/>
        </c:manualLayout>
      </c:layout>
      <c:overlay val="1"/>
      <c:txPr>
        <a:bodyPr rot="0" spcFirstLastPara="0" vertOverflow="ellipsis" vert="horz" wrap="square" anchor="ctr" anchorCtr="1"/>
        <a:lstStyle/>
        <a:p>
          <a:pPr>
            <a:defRPr lang="zh-CN" sz="1400" b="0" i="0" u="none" strike="noStrike" kern="1200" baseline="0">
              <a:solidFill>
                <a:schemeClr val="tx1"/>
              </a:solidFill>
              <a:latin typeface="+mj-ea"/>
              <a:ea typeface="+mj-ea"/>
              <a:cs typeface="+mn-cs"/>
            </a:defRPr>
          </a:pPr>
          <a:endParaRPr lang="zh-CN"/>
        </a:p>
      </c:txPr>
    </c:legend>
    <c:plotVisOnly val="1"/>
    <c:dispBlanksAs val="zero"/>
    <c:showDLblsOverMax val="1"/>
    <c:extLst>
      <c:ext uri="{0b15fc19-7d7d-44ad-8c2d-2c3a37ce22c3}">
        <chartProps xmlns="https://web.wps.cn/et/2018/main" chartId="{85a67fdd-4b14-4018-8444-f02847acc505}"/>
      </c:ext>
    </c:extLst>
  </c:chart>
  <c:spPr>
    <a:noFill/>
  </c:spPr>
  <c:txPr>
    <a:bodyPr/>
    <a:lstStyle/>
    <a:p>
      <a:pPr>
        <a:defRPr lang="zh-CN" sz="1800"/>
      </a:pPr>
      <a:endParaRPr lang="zh-CN"/>
    </a:p>
  </c:txPr>
  <c:externalData r:id="rId2">
    <c:autoUpdate val="1"/>
  </c:externalData>
</c:chartSpac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C934EC4-B7CC-4FFE-8BC7-47DAE6154874}" type="doc">
      <dgm:prSet loTypeId="urn:microsoft.com/office/officeart/2005/8/layout/hChevron3" loCatId="process" qsTypeId="urn:microsoft.com/office/officeart/2005/8/quickstyle/simple1#1" qsCatId="simple" csTypeId="urn:microsoft.com/office/officeart/2005/8/colors/accent1_2#1" csCatId="accent1" phldr="1"/>
      <dgm:spPr/>
    </dgm:pt>
    <dgm:pt modelId="{9B9D0B1C-B27F-4732-862F-C81DEAF937EE}">
      <dgm:prSet phldrT="[Text]" custT="1"/>
      <dgm:spPr>
        <a:xfrm>
          <a:off x="0" y="0"/>
          <a:ext cx="1797296" cy="519652"/>
        </a:xfrm>
        <a:prstGeom prst="homePlate">
          <a:avLst/>
        </a:prstGeom>
        <a:solidFill>
          <a:srgbClr val="00B0F0"/>
        </a:solidFill>
        <a:ln w="28575" cap="flat" cmpd="sng" algn="ctr">
          <a:noFill/>
          <a:prstDash val="solid"/>
        </a:ln>
        <a:effectLst/>
      </dgm:spPr>
      <dgm:t>
        <a:bodyPr lIns="0" rIns="216000"/>
        <a:lstStyle/>
        <a:p>
          <a:pPr>
            <a:buNone/>
          </a:pPr>
          <a:r>
            <a:rPr lang="zh-CN" altLang="en-US" sz="1200" b="1" dirty="0">
              <a:solidFill>
                <a:srgbClr val="FFFFFF"/>
              </a:solidFill>
              <a:latin typeface="微软雅黑" panose="020B0503020204020204" pitchFamily="34" charset="-122"/>
              <a:ea typeface="微软雅黑" panose="020B0503020204020204" pitchFamily="34" charset="-122"/>
              <a:cs typeface="+mn-cs"/>
            </a:rPr>
            <a:t>收集</a:t>
          </a:r>
          <a:endParaRPr lang="en-GB" sz="1200" b="1" dirty="0">
            <a:solidFill>
              <a:srgbClr val="FFFFFF"/>
            </a:solidFill>
            <a:latin typeface="微软雅黑" panose="020B0503020204020204" pitchFamily="34" charset="-122"/>
            <a:ea typeface="微软雅黑" panose="020B0503020204020204" pitchFamily="34" charset="-122"/>
            <a:cs typeface="+mn-cs"/>
          </a:endParaRPr>
        </a:p>
      </dgm:t>
    </dgm:pt>
    <dgm:pt modelId="{C073A417-D883-4F58-848E-546FABBE0D8A}" type="parTrans" cxnId="{90E881D5-A878-4233-BBEC-FC37A5E75D6D}">
      <dgm:prSet/>
      <dgm:spPr/>
      <dgm:t>
        <a:bodyPr/>
        <a:lstStyle/>
        <a:p>
          <a:endParaRPr lang="en-GB" sz="1200" b="1">
            <a:latin typeface="微软雅黑" panose="020B0503020204020204" pitchFamily="34" charset="-122"/>
            <a:ea typeface="微软雅黑" panose="020B0503020204020204" pitchFamily="34" charset="-122"/>
          </a:endParaRPr>
        </a:p>
      </dgm:t>
    </dgm:pt>
    <dgm:pt modelId="{1C07DF7B-88A0-451A-B750-84921C0DC61A}" type="sibTrans" cxnId="{90E881D5-A878-4233-BBEC-FC37A5E75D6D}">
      <dgm:prSet/>
      <dgm:spPr/>
      <dgm:t>
        <a:bodyPr/>
        <a:lstStyle/>
        <a:p>
          <a:endParaRPr lang="en-GB" sz="1200" b="1">
            <a:latin typeface="微软雅黑" panose="020B0503020204020204" pitchFamily="34" charset="-122"/>
            <a:ea typeface="微软雅黑" panose="020B0503020204020204" pitchFamily="34" charset="-122"/>
          </a:endParaRPr>
        </a:p>
      </dgm:t>
    </dgm:pt>
    <dgm:pt modelId="{9C9756D2-ED34-4530-9614-312DC470757B}">
      <dgm:prSet phldrT="[Text]" custT="1"/>
      <dgm:spPr>
        <a:xfrm>
          <a:off x="1391406" y="0"/>
          <a:ext cx="1960096" cy="519652"/>
        </a:xfrm>
        <a:prstGeom prst="chevron">
          <a:avLst/>
        </a:prstGeom>
        <a:solidFill>
          <a:srgbClr val="00B0F0"/>
        </a:solidFill>
        <a:ln w="28575" cap="flat" cmpd="sng" algn="ctr">
          <a:solidFill>
            <a:srgbClr val="FFFFFF"/>
          </a:solidFill>
          <a:prstDash val="solid"/>
        </a:ln>
        <a:effectLst/>
      </dgm:spPr>
      <dgm:t>
        <a:bodyPr lIns="0" rIns="144000"/>
        <a:lstStyle/>
        <a:p>
          <a:pPr>
            <a:buNone/>
          </a:pPr>
          <a:r>
            <a:rPr lang="zh-CN" altLang="en-US" sz="1200" b="1" dirty="0">
              <a:solidFill>
                <a:srgbClr val="FFFFFF"/>
              </a:solidFill>
              <a:latin typeface="微软雅黑" panose="020B0503020204020204" pitchFamily="34" charset="-122"/>
              <a:ea typeface="微软雅黑" panose="020B0503020204020204" pitchFamily="34" charset="-122"/>
              <a:cs typeface="+mn-cs"/>
            </a:rPr>
            <a:t>筛选</a:t>
          </a:r>
          <a:endParaRPr lang="en-GB" sz="1200" b="1" dirty="0">
            <a:solidFill>
              <a:srgbClr val="FFFFFF"/>
            </a:solidFill>
            <a:latin typeface="微软雅黑" panose="020B0503020204020204" pitchFamily="34" charset="-122"/>
            <a:ea typeface="微软雅黑" panose="020B0503020204020204" pitchFamily="34" charset="-122"/>
            <a:cs typeface="+mn-cs"/>
          </a:endParaRPr>
        </a:p>
      </dgm:t>
    </dgm:pt>
    <dgm:pt modelId="{93DC3480-0387-4C70-814A-1742EE6E8ED3}" type="parTrans" cxnId="{698E4770-0DCE-4A58-A0DE-7E969115EC98}">
      <dgm:prSet/>
      <dgm:spPr/>
      <dgm:t>
        <a:bodyPr/>
        <a:lstStyle/>
        <a:p>
          <a:endParaRPr lang="en-GB" sz="1200" b="1">
            <a:latin typeface="微软雅黑" panose="020B0503020204020204" pitchFamily="34" charset="-122"/>
            <a:ea typeface="微软雅黑" panose="020B0503020204020204" pitchFamily="34" charset="-122"/>
          </a:endParaRPr>
        </a:p>
      </dgm:t>
    </dgm:pt>
    <dgm:pt modelId="{9AC0D736-E4FA-4781-ABB4-6B3A168DF34A}" type="sibTrans" cxnId="{698E4770-0DCE-4A58-A0DE-7E969115EC98}">
      <dgm:prSet/>
      <dgm:spPr/>
      <dgm:t>
        <a:bodyPr/>
        <a:lstStyle/>
        <a:p>
          <a:endParaRPr lang="en-GB" sz="1200" b="1">
            <a:latin typeface="微软雅黑" panose="020B0503020204020204" pitchFamily="34" charset="-122"/>
            <a:ea typeface="微软雅黑" panose="020B0503020204020204" pitchFamily="34" charset="-122"/>
          </a:endParaRPr>
        </a:p>
      </dgm:t>
    </dgm:pt>
    <dgm:pt modelId="{7B45455B-2FAD-42D2-B6E4-FF6D30D530C9}">
      <dgm:prSet phldrT="[Text]" custT="1"/>
      <dgm:spPr>
        <a:xfrm>
          <a:off x="2945062" y="0"/>
          <a:ext cx="1879092" cy="519652"/>
        </a:xfrm>
        <a:prstGeom prst="chevron">
          <a:avLst/>
        </a:prstGeom>
        <a:solidFill>
          <a:srgbClr val="00B0F0"/>
        </a:solidFill>
        <a:ln w="28575" cap="flat" cmpd="sng" algn="ctr">
          <a:solidFill>
            <a:srgbClr val="FFFFFF"/>
          </a:solidFill>
          <a:prstDash val="solid"/>
        </a:ln>
        <a:effectLst/>
      </dgm:spPr>
      <dgm:t>
        <a:bodyPr lIns="0" rIns="216000"/>
        <a:lstStyle/>
        <a:p>
          <a:pPr>
            <a:buNone/>
          </a:pPr>
          <a:r>
            <a:rPr lang="zh-CN" altLang="en-US" sz="1200" b="1" dirty="0">
              <a:solidFill>
                <a:srgbClr val="FFFFFF"/>
              </a:solidFill>
              <a:latin typeface="微软雅黑" panose="020B0503020204020204" pitchFamily="34" charset="-122"/>
              <a:ea typeface="微软雅黑" panose="020B0503020204020204" pitchFamily="34" charset="-122"/>
              <a:cs typeface="+mn-cs"/>
            </a:rPr>
            <a:t>归类</a:t>
          </a:r>
          <a:endParaRPr lang="en-GB" sz="1200" b="1" dirty="0">
            <a:solidFill>
              <a:srgbClr val="FFFFFF"/>
            </a:solidFill>
            <a:latin typeface="微软雅黑" panose="020B0503020204020204" pitchFamily="34" charset="-122"/>
            <a:ea typeface="微软雅黑" panose="020B0503020204020204" pitchFamily="34" charset="-122"/>
            <a:cs typeface="+mn-cs"/>
          </a:endParaRPr>
        </a:p>
      </dgm:t>
    </dgm:pt>
    <dgm:pt modelId="{EB67A209-51E5-44FB-B6CD-8FEDFBA9B54E}" type="parTrans" cxnId="{C223F441-469F-4E36-AFC9-5093877B1D24}">
      <dgm:prSet/>
      <dgm:spPr/>
      <dgm:t>
        <a:bodyPr/>
        <a:lstStyle/>
        <a:p>
          <a:endParaRPr lang="en-GB" sz="1200" b="1">
            <a:latin typeface="微软雅黑" panose="020B0503020204020204" pitchFamily="34" charset="-122"/>
            <a:ea typeface="微软雅黑" panose="020B0503020204020204" pitchFamily="34" charset="-122"/>
          </a:endParaRPr>
        </a:p>
      </dgm:t>
    </dgm:pt>
    <dgm:pt modelId="{3AFB6759-B87F-4930-A9AD-9650F1CC47B1}" type="sibTrans" cxnId="{C223F441-469F-4E36-AFC9-5093877B1D24}">
      <dgm:prSet/>
      <dgm:spPr/>
      <dgm:t>
        <a:bodyPr/>
        <a:lstStyle/>
        <a:p>
          <a:endParaRPr lang="en-GB" sz="1200" b="1">
            <a:latin typeface="微软雅黑" panose="020B0503020204020204" pitchFamily="34" charset="-122"/>
            <a:ea typeface="微软雅黑" panose="020B0503020204020204" pitchFamily="34" charset="-122"/>
          </a:endParaRPr>
        </a:p>
      </dgm:t>
    </dgm:pt>
    <dgm:pt modelId="{044DA43B-F5E6-4A1B-958F-67B47CCC359C}">
      <dgm:prSet custT="1"/>
      <dgm:spPr>
        <a:xfrm>
          <a:off x="4417715" y="0"/>
          <a:ext cx="1833530" cy="519652"/>
        </a:xfrm>
        <a:prstGeom prst="chevron">
          <a:avLst/>
        </a:prstGeom>
        <a:solidFill>
          <a:srgbClr val="003756">
            <a:lumMod val="75000"/>
            <a:lumOff val="25000"/>
          </a:srgbClr>
        </a:solidFill>
        <a:ln w="28575" cap="flat" cmpd="sng" algn="ctr">
          <a:solidFill>
            <a:srgbClr val="FFFFFF"/>
          </a:solidFill>
          <a:prstDash val="solid"/>
        </a:ln>
        <a:effectLst/>
      </dgm:spPr>
      <dgm:t>
        <a:bodyPr lIns="0"/>
        <a:lstStyle/>
        <a:p>
          <a:pPr>
            <a:buNone/>
          </a:pPr>
          <a:r>
            <a:rPr lang="zh-CN" altLang="en-US" sz="1200" b="1" dirty="0">
              <a:solidFill>
                <a:srgbClr val="FFFFFF"/>
              </a:solidFill>
              <a:latin typeface="微软雅黑" panose="020B0503020204020204" pitchFamily="34" charset="-122"/>
              <a:ea typeface="微软雅黑" panose="020B0503020204020204" pitchFamily="34" charset="-122"/>
              <a:cs typeface="+mn-cs"/>
            </a:rPr>
            <a:t>定标</a:t>
          </a:r>
          <a:endParaRPr lang="en-GB" sz="1200" b="1" dirty="0">
            <a:solidFill>
              <a:srgbClr val="FFFFFF"/>
            </a:solidFill>
            <a:latin typeface="微软雅黑" panose="020B0503020204020204" pitchFamily="34" charset="-122"/>
            <a:ea typeface="微软雅黑" panose="020B0503020204020204" pitchFamily="34" charset="-122"/>
            <a:cs typeface="+mn-cs"/>
          </a:endParaRPr>
        </a:p>
      </dgm:t>
    </dgm:pt>
    <dgm:pt modelId="{2513527D-4F06-42A5-B294-1455CD1B4DA7}" type="parTrans" cxnId="{E9F9F06E-11E1-4F3A-A411-352A90646746}">
      <dgm:prSet/>
      <dgm:spPr/>
      <dgm:t>
        <a:bodyPr/>
        <a:lstStyle/>
        <a:p>
          <a:endParaRPr lang="en-GB" sz="1200" b="1">
            <a:latin typeface="微软雅黑" panose="020B0503020204020204" pitchFamily="34" charset="-122"/>
            <a:ea typeface="微软雅黑" panose="020B0503020204020204" pitchFamily="34" charset="-122"/>
          </a:endParaRPr>
        </a:p>
      </dgm:t>
    </dgm:pt>
    <dgm:pt modelId="{F82A313D-90C3-4E9E-9667-FA58163BCE3E}" type="sibTrans" cxnId="{E9F9F06E-11E1-4F3A-A411-352A90646746}">
      <dgm:prSet/>
      <dgm:spPr/>
      <dgm:t>
        <a:bodyPr/>
        <a:lstStyle/>
        <a:p>
          <a:endParaRPr lang="en-GB" sz="1200" b="1">
            <a:latin typeface="微软雅黑" panose="020B0503020204020204" pitchFamily="34" charset="-122"/>
            <a:ea typeface="微软雅黑" panose="020B0503020204020204" pitchFamily="34" charset="-122"/>
          </a:endParaRPr>
        </a:p>
      </dgm:t>
    </dgm:pt>
    <dgm:pt modelId="{5DE5A541-8FE5-4A53-89D6-129E44F80E8E}">
      <dgm:prSet phldrT="[Text]" custT="1"/>
      <dgm:spPr>
        <a:xfrm>
          <a:off x="5844806" y="0"/>
          <a:ext cx="2032198" cy="519652"/>
        </a:xfrm>
        <a:prstGeom prst="chevron">
          <a:avLst/>
        </a:prstGeom>
        <a:solidFill>
          <a:srgbClr val="AAD5F7">
            <a:lumMod val="25000"/>
          </a:srgbClr>
        </a:solidFill>
        <a:ln w="28575" cap="flat" cmpd="sng" algn="ctr">
          <a:solidFill>
            <a:srgbClr val="FFFFFF"/>
          </a:solidFill>
          <a:prstDash val="solid"/>
        </a:ln>
        <a:effectLst/>
      </dgm:spPr>
      <dgm:t>
        <a:bodyPr lIns="0"/>
        <a:lstStyle/>
        <a:p>
          <a:pPr>
            <a:buNone/>
          </a:pPr>
          <a:r>
            <a:rPr lang="zh-CN" altLang="en-US" sz="1200" b="1" dirty="0">
              <a:solidFill>
                <a:srgbClr val="FFFFFF"/>
              </a:solidFill>
              <a:latin typeface="微软雅黑" panose="020B0503020204020204" pitchFamily="34" charset="-122"/>
              <a:ea typeface="微软雅黑" panose="020B0503020204020204" pitchFamily="34" charset="-122"/>
              <a:cs typeface="+mn-cs"/>
            </a:rPr>
            <a:t>范围</a:t>
          </a:r>
          <a:endParaRPr lang="en-GB" sz="1200" b="1" dirty="0">
            <a:solidFill>
              <a:srgbClr val="FFFFFF"/>
            </a:solidFill>
            <a:latin typeface="微软雅黑" panose="020B0503020204020204" pitchFamily="34" charset="-122"/>
            <a:ea typeface="微软雅黑" panose="020B0503020204020204" pitchFamily="34" charset="-122"/>
            <a:cs typeface="+mn-cs"/>
          </a:endParaRPr>
        </a:p>
      </dgm:t>
    </dgm:pt>
    <dgm:pt modelId="{A5E5549B-CFCB-4F5B-93A1-444A7722258E}" type="parTrans" cxnId="{0A75AE67-DCDA-4320-8E2E-10AB555BF98A}">
      <dgm:prSet/>
      <dgm:spPr/>
      <dgm:t>
        <a:bodyPr/>
        <a:lstStyle/>
        <a:p>
          <a:endParaRPr lang="zh-CN" altLang="en-US"/>
        </a:p>
      </dgm:t>
    </dgm:pt>
    <dgm:pt modelId="{898EA578-1A80-4BE9-93FA-D41DFE08BEC7}" type="sibTrans" cxnId="{0A75AE67-DCDA-4320-8E2E-10AB555BF98A}">
      <dgm:prSet/>
      <dgm:spPr/>
      <dgm:t>
        <a:bodyPr/>
        <a:lstStyle/>
        <a:p>
          <a:endParaRPr lang="zh-CN" altLang="en-US"/>
        </a:p>
      </dgm:t>
    </dgm:pt>
    <dgm:pt modelId="{42E0467C-BBE9-495D-B4BC-962BFF4C75B5}">
      <dgm:prSet phldrT="[Text]" custT="1"/>
      <dgm:spPr>
        <a:xfrm>
          <a:off x="7470565" y="0"/>
          <a:ext cx="2032198" cy="519652"/>
        </a:xfrm>
        <a:prstGeom prst="chevron">
          <a:avLst/>
        </a:prstGeom>
        <a:solidFill>
          <a:srgbClr val="AAD5F7">
            <a:lumMod val="25000"/>
          </a:srgbClr>
        </a:solidFill>
        <a:ln w="28575" cap="flat" cmpd="sng" algn="ctr">
          <a:solidFill>
            <a:srgbClr val="FFFFFF"/>
          </a:solidFill>
          <a:prstDash val="solid"/>
        </a:ln>
        <a:effectLst/>
      </dgm:spPr>
      <dgm:t>
        <a:bodyPr lIns="0"/>
        <a:lstStyle/>
        <a:p>
          <a:pPr>
            <a:buNone/>
          </a:pPr>
          <a:r>
            <a:rPr lang="zh-CN" altLang="en-US" sz="1200" b="1" dirty="0">
              <a:solidFill>
                <a:srgbClr val="FFFFFF"/>
              </a:solidFill>
              <a:latin typeface="微软雅黑" panose="020B0503020204020204" pitchFamily="34" charset="-122"/>
              <a:ea typeface="微软雅黑" panose="020B0503020204020204" pitchFamily="34" charset="-122"/>
              <a:cs typeface="+mn-cs"/>
            </a:rPr>
            <a:t>评估</a:t>
          </a:r>
          <a:endParaRPr lang="en-GB" sz="1200" b="1" dirty="0">
            <a:solidFill>
              <a:srgbClr val="FFFFFF"/>
            </a:solidFill>
            <a:latin typeface="微软雅黑" panose="020B0503020204020204" pitchFamily="34" charset="-122"/>
            <a:ea typeface="微软雅黑" panose="020B0503020204020204" pitchFamily="34" charset="-122"/>
            <a:cs typeface="+mn-cs"/>
          </a:endParaRPr>
        </a:p>
      </dgm:t>
    </dgm:pt>
    <dgm:pt modelId="{3A36FA7C-2009-42A1-8C99-0C19D59B912B}" type="parTrans" cxnId="{4FDD8D4A-BA21-4C17-8C76-8B1B02A87296}">
      <dgm:prSet/>
      <dgm:spPr/>
      <dgm:t>
        <a:bodyPr/>
        <a:lstStyle/>
        <a:p>
          <a:endParaRPr lang="zh-CN" altLang="en-US"/>
        </a:p>
      </dgm:t>
    </dgm:pt>
    <dgm:pt modelId="{D77B0C67-EEDB-4C73-B446-A4954ACCFB4A}" type="sibTrans" cxnId="{4FDD8D4A-BA21-4C17-8C76-8B1B02A87296}">
      <dgm:prSet/>
      <dgm:spPr/>
      <dgm:t>
        <a:bodyPr/>
        <a:lstStyle/>
        <a:p>
          <a:endParaRPr lang="zh-CN" altLang="en-US"/>
        </a:p>
      </dgm:t>
    </dgm:pt>
    <dgm:pt modelId="{CE7C4621-AC69-477A-A5A2-6D8278FFF312}">
      <dgm:prSet phldrT="[Text]" custT="1"/>
      <dgm:spPr>
        <a:xfrm>
          <a:off x="9096323" y="0"/>
          <a:ext cx="1713366" cy="519652"/>
        </a:xfrm>
        <a:prstGeom prst="chevron">
          <a:avLst/>
        </a:prstGeom>
        <a:solidFill>
          <a:srgbClr val="AAD5F7">
            <a:lumMod val="25000"/>
          </a:srgbClr>
        </a:solidFill>
        <a:ln w="28575" cap="flat" cmpd="sng" algn="ctr">
          <a:solidFill>
            <a:srgbClr val="FFFFFF"/>
          </a:solidFill>
          <a:prstDash val="solid"/>
        </a:ln>
        <a:effectLst/>
      </dgm:spPr>
      <dgm:t>
        <a:bodyPr lIns="0"/>
        <a:lstStyle/>
        <a:p>
          <a:pPr>
            <a:buNone/>
          </a:pPr>
          <a:r>
            <a:rPr lang="zh-CN" altLang="en-US" sz="1200" b="1" dirty="0">
              <a:solidFill>
                <a:srgbClr val="FFFFFF"/>
              </a:solidFill>
              <a:latin typeface="微软雅黑" panose="020B0503020204020204" pitchFamily="34" charset="-122"/>
              <a:ea typeface="微软雅黑" panose="020B0503020204020204" pitchFamily="34" charset="-122"/>
              <a:cs typeface="+mn-cs"/>
            </a:rPr>
            <a:t>执行</a:t>
          </a:r>
          <a:endParaRPr lang="en-GB" sz="1200" b="1" dirty="0">
            <a:solidFill>
              <a:srgbClr val="FFFFFF"/>
            </a:solidFill>
            <a:latin typeface="微软雅黑" panose="020B0503020204020204" pitchFamily="34" charset="-122"/>
            <a:ea typeface="微软雅黑" panose="020B0503020204020204" pitchFamily="34" charset="-122"/>
            <a:cs typeface="+mn-cs"/>
          </a:endParaRPr>
        </a:p>
      </dgm:t>
    </dgm:pt>
    <dgm:pt modelId="{19A507B0-F5AB-43CB-9736-13A1FC3168DB}" type="parTrans" cxnId="{FC886401-FC1F-4E00-A458-00F94E7A5667}">
      <dgm:prSet/>
      <dgm:spPr/>
      <dgm:t>
        <a:bodyPr/>
        <a:lstStyle/>
        <a:p>
          <a:endParaRPr lang="zh-CN" altLang="en-US"/>
        </a:p>
      </dgm:t>
    </dgm:pt>
    <dgm:pt modelId="{817FCCD3-37B5-4E10-8AB5-666DBEC0AC0C}" type="sibTrans" cxnId="{FC886401-FC1F-4E00-A458-00F94E7A5667}">
      <dgm:prSet/>
      <dgm:spPr/>
      <dgm:t>
        <a:bodyPr/>
        <a:lstStyle/>
        <a:p>
          <a:endParaRPr lang="zh-CN" altLang="en-US"/>
        </a:p>
      </dgm:t>
    </dgm:pt>
    <dgm:pt modelId="{E2E7BC52-F3AC-44BA-AB78-A79629191511}" type="pres">
      <dgm:prSet presAssocID="{0C934EC4-B7CC-4FFE-8BC7-47DAE6154874}" presName="Name0" presStyleCnt="0">
        <dgm:presLayoutVars>
          <dgm:dir/>
          <dgm:resizeHandles val="exact"/>
        </dgm:presLayoutVars>
      </dgm:prSet>
      <dgm:spPr/>
    </dgm:pt>
    <dgm:pt modelId="{EBB09CD0-E260-4FD0-BA2C-E64A3B304333}" type="pres">
      <dgm:prSet presAssocID="{9B9D0B1C-B27F-4732-862F-C81DEAF937EE}" presName="parTxOnly" presStyleLbl="node1" presStyleIdx="0" presStyleCnt="7" custScaleX="88441" custLinFactX="-11316" custLinFactY="118729" custLinFactNeighborX="-100000" custLinFactNeighborY="200000">
        <dgm:presLayoutVars>
          <dgm:bulletEnabled val="1"/>
        </dgm:presLayoutVars>
      </dgm:prSet>
      <dgm:spPr/>
    </dgm:pt>
    <dgm:pt modelId="{094CE220-4F4C-4121-A69F-6DFF4CC0B7AA}" type="pres">
      <dgm:prSet presAssocID="{1C07DF7B-88A0-451A-B750-84921C0DC61A}" presName="parSpace" presStyleCnt="0"/>
      <dgm:spPr/>
    </dgm:pt>
    <dgm:pt modelId="{03DE3DCC-68A4-43DE-9E32-3EE47794E04E}" type="pres">
      <dgm:prSet presAssocID="{9C9756D2-ED34-4530-9614-312DC470757B}" presName="parTxOnly" presStyleLbl="node1" presStyleIdx="1" presStyleCnt="7" custScaleX="96452">
        <dgm:presLayoutVars>
          <dgm:bulletEnabled val="1"/>
        </dgm:presLayoutVars>
      </dgm:prSet>
      <dgm:spPr/>
    </dgm:pt>
    <dgm:pt modelId="{B8BE7EE5-F4AD-410E-AF64-923B86EC0CA4}" type="pres">
      <dgm:prSet presAssocID="{9AC0D736-E4FA-4781-ABB4-6B3A168DF34A}" presName="parSpace" presStyleCnt="0"/>
      <dgm:spPr/>
    </dgm:pt>
    <dgm:pt modelId="{65D2F7CC-9E45-491F-BF4B-010E7B3F6BCD}" type="pres">
      <dgm:prSet presAssocID="{7B45455B-2FAD-42D2-B6E4-FF6D30D530C9}" presName="parTxOnly" presStyleLbl="node1" presStyleIdx="2" presStyleCnt="7" custScaleX="92466">
        <dgm:presLayoutVars>
          <dgm:bulletEnabled val="1"/>
        </dgm:presLayoutVars>
      </dgm:prSet>
      <dgm:spPr/>
    </dgm:pt>
    <dgm:pt modelId="{4E7596C1-BB5B-45E1-A31A-8B840AD46EF5}" type="pres">
      <dgm:prSet presAssocID="{3AFB6759-B87F-4930-A9AD-9650F1CC47B1}" presName="parSpace" presStyleCnt="0"/>
      <dgm:spPr/>
    </dgm:pt>
    <dgm:pt modelId="{AFE0ED97-6AFB-48B7-8CFA-5E1E6C928F56}" type="pres">
      <dgm:prSet presAssocID="{044DA43B-F5E6-4A1B-958F-67B47CCC359C}" presName="parTxOnly" presStyleLbl="node1" presStyleIdx="3" presStyleCnt="7" custScaleX="90224">
        <dgm:presLayoutVars>
          <dgm:bulletEnabled val="1"/>
        </dgm:presLayoutVars>
      </dgm:prSet>
      <dgm:spPr/>
    </dgm:pt>
    <dgm:pt modelId="{54C318C7-F29D-497B-B3AB-A48C0B8E251B}" type="pres">
      <dgm:prSet presAssocID="{F82A313D-90C3-4E9E-9667-FA58163BCE3E}" presName="parSpace" presStyleCnt="0"/>
      <dgm:spPr/>
    </dgm:pt>
    <dgm:pt modelId="{AD9A07C1-3D16-4C9E-8B10-158D4A9C0BC8}" type="pres">
      <dgm:prSet presAssocID="{5DE5A541-8FE5-4A53-89D6-129E44F80E8E}" presName="parTxOnly" presStyleLbl="node1" presStyleIdx="4" presStyleCnt="7">
        <dgm:presLayoutVars>
          <dgm:bulletEnabled val="1"/>
        </dgm:presLayoutVars>
      </dgm:prSet>
      <dgm:spPr/>
    </dgm:pt>
    <dgm:pt modelId="{79E913B8-A904-49C5-ACC7-CF3B64B5798A}" type="pres">
      <dgm:prSet presAssocID="{898EA578-1A80-4BE9-93FA-D41DFE08BEC7}" presName="parSpace" presStyleCnt="0"/>
      <dgm:spPr/>
    </dgm:pt>
    <dgm:pt modelId="{F0844A82-E5FF-4FFA-A63A-109971B7BED8}" type="pres">
      <dgm:prSet presAssocID="{42E0467C-BBE9-495D-B4BC-962BFF4C75B5}" presName="parTxOnly" presStyleLbl="node1" presStyleIdx="5" presStyleCnt="7">
        <dgm:presLayoutVars>
          <dgm:bulletEnabled val="1"/>
        </dgm:presLayoutVars>
      </dgm:prSet>
      <dgm:spPr/>
    </dgm:pt>
    <dgm:pt modelId="{0FF611F5-7181-41C5-98DB-D97BA3681272}" type="pres">
      <dgm:prSet presAssocID="{D77B0C67-EEDB-4C73-B446-A4954ACCFB4A}" presName="parSpace" presStyleCnt="0"/>
      <dgm:spPr/>
    </dgm:pt>
    <dgm:pt modelId="{3CAE0648-D3B7-448D-A0B4-ACAF68BE9844}" type="pres">
      <dgm:prSet presAssocID="{CE7C4621-AC69-477A-A5A2-6D8278FFF312}" presName="parTxOnly" presStyleLbl="node1" presStyleIdx="6" presStyleCnt="7" custScaleX="84311">
        <dgm:presLayoutVars>
          <dgm:bulletEnabled val="1"/>
        </dgm:presLayoutVars>
      </dgm:prSet>
      <dgm:spPr/>
    </dgm:pt>
  </dgm:ptLst>
  <dgm:cxnLst>
    <dgm:cxn modelId="{FC886401-FC1F-4E00-A458-00F94E7A5667}" srcId="{0C934EC4-B7CC-4FFE-8BC7-47DAE6154874}" destId="{CE7C4621-AC69-477A-A5A2-6D8278FFF312}" srcOrd="6" destOrd="0" parTransId="{19A507B0-F5AB-43CB-9736-13A1FC3168DB}" sibTransId="{817FCCD3-37B5-4E10-8AB5-666DBEC0AC0C}"/>
    <dgm:cxn modelId="{55DB0304-0CC0-4070-99B8-ACF4208EB215}" type="presOf" srcId="{7B45455B-2FAD-42D2-B6E4-FF6D30D530C9}" destId="{65D2F7CC-9E45-491F-BF4B-010E7B3F6BCD}" srcOrd="0" destOrd="0" presId="urn:microsoft.com/office/officeart/2005/8/layout/hChevron3"/>
    <dgm:cxn modelId="{2D807C16-CBE9-456E-A3AD-0EE48D4A1547}" type="presOf" srcId="{9C9756D2-ED34-4530-9614-312DC470757B}" destId="{03DE3DCC-68A4-43DE-9E32-3EE47794E04E}" srcOrd="0" destOrd="0" presId="urn:microsoft.com/office/officeart/2005/8/layout/hChevron3"/>
    <dgm:cxn modelId="{C223F441-469F-4E36-AFC9-5093877B1D24}" srcId="{0C934EC4-B7CC-4FFE-8BC7-47DAE6154874}" destId="{7B45455B-2FAD-42D2-B6E4-FF6D30D530C9}" srcOrd="2" destOrd="0" parTransId="{EB67A209-51E5-44FB-B6CD-8FEDFBA9B54E}" sibTransId="{3AFB6759-B87F-4930-A9AD-9650F1CC47B1}"/>
    <dgm:cxn modelId="{0A75AE67-DCDA-4320-8E2E-10AB555BF98A}" srcId="{0C934EC4-B7CC-4FFE-8BC7-47DAE6154874}" destId="{5DE5A541-8FE5-4A53-89D6-129E44F80E8E}" srcOrd="4" destOrd="0" parTransId="{A5E5549B-CFCB-4F5B-93A1-444A7722258E}" sibTransId="{898EA578-1A80-4BE9-93FA-D41DFE08BEC7}"/>
    <dgm:cxn modelId="{4FDD8D4A-BA21-4C17-8C76-8B1B02A87296}" srcId="{0C934EC4-B7CC-4FFE-8BC7-47DAE6154874}" destId="{42E0467C-BBE9-495D-B4BC-962BFF4C75B5}" srcOrd="5" destOrd="0" parTransId="{3A36FA7C-2009-42A1-8C99-0C19D59B912B}" sibTransId="{D77B0C67-EEDB-4C73-B446-A4954ACCFB4A}"/>
    <dgm:cxn modelId="{5FF2BD4D-4E10-4BB0-A65F-86030C03315D}" type="presOf" srcId="{044DA43B-F5E6-4A1B-958F-67B47CCC359C}" destId="{AFE0ED97-6AFB-48B7-8CFA-5E1E6C928F56}" srcOrd="0" destOrd="0" presId="urn:microsoft.com/office/officeart/2005/8/layout/hChevron3"/>
    <dgm:cxn modelId="{E9F9F06E-11E1-4F3A-A411-352A90646746}" srcId="{0C934EC4-B7CC-4FFE-8BC7-47DAE6154874}" destId="{044DA43B-F5E6-4A1B-958F-67B47CCC359C}" srcOrd="3" destOrd="0" parTransId="{2513527D-4F06-42A5-B294-1455CD1B4DA7}" sibTransId="{F82A313D-90C3-4E9E-9667-FA58163BCE3E}"/>
    <dgm:cxn modelId="{698E4770-0DCE-4A58-A0DE-7E969115EC98}" srcId="{0C934EC4-B7CC-4FFE-8BC7-47DAE6154874}" destId="{9C9756D2-ED34-4530-9614-312DC470757B}" srcOrd="1" destOrd="0" parTransId="{93DC3480-0387-4C70-814A-1742EE6E8ED3}" sibTransId="{9AC0D736-E4FA-4781-ABB4-6B3A168DF34A}"/>
    <dgm:cxn modelId="{D2AAF48A-476B-4018-AEFC-8F739B34AF3E}" type="presOf" srcId="{0C934EC4-B7CC-4FFE-8BC7-47DAE6154874}" destId="{E2E7BC52-F3AC-44BA-AB78-A79629191511}" srcOrd="0" destOrd="0" presId="urn:microsoft.com/office/officeart/2005/8/layout/hChevron3"/>
    <dgm:cxn modelId="{65405090-D1CE-454C-ACAE-097915B7FAF2}" type="presOf" srcId="{5DE5A541-8FE5-4A53-89D6-129E44F80E8E}" destId="{AD9A07C1-3D16-4C9E-8B10-158D4A9C0BC8}" srcOrd="0" destOrd="0" presId="urn:microsoft.com/office/officeart/2005/8/layout/hChevron3"/>
    <dgm:cxn modelId="{A42254A8-D061-4589-8BCD-B3C6326C33CA}" type="presOf" srcId="{42E0467C-BBE9-495D-B4BC-962BFF4C75B5}" destId="{F0844A82-E5FF-4FFA-A63A-109971B7BED8}" srcOrd="0" destOrd="0" presId="urn:microsoft.com/office/officeart/2005/8/layout/hChevron3"/>
    <dgm:cxn modelId="{541F93B5-8A3E-4C50-AF37-4850343A657A}" type="presOf" srcId="{9B9D0B1C-B27F-4732-862F-C81DEAF937EE}" destId="{EBB09CD0-E260-4FD0-BA2C-E64A3B304333}" srcOrd="0" destOrd="0" presId="urn:microsoft.com/office/officeart/2005/8/layout/hChevron3"/>
    <dgm:cxn modelId="{90E881D5-A878-4233-BBEC-FC37A5E75D6D}" srcId="{0C934EC4-B7CC-4FFE-8BC7-47DAE6154874}" destId="{9B9D0B1C-B27F-4732-862F-C81DEAF937EE}" srcOrd="0" destOrd="0" parTransId="{C073A417-D883-4F58-848E-546FABBE0D8A}" sibTransId="{1C07DF7B-88A0-451A-B750-84921C0DC61A}"/>
    <dgm:cxn modelId="{A95B5FE5-BEBD-4410-9323-32EE664AAB4C}" type="presOf" srcId="{CE7C4621-AC69-477A-A5A2-6D8278FFF312}" destId="{3CAE0648-D3B7-448D-A0B4-ACAF68BE9844}" srcOrd="0" destOrd="0" presId="urn:microsoft.com/office/officeart/2005/8/layout/hChevron3"/>
    <dgm:cxn modelId="{1FEFAB0A-4C66-4074-9E0D-3145ABFDCE6B}" type="presParOf" srcId="{E2E7BC52-F3AC-44BA-AB78-A79629191511}" destId="{EBB09CD0-E260-4FD0-BA2C-E64A3B304333}" srcOrd="0" destOrd="0" presId="urn:microsoft.com/office/officeart/2005/8/layout/hChevron3"/>
    <dgm:cxn modelId="{9E9320BE-9D81-4513-BD88-0B5191C62622}" type="presParOf" srcId="{E2E7BC52-F3AC-44BA-AB78-A79629191511}" destId="{094CE220-4F4C-4121-A69F-6DFF4CC0B7AA}" srcOrd="1" destOrd="0" presId="urn:microsoft.com/office/officeart/2005/8/layout/hChevron3"/>
    <dgm:cxn modelId="{D1A93BE1-2F9F-4942-98BC-1AE86450A339}" type="presParOf" srcId="{E2E7BC52-F3AC-44BA-AB78-A79629191511}" destId="{03DE3DCC-68A4-43DE-9E32-3EE47794E04E}" srcOrd="2" destOrd="0" presId="urn:microsoft.com/office/officeart/2005/8/layout/hChevron3"/>
    <dgm:cxn modelId="{A01AB104-DD4E-46D6-9AF7-69A3832053E4}" type="presParOf" srcId="{E2E7BC52-F3AC-44BA-AB78-A79629191511}" destId="{B8BE7EE5-F4AD-410E-AF64-923B86EC0CA4}" srcOrd="3" destOrd="0" presId="urn:microsoft.com/office/officeart/2005/8/layout/hChevron3"/>
    <dgm:cxn modelId="{4CBA392E-6088-4855-8E61-1D305C8EC98D}" type="presParOf" srcId="{E2E7BC52-F3AC-44BA-AB78-A79629191511}" destId="{65D2F7CC-9E45-491F-BF4B-010E7B3F6BCD}" srcOrd="4" destOrd="0" presId="urn:microsoft.com/office/officeart/2005/8/layout/hChevron3"/>
    <dgm:cxn modelId="{86B4BCFF-A54E-458C-BC01-222CC9CAEBD1}" type="presParOf" srcId="{E2E7BC52-F3AC-44BA-AB78-A79629191511}" destId="{4E7596C1-BB5B-45E1-A31A-8B840AD46EF5}" srcOrd="5" destOrd="0" presId="urn:microsoft.com/office/officeart/2005/8/layout/hChevron3"/>
    <dgm:cxn modelId="{9D6CD721-F38F-46BF-8640-94D26D81DAE5}" type="presParOf" srcId="{E2E7BC52-F3AC-44BA-AB78-A79629191511}" destId="{AFE0ED97-6AFB-48B7-8CFA-5E1E6C928F56}" srcOrd="6" destOrd="0" presId="urn:microsoft.com/office/officeart/2005/8/layout/hChevron3"/>
    <dgm:cxn modelId="{A00CA86E-6C44-4351-9462-DEB62D56A0C6}" type="presParOf" srcId="{E2E7BC52-F3AC-44BA-AB78-A79629191511}" destId="{54C318C7-F29D-497B-B3AB-A48C0B8E251B}" srcOrd="7" destOrd="0" presId="urn:microsoft.com/office/officeart/2005/8/layout/hChevron3"/>
    <dgm:cxn modelId="{66E55F4D-47BB-465B-86B3-2A702394E092}" type="presParOf" srcId="{E2E7BC52-F3AC-44BA-AB78-A79629191511}" destId="{AD9A07C1-3D16-4C9E-8B10-158D4A9C0BC8}" srcOrd="8" destOrd="0" presId="urn:microsoft.com/office/officeart/2005/8/layout/hChevron3"/>
    <dgm:cxn modelId="{D8A0D3A2-C3DD-448F-9512-09327A68940E}" type="presParOf" srcId="{E2E7BC52-F3AC-44BA-AB78-A79629191511}" destId="{79E913B8-A904-49C5-ACC7-CF3B64B5798A}" srcOrd="9" destOrd="0" presId="urn:microsoft.com/office/officeart/2005/8/layout/hChevron3"/>
    <dgm:cxn modelId="{144C7616-98E6-406B-A6D8-51D4AA2CEA9D}" type="presParOf" srcId="{E2E7BC52-F3AC-44BA-AB78-A79629191511}" destId="{F0844A82-E5FF-4FFA-A63A-109971B7BED8}" srcOrd="10" destOrd="0" presId="urn:microsoft.com/office/officeart/2005/8/layout/hChevron3"/>
    <dgm:cxn modelId="{90187196-5EF8-4892-A1AC-ABA2E88714C4}" type="presParOf" srcId="{E2E7BC52-F3AC-44BA-AB78-A79629191511}" destId="{0FF611F5-7181-41C5-98DB-D97BA3681272}" srcOrd="11" destOrd="0" presId="urn:microsoft.com/office/officeart/2005/8/layout/hChevron3"/>
    <dgm:cxn modelId="{8E279533-081D-48E3-9A73-300786960DCC}" type="presParOf" srcId="{E2E7BC52-F3AC-44BA-AB78-A79629191511}" destId="{3CAE0648-D3B7-448D-A0B4-ACAF68BE9844}" srcOrd="12" destOrd="0" presId="urn:microsoft.com/office/officeart/2005/8/layout/hChevron3"/>
  </dgm:cxnLst>
  <dgm:bg/>
  <dgm:whole>
    <a:ln w="57150">
      <a:solidFill>
        <a:schemeClr val="bg1"/>
      </a:solidFill>
    </a:ln>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CDE1C0-23C8-4DE8-828E-997F1F8DEC3F}" type="doc">
      <dgm:prSet loTypeId="urn:microsoft.com/office/officeart/2005/8/layout/process2" loCatId="process" qsTypeId="urn:microsoft.com/office/officeart/2005/8/quickstyle/simple5#1" qsCatId="simple" csTypeId="urn:microsoft.com/office/officeart/2005/8/colors/accent2_2#1" csCatId="accent2" phldr="1"/>
      <dgm:spPr/>
    </dgm:pt>
    <dgm:pt modelId="{3C7457DA-7AA8-402F-8FCA-67CB13449A28}">
      <dgm:prSet phldrT="[文本]" custT="1"/>
      <dgm:spPr>
        <a:xfrm>
          <a:off x="95291" y="334"/>
          <a:ext cx="1969657" cy="1094254"/>
        </a:xfrm>
        <a:prstGeom prst="roundRect">
          <a:avLst>
            <a:gd name="adj" fmla="val 10000"/>
          </a:avLst>
        </a:prstGeom>
        <a:gradFill rotWithShape="0">
          <a:gsLst>
            <a:gs pos="0">
              <a:srgbClr val="333399">
                <a:hueOff val="0"/>
                <a:satOff val="0"/>
                <a:lumOff val="0"/>
                <a:alphaOff val="0"/>
                <a:shade val="51000"/>
                <a:satMod val="130000"/>
              </a:srgbClr>
            </a:gs>
            <a:gs pos="80000">
              <a:srgbClr val="333399">
                <a:hueOff val="0"/>
                <a:satOff val="0"/>
                <a:lumOff val="0"/>
                <a:alphaOff val="0"/>
                <a:shade val="93000"/>
                <a:satMod val="130000"/>
              </a:srgbClr>
            </a:gs>
            <a:gs pos="100000">
              <a:srgbClr val="33339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zh-CN" altLang="en-US" sz="1600" b="1" dirty="0">
              <a:solidFill>
                <a:srgbClr val="FFFFFF"/>
              </a:solidFill>
              <a:latin typeface="微软雅黑" panose="020B0503020204020204" pitchFamily="34" charset="-122"/>
              <a:ea typeface="微软雅黑" panose="020B0503020204020204" pitchFamily="34" charset="-122"/>
              <a:cs typeface="+mn-cs"/>
            </a:rPr>
            <a:t>种类不全，维度交叉，口径不清</a:t>
          </a:r>
        </a:p>
      </dgm:t>
    </dgm:pt>
    <dgm:pt modelId="{5FE3059E-FFF8-4186-B691-A8531AA4ED23}" type="parTrans" cxnId="{58F7AB4F-E789-4503-B282-938E708AECF2}">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6343CD4F-398E-46D9-8CB4-EF3B2F04312B}" type="sibTrans" cxnId="{58F7AB4F-E789-4503-B282-938E708AECF2}">
      <dgm:prSet custT="1"/>
      <dgm:spPr>
        <a:xfrm rot="5400000">
          <a:off x="874947" y="1121944"/>
          <a:ext cx="410345" cy="492414"/>
        </a:xfrm>
        <a:prstGeom prst="rightArrow">
          <a:avLst>
            <a:gd name="adj1" fmla="val 60000"/>
            <a:gd name="adj2" fmla="val 50000"/>
          </a:avLst>
        </a:prstGeom>
        <a:gradFill rotWithShape="0">
          <a:gsLst>
            <a:gs pos="0">
              <a:srgbClr val="333399">
                <a:tint val="60000"/>
                <a:hueOff val="0"/>
                <a:satOff val="0"/>
                <a:lumOff val="0"/>
                <a:alphaOff val="0"/>
                <a:shade val="51000"/>
                <a:satMod val="130000"/>
              </a:srgbClr>
            </a:gs>
            <a:gs pos="80000">
              <a:srgbClr val="333399">
                <a:tint val="60000"/>
                <a:hueOff val="0"/>
                <a:satOff val="0"/>
                <a:lumOff val="0"/>
                <a:alphaOff val="0"/>
                <a:shade val="93000"/>
                <a:satMod val="130000"/>
              </a:srgbClr>
            </a:gs>
            <a:gs pos="100000">
              <a:srgbClr val="333399">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endParaRPr lang="zh-CN" altLang="en-US" sz="1600" b="1">
            <a:solidFill>
              <a:srgbClr val="FFFFFF"/>
            </a:solidFill>
            <a:latin typeface="微软雅黑" panose="020B0503020204020204" pitchFamily="34" charset="-122"/>
            <a:ea typeface="微软雅黑" panose="020B0503020204020204" pitchFamily="34" charset="-122"/>
            <a:cs typeface="+mn-cs"/>
          </a:endParaRPr>
        </a:p>
      </dgm:t>
    </dgm:pt>
    <dgm:pt modelId="{7230C7C6-35FC-4F61-B388-A0B8E52C304C}">
      <dgm:prSet phldrT="[文本]" custT="1"/>
      <dgm:spPr>
        <a:xfrm>
          <a:off x="95291" y="1641715"/>
          <a:ext cx="1969657" cy="1094254"/>
        </a:xfrm>
        <a:prstGeom prst="roundRect">
          <a:avLst>
            <a:gd name="adj" fmla="val 10000"/>
          </a:avLst>
        </a:prstGeom>
        <a:gradFill rotWithShape="0">
          <a:gsLst>
            <a:gs pos="0">
              <a:srgbClr val="333399">
                <a:hueOff val="0"/>
                <a:satOff val="0"/>
                <a:lumOff val="0"/>
                <a:alphaOff val="0"/>
                <a:shade val="51000"/>
                <a:satMod val="130000"/>
              </a:srgbClr>
            </a:gs>
            <a:gs pos="80000">
              <a:srgbClr val="333399">
                <a:hueOff val="0"/>
                <a:satOff val="0"/>
                <a:lumOff val="0"/>
                <a:alphaOff val="0"/>
                <a:shade val="93000"/>
                <a:satMod val="130000"/>
              </a:srgbClr>
            </a:gs>
            <a:gs pos="100000">
              <a:srgbClr val="33339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zh-CN" altLang="en-US" sz="1600" b="1" dirty="0">
              <a:solidFill>
                <a:srgbClr val="FFFFFF"/>
              </a:solidFill>
              <a:latin typeface="微软雅黑" panose="020B0503020204020204" pitchFamily="34" charset="-122"/>
              <a:ea typeface="微软雅黑" panose="020B0503020204020204" pitchFamily="34" charset="-122"/>
              <a:cs typeface="+mn-cs"/>
            </a:rPr>
            <a:t>通过数据标准规范分类及口径</a:t>
          </a:r>
        </a:p>
      </dgm:t>
    </dgm:pt>
    <dgm:pt modelId="{0B172753-259B-4576-B471-3A7E6DD021E7}" type="parTrans" cxnId="{7C3AF55E-E9A0-4B5D-9643-DF3524A5CC15}">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F559F70F-FF0F-4AB4-905A-B16C9B7CFAC5}" type="sibTrans" cxnId="{7C3AF55E-E9A0-4B5D-9643-DF3524A5CC15}">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A7C8E796-383C-4862-BCC0-230EB4E155D5}" type="pres">
      <dgm:prSet presAssocID="{3ECDE1C0-23C8-4DE8-828E-997F1F8DEC3F}" presName="linearFlow" presStyleCnt="0">
        <dgm:presLayoutVars>
          <dgm:resizeHandles val="exact"/>
        </dgm:presLayoutVars>
      </dgm:prSet>
      <dgm:spPr/>
    </dgm:pt>
    <dgm:pt modelId="{675AE454-6672-41E9-A81F-43BFDD0D4731}" type="pres">
      <dgm:prSet presAssocID="{3C7457DA-7AA8-402F-8FCA-67CB13449A28}" presName="node" presStyleLbl="node1" presStyleIdx="0" presStyleCnt="2">
        <dgm:presLayoutVars>
          <dgm:bulletEnabled val="1"/>
        </dgm:presLayoutVars>
      </dgm:prSet>
      <dgm:spPr/>
    </dgm:pt>
    <dgm:pt modelId="{650C01A2-378F-431E-B378-C36EB2AB491E}" type="pres">
      <dgm:prSet presAssocID="{6343CD4F-398E-46D9-8CB4-EF3B2F04312B}" presName="sibTrans" presStyleLbl="sibTrans2D1" presStyleIdx="0" presStyleCnt="1"/>
      <dgm:spPr/>
    </dgm:pt>
    <dgm:pt modelId="{C62A27A5-888E-4FC5-B2F8-7FD48305637F}" type="pres">
      <dgm:prSet presAssocID="{6343CD4F-398E-46D9-8CB4-EF3B2F04312B}" presName="connectorText" presStyleLbl="sibTrans2D1" presStyleIdx="0" presStyleCnt="1"/>
      <dgm:spPr/>
    </dgm:pt>
    <dgm:pt modelId="{F7905523-D391-4D4E-8E83-891978C293C9}" type="pres">
      <dgm:prSet presAssocID="{7230C7C6-35FC-4F61-B388-A0B8E52C304C}" presName="node" presStyleLbl="node1" presStyleIdx="1" presStyleCnt="2">
        <dgm:presLayoutVars>
          <dgm:bulletEnabled val="1"/>
        </dgm:presLayoutVars>
      </dgm:prSet>
      <dgm:spPr/>
    </dgm:pt>
  </dgm:ptLst>
  <dgm:cxnLst>
    <dgm:cxn modelId="{48EC540D-C70D-4BEA-B16B-138B668D508F}" type="presOf" srcId="{3ECDE1C0-23C8-4DE8-828E-997F1F8DEC3F}" destId="{A7C8E796-383C-4862-BCC0-230EB4E155D5}" srcOrd="0" destOrd="0" presId="urn:microsoft.com/office/officeart/2005/8/layout/process2"/>
    <dgm:cxn modelId="{5AB80134-FA1D-40AD-91D1-D01556C3AF8F}" type="presOf" srcId="{6343CD4F-398E-46D9-8CB4-EF3B2F04312B}" destId="{C62A27A5-888E-4FC5-B2F8-7FD48305637F}" srcOrd="1" destOrd="0" presId="urn:microsoft.com/office/officeart/2005/8/layout/process2"/>
    <dgm:cxn modelId="{B5FEC95C-D0B2-47BD-8DC5-2B87C1BDCD5D}" type="presOf" srcId="{7230C7C6-35FC-4F61-B388-A0B8E52C304C}" destId="{F7905523-D391-4D4E-8E83-891978C293C9}" srcOrd="0" destOrd="0" presId="urn:microsoft.com/office/officeart/2005/8/layout/process2"/>
    <dgm:cxn modelId="{7C3AF55E-E9A0-4B5D-9643-DF3524A5CC15}" srcId="{3ECDE1C0-23C8-4DE8-828E-997F1F8DEC3F}" destId="{7230C7C6-35FC-4F61-B388-A0B8E52C304C}" srcOrd="1" destOrd="0" parTransId="{0B172753-259B-4576-B471-3A7E6DD021E7}" sibTransId="{F559F70F-FF0F-4AB4-905A-B16C9B7CFAC5}"/>
    <dgm:cxn modelId="{58F7AB4F-E789-4503-B282-938E708AECF2}" srcId="{3ECDE1C0-23C8-4DE8-828E-997F1F8DEC3F}" destId="{3C7457DA-7AA8-402F-8FCA-67CB13449A28}" srcOrd="0" destOrd="0" parTransId="{5FE3059E-FFF8-4186-B691-A8531AA4ED23}" sibTransId="{6343CD4F-398E-46D9-8CB4-EF3B2F04312B}"/>
    <dgm:cxn modelId="{2ECC2A8F-AA0D-4182-B451-A8665456D0D0}" type="presOf" srcId="{3C7457DA-7AA8-402F-8FCA-67CB13449A28}" destId="{675AE454-6672-41E9-A81F-43BFDD0D4731}" srcOrd="0" destOrd="0" presId="urn:microsoft.com/office/officeart/2005/8/layout/process2"/>
    <dgm:cxn modelId="{8B3C9DEE-9AB8-483A-9AF0-B7EA1ED56BF4}" type="presOf" srcId="{6343CD4F-398E-46D9-8CB4-EF3B2F04312B}" destId="{650C01A2-378F-431E-B378-C36EB2AB491E}" srcOrd="0" destOrd="0" presId="urn:microsoft.com/office/officeart/2005/8/layout/process2"/>
    <dgm:cxn modelId="{EFA552E6-312D-4A58-A6A0-7B386C62546E}" type="presParOf" srcId="{A7C8E796-383C-4862-BCC0-230EB4E155D5}" destId="{675AE454-6672-41E9-A81F-43BFDD0D4731}" srcOrd="0" destOrd="0" presId="urn:microsoft.com/office/officeart/2005/8/layout/process2"/>
    <dgm:cxn modelId="{4B7D97E6-A906-4671-B480-0FBAF4CFDDD0}" type="presParOf" srcId="{A7C8E796-383C-4862-BCC0-230EB4E155D5}" destId="{650C01A2-378F-431E-B378-C36EB2AB491E}" srcOrd="1" destOrd="0" presId="urn:microsoft.com/office/officeart/2005/8/layout/process2"/>
    <dgm:cxn modelId="{451087B7-EF8B-49FF-A6A6-3AAF429166F6}" type="presParOf" srcId="{650C01A2-378F-431E-B378-C36EB2AB491E}" destId="{C62A27A5-888E-4FC5-B2F8-7FD48305637F}" srcOrd="0" destOrd="0" presId="urn:microsoft.com/office/officeart/2005/8/layout/process2"/>
    <dgm:cxn modelId="{B9651FB1-042F-4F2E-8AF1-AEF5C653E404}" type="presParOf" srcId="{A7C8E796-383C-4862-BCC0-230EB4E155D5}" destId="{F7905523-D391-4D4E-8E83-891978C293C9}" srcOrd="2" destOrd="0" presId="urn:microsoft.com/office/officeart/2005/8/layout/process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B09CD0-E260-4FD0-BA2C-E64A3B304333}">
      <dsp:nvSpPr>
        <dsp:cNvPr id="0" name=""/>
        <dsp:cNvSpPr/>
      </dsp:nvSpPr>
      <dsp:spPr>
        <a:xfrm>
          <a:off x="0" y="0"/>
          <a:ext cx="1797296" cy="519652"/>
        </a:xfrm>
        <a:prstGeom prst="homePlate">
          <a:avLst/>
        </a:prstGeom>
        <a:solidFill>
          <a:srgbClr val="00B0F0"/>
        </a:solidFill>
        <a:ln w="28575"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2004" rIns="216000" bIns="32004"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FFFFFF"/>
              </a:solidFill>
              <a:latin typeface="微软雅黑" panose="020B0503020204020204" pitchFamily="34" charset="-122"/>
              <a:ea typeface="微软雅黑" panose="020B0503020204020204" pitchFamily="34" charset="-122"/>
              <a:cs typeface="+mn-cs"/>
            </a:rPr>
            <a:t>收集</a:t>
          </a:r>
          <a:endParaRPr lang="en-GB" sz="1200" b="1" kern="1200" dirty="0">
            <a:solidFill>
              <a:srgbClr val="FFFFFF"/>
            </a:solidFill>
            <a:latin typeface="微软雅黑" panose="020B0503020204020204" pitchFamily="34" charset="-122"/>
            <a:ea typeface="微软雅黑" panose="020B0503020204020204" pitchFamily="34" charset="-122"/>
            <a:cs typeface="+mn-cs"/>
          </a:endParaRPr>
        </a:p>
      </dsp:txBody>
      <dsp:txXfrm>
        <a:off x="0" y="0"/>
        <a:ext cx="1667383" cy="519652"/>
      </dsp:txXfrm>
    </dsp:sp>
    <dsp:sp modelId="{03DE3DCC-68A4-43DE-9E32-3EE47794E04E}">
      <dsp:nvSpPr>
        <dsp:cNvPr id="0" name=""/>
        <dsp:cNvSpPr/>
      </dsp:nvSpPr>
      <dsp:spPr>
        <a:xfrm>
          <a:off x="1391406" y="0"/>
          <a:ext cx="1960096" cy="519652"/>
        </a:xfrm>
        <a:prstGeom prst="chevron">
          <a:avLst/>
        </a:prstGeom>
        <a:solidFill>
          <a:srgbClr val="00B0F0"/>
        </a:solidFill>
        <a:ln w="28575"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2004" rIns="144000" bIns="32004"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FFFFFF"/>
              </a:solidFill>
              <a:latin typeface="微软雅黑" panose="020B0503020204020204" pitchFamily="34" charset="-122"/>
              <a:ea typeface="微软雅黑" panose="020B0503020204020204" pitchFamily="34" charset="-122"/>
              <a:cs typeface="+mn-cs"/>
            </a:rPr>
            <a:t>筛选</a:t>
          </a:r>
          <a:endParaRPr lang="en-GB" sz="1200" b="1" kern="1200" dirty="0">
            <a:solidFill>
              <a:srgbClr val="FFFFFF"/>
            </a:solidFill>
            <a:latin typeface="微软雅黑" panose="020B0503020204020204" pitchFamily="34" charset="-122"/>
            <a:ea typeface="微软雅黑" panose="020B0503020204020204" pitchFamily="34" charset="-122"/>
            <a:cs typeface="+mn-cs"/>
          </a:endParaRPr>
        </a:p>
      </dsp:txBody>
      <dsp:txXfrm>
        <a:off x="1651232" y="0"/>
        <a:ext cx="1440444" cy="519652"/>
      </dsp:txXfrm>
    </dsp:sp>
    <dsp:sp modelId="{65D2F7CC-9E45-491F-BF4B-010E7B3F6BCD}">
      <dsp:nvSpPr>
        <dsp:cNvPr id="0" name=""/>
        <dsp:cNvSpPr/>
      </dsp:nvSpPr>
      <dsp:spPr>
        <a:xfrm>
          <a:off x="2945062" y="0"/>
          <a:ext cx="1879092" cy="519652"/>
        </a:xfrm>
        <a:prstGeom prst="chevron">
          <a:avLst/>
        </a:prstGeom>
        <a:solidFill>
          <a:srgbClr val="00B0F0"/>
        </a:solidFill>
        <a:ln w="28575"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2004" rIns="216000" bIns="32004"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FFFFFF"/>
              </a:solidFill>
              <a:latin typeface="微软雅黑" panose="020B0503020204020204" pitchFamily="34" charset="-122"/>
              <a:ea typeface="微软雅黑" panose="020B0503020204020204" pitchFamily="34" charset="-122"/>
              <a:cs typeface="+mn-cs"/>
            </a:rPr>
            <a:t>归类</a:t>
          </a:r>
          <a:endParaRPr lang="en-GB" sz="1200" b="1" kern="1200" dirty="0">
            <a:solidFill>
              <a:srgbClr val="FFFFFF"/>
            </a:solidFill>
            <a:latin typeface="微软雅黑" panose="020B0503020204020204" pitchFamily="34" charset="-122"/>
            <a:ea typeface="微软雅黑" panose="020B0503020204020204" pitchFamily="34" charset="-122"/>
            <a:cs typeface="+mn-cs"/>
          </a:endParaRPr>
        </a:p>
      </dsp:txBody>
      <dsp:txXfrm>
        <a:off x="3204888" y="0"/>
        <a:ext cx="1359440" cy="519652"/>
      </dsp:txXfrm>
    </dsp:sp>
    <dsp:sp modelId="{AFE0ED97-6AFB-48B7-8CFA-5E1E6C928F56}">
      <dsp:nvSpPr>
        <dsp:cNvPr id="0" name=""/>
        <dsp:cNvSpPr/>
      </dsp:nvSpPr>
      <dsp:spPr>
        <a:xfrm>
          <a:off x="4417715" y="0"/>
          <a:ext cx="1833530" cy="519652"/>
        </a:xfrm>
        <a:prstGeom prst="chevron">
          <a:avLst/>
        </a:prstGeom>
        <a:solidFill>
          <a:srgbClr val="003756">
            <a:lumMod val="75000"/>
            <a:lumOff val="25000"/>
          </a:srgbClr>
        </a:solidFill>
        <a:ln w="28575"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2004" rIns="16002" bIns="32004"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FFFFFF"/>
              </a:solidFill>
              <a:latin typeface="微软雅黑" panose="020B0503020204020204" pitchFamily="34" charset="-122"/>
              <a:ea typeface="微软雅黑" panose="020B0503020204020204" pitchFamily="34" charset="-122"/>
              <a:cs typeface="+mn-cs"/>
            </a:rPr>
            <a:t>定标</a:t>
          </a:r>
          <a:endParaRPr lang="en-GB" sz="1200" b="1" kern="1200" dirty="0">
            <a:solidFill>
              <a:srgbClr val="FFFFFF"/>
            </a:solidFill>
            <a:latin typeface="微软雅黑" panose="020B0503020204020204" pitchFamily="34" charset="-122"/>
            <a:ea typeface="微软雅黑" panose="020B0503020204020204" pitchFamily="34" charset="-122"/>
            <a:cs typeface="+mn-cs"/>
          </a:endParaRPr>
        </a:p>
      </dsp:txBody>
      <dsp:txXfrm>
        <a:off x="4677541" y="0"/>
        <a:ext cx="1313878" cy="519652"/>
      </dsp:txXfrm>
    </dsp:sp>
    <dsp:sp modelId="{AD9A07C1-3D16-4C9E-8B10-158D4A9C0BC8}">
      <dsp:nvSpPr>
        <dsp:cNvPr id="0" name=""/>
        <dsp:cNvSpPr/>
      </dsp:nvSpPr>
      <dsp:spPr>
        <a:xfrm>
          <a:off x="5844806" y="0"/>
          <a:ext cx="2032198" cy="519652"/>
        </a:xfrm>
        <a:prstGeom prst="chevron">
          <a:avLst/>
        </a:prstGeom>
        <a:solidFill>
          <a:srgbClr val="AAD5F7">
            <a:lumMod val="25000"/>
          </a:srgbClr>
        </a:solidFill>
        <a:ln w="28575"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2004" rIns="16002" bIns="32004"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FFFFFF"/>
              </a:solidFill>
              <a:latin typeface="微软雅黑" panose="020B0503020204020204" pitchFamily="34" charset="-122"/>
              <a:ea typeface="微软雅黑" panose="020B0503020204020204" pitchFamily="34" charset="-122"/>
              <a:cs typeface="+mn-cs"/>
            </a:rPr>
            <a:t>范围</a:t>
          </a:r>
          <a:endParaRPr lang="en-GB" sz="1200" b="1" kern="1200" dirty="0">
            <a:solidFill>
              <a:srgbClr val="FFFFFF"/>
            </a:solidFill>
            <a:latin typeface="微软雅黑" panose="020B0503020204020204" pitchFamily="34" charset="-122"/>
            <a:ea typeface="微软雅黑" panose="020B0503020204020204" pitchFamily="34" charset="-122"/>
            <a:cs typeface="+mn-cs"/>
          </a:endParaRPr>
        </a:p>
      </dsp:txBody>
      <dsp:txXfrm>
        <a:off x="6104632" y="0"/>
        <a:ext cx="1512546" cy="519652"/>
      </dsp:txXfrm>
    </dsp:sp>
    <dsp:sp modelId="{F0844A82-E5FF-4FFA-A63A-109971B7BED8}">
      <dsp:nvSpPr>
        <dsp:cNvPr id="0" name=""/>
        <dsp:cNvSpPr/>
      </dsp:nvSpPr>
      <dsp:spPr>
        <a:xfrm>
          <a:off x="7470565" y="0"/>
          <a:ext cx="2032198" cy="519652"/>
        </a:xfrm>
        <a:prstGeom prst="chevron">
          <a:avLst/>
        </a:prstGeom>
        <a:solidFill>
          <a:srgbClr val="AAD5F7">
            <a:lumMod val="25000"/>
          </a:srgbClr>
        </a:solidFill>
        <a:ln w="28575"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2004" rIns="16002" bIns="32004"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FFFFFF"/>
              </a:solidFill>
              <a:latin typeface="微软雅黑" panose="020B0503020204020204" pitchFamily="34" charset="-122"/>
              <a:ea typeface="微软雅黑" panose="020B0503020204020204" pitchFamily="34" charset="-122"/>
              <a:cs typeface="+mn-cs"/>
            </a:rPr>
            <a:t>评估</a:t>
          </a:r>
          <a:endParaRPr lang="en-GB" sz="1200" b="1" kern="1200" dirty="0">
            <a:solidFill>
              <a:srgbClr val="FFFFFF"/>
            </a:solidFill>
            <a:latin typeface="微软雅黑" panose="020B0503020204020204" pitchFamily="34" charset="-122"/>
            <a:ea typeface="微软雅黑" panose="020B0503020204020204" pitchFamily="34" charset="-122"/>
            <a:cs typeface="+mn-cs"/>
          </a:endParaRPr>
        </a:p>
      </dsp:txBody>
      <dsp:txXfrm>
        <a:off x="7730391" y="0"/>
        <a:ext cx="1512546" cy="519652"/>
      </dsp:txXfrm>
    </dsp:sp>
    <dsp:sp modelId="{3CAE0648-D3B7-448D-A0B4-ACAF68BE9844}">
      <dsp:nvSpPr>
        <dsp:cNvPr id="0" name=""/>
        <dsp:cNvSpPr/>
      </dsp:nvSpPr>
      <dsp:spPr>
        <a:xfrm>
          <a:off x="9096323" y="0"/>
          <a:ext cx="1713366" cy="519652"/>
        </a:xfrm>
        <a:prstGeom prst="chevron">
          <a:avLst/>
        </a:prstGeom>
        <a:solidFill>
          <a:srgbClr val="AAD5F7">
            <a:lumMod val="25000"/>
          </a:srgbClr>
        </a:solidFill>
        <a:ln w="28575"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32004" rIns="16002" bIns="32004"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FFFFFF"/>
              </a:solidFill>
              <a:latin typeface="微软雅黑" panose="020B0503020204020204" pitchFamily="34" charset="-122"/>
              <a:ea typeface="微软雅黑" panose="020B0503020204020204" pitchFamily="34" charset="-122"/>
              <a:cs typeface="+mn-cs"/>
            </a:rPr>
            <a:t>执行</a:t>
          </a:r>
          <a:endParaRPr lang="en-GB" sz="1200" b="1" kern="1200" dirty="0">
            <a:solidFill>
              <a:srgbClr val="FFFFFF"/>
            </a:solidFill>
            <a:latin typeface="微软雅黑" panose="020B0503020204020204" pitchFamily="34" charset="-122"/>
            <a:ea typeface="微软雅黑" panose="020B0503020204020204" pitchFamily="34" charset="-122"/>
            <a:cs typeface="+mn-cs"/>
          </a:endParaRPr>
        </a:p>
      </dsp:txBody>
      <dsp:txXfrm>
        <a:off x="9356149" y="0"/>
        <a:ext cx="1193714" cy="5196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AE454-6672-41E9-A81F-43BFDD0D4731}">
      <dsp:nvSpPr>
        <dsp:cNvPr id="0" name=""/>
        <dsp:cNvSpPr/>
      </dsp:nvSpPr>
      <dsp:spPr>
        <a:xfrm>
          <a:off x="95291" y="334"/>
          <a:ext cx="1969657" cy="1094254"/>
        </a:xfrm>
        <a:prstGeom prst="roundRect">
          <a:avLst>
            <a:gd name="adj" fmla="val 10000"/>
          </a:avLst>
        </a:prstGeom>
        <a:gradFill rotWithShape="0">
          <a:gsLst>
            <a:gs pos="0">
              <a:srgbClr val="333399">
                <a:hueOff val="0"/>
                <a:satOff val="0"/>
                <a:lumOff val="0"/>
                <a:alphaOff val="0"/>
                <a:shade val="51000"/>
                <a:satMod val="130000"/>
              </a:srgbClr>
            </a:gs>
            <a:gs pos="80000">
              <a:srgbClr val="333399">
                <a:hueOff val="0"/>
                <a:satOff val="0"/>
                <a:lumOff val="0"/>
                <a:alphaOff val="0"/>
                <a:shade val="93000"/>
                <a:satMod val="130000"/>
              </a:srgbClr>
            </a:gs>
            <a:gs pos="100000">
              <a:srgbClr val="33339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FFFFFF"/>
              </a:solidFill>
              <a:latin typeface="微软雅黑" panose="020B0503020204020204" pitchFamily="34" charset="-122"/>
              <a:ea typeface="微软雅黑" panose="020B0503020204020204" pitchFamily="34" charset="-122"/>
              <a:cs typeface="+mn-cs"/>
            </a:rPr>
            <a:t>种类不全，维度交叉，口径不清</a:t>
          </a:r>
        </a:p>
      </dsp:txBody>
      <dsp:txXfrm>
        <a:off x="127341" y="32384"/>
        <a:ext cx="1905557" cy="1030154"/>
      </dsp:txXfrm>
    </dsp:sp>
    <dsp:sp modelId="{650C01A2-378F-431E-B378-C36EB2AB491E}">
      <dsp:nvSpPr>
        <dsp:cNvPr id="0" name=""/>
        <dsp:cNvSpPr/>
      </dsp:nvSpPr>
      <dsp:spPr>
        <a:xfrm rot="5400000">
          <a:off x="874947" y="1121944"/>
          <a:ext cx="410345" cy="492414"/>
        </a:xfrm>
        <a:prstGeom prst="rightArrow">
          <a:avLst>
            <a:gd name="adj1" fmla="val 60000"/>
            <a:gd name="adj2" fmla="val 50000"/>
          </a:avLst>
        </a:prstGeom>
        <a:gradFill rotWithShape="0">
          <a:gsLst>
            <a:gs pos="0">
              <a:srgbClr val="333399">
                <a:tint val="60000"/>
                <a:hueOff val="0"/>
                <a:satOff val="0"/>
                <a:lumOff val="0"/>
                <a:alphaOff val="0"/>
                <a:shade val="51000"/>
                <a:satMod val="130000"/>
              </a:srgbClr>
            </a:gs>
            <a:gs pos="80000">
              <a:srgbClr val="333399">
                <a:tint val="60000"/>
                <a:hueOff val="0"/>
                <a:satOff val="0"/>
                <a:lumOff val="0"/>
                <a:alphaOff val="0"/>
                <a:shade val="93000"/>
                <a:satMod val="130000"/>
              </a:srgbClr>
            </a:gs>
            <a:gs pos="100000">
              <a:srgbClr val="333399">
                <a:tint val="60000"/>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b="1" kern="1200">
            <a:solidFill>
              <a:srgbClr val="FFFFFF"/>
            </a:solidFill>
            <a:latin typeface="微软雅黑" panose="020B0503020204020204" pitchFamily="34" charset="-122"/>
            <a:ea typeface="微软雅黑" panose="020B0503020204020204" pitchFamily="34" charset="-122"/>
            <a:cs typeface="+mn-cs"/>
          </a:endParaRPr>
        </a:p>
      </dsp:txBody>
      <dsp:txXfrm rot="-5400000">
        <a:off x="932396" y="1162979"/>
        <a:ext cx="295448" cy="287242"/>
      </dsp:txXfrm>
    </dsp:sp>
    <dsp:sp modelId="{F7905523-D391-4D4E-8E83-891978C293C9}">
      <dsp:nvSpPr>
        <dsp:cNvPr id="0" name=""/>
        <dsp:cNvSpPr/>
      </dsp:nvSpPr>
      <dsp:spPr>
        <a:xfrm>
          <a:off x="95291" y="1641715"/>
          <a:ext cx="1969657" cy="1094254"/>
        </a:xfrm>
        <a:prstGeom prst="roundRect">
          <a:avLst>
            <a:gd name="adj" fmla="val 10000"/>
          </a:avLst>
        </a:prstGeom>
        <a:gradFill rotWithShape="0">
          <a:gsLst>
            <a:gs pos="0">
              <a:srgbClr val="333399">
                <a:hueOff val="0"/>
                <a:satOff val="0"/>
                <a:lumOff val="0"/>
                <a:alphaOff val="0"/>
                <a:shade val="51000"/>
                <a:satMod val="130000"/>
              </a:srgbClr>
            </a:gs>
            <a:gs pos="80000">
              <a:srgbClr val="333399">
                <a:hueOff val="0"/>
                <a:satOff val="0"/>
                <a:lumOff val="0"/>
                <a:alphaOff val="0"/>
                <a:shade val="93000"/>
                <a:satMod val="130000"/>
              </a:srgbClr>
            </a:gs>
            <a:gs pos="100000">
              <a:srgbClr val="33339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FFFFFF"/>
              </a:solidFill>
              <a:latin typeface="微软雅黑" panose="020B0503020204020204" pitchFamily="34" charset="-122"/>
              <a:ea typeface="微软雅黑" panose="020B0503020204020204" pitchFamily="34" charset="-122"/>
              <a:cs typeface="+mn-cs"/>
            </a:rPr>
            <a:t>通过数据标准规范分类及口径</a:t>
          </a:r>
        </a:p>
      </dsp:txBody>
      <dsp:txXfrm>
        <a:off x="127341" y="1673765"/>
        <a:ext cx="1905557" cy="1030154"/>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pPr/>
              <a:t>2026-06-03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6BAB4B-9454-4FFC-88AF-3442C5A9AF23}" type="datetimeFigureOut">
              <a:rPr lang="zh-CN" altLang="en-US" smtClean="0"/>
              <a:pPr/>
              <a:t>2026-06-03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57F9E9-8CEE-4B2C-A10C-E60D31FA4AC4}"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Rot="1" noChangeAspect="1" noChangeArrowheads="1" noTextEdit="1"/>
          </p:cNvSpPr>
          <p:nvPr>
            <p:ph type="sldImg"/>
          </p:nvPr>
        </p:nvSpPr>
        <p:spPr>
          <a:xfrm>
            <a:off x="380382" y="685800"/>
            <a:ext cx="6098823" cy="3430588"/>
          </a:xfrm>
          <a:solidFill>
            <a:srgbClr val="FFFFFF"/>
          </a:solidFill>
        </p:spPr>
      </p:sp>
      <p:sp>
        <p:nvSpPr>
          <p:cNvPr id="15363" name="Rectangle 1027"/>
          <p:cNvSpPr>
            <a:spLocks noGrp="1" noChangeArrowheads="1"/>
          </p:cNvSpPr>
          <p:nvPr>
            <p:ph type="body" idx="1"/>
          </p:nvPr>
        </p:nvSpPr>
        <p:spPr>
          <a:solidFill>
            <a:srgbClr val="FFFFFF"/>
          </a:solidFill>
          <a:ln>
            <a:solidFill>
              <a:srgbClr val="000000"/>
            </a:solidFill>
          </a:ln>
        </p:spPr>
        <p:txBody>
          <a:bodyPr lIns="89922" tIns="44961" rIns="89922" bIns="44961"/>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Rot="1" noChangeAspect="1" noChangeArrowheads="1" noTextEdit="1"/>
          </p:cNvSpPr>
          <p:nvPr>
            <p:ph type="sldImg"/>
          </p:nvPr>
        </p:nvSpPr>
        <p:spPr>
          <a:xfrm>
            <a:off x="380382" y="685800"/>
            <a:ext cx="6098823" cy="3430588"/>
          </a:xfrm>
          <a:solidFill>
            <a:srgbClr val="FFFFFF"/>
          </a:solidFill>
        </p:spPr>
      </p:sp>
      <p:sp>
        <p:nvSpPr>
          <p:cNvPr id="15363" name="Rectangle 1027"/>
          <p:cNvSpPr>
            <a:spLocks noGrp="1" noChangeArrowheads="1"/>
          </p:cNvSpPr>
          <p:nvPr>
            <p:ph type="body" idx="1"/>
          </p:nvPr>
        </p:nvSpPr>
        <p:spPr>
          <a:solidFill>
            <a:srgbClr val="FFFFFF"/>
          </a:solidFill>
          <a:ln>
            <a:solidFill>
              <a:srgbClr val="000000"/>
            </a:solidFill>
          </a:ln>
        </p:spPr>
        <p:txBody>
          <a:bodyPr lIns="89922" tIns="44961" rIns="89922" bIns="44961"/>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数据资产目录层次分为</a:t>
            </a:r>
            <a:r>
              <a:rPr lang="en-US" altLang="zh-CN"/>
              <a:t>5</a:t>
            </a:r>
            <a:r>
              <a:rPr lang="zh-CN" altLang="en-US"/>
              <a:t>层，其中基于业务对象建模设计形成逻辑模型是梳理工作的核心。逻辑模型涵盖逻辑实体和逻辑属性，为数据资产的管理和应用奠定基础。</a:t>
            </a:r>
            <a:r>
              <a:rPr lang="en-US" altLang="zh-CN"/>
              <a:t>
</a:t>
            </a:r>
            <a:r>
              <a:rPr lang="zh-CN" altLang="en-US"/>
              <a:t>分层结构涉及众多关键要素。</a:t>
            </a:r>
            <a:r>
              <a:rPr lang="en-US" altLang="zh-CN"/>
              <a:t>Supply</a:t>
            </a:r>
            <a:r>
              <a:rPr lang="zh-CN" altLang="en-US"/>
              <a:t>、计划、销售订单、备货单、</a:t>
            </a:r>
            <a:r>
              <a:rPr lang="en-US" altLang="zh-CN"/>
              <a:t>DELIVERY</a:t>
            </a:r>
            <a:r>
              <a:rPr lang="zh-CN" altLang="en-US"/>
              <a:t>等构成业务流转的基础。销售订单头、销售订单行、状态、订单号、</a:t>
            </a:r>
            <a:r>
              <a:rPr lang="en-US" altLang="zh-CN"/>
              <a:t>Part</a:t>
            </a:r>
            <a:r>
              <a:rPr lang="zh-CN" altLang="en-US"/>
              <a:t>编码、数量等详细信息，是业务操作的具体体现。</a:t>
            </a:r>
            <a:r>
              <a:rPr lang="en-US" altLang="zh-CN"/>
              <a:t>
</a:t>
            </a:r>
            <a:r>
              <a:rPr lang="zh-CN" altLang="en-US"/>
              <a:t>逻辑数据实体和属性是对业务对象的细化，业务对象则是核心载体。主题域和主题域分组对数据进行分类和整合，明确数据范围和特征。数据</a:t>
            </a:r>
            <a:r>
              <a:rPr lang="en-US" altLang="zh-CN"/>
              <a:t>OWNER</a:t>
            </a:r>
            <a:r>
              <a:rPr lang="zh-CN" altLang="en-US"/>
              <a:t>负责数据的管理和维护。</a:t>
            </a:r>
            <a:r>
              <a:rPr lang="en-US" altLang="zh-CN"/>
              <a:t>
</a:t>
            </a:r>
            <a:r>
              <a:rPr lang="zh-CN" altLang="en-US"/>
              <a:t>概念数据模型为数据的抽象描述，逻辑数据模型进一步细化，数据标准确保数据的一致性和规范性，数据源则是数据的来源。这些要素相互关联，共同构建了数据资产目录的完整体系，为企业的数据管理和应用提供有力支持。</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7.xml"/><Relationship Id="rId7"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11.png"/><Relationship Id="rId5" Type="http://schemas.openxmlformats.org/officeDocument/2006/relationships/tags" Target="../tags/tag19.xml"/><Relationship Id="rId10" Type="http://schemas.openxmlformats.org/officeDocument/2006/relationships/image" Target="../media/image10.png"/><Relationship Id="rId4" Type="http://schemas.openxmlformats.org/officeDocument/2006/relationships/tags" Target="../tags/tag18.xml"/><Relationship Id="rId9"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2.xml"/><Relationship Id="rId5" Type="http://schemas.openxmlformats.org/officeDocument/2006/relationships/tags" Target="../tags/tag25.xml"/><Relationship Id="rId4" Type="http://schemas.openxmlformats.org/officeDocument/2006/relationships/tags" Target="../tags/tag24.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28.xml"/><Relationship Id="rId7" Type="http://schemas.openxmlformats.org/officeDocument/2006/relationships/image" Target="../media/image8.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2.xml"/><Relationship Id="rId5" Type="http://schemas.openxmlformats.org/officeDocument/2006/relationships/tags" Target="../tags/tag30.xml"/><Relationship Id="rId4" Type="http://schemas.openxmlformats.org/officeDocument/2006/relationships/tags" Target="../tags/tag29.xml"/></Relationships>
</file>

<file path=ppt/slideLayouts/_rels/slideLayout18.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image" Target="../media/image9.png"/><Relationship Id="rId4" Type="http://schemas.openxmlformats.org/officeDocument/2006/relationships/tags" Target="../tags/tag34.xml"/><Relationship Id="rId9"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9"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Master" Target="../slideMasters/slideMaster2.xml"/><Relationship Id="rId4" Type="http://schemas.openxmlformats.org/officeDocument/2006/relationships/tags" Target="../tags/tag55.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slideMaster" Target="../slideMasters/slideMaster2.xml"/><Relationship Id="rId4" Type="http://schemas.openxmlformats.org/officeDocument/2006/relationships/tags" Target="../tags/tag6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2.xml"/><Relationship Id="rId5" Type="http://schemas.openxmlformats.org/officeDocument/2006/relationships/tags" Target="../tags/tag67.xml"/><Relationship Id="rId4" Type="http://schemas.openxmlformats.org/officeDocument/2006/relationships/tags" Target="../tags/tag66.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70.xml"/><Relationship Id="rId7" Type="http://schemas.openxmlformats.org/officeDocument/2006/relationships/image" Target="../media/image8.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slideMaster" Target="../slideMasters/slideMaster2.xml"/><Relationship Id="rId5" Type="http://schemas.openxmlformats.org/officeDocument/2006/relationships/tags" Target="../tags/tag72.xml"/><Relationship Id="rId10" Type="http://schemas.openxmlformats.org/officeDocument/2006/relationships/image" Target="../media/image11.png"/><Relationship Id="rId4" Type="http://schemas.openxmlformats.org/officeDocument/2006/relationships/tags" Target="../tags/tag71.xml"/><Relationship Id="rId9"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solidFill>
          <a:srgbClr val="FFFFFF"/>
        </a:solid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623392" y="3171791"/>
            <a:ext cx="9347200" cy="381000"/>
          </a:xfrm>
        </p:spPr>
        <p:txBody>
          <a:bodyPr/>
          <a:lstStyle>
            <a:lvl1pPr marL="0" indent="0" algn="r">
              <a:buFont typeface="Wingdings" panose="05000000000000000000" pitchFamily="2" charset="2"/>
              <a:buNone/>
              <a:defRPr sz="2000" b="1">
                <a:solidFill>
                  <a:srgbClr val="0070C0"/>
                </a:solidFill>
              </a:defRPr>
            </a:lvl1pPr>
          </a:lstStyle>
          <a:p>
            <a:r>
              <a:rPr lang="zh-CN" altLang="en-US"/>
              <a:t>单击此处编辑母版副标题样式</a:t>
            </a:r>
            <a:endParaRPr lang="en-US" altLang="zh-CN"/>
          </a:p>
        </p:txBody>
      </p:sp>
      <p:sp>
        <p:nvSpPr>
          <p:cNvPr id="3074" name="Rectangle 2"/>
          <p:cNvSpPr>
            <a:spLocks noGrp="1" noChangeArrowheads="1"/>
          </p:cNvSpPr>
          <p:nvPr>
            <p:ph type="ctrTitle"/>
          </p:nvPr>
        </p:nvSpPr>
        <p:spPr>
          <a:xfrm>
            <a:off x="623392" y="2122476"/>
            <a:ext cx="9347200" cy="685800"/>
          </a:xfrm>
          <a:effectLst/>
        </p:spPr>
        <p:txBody>
          <a:bodyPr/>
          <a:lstStyle>
            <a:lvl1pPr algn="l">
              <a:defRPr sz="3600">
                <a:solidFill>
                  <a:schemeClr val="bg1">
                    <a:lumMod val="50000"/>
                  </a:schemeClr>
                </a:solidFill>
                <a:latin typeface="+mn-lt"/>
              </a:defRPr>
            </a:lvl1pPr>
          </a:lstStyle>
          <a:p>
            <a:r>
              <a:rPr lang="zh-CN" altLang="en-US"/>
              <a:t>单击此处编辑母版标题样式</a:t>
            </a:r>
            <a:endParaRPr lang="en-US" altLang="zh-CN" dirty="0"/>
          </a:p>
        </p:txBody>
      </p:sp>
      <p:pic>
        <p:nvPicPr>
          <p:cNvPr id="6" name="Picture 6" descr="http://www.jaspersoft.com/imgRoot/bigdata-exploration.png"/>
          <p:cNvPicPr>
            <a:picLocks noChangeAspect="1" noChangeArrowheads="1"/>
          </p:cNvPicPr>
          <p:nvPr userDrawn="1"/>
        </p:nvPicPr>
        <p:blipFill>
          <a:blip r:embed="rId2" cstate="print"/>
          <a:srcRect/>
          <a:stretch>
            <a:fillRect/>
          </a:stretch>
        </p:blipFill>
        <p:spPr bwMode="auto">
          <a:xfrm>
            <a:off x="535696" y="4019441"/>
            <a:ext cx="5578779" cy="2547604"/>
          </a:xfrm>
          <a:prstGeom prst="rect">
            <a:avLst/>
          </a:prstGeom>
          <a:noFill/>
        </p:spPr>
      </p:pic>
      <p:cxnSp>
        <p:nvCxnSpPr>
          <p:cNvPr id="9"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029" name="Picture 5" descr="D:\00-DGWorkshop\04-Marketing\logo设计\御数坊LOGO.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56107" y="248930"/>
            <a:ext cx="5117420" cy="15837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9" name="Line 135"/>
          <p:cNvSpPr>
            <a:spLocks noChangeShapeType="1"/>
          </p:cNvSpPr>
          <p:nvPr userDrawn="1"/>
        </p:nvSpPr>
        <p:spPr bwMode="white">
          <a:xfrm>
            <a:off x="12700" y="5967413"/>
            <a:ext cx="855133" cy="0"/>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hasCustomPrompt="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
        <p:nvSpPr>
          <p:cNvPr id="10"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06400" y="1219200"/>
            <a:ext cx="5486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096000" y="1219200"/>
            <a:ext cx="5486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7"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hasCustomPrompt="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 name="Rectangle 6"/>
          <p:cNvSpPr>
            <a:spLocks noGrp="1" noChangeArrowheads="1"/>
          </p:cNvSpPr>
          <p:nvPr>
            <p:ph type="sldNum" sz="quarter" idx="10"/>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11"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8"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hasCustomPrompt="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cxnSp>
        <p:nvCxnSpPr>
          <p:cNvPr id="11"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13"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88400" y="350838"/>
            <a:ext cx="2794000" cy="5973762"/>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06400" y="350838"/>
            <a:ext cx="8178800" cy="597376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cxnSp>
        <p:nvCxnSpPr>
          <p:cNvPr id="10"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31371" y="350838"/>
            <a:ext cx="10338229" cy="563562"/>
          </a:xfrm>
        </p:spPr>
        <p:txBody>
          <a:bodyPr/>
          <a:lstStyle/>
          <a:p>
            <a:r>
              <a:rPr lang="zh-CN" altLang="en-US"/>
              <a:t>单击此处编辑母版标题样式</a:t>
            </a:r>
          </a:p>
        </p:txBody>
      </p:sp>
      <p:sp>
        <p:nvSpPr>
          <p:cNvPr id="3" name="表格占位符 2"/>
          <p:cNvSpPr>
            <a:spLocks noGrp="1"/>
          </p:cNvSpPr>
          <p:nvPr>
            <p:ph type="tbl" idx="1" hasCustomPrompt="1"/>
          </p:nvPr>
        </p:nvSpPr>
        <p:spPr>
          <a:xfrm>
            <a:off x="406400" y="1219200"/>
            <a:ext cx="11176000" cy="5105400"/>
          </a:xfrm>
        </p:spPr>
        <p:txBody>
          <a:bodyPr/>
          <a:lstStyle/>
          <a:p>
            <a:pPr lvl="0"/>
            <a:r>
              <a:rPr lang="zh-CN" altLang="en-US" noProof="0"/>
              <a:t>单击图标添加表格</a:t>
            </a:r>
          </a:p>
        </p:txBody>
      </p:sp>
      <p:cxnSp>
        <p:nvCxnSpPr>
          <p:cNvPr id="10"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31371" y="350838"/>
            <a:ext cx="10338229" cy="563562"/>
          </a:xfrm>
        </p:spPr>
        <p:txBody>
          <a:bodyPr/>
          <a:lstStyle/>
          <a:p>
            <a:r>
              <a:rPr lang="zh-CN" altLang="en-US"/>
              <a:t>单击此处编辑母版标题样式</a:t>
            </a:r>
          </a:p>
        </p:txBody>
      </p:sp>
      <p:sp>
        <p:nvSpPr>
          <p:cNvPr id="3" name="图表占位符 2"/>
          <p:cNvSpPr>
            <a:spLocks noGrp="1"/>
          </p:cNvSpPr>
          <p:nvPr>
            <p:ph type="chart" idx="1" hasCustomPrompt="1"/>
          </p:nvPr>
        </p:nvSpPr>
        <p:spPr>
          <a:xfrm>
            <a:off x="406400" y="1219200"/>
            <a:ext cx="11176000" cy="5105400"/>
          </a:xfrm>
        </p:spPr>
        <p:txBody>
          <a:bodyPr/>
          <a:lstStyle/>
          <a:p>
            <a:pPr lvl="0"/>
            <a:r>
              <a:rPr lang="zh-CN" altLang="en-US" noProof="0"/>
              <a:t>单击图标添加图表</a:t>
            </a:r>
          </a:p>
        </p:txBody>
      </p:sp>
      <p:cxnSp>
        <p:nvCxnSpPr>
          <p:cNvPr id="10"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srcRect/>
          <a:stretch>
            <a:fillRect/>
          </a:stretch>
        </p:blipFill>
        <p:spPr bwMode="auto">
          <a:xfrm>
            <a:off x="0" y="5630333"/>
            <a:ext cx="12192000" cy="1255184"/>
          </a:xfrm>
          <a:prstGeom prst="rect">
            <a:avLst/>
          </a:prstGeom>
          <a:noFill/>
          <a:ln w="9525">
            <a:noFill/>
            <a:miter lim="800000"/>
            <a:headEnd/>
            <a:tailEnd/>
          </a:ln>
        </p:spPr>
      </p:pic>
      <p:grpSp>
        <p:nvGrpSpPr>
          <p:cNvPr id="3" name="组合 2"/>
          <p:cNvGrpSpPr/>
          <p:nvPr userDrawn="1"/>
        </p:nvGrpSpPr>
        <p:grpSpPr>
          <a:xfrm flipH="1">
            <a:off x="0" y="260648"/>
            <a:ext cx="5903979" cy="602125"/>
            <a:chOff x="426757" y="3651870"/>
            <a:chExt cx="8717243" cy="913457"/>
          </a:xfrm>
          <a:solidFill>
            <a:srgbClr val="CB443B"/>
          </a:solidFill>
          <a:effectLst>
            <a:glow rad="38100">
              <a:schemeClr val="accent1">
                <a:alpha val="39000"/>
              </a:schemeClr>
            </a:glow>
            <a:reflection stA="0" endPos="65000" dist="50800" dir="5400000" sy="-100000" algn="bl" rotWithShape="0"/>
          </a:effectLst>
        </p:grpSpPr>
        <p:sp>
          <p:nvSpPr>
            <p:cNvPr id="4" name="矩形 3"/>
            <p:cNvSpPr/>
            <p:nvPr/>
          </p:nvSpPr>
          <p:spPr>
            <a:xfrm>
              <a:off x="1043609" y="3651870"/>
              <a:ext cx="8100391" cy="913457"/>
            </a:xfrm>
            <a:prstGeom prst="rect">
              <a:avLst/>
            </a:prstGeom>
            <a:grpFill/>
            <a:ln>
              <a:solidFill>
                <a:srgbClr val="CB443B"/>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5" name="流程图: 摘录 4"/>
            <p:cNvSpPr/>
            <p:nvPr/>
          </p:nvSpPr>
          <p:spPr>
            <a:xfrm flipV="1">
              <a:off x="426757" y="3651870"/>
              <a:ext cx="1230059" cy="913457"/>
            </a:xfrm>
            <a:prstGeom prst="flowChartExtract">
              <a:avLst/>
            </a:prstGeom>
            <a:grpFill/>
            <a:ln>
              <a:solidFill>
                <a:srgbClr val="CB443B"/>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grpSp>
        <p:nvGrpSpPr>
          <p:cNvPr id="6" name="组合 5"/>
          <p:cNvGrpSpPr/>
          <p:nvPr userDrawn="1"/>
        </p:nvGrpSpPr>
        <p:grpSpPr>
          <a:xfrm>
            <a:off x="10409619" y="6556936"/>
            <a:ext cx="1782383" cy="301065"/>
            <a:chOff x="617126" y="3651862"/>
            <a:chExt cx="8526874" cy="913465"/>
          </a:xfrm>
          <a:solidFill>
            <a:srgbClr val="CB443B"/>
          </a:solidFill>
          <a:effectLst>
            <a:glow rad="38100">
              <a:schemeClr val="accent1">
                <a:alpha val="39000"/>
              </a:schemeClr>
            </a:glow>
            <a:outerShdw sx="1000" sy="1000" algn="ctr" rotWithShape="0">
              <a:schemeClr val="bg1"/>
            </a:outerShdw>
            <a:reflection stA="0" dist="50800" dir="5400000" sy="-100000" algn="bl" rotWithShape="0"/>
          </a:effectLst>
        </p:grpSpPr>
        <p:sp>
          <p:nvSpPr>
            <p:cNvPr id="7" name="矩形 6"/>
            <p:cNvSpPr/>
            <p:nvPr/>
          </p:nvSpPr>
          <p:spPr>
            <a:xfrm>
              <a:off x="1043608" y="3651870"/>
              <a:ext cx="8100392" cy="913457"/>
            </a:xfrm>
            <a:prstGeom prst="rect">
              <a:avLst/>
            </a:prstGeom>
            <a:grpFill/>
            <a:ln>
              <a:solidFill>
                <a:srgbClr val="CB44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8" name="流程图: 摘录 7"/>
            <p:cNvSpPr/>
            <p:nvPr/>
          </p:nvSpPr>
          <p:spPr>
            <a:xfrm flipV="1">
              <a:off x="617126" y="3651862"/>
              <a:ext cx="852964" cy="913465"/>
            </a:xfrm>
            <a:prstGeom prst="flowChartExtract">
              <a:avLst/>
            </a:prstGeom>
            <a:grpFill/>
            <a:ln>
              <a:solidFill>
                <a:srgbClr val="CB44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pic>
        <p:nvPicPr>
          <p:cNvPr id="9" name="图片 8"/>
          <p:cNvPicPr>
            <a:picLocks noChangeAspect="1"/>
          </p:cNvPicPr>
          <p:nvPr userDrawn="1"/>
        </p:nvPicPr>
        <p:blipFill>
          <a:blip r:embed="rId3" cstate="print"/>
          <a:srcRect/>
          <a:stretch>
            <a:fillRect/>
          </a:stretch>
        </p:blipFill>
        <p:spPr bwMode="auto">
          <a:xfrm>
            <a:off x="10513485" y="6620934"/>
            <a:ext cx="1629833" cy="194733"/>
          </a:xfrm>
          <a:prstGeom prst="rect">
            <a:avLst/>
          </a:prstGeom>
          <a:noFill/>
          <a:ln w="9525">
            <a:noFill/>
            <a:miter lim="800000"/>
            <a:headEnd/>
            <a:tailEnd/>
          </a:ln>
        </p:spPr>
      </p:pic>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pic>
        <p:nvPicPr>
          <p:cNvPr id="7" name="图片 4" descr="图片包含 游戏机&#10;&#10;AI 生成的内容可能不正确。"/>
          <p:cNvPicPr>
            <a:picLocks noChangeAspect="1"/>
          </p:cNvPicPr>
          <p:nvPr>
            <p:custDataLst>
              <p:tags r:id="rId1"/>
            </p:custDataLst>
          </p:nvPr>
        </p:nvPicPr>
        <p:blipFill>
          <a:blip r:embed="rId9"/>
          <a:stretch>
            <a:fillRect/>
          </a:stretch>
        </p:blipFill>
        <p:spPr>
          <a:xfrm>
            <a:off x="20319" y="120"/>
            <a:ext cx="12171621" cy="6833617"/>
          </a:xfrm>
          <a:prstGeom prst="rect">
            <a:avLst/>
          </a:prstGeom>
        </p:spPr>
      </p:pic>
      <p:pic>
        <p:nvPicPr>
          <p:cNvPr id="8" name="图片 3"/>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3790950" y="5561126"/>
            <a:ext cx="4610100" cy="342900"/>
          </a:xfrm>
          <a:prstGeom prst="rect">
            <a:avLst/>
          </a:prstGeom>
        </p:spPr>
      </p:pic>
      <p:pic>
        <p:nvPicPr>
          <p:cNvPr id="9" name="图片 5" descr="手机屏幕的截图&#10;&#10;AI 生成的内容可能不正确。"/>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5143499" y="635311"/>
            <a:ext cx="1905000" cy="508000"/>
          </a:xfrm>
          <a:prstGeom prst="rect">
            <a:avLst/>
          </a:prstGeom>
        </p:spPr>
      </p:pic>
      <p:sp>
        <p:nvSpPr>
          <p:cNvPr id="24" name="署名占位符 10"/>
          <p:cNvSpPr>
            <a:spLocks noGrp="1"/>
          </p:cNvSpPr>
          <p:nvPr>
            <p:ph type="body" sz="quarter" idx="17" hasCustomPrompt="1"/>
            <p:custDataLst>
              <p:tags r:id="rId4"/>
            </p:custDataLst>
          </p:nvPr>
        </p:nvSpPr>
        <p:spPr>
          <a:xfrm>
            <a:off x="4926182" y="3598434"/>
            <a:ext cx="2340000" cy="468000"/>
          </a:xfrm>
          <a:prstGeom prst="roundRect">
            <a:avLst>
              <a:gd name="adj" fmla="val 50000"/>
            </a:avLst>
          </a:prstGeom>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350" b="1" i="0" u="none" strike="noStrike" kern="1200" cap="none" spc="0" normalizeH="0" baseline="0" noProof="1" dirty="0">
                <a:solidFill>
                  <a:schemeClr val="lt1"/>
                </a:solidFill>
                <a:latin typeface="+mn-ea"/>
                <a:ea typeface="+mn-ea"/>
                <a:cs typeface="+mn-cs"/>
              </a:defRPr>
            </a:lvl1pPr>
            <a:lvl2pPr marL="342900" algn="l" defTabSz="914400" rtl="0" eaLnBrk="1" latinLnBrk="0" hangingPunct="1">
              <a:defRPr sz="1350" kern="1200">
                <a:solidFill>
                  <a:schemeClr val="lt1"/>
                </a:solidFill>
                <a:latin typeface="+mn-lt"/>
                <a:ea typeface="+mn-ea"/>
                <a:cs typeface="+mn-cs"/>
              </a:defRPr>
            </a:lvl2pPr>
            <a:lvl3pPr marL="685800" algn="l" defTabSz="914400" rtl="0" eaLnBrk="1" latinLnBrk="0" hangingPunct="1">
              <a:defRPr sz="1350" kern="1200">
                <a:solidFill>
                  <a:schemeClr val="lt1"/>
                </a:solidFill>
                <a:latin typeface="+mn-lt"/>
                <a:ea typeface="+mn-ea"/>
                <a:cs typeface="+mn-cs"/>
              </a:defRPr>
            </a:lvl3pPr>
            <a:lvl4pPr marL="1028700" algn="l" defTabSz="914400" rtl="0" eaLnBrk="1" latinLnBrk="0" hangingPunct="1">
              <a:defRPr sz="1350" kern="1200">
                <a:solidFill>
                  <a:schemeClr val="lt1"/>
                </a:solidFill>
                <a:latin typeface="+mn-lt"/>
                <a:ea typeface="+mn-ea"/>
                <a:cs typeface="+mn-cs"/>
              </a:defRPr>
            </a:lvl4pPr>
            <a:lvl5pPr marL="1371600" algn="l" defTabSz="914400" rtl="0" eaLnBrk="1" latinLnBrk="0" hangingPunct="1">
              <a:defRPr sz="1350" kern="1200">
                <a:solidFill>
                  <a:schemeClr val="lt1"/>
                </a:solidFill>
                <a:latin typeface="+mn-lt"/>
                <a:ea typeface="+mn-ea"/>
                <a:cs typeface="+mn-cs"/>
              </a:defRPr>
            </a:lvl5pPr>
            <a:lvl6pPr marL="1714500" algn="l" defTabSz="914400" rtl="0" eaLnBrk="1" latinLnBrk="0" hangingPunct="1">
              <a:defRPr sz="1350" kern="1200">
                <a:solidFill>
                  <a:schemeClr val="lt1"/>
                </a:solidFill>
                <a:latin typeface="+mn-lt"/>
                <a:ea typeface="+mn-ea"/>
                <a:cs typeface="+mn-cs"/>
              </a:defRPr>
            </a:lvl6pPr>
            <a:lvl7pPr marL="2057400" algn="l" defTabSz="914400" rtl="0" eaLnBrk="1" latinLnBrk="0" hangingPunct="1">
              <a:defRPr sz="1350" kern="1200">
                <a:solidFill>
                  <a:schemeClr val="lt1"/>
                </a:solidFill>
                <a:latin typeface="+mn-lt"/>
                <a:ea typeface="+mn-ea"/>
                <a:cs typeface="+mn-cs"/>
              </a:defRPr>
            </a:lvl7pPr>
            <a:lvl8pPr marL="2400300" algn="l" defTabSz="914400" rtl="0" eaLnBrk="1" latinLnBrk="0" hangingPunct="1">
              <a:defRPr sz="1350" kern="1200">
                <a:solidFill>
                  <a:schemeClr val="lt1"/>
                </a:solidFill>
                <a:latin typeface="+mn-lt"/>
                <a:ea typeface="+mn-ea"/>
                <a:cs typeface="+mn-cs"/>
              </a:defRPr>
            </a:lvl8pPr>
            <a:lvl9pPr marL="2743200" algn="l" defTabSz="914400" rtl="0" eaLnBrk="1" latinLnBrk="0" hangingPunct="1">
              <a:defRPr sz="1350" kern="1200">
                <a:solidFill>
                  <a:schemeClr val="lt1"/>
                </a:solidFill>
                <a:latin typeface="+mn-lt"/>
                <a:ea typeface="+mn-ea"/>
                <a:cs typeface="+mn-cs"/>
              </a:defRPr>
            </a:lvl9pPr>
          </a:lstStyle>
          <a:p>
            <a:pPr lvl="0"/>
            <a:r>
              <a:rPr>
                <a:sym typeface="+mn-ea"/>
              </a:rPr>
              <a:t>署名</a:t>
            </a:r>
          </a:p>
        </p:txBody>
      </p:sp>
      <p:sp>
        <p:nvSpPr>
          <p:cNvPr id="11" name="副标题 2"/>
          <p:cNvSpPr txBox="1">
            <a:spLocks noGrp="1"/>
          </p:cNvSpPr>
          <p:nvPr>
            <p:ph type="body" idx="1" hasCustomPrompt="1"/>
            <p:custDataLst>
              <p:tags r:id="rId5"/>
            </p:custDataLst>
          </p:nvPr>
        </p:nvSpPr>
        <p:spPr>
          <a:xfrm>
            <a:off x="2111375" y="2661602"/>
            <a:ext cx="7969250" cy="462280"/>
          </a:xfrm>
          <a:noFill/>
        </p:spPr>
        <p:txBody>
          <a:bodyPr wrap="square" rtlCol="0" anchor="ctr" anchorCtr="0">
            <a:normAutofit/>
          </a:bodyPr>
          <a:lstStyle>
            <a:defPPr>
              <a:defRPr lang="zh-CN"/>
            </a:defPPr>
            <a:lvl1pPr marL="0" marR="0" algn="ctr" defTabSz="914400" rtl="0" eaLnBrk="1" fontAlgn="auto" latinLnBrk="0" hangingPunct="1">
              <a:lnSpc>
                <a:spcPct val="100000"/>
              </a:lnSpc>
              <a:buClrTx/>
              <a:buSzTx/>
              <a:buFontTx/>
              <a:buNone/>
              <a:defRPr kumimoji="0" lang="zh-CN" altLang="en-US" sz="1800" b="1" i="0" u="none" strike="noStrike" kern="1200" cap="none" spc="0" normalizeH="0" baseline="0" noProof="1" dirty="0">
                <a:solidFill>
                  <a:schemeClr val="tx1"/>
                </a:solidFill>
                <a:uFillTx/>
                <a:latin typeface="+mn-lt"/>
                <a:ea typeface="+mn-ea"/>
                <a:cs typeface="微软雅黑" panose="020B0503020204020204" pitchFamily="34" charset="-122"/>
              </a:defRPr>
            </a:lvl1pPr>
            <a:lvl2pPr marL="342900" algn="l" defTabSz="914400" rtl="0" eaLnBrk="1" latinLnBrk="0" hangingPunct="1">
              <a:defRPr sz="1350" kern="1200">
                <a:solidFill>
                  <a:schemeClr val="tx1"/>
                </a:solidFill>
                <a:latin typeface="+mn-lt"/>
                <a:ea typeface="+mn-ea"/>
                <a:cs typeface="+mn-cs"/>
              </a:defRPr>
            </a:lvl2pPr>
            <a:lvl3pPr marL="685800" algn="l" defTabSz="914400" rtl="0" eaLnBrk="1" latinLnBrk="0" hangingPunct="1">
              <a:defRPr sz="1350" kern="1200">
                <a:solidFill>
                  <a:schemeClr val="tx1"/>
                </a:solidFill>
                <a:latin typeface="+mn-lt"/>
                <a:ea typeface="+mn-ea"/>
                <a:cs typeface="+mn-cs"/>
              </a:defRPr>
            </a:lvl3pPr>
            <a:lvl4pPr marL="1028700" algn="l" defTabSz="914400" rtl="0" eaLnBrk="1" latinLnBrk="0" hangingPunct="1">
              <a:defRPr sz="1350" kern="1200">
                <a:solidFill>
                  <a:schemeClr val="tx1"/>
                </a:solidFill>
                <a:latin typeface="+mn-lt"/>
                <a:ea typeface="+mn-ea"/>
                <a:cs typeface="+mn-cs"/>
              </a:defRPr>
            </a:lvl4pPr>
            <a:lvl5pPr marL="1371600" algn="l" defTabSz="914400" rtl="0" eaLnBrk="1" latinLnBrk="0" hangingPunct="1">
              <a:defRPr sz="1350" kern="1200">
                <a:solidFill>
                  <a:schemeClr val="tx1"/>
                </a:solidFill>
                <a:latin typeface="+mn-lt"/>
                <a:ea typeface="+mn-ea"/>
                <a:cs typeface="+mn-cs"/>
              </a:defRPr>
            </a:lvl5pPr>
            <a:lvl6pPr marL="1714500" algn="l" defTabSz="914400" rtl="0" eaLnBrk="1" latinLnBrk="0" hangingPunct="1">
              <a:defRPr sz="1350" kern="1200">
                <a:solidFill>
                  <a:schemeClr val="tx1"/>
                </a:solidFill>
                <a:latin typeface="+mn-lt"/>
                <a:ea typeface="+mn-ea"/>
                <a:cs typeface="+mn-cs"/>
              </a:defRPr>
            </a:lvl6pPr>
            <a:lvl7pPr marL="2057400" algn="l" defTabSz="914400" rtl="0" eaLnBrk="1" latinLnBrk="0" hangingPunct="1">
              <a:defRPr sz="1350" kern="1200">
                <a:solidFill>
                  <a:schemeClr val="tx1"/>
                </a:solidFill>
                <a:latin typeface="+mn-lt"/>
                <a:ea typeface="+mn-ea"/>
                <a:cs typeface="+mn-cs"/>
              </a:defRPr>
            </a:lvl7pPr>
            <a:lvl8pPr marL="2400300" algn="l" defTabSz="914400" rtl="0" eaLnBrk="1" latinLnBrk="0" hangingPunct="1">
              <a:defRPr sz="1350" kern="1200">
                <a:solidFill>
                  <a:schemeClr val="tx1"/>
                </a:solidFill>
                <a:latin typeface="+mn-lt"/>
                <a:ea typeface="+mn-ea"/>
                <a:cs typeface="+mn-cs"/>
              </a:defRPr>
            </a:lvl8pPr>
            <a:lvl9pPr marL="2743200" algn="l" defTabSz="914400" rtl="0" eaLnBrk="1" latinLnBrk="0" hangingPunct="1">
              <a:defRPr sz="1350" kern="1200">
                <a:solidFill>
                  <a:schemeClr val="tx1"/>
                </a:solidFill>
                <a:latin typeface="+mn-lt"/>
                <a:ea typeface="+mn-ea"/>
                <a:cs typeface="+mn-cs"/>
              </a:defRPr>
            </a:lvl9pPr>
          </a:lstStyle>
          <a:p>
            <a:pPr lvl="0"/>
            <a:r>
              <a:rPr>
                <a:sym typeface="+mn-ea"/>
              </a:rPr>
              <a:t>单击此处编辑副标题</a:t>
            </a:r>
          </a:p>
        </p:txBody>
      </p:sp>
      <p:sp>
        <p:nvSpPr>
          <p:cNvPr id="10" name="标题 1"/>
          <p:cNvSpPr txBox="1">
            <a:spLocks noGrp="1"/>
          </p:cNvSpPr>
          <p:nvPr>
            <p:ph type="ctrTitle" hasCustomPrompt="1"/>
            <p:custDataLst>
              <p:tags r:id="rId6"/>
            </p:custDataLst>
          </p:nvPr>
        </p:nvSpPr>
        <p:spPr>
          <a:xfrm>
            <a:off x="2111375" y="1458912"/>
            <a:ext cx="7969250" cy="1186180"/>
          </a:xfrm>
          <a:noFill/>
        </p:spPr>
        <p:txBody>
          <a:bodyPr wrap="square" rtlCol="0" anchor="ctr" anchorCtr="0">
            <a:normAutofit/>
          </a:bodyPr>
          <a:lstStyle>
            <a:defPPr>
              <a:defRPr lang="zh-CN"/>
            </a:defPPr>
            <a:lvl1pPr marL="0" marR="0" algn="ctr" defTabSz="914400" rtl="0" eaLnBrk="1" fontAlgn="auto" latinLnBrk="0" hangingPunct="1">
              <a:lnSpc>
                <a:spcPct val="100000"/>
              </a:lnSpc>
              <a:buClrTx/>
              <a:buSzTx/>
              <a:buFontTx/>
              <a:buNone/>
              <a:defRPr kumimoji="0" lang="en-US" altLang="en-US" sz="4500" b="1" i="0" u="none" strike="noStrike" kern="1200" cap="none" spc="0" normalizeH="0" baseline="0" noProof="0" dirty="0">
                <a:ln>
                  <a:noFill/>
                </a:ln>
                <a:gradFill>
                  <a:gsLst>
                    <a:gs pos="37000">
                      <a:schemeClr val="tx1"/>
                    </a:gs>
                    <a:gs pos="100000">
                      <a:schemeClr val="tx1">
                        <a:alpha val="0"/>
                      </a:schemeClr>
                    </a:gs>
                  </a:gsLst>
                  <a:lin ang="4800000" scaled="0"/>
                </a:gradFill>
                <a:effectLst/>
                <a:uLnTx/>
                <a:uFillTx/>
                <a:latin typeface="+mj-lt"/>
                <a:ea typeface="+mj-ea"/>
                <a:cs typeface="+mn-cs"/>
                <a:sym typeface="+mn-ea"/>
              </a:defRPr>
            </a:lvl1pPr>
            <a:lvl2pPr marL="342900" algn="l" defTabSz="914400" rtl="0" eaLnBrk="1" latinLnBrk="0" hangingPunct="1">
              <a:defRPr sz="1350" kern="1200">
                <a:solidFill>
                  <a:schemeClr val="tx1"/>
                </a:solidFill>
                <a:latin typeface="+mn-lt"/>
                <a:ea typeface="+mn-ea"/>
                <a:cs typeface="+mn-cs"/>
              </a:defRPr>
            </a:lvl2pPr>
            <a:lvl3pPr marL="685800" algn="l" defTabSz="914400" rtl="0" eaLnBrk="1" latinLnBrk="0" hangingPunct="1">
              <a:defRPr sz="1350" kern="1200">
                <a:solidFill>
                  <a:schemeClr val="tx1"/>
                </a:solidFill>
                <a:latin typeface="+mn-lt"/>
                <a:ea typeface="+mn-ea"/>
                <a:cs typeface="+mn-cs"/>
              </a:defRPr>
            </a:lvl3pPr>
            <a:lvl4pPr marL="1028700" algn="l" defTabSz="914400" rtl="0" eaLnBrk="1" latinLnBrk="0" hangingPunct="1">
              <a:defRPr sz="1350" kern="1200">
                <a:solidFill>
                  <a:schemeClr val="tx1"/>
                </a:solidFill>
                <a:latin typeface="+mn-lt"/>
                <a:ea typeface="+mn-ea"/>
                <a:cs typeface="+mn-cs"/>
              </a:defRPr>
            </a:lvl4pPr>
            <a:lvl5pPr marL="1371600" algn="l" defTabSz="914400" rtl="0" eaLnBrk="1" latinLnBrk="0" hangingPunct="1">
              <a:defRPr sz="1350" kern="1200">
                <a:solidFill>
                  <a:schemeClr val="tx1"/>
                </a:solidFill>
                <a:latin typeface="+mn-lt"/>
                <a:ea typeface="+mn-ea"/>
                <a:cs typeface="+mn-cs"/>
              </a:defRPr>
            </a:lvl5pPr>
            <a:lvl6pPr marL="1714500" algn="l" defTabSz="914400" rtl="0" eaLnBrk="1" latinLnBrk="0" hangingPunct="1">
              <a:defRPr sz="1350" kern="1200">
                <a:solidFill>
                  <a:schemeClr val="tx1"/>
                </a:solidFill>
                <a:latin typeface="+mn-lt"/>
                <a:ea typeface="+mn-ea"/>
                <a:cs typeface="+mn-cs"/>
              </a:defRPr>
            </a:lvl6pPr>
            <a:lvl7pPr marL="2057400" algn="l" defTabSz="914400" rtl="0" eaLnBrk="1" latinLnBrk="0" hangingPunct="1">
              <a:defRPr sz="1350" kern="1200">
                <a:solidFill>
                  <a:schemeClr val="tx1"/>
                </a:solidFill>
                <a:latin typeface="+mn-lt"/>
                <a:ea typeface="+mn-ea"/>
                <a:cs typeface="+mn-cs"/>
              </a:defRPr>
            </a:lvl7pPr>
            <a:lvl8pPr marL="2400300" algn="l" defTabSz="914400" rtl="0" eaLnBrk="1" latinLnBrk="0" hangingPunct="1">
              <a:defRPr sz="1350" kern="1200">
                <a:solidFill>
                  <a:schemeClr val="tx1"/>
                </a:solidFill>
                <a:latin typeface="+mn-lt"/>
                <a:ea typeface="+mn-ea"/>
                <a:cs typeface="+mn-cs"/>
              </a:defRPr>
            </a:lvl8pPr>
            <a:lvl9pPr marL="2743200" algn="l" defTabSz="914400" rtl="0" eaLnBrk="1" latinLnBrk="0" hangingPunct="1">
              <a:defRPr sz="1350" kern="1200">
                <a:solidFill>
                  <a:schemeClr val="tx1"/>
                </a:solidFill>
                <a:latin typeface="+mn-lt"/>
                <a:ea typeface="+mn-ea"/>
                <a:cs typeface="+mn-cs"/>
              </a:defRPr>
            </a:lvl9pPr>
          </a:lstStyle>
          <a:p>
            <a:pPr lvl="0"/>
            <a:r>
              <a:rPr>
                <a:sym typeface="+mn-ea"/>
              </a:rPr>
              <a:t>单击编辑母版标题</a:t>
            </a:r>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695960" y="1301749"/>
            <a:ext cx="10800000" cy="48736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pPr/>
              <a:t>2026-06-03</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pPr/>
              <a:t>‹#›</a:t>
            </a:fld>
            <a:endParaRPr lang="zh-CN" altLang="en-US"/>
          </a:p>
        </p:txBody>
      </p:sp>
      <p:sp>
        <p:nvSpPr>
          <p:cNvPr id="7" name="标题 1"/>
          <p:cNvSpPr>
            <a:spLocks noGrp="1"/>
          </p:cNvSpPr>
          <p:nvPr>
            <p:ph type="title"/>
            <p:custDataLst>
              <p:tags r:id="rId5"/>
            </p:custDataLst>
          </p:nvPr>
        </p:nvSpPr>
        <p:spPr/>
        <p:txBody>
          <a:bodyPr/>
          <a:lstStyle/>
          <a:p>
            <a:r>
              <a:rPr lang="zh-CN" altLang="en-US"/>
              <a:t>单击此处编辑母版标题样式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目录">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custDataLst>
              <p:tags r:id="rId1"/>
            </p:custDataLst>
          </p:nvPr>
        </p:nvPicPr>
        <p:blipFill>
          <a:blip r:embed="rId8"/>
          <a:stretch>
            <a:fillRect/>
          </a:stretch>
        </p:blipFill>
        <p:spPr>
          <a:xfrm>
            <a:off x="-1" y="6470"/>
            <a:ext cx="12171621" cy="6833617"/>
          </a:xfrm>
          <a:prstGeom prst="rect">
            <a:avLst/>
          </a:prstGeom>
        </p:spPr>
      </p:pic>
      <p:sp>
        <p:nvSpPr>
          <p:cNvPr id="6" name="标题 1"/>
          <p:cNvSpPr>
            <a:spLocks noGrp="1"/>
          </p:cNvSpPr>
          <p:nvPr>
            <p:ph type="title" hasCustomPrompt="1"/>
            <p:custDataLst>
              <p:tags r:id="rId2"/>
            </p:custDataLst>
          </p:nvPr>
        </p:nvSpPr>
        <p:spPr>
          <a:xfrm>
            <a:off x="5132387" y="811262"/>
            <a:ext cx="1977755" cy="1081088"/>
          </a:xfrm>
        </p:spPr>
        <p:txBody>
          <a:bodyPr wrap="square" anchor="b">
            <a:normAutofit/>
          </a:bodyPr>
          <a:lstStyle>
            <a:lvl1pPr algn="ctr">
              <a:defRPr kumimoji="0" lang="zh-CN" altLang="en-GB" sz="4500" b="1" i="0" u="none" strike="noStrike" kern="1200" cap="none" spc="0" normalizeH="0" baseline="0" noProof="0" dirty="0">
                <a:ln>
                  <a:noFill/>
                </a:ln>
                <a:gradFill>
                  <a:gsLst>
                    <a:gs pos="37000">
                      <a:schemeClr val="tx1"/>
                    </a:gs>
                    <a:gs pos="100000">
                      <a:schemeClr val="tx1">
                        <a:alpha val="0"/>
                      </a:schemeClr>
                    </a:gs>
                  </a:gsLst>
                  <a:lin ang="4800000" scaled="0"/>
                </a:gradFill>
                <a:effectLst/>
                <a:uLnTx/>
                <a:uFillTx/>
                <a:latin typeface="+mj-lt"/>
                <a:ea typeface="+mj-ea"/>
                <a:cs typeface="+mn-cs"/>
                <a:sym typeface="Arial" panose="020B0604020202020204" pitchFamily="34" charset="0"/>
              </a:defRPr>
            </a:lvl1pPr>
          </a:lstStyle>
          <a:p>
            <a:r>
              <a:rPr lang="zh-CN" altLang="en-US" dirty="0"/>
              <a:t>标题</a:t>
            </a:r>
          </a:p>
        </p:txBody>
      </p:sp>
      <p:sp>
        <p:nvSpPr>
          <p:cNvPr id="9"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pPr/>
              <a:t>‹#›</a:t>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pPr/>
              <a:t>2026-06-03</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pic>
        <p:nvPicPr>
          <p:cNvPr id="7" name="图片 4" descr="图片包含 游戏机&#10;&#10;AI 生成的内容可能不正确。"/>
          <p:cNvPicPr>
            <a:picLocks noChangeAspect="1"/>
          </p:cNvPicPr>
          <p:nvPr>
            <p:custDataLst>
              <p:tags r:id="rId1"/>
            </p:custDataLst>
          </p:nvPr>
        </p:nvPicPr>
        <p:blipFill>
          <a:blip r:embed="rId10"/>
          <a:stretch>
            <a:fillRect/>
          </a:stretch>
        </p:blipFill>
        <p:spPr>
          <a:xfrm>
            <a:off x="-1" y="6470"/>
            <a:ext cx="12171621" cy="6833617"/>
          </a:xfrm>
          <a:prstGeom prst="rect">
            <a:avLst/>
          </a:prstGeom>
        </p:spPr>
      </p:pic>
      <p:sp>
        <p:nvSpPr>
          <p:cNvPr id="13" name="灯片编号占位符 6"/>
          <p:cNvSpPr>
            <a:spLocks noGrp="1"/>
          </p:cNvSpPr>
          <p:nvPr>
            <p:ph type="sldNum" sz="quarter" idx="12"/>
            <p:custDataLst>
              <p:tags r:id="rId2"/>
            </p:custDataLst>
          </p:nvPr>
        </p:nvSpPr>
        <p:spPr/>
        <p:txBody>
          <a:bodyPr wrap="square">
            <a:normAutofit/>
          </a:bodyPr>
          <a:lstStyle/>
          <a:p>
            <a:fld id="{BE5F26B5-172A-4DC2-B0B7-181CFC56B87C}" type="slidenum">
              <a:rPr lang="zh-CN" altLang="en-US" smtClean="0"/>
              <a:pPr/>
              <a:t>‹#›</a:t>
            </a:fld>
            <a:endParaRPr lang="zh-CN" altLang="en-US"/>
          </a:p>
        </p:txBody>
      </p:sp>
      <p:sp>
        <p:nvSpPr>
          <p:cNvPr id="12" name="页脚占位符 5"/>
          <p:cNvSpPr>
            <a:spLocks noGrp="1"/>
          </p:cNvSpPr>
          <p:nvPr>
            <p:ph type="ftr" sz="quarter" idx="11"/>
            <p:custDataLst>
              <p:tags r:id="rId3"/>
            </p:custDataLst>
          </p:nvPr>
        </p:nvSpPr>
        <p:spPr/>
        <p:txBody>
          <a:bodyPr/>
          <a:lstStyle/>
          <a:p>
            <a:endParaRPr lang="zh-CN" altLang="en-US"/>
          </a:p>
        </p:txBody>
      </p:sp>
      <p:sp>
        <p:nvSpPr>
          <p:cNvPr id="11"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pPr/>
              <a:t>2026-06-03</a:t>
            </a:fld>
            <a:endParaRPr lang="zh-CN" altLang="en-US"/>
          </a:p>
        </p:txBody>
      </p:sp>
      <p:sp>
        <p:nvSpPr>
          <p:cNvPr id="10" name="节编号 3"/>
          <p:cNvSpPr>
            <a:spLocks noGrp="1"/>
          </p:cNvSpPr>
          <p:nvPr>
            <p:ph type="body" sz="quarter" idx="13" hasCustomPrompt="1"/>
            <p:custDataLst>
              <p:tags r:id="rId5"/>
            </p:custDataLst>
          </p:nvPr>
        </p:nvSpPr>
        <p:spPr>
          <a:xfrm>
            <a:off x="3104662" y="2083907"/>
            <a:ext cx="1008000" cy="1008000"/>
          </a:xfrm>
          <a:prstGeom prst="ellipse">
            <a:avLst/>
          </a:prstGeom>
          <a:solidFill>
            <a:schemeClr val="accent1"/>
          </a:solidFill>
          <a:ln w="12700">
            <a:solidFill>
              <a:srgbClr val="FFFFFF"/>
            </a:solidFill>
          </a:ln>
        </p:spPr>
        <p:txBody>
          <a:bodyPr wrap="none" anchor="ctr">
            <a:normAutofit/>
          </a:bodyPr>
          <a:lstStyle>
            <a:lvl1pPr marL="0" indent="0" algn="ctr">
              <a:buNone/>
              <a:defRPr sz="2700" b="1">
                <a:solidFill>
                  <a:srgbClr val="FFFFFF"/>
                </a:solidFill>
              </a:defRPr>
            </a:lvl1pPr>
          </a:lstStyle>
          <a:p>
            <a:pPr lvl="0"/>
            <a:r>
              <a:rPr lang="zh-CN" altLang="en-US" dirty="0"/>
              <a:t>节编号</a:t>
            </a:r>
          </a:p>
        </p:txBody>
      </p:sp>
      <p:sp>
        <p:nvSpPr>
          <p:cNvPr id="9" name="文本占位符 2"/>
          <p:cNvSpPr>
            <a:spLocks noGrp="1"/>
          </p:cNvSpPr>
          <p:nvPr>
            <p:ph type="body" idx="1" hasCustomPrompt="1"/>
            <p:custDataLst>
              <p:tags r:id="rId6"/>
            </p:custDataLst>
          </p:nvPr>
        </p:nvSpPr>
        <p:spPr>
          <a:xfrm>
            <a:off x="4523063" y="3131507"/>
            <a:ext cx="4564800" cy="561600"/>
          </a:xfrm>
        </p:spPr>
        <p:txBody>
          <a:bodyPr wrap="square">
            <a:normAutofit/>
          </a:bodyPr>
          <a:lstStyle>
            <a:lvl1pPr marL="0" indent="0" algn="l">
              <a:buNone/>
              <a:defRPr sz="1650" b="1">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单击此处编辑副标题</a:t>
            </a:r>
          </a:p>
        </p:txBody>
      </p:sp>
      <p:sp>
        <p:nvSpPr>
          <p:cNvPr id="8" name="标题 1"/>
          <p:cNvSpPr>
            <a:spLocks noGrp="1"/>
          </p:cNvSpPr>
          <p:nvPr>
            <p:ph type="title" hasCustomPrompt="1"/>
            <p:custDataLst>
              <p:tags r:id="rId7"/>
            </p:custDataLst>
          </p:nvPr>
        </p:nvSpPr>
        <p:spPr>
          <a:xfrm>
            <a:off x="4472663" y="1641107"/>
            <a:ext cx="4604400" cy="1375200"/>
          </a:xfrm>
        </p:spPr>
        <p:txBody>
          <a:bodyPr wrap="square" anchor="b">
            <a:normAutofit/>
          </a:bodyPr>
          <a:lstStyle>
            <a:lvl1pPr algn="l">
              <a:defRPr kumimoji="0" lang="zh-CN" altLang="en-US" sz="4050" b="0" i="0" u="none" strike="noStrike" kern="1200" cap="none" spc="0" normalizeH="0" baseline="0" noProof="1" dirty="0">
                <a:ln>
                  <a:noFill/>
                </a:ln>
                <a:solidFill>
                  <a:schemeClr val="tx1"/>
                </a:solidFill>
                <a:effectLst/>
                <a:uLnTx/>
                <a:uFillTx/>
                <a:latin typeface="+mj-lt"/>
                <a:ea typeface="+mj-ea"/>
                <a:cs typeface="+mn-cs"/>
                <a:sym typeface="Arial" panose="020B0604020202020204" pitchFamily="34" charset="0"/>
              </a:defRPr>
            </a:lvl1pPr>
          </a:lstStyle>
          <a:p>
            <a:r>
              <a:rPr lang="zh-CN" altLang="en-US" dirty="0"/>
              <a:t>编辑母版标题</a:t>
            </a:r>
          </a:p>
        </p:txBody>
      </p:sp>
    </p:spTree>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1"/>
            </p:custDataLst>
          </p:nvPr>
        </p:nvSpPr>
        <p:spPr>
          <a:xfrm>
            <a:off x="695960" y="1301750"/>
            <a:ext cx="5323840" cy="487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2"/>
            </p:custDataLst>
          </p:nvPr>
        </p:nvSpPr>
        <p:spPr>
          <a:xfrm>
            <a:off x="6172200" y="1301750"/>
            <a:ext cx="5323840" cy="4875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custDataLst>
              <p:tags r:id="rId3"/>
            </p:custDataLst>
          </p:nvPr>
        </p:nvSpPr>
        <p:spPr/>
        <p:txBody>
          <a:bodyPr/>
          <a:lstStyle/>
          <a:p>
            <a:fld id="{760FBDFE-C587-4B4C-A407-44438C67B59E}" type="datetimeFigureOut">
              <a:rPr lang="zh-CN" altLang="en-US" smtClean="0"/>
              <a:pPr/>
              <a:t>2026-06-03</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49AE70B2-8BF9-45C0-BB95-33D1B9D3A854}" type="slidenum">
              <a:rPr lang="zh-CN" altLang="en-US" smtClean="0"/>
              <a:pPr/>
              <a:t>‹#›</a:t>
            </a:fld>
            <a:endParaRPr lang="zh-CN" altLang="en-US"/>
          </a:p>
        </p:txBody>
      </p:sp>
      <p:sp>
        <p:nvSpPr>
          <p:cNvPr id="8" name="标题 1"/>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1"/>
            </p:custDataLst>
          </p:nvPr>
        </p:nvSpPr>
        <p:spPr>
          <a:xfrm>
            <a:off x="695960" y="1301750"/>
            <a:ext cx="5323840" cy="411303"/>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custDataLst>
              <p:tags r:id="rId2"/>
            </p:custDataLst>
          </p:nvPr>
        </p:nvSpPr>
        <p:spPr>
          <a:xfrm>
            <a:off x="695960" y="1875099"/>
            <a:ext cx="5323840" cy="430027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custDataLst>
              <p:tags r:id="rId3"/>
            </p:custDataLst>
          </p:nvPr>
        </p:nvSpPr>
        <p:spPr>
          <a:xfrm>
            <a:off x="6172200" y="1301750"/>
            <a:ext cx="5323840" cy="411303"/>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custDataLst>
              <p:tags r:id="rId4"/>
            </p:custDataLst>
          </p:nvPr>
        </p:nvSpPr>
        <p:spPr>
          <a:xfrm>
            <a:off x="6172200" y="1875099"/>
            <a:ext cx="5323840" cy="430027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5"/>
            </p:custDataLst>
          </p:nvPr>
        </p:nvSpPr>
        <p:spPr/>
        <p:txBody>
          <a:bodyPr/>
          <a:lstStyle/>
          <a:p>
            <a:fld id="{760FBDFE-C587-4B4C-A407-44438C67B59E}" type="datetimeFigureOut">
              <a:rPr lang="zh-CN" altLang="en-US" smtClean="0"/>
              <a:pPr/>
              <a:t>2026-06-03</a:t>
            </a:fld>
            <a:endParaRPr lang="zh-CN" altLang="en-US"/>
          </a:p>
        </p:txBody>
      </p:sp>
      <p:sp>
        <p:nvSpPr>
          <p:cNvPr id="8" name="页脚占位符 7"/>
          <p:cNvSpPr>
            <a:spLocks noGrp="1"/>
          </p:cNvSpPr>
          <p:nvPr>
            <p:ph type="ftr" sz="quarter" idx="11"/>
            <p:custDataLst>
              <p:tags r:id="rId6"/>
            </p:custDataLst>
          </p:nvPr>
        </p:nvSpPr>
        <p:spPr/>
        <p:txBody>
          <a:bodyPr/>
          <a:lstStyle/>
          <a:p>
            <a:endParaRPr lang="zh-CN" altLang="en-US"/>
          </a:p>
        </p:txBody>
      </p:sp>
      <p:sp>
        <p:nvSpPr>
          <p:cNvPr id="9" name="灯片编号占位符 8"/>
          <p:cNvSpPr>
            <a:spLocks noGrp="1"/>
          </p:cNvSpPr>
          <p:nvPr>
            <p:ph type="sldNum" sz="quarter" idx="12"/>
            <p:custDataLst>
              <p:tags r:id="rId7"/>
            </p:custDataLst>
          </p:nvPr>
        </p:nvSpPr>
        <p:spPr/>
        <p:txBody>
          <a:bodyPr/>
          <a:lstStyle/>
          <a:p>
            <a:fld id="{49AE70B2-8BF9-45C0-BB95-33D1B9D3A854}" type="slidenum">
              <a:rPr lang="zh-CN" altLang="en-US" smtClean="0"/>
              <a:pPr/>
              <a:t>‹#›</a:t>
            </a:fld>
            <a:endParaRPr lang="zh-CN" altLang="en-US"/>
          </a:p>
        </p:txBody>
      </p:sp>
      <p:sp>
        <p:nvSpPr>
          <p:cNvPr id="10" name="标题 1"/>
          <p:cNvSpPr>
            <a:spLocks noGrp="1"/>
          </p:cNvSpPr>
          <p:nvPr>
            <p:ph type="title"/>
            <p:custDataLst>
              <p:tags r:id="rId8"/>
            </p:custDataLst>
          </p:nvPr>
        </p:nvSpPr>
        <p:spPr/>
        <p:txBody>
          <a:bodyPr/>
          <a:lstStyle/>
          <a:p>
            <a:r>
              <a:rPr lang="zh-CN" altLang="en-US"/>
              <a:t>单击此处编辑母版标题样式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pPr/>
              <a:t>2026-06-03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pPr/>
              <a:t>‹#›</a:t>
            </a:fld>
            <a:endParaRPr lang="zh-CN" altLang="en-US"/>
          </a:p>
        </p:txBody>
      </p:sp>
      <p:sp>
        <p:nvSpPr>
          <p:cNvPr id="6" name="标题 1"/>
          <p:cNvSpPr>
            <a:spLocks noGrp="1"/>
          </p:cNvSpPr>
          <p:nvPr>
            <p:ph type="title"/>
            <p:custDataLst>
              <p:tags r:id="rId4"/>
            </p:custDataLst>
          </p:nvPr>
        </p:nvSpPr>
        <p:spPr/>
        <p:txBody>
          <a:bodyPr/>
          <a:lstStyle/>
          <a:p>
            <a:r>
              <a:rPr lang="zh-CN" altLang="en-US"/>
              <a:t>单击此处编辑母版标题样式</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pPr/>
              <a:t>2026-06-03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695960" y="360045"/>
            <a:ext cx="10801985" cy="581787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pPr/>
              <a:t>2026-06-03</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pPr/>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pPr/>
              <a:t>2026-06-03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pPr/>
              <a:t>‹#›</a:t>
            </a:fld>
            <a:endParaRPr lang="zh-CN" altLang="en-US"/>
          </a:p>
        </p:txBody>
      </p:sp>
      <p:sp>
        <p:nvSpPr>
          <p:cNvPr id="6" name="Text Placeholder 5"/>
          <p:cNvSpPr>
            <a:spLocks noGrp="1"/>
          </p:cNvSpPr>
          <p:nvPr>
            <p:ph type="body" idx="13" hasCustomPrompt="1"/>
            <p:custDataLst>
              <p:tags r:id="rId4"/>
            </p:custDataLst>
          </p:nvPr>
        </p:nvSpPr>
        <p:spPr>
          <a:xfrm>
            <a:off x="695960" y="1301750"/>
            <a:ext cx="10799088" cy="405553"/>
          </a:xfrm>
        </p:spPr>
        <p:txBody>
          <a:bodyPr/>
          <a:lstStyle>
            <a:lvl5pPr>
              <a:buNone/>
              <a:defRPr/>
            </a:lvl5pPr>
          </a:lstStyle>
          <a:p>
            <a:pPr lvl="0"/>
            <a:r>
              <a:rPr lang="zh-CN" altLang="en-US"/>
              <a:t>单击此处编辑副标题</a:t>
            </a:r>
          </a:p>
        </p:txBody>
      </p:sp>
      <p:sp>
        <p:nvSpPr>
          <p:cNvPr id="7" name="标题 1"/>
          <p:cNvSpPr>
            <a:spLocks noGrp="1"/>
          </p:cNvSpPr>
          <p:nvPr>
            <p:ph type="title"/>
            <p:custDataLst>
              <p:tags r:id="rId5"/>
            </p:custDataLst>
          </p:nvPr>
        </p:nvSpPr>
        <p:spPr/>
        <p:txBody>
          <a:bodyPr/>
          <a:lstStyle/>
          <a:p>
            <a:r>
              <a:rPr lang="zh-CN" altLang="en-US"/>
              <a:t>单击此处编辑母版标题样式</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13" name="图片 12" descr="图片包含 游戏机&#10;&#10;AI 生成的内容可能不正确。"/>
          <p:cNvPicPr>
            <a:picLocks noChangeAspect="1"/>
          </p:cNvPicPr>
          <p:nvPr>
            <p:custDataLst>
              <p:tags r:id="rId1"/>
            </p:custDataLst>
          </p:nvPr>
        </p:nvPicPr>
        <p:blipFill>
          <a:blip r:embed="rId8"/>
          <a:stretch>
            <a:fillRect/>
          </a:stretch>
        </p:blipFill>
        <p:spPr>
          <a:xfrm>
            <a:off x="-1" y="6470"/>
            <a:ext cx="12171621" cy="6833617"/>
          </a:xfrm>
          <a:prstGeom prst="rect">
            <a:avLst/>
          </a:prstGeom>
        </p:spPr>
      </p:pic>
      <p:pic>
        <p:nvPicPr>
          <p:cNvPr id="6" name="图片 4"/>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3790950" y="5561126"/>
            <a:ext cx="4610100" cy="342900"/>
          </a:xfrm>
          <a:prstGeom prst="rect">
            <a:avLst/>
          </a:prstGeom>
        </p:spPr>
      </p:pic>
      <p:pic>
        <p:nvPicPr>
          <p:cNvPr id="9" name="图片 8" descr="手机屏幕的截图&#10;&#10;AI 生成的内容可能不正确。"/>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5143499" y="635311"/>
            <a:ext cx="1905000" cy="508000"/>
          </a:xfrm>
          <a:prstGeom prst="rect">
            <a:avLst/>
          </a:prstGeom>
        </p:spPr>
      </p:pic>
      <p:sp>
        <p:nvSpPr>
          <p:cNvPr id="8" name="署名占位符 10"/>
          <p:cNvSpPr>
            <a:spLocks noGrp="1"/>
          </p:cNvSpPr>
          <p:nvPr>
            <p:ph type="body" sz="quarter" idx="17" hasCustomPrompt="1"/>
            <p:custDataLst>
              <p:tags r:id="rId4"/>
            </p:custDataLst>
          </p:nvPr>
        </p:nvSpPr>
        <p:spPr>
          <a:xfrm>
            <a:off x="4925588" y="3291135"/>
            <a:ext cx="2340000" cy="468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350" b="1" i="0" u="none" strike="noStrike" kern="1200" cap="none" spc="0" normalizeH="0" baseline="0" noProof="1" dirty="0">
                <a:solidFill>
                  <a:schemeClr val="lt1"/>
                </a:solidFill>
                <a:latin typeface="+mn-ea"/>
                <a:ea typeface="+mn-ea"/>
                <a:cs typeface="+mn-cs"/>
              </a:defRPr>
            </a:lvl1pPr>
            <a:lvl2pPr marL="342900" algn="l" defTabSz="914400" rtl="0" eaLnBrk="1" latinLnBrk="0" hangingPunct="1">
              <a:defRPr sz="1350" kern="1200">
                <a:solidFill>
                  <a:schemeClr val="lt1"/>
                </a:solidFill>
                <a:latin typeface="+mn-lt"/>
                <a:ea typeface="+mn-ea"/>
                <a:cs typeface="+mn-cs"/>
              </a:defRPr>
            </a:lvl2pPr>
            <a:lvl3pPr marL="685800" algn="l" defTabSz="914400" rtl="0" eaLnBrk="1" latinLnBrk="0" hangingPunct="1">
              <a:defRPr sz="1350" kern="1200">
                <a:solidFill>
                  <a:schemeClr val="lt1"/>
                </a:solidFill>
                <a:latin typeface="+mn-lt"/>
                <a:ea typeface="+mn-ea"/>
                <a:cs typeface="+mn-cs"/>
              </a:defRPr>
            </a:lvl3pPr>
            <a:lvl4pPr marL="1028700" algn="l" defTabSz="914400" rtl="0" eaLnBrk="1" latinLnBrk="0" hangingPunct="1">
              <a:defRPr sz="1350" kern="1200">
                <a:solidFill>
                  <a:schemeClr val="lt1"/>
                </a:solidFill>
                <a:latin typeface="+mn-lt"/>
                <a:ea typeface="+mn-ea"/>
                <a:cs typeface="+mn-cs"/>
              </a:defRPr>
            </a:lvl4pPr>
            <a:lvl5pPr marL="1371600" algn="l" defTabSz="914400" rtl="0" eaLnBrk="1" latinLnBrk="0" hangingPunct="1">
              <a:defRPr sz="1350" kern="1200">
                <a:solidFill>
                  <a:schemeClr val="lt1"/>
                </a:solidFill>
                <a:latin typeface="+mn-lt"/>
                <a:ea typeface="+mn-ea"/>
                <a:cs typeface="+mn-cs"/>
              </a:defRPr>
            </a:lvl5pPr>
            <a:lvl6pPr marL="1714500" algn="l" defTabSz="914400" rtl="0" eaLnBrk="1" latinLnBrk="0" hangingPunct="1">
              <a:defRPr sz="1350" kern="1200">
                <a:solidFill>
                  <a:schemeClr val="lt1"/>
                </a:solidFill>
                <a:latin typeface="+mn-lt"/>
                <a:ea typeface="+mn-ea"/>
                <a:cs typeface="+mn-cs"/>
              </a:defRPr>
            </a:lvl6pPr>
            <a:lvl7pPr marL="2057400" algn="l" defTabSz="914400" rtl="0" eaLnBrk="1" latinLnBrk="0" hangingPunct="1">
              <a:defRPr sz="1350" kern="1200">
                <a:solidFill>
                  <a:schemeClr val="lt1"/>
                </a:solidFill>
                <a:latin typeface="+mn-lt"/>
                <a:ea typeface="+mn-ea"/>
                <a:cs typeface="+mn-cs"/>
              </a:defRPr>
            </a:lvl7pPr>
            <a:lvl8pPr marL="2400300" algn="l" defTabSz="914400" rtl="0" eaLnBrk="1" latinLnBrk="0" hangingPunct="1">
              <a:defRPr sz="1350" kern="1200">
                <a:solidFill>
                  <a:schemeClr val="lt1"/>
                </a:solidFill>
                <a:latin typeface="+mn-lt"/>
                <a:ea typeface="+mn-ea"/>
                <a:cs typeface="+mn-cs"/>
              </a:defRPr>
            </a:lvl8pPr>
            <a:lvl9pPr marL="2743200" algn="l" defTabSz="914400" rtl="0" eaLnBrk="1" latinLnBrk="0" hangingPunct="1">
              <a:defRPr sz="1350" kern="1200">
                <a:solidFill>
                  <a:schemeClr val="lt1"/>
                </a:solidFill>
                <a:latin typeface="+mn-lt"/>
                <a:ea typeface="+mn-ea"/>
                <a:cs typeface="+mn-cs"/>
              </a:defRPr>
            </a:lvl9pPr>
          </a:lstStyle>
          <a:p>
            <a:pPr lvl="0"/>
            <a:r>
              <a:rPr>
                <a:sym typeface="+mn-ea"/>
              </a:rPr>
              <a:t>署名</a:t>
            </a:r>
          </a:p>
        </p:txBody>
      </p:sp>
      <p:sp>
        <p:nvSpPr>
          <p:cNvPr id="7" name="标题 6"/>
          <p:cNvSpPr txBox="1">
            <a:spLocks noGrp="1"/>
          </p:cNvSpPr>
          <p:nvPr>
            <p:ph type="ctrTitle" hasCustomPrompt="1"/>
            <p:custDataLst>
              <p:tags r:id="rId5"/>
            </p:custDataLst>
          </p:nvPr>
        </p:nvSpPr>
        <p:spPr>
          <a:xfrm>
            <a:off x="3112135" y="1575435"/>
            <a:ext cx="5968365" cy="1524635"/>
          </a:xfrm>
          <a:noFill/>
        </p:spPr>
        <p:txBody>
          <a:bodyPr wrap="square" rtlCol="0" anchor="ctr" anchorCtr="0">
            <a:normAutofit/>
          </a:bodyPr>
          <a:lstStyle>
            <a:defPPr>
              <a:defRPr lang="zh-CN"/>
            </a:defPPr>
            <a:lvl1pPr marL="0" marR="0" algn="ctr" defTabSz="914400" rtl="0" eaLnBrk="1" fontAlgn="auto" latinLnBrk="0" hangingPunct="1">
              <a:lnSpc>
                <a:spcPct val="100000"/>
              </a:lnSpc>
              <a:buClrTx/>
              <a:buSzTx/>
              <a:buFontTx/>
              <a:buNone/>
              <a:defRPr kumimoji="0" lang="en-US" altLang="zh-CN" sz="6600" b="1" i="0" u="none" strike="noStrike" kern="1200" cap="none" spc="0" normalizeH="0" baseline="0" noProof="1" dirty="0">
                <a:solidFill>
                  <a:schemeClr val="tx1"/>
                </a:solidFill>
                <a:uFillTx/>
                <a:latin typeface="+mn-lt"/>
                <a:ea typeface="+mn-ea"/>
                <a:cs typeface="微软雅黑" panose="020B0503020204020204" pitchFamily="34" charset="-122"/>
              </a:defRPr>
            </a:lvl1pPr>
            <a:lvl2pPr marL="342900" algn="l" defTabSz="914400" rtl="0" eaLnBrk="1" latinLnBrk="0" hangingPunct="1">
              <a:defRPr sz="1350" kern="1200">
                <a:solidFill>
                  <a:schemeClr val="tx1"/>
                </a:solidFill>
                <a:latin typeface="+mn-lt"/>
                <a:ea typeface="+mn-ea"/>
                <a:cs typeface="+mn-cs"/>
              </a:defRPr>
            </a:lvl2pPr>
            <a:lvl3pPr marL="685800" algn="l" defTabSz="914400" rtl="0" eaLnBrk="1" latinLnBrk="0" hangingPunct="1">
              <a:defRPr sz="1350" kern="1200">
                <a:solidFill>
                  <a:schemeClr val="tx1"/>
                </a:solidFill>
                <a:latin typeface="+mn-lt"/>
                <a:ea typeface="+mn-ea"/>
                <a:cs typeface="+mn-cs"/>
              </a:defRPr>
            </a:lvl3pPr>
            <a:lvl4pPr marL="1028700" algn="l" defTabSz="914400" rtl="0" eaLnBrk="1" latinLnBrk="0" hangingPunct="1">
              <a:defRPr sz="1350" kern="1200">
                <a:solidFill>
                  <a:schemeClr val="tx1"/>
                </a:solidFill>
                <a:latin typeface="+mn-lt"/>
                <a:ea typeface="+mn-ea"/>
                <a:cs typeface="+mn-cs"/>
              </a:defRPr>
            </a:lvl4pPr>
            <a:lvl5pPr marL="1371600" algn="l" defTabSz="914400" rtl="0" eaLnBrk="1" latinLnBrk="0" hangingPunct="1">
              <a:defRPr sz="1350" kern="1200">
                <a:solidFill>
                  <a:schemeClr val="tx1"/>
                </a:solidFill>
                <a:latin typeface="+mn-lt"/>
                <a:ea typeface="+mn-ea"/>
                <a:cs typeface="+mn-cs"/>
              </a:defRPr>
            </a:lvl5pPr>
            <a:lvl6pPr marL="1714500" algn="l" defTabSz="914400" rtl="0" eaLnBrk="1" latinLnBrk="0" hangingPunct="1">
              <a:defRPr sz="1350" kern="1200">
                <a:solidFill>
                  <a:schemeClr val="tx1"/>
                </a:solidFill>
                <a:latin typeface="+mn-lt"/>
                <a:ea typeface="+mn-ea"/>
                <a:cs typeface="+mn-cs"/>
              </a:defRPr>
            </a:lvl6pPr>
            <a:lvl7pPr marL="2057400" algn="l" defTabSz="914400" rtl="0" eaLnBrk="1" latinLnBrk="0" hangingPunct="1">
              <a:defRPr sz="1350" kern="1200">
                <a:solidFill>
                  <a:schemeClr val="tx1"/>
                </a:solidFill>
                <a:latin typeface="+mn-lt"/>
                <a:ea typeface="+mn-ea"/>
                <a:cs typeface="+mn-cs"/>
              </a:defRPr>
            </a:lvl7pPr>
            <a:lvl8pPr marL="2400300" algn="l" defTabSz="914400" rtl="0" eaLnBrk="1" latinLnBrk="0" hangingPunct="1">
              <a:defRPr sz="1350" kern="1200">
                <a:solidFill>
                  <a:schemeClr val="tx1"/>
                </a:solidFill>
                <a:latin typeface="+mn-lt"/>
                <a:ea typeface="+mn-ea"/>
                <a:cs typeface="+mn-cs"/>
              </a:defRPr>
            </a:lvl8pPr>
            <a:lvl9pPr marL="2743200" algn="l" defTabSz="914400" rtl="0" eaLnBrk="1" latinLnBrk="0" hangingPunct="1">
              <a:defRPr sz="1350" kern="1200">
                <a:solidFill>
                  <a:schemeClr val="tx1"/>
                </a:solidFill>
                <a:latin typeface="+mn-lt"/>
                <a:ea typeface="+mn-ea"/>
                <a:cs typeface="+mn-cs"/>
              </a:defRPr>
            </a:lvl9pPr>
          </a:lstStyle>
          <a:p>
            <a:pPr lvl="0"/>
            <a:r>
              <a:rPr dirty="0">
                <a:sym typeface="+mn-ea"/>
              </a:rPr>
              <a:t>编辑标题</a:t>
            </a:r>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ags" Target="../tags/tag2.xml"/><Relationship Id="rId18" Type="http://schemas.openxmlformats.org/officeDocument/2006/relationships/tags" Target="../tags/tag7.xml"/><Relationship Id="rId26" Type="http://schemas.openxmlformats.org/officeDocument/2006/relationships/image" Target="../media/image6.png"/><Relationship Id="rId3" Type="http://schemas.openxmlformats.org/officeDocument/2006/relationships/slideLayout" Target="../slideLayouts/slideLayout17.xml"/><Relationship Id="rId21" Type="http://schemas.openxmlformats.org/officeDocument/2006/relationships/tags" Target="../tags/tag10.xml"/><Relationship Id="rId7" Type="http://schemas.openxmlformats.org/officeDocument/2006/relationships/slideLayout" Target="../slideLayouts/slideLayout21.xml"/><Relationship Id="rId12" Type="http://schemas.openxmlformats.org/officeDocument/2006/relationships/theme" Target="../theme/theme2.xml"/><Relationship Id="rId17" Type="http://schemas.openxmlformats.org/officeDocument/2006/relationships/tags" Target="../tags/tag6.xml"/><Relationship Id="rId25" Type="http://schemas.openxmlformats.org/officeDocument/2006/relationships/tags" Target="../tags/tag14.xml"/><Relationship Id="rId2" Type="http://schemas.openxmlformats.org/officeDocument/2006/relationships/slideLayout" Target="../slideLayouts/slideLayout16.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3.xml"/><Relationship Id="rId5" Type="http://schemas.openxmlformats.org/officeDocument/2006/relationships/slideLayout" Target="../slideLayouts/slideLayout19.xml"/><Relationship Id="rId15" Type="http://schemas.openxmlformats.org/officeDocument/2006/relationships/tags" Target="../tags/tag4.xml"/><Relationship Id="rId23" Type="http://schemas.openxmlformats.org/officeDocument/2006/relationships/tags" Target="../tags/tag12.xml"/><Relationship Id="rId10" Type="http://schemas.openxmlformats.org/officeDocument/2006/relationships/slideLayout" Target="../slideLayouts/slideLayout24.xml"/><Relationship Id="rId19" Type="http://schemas.openxmlformats.org/officeDocument/2006/relationships/tags" Target="../tags/tag8.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ags" Target="../tags/tag3.xml"/><Relationship Id="rId22" Type="http://schemas.openxmlformats.org/officeDocument/2006/relationships/tags" Target="../tags/tag11.xml"/><Relationship Id="rId27"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gray">
          <a:xfrm>
            <a:off x="406400" y="1219200"/>
            <a:ext cx="11176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1" name="Rectangle 2"/>
          <p:cNvSpPr>
            <a:spLocks noGrp="1" noChangeArrowheads="1"/>
          </p:cNvSpPr>
          <p:nvPr>
            <p:ph type="title"/>
          </p:nvPr>
        </p:nvSpPr>
        <p:spPr bwMode="gray">
          <a:xfrm>
            <a:off x="440267" y="350838"/>
            <a:ext cx="10192329" cy="563562"/>
          </a:xfrm>
          <a:prstGeom prst="rect">
            <a:avLst/>
          </a:prstGeom>
          <a:noFill/>
          <a:ln>
            <a:noFill/>
          </a:ln>
          <a:effectLst>
            <a:outerShdw blurRad="63500" dist="29783" dir="1514402" algn="ctr" rotWithShape="0">
              <a:schemeClr val="bg1">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dirty="0"/>
              <a:t>单击此处编辑母版标题样式</a:t>
            </a:r>
            <a:endParaRPr lang="en-US" altLang="zh-CN" dirty="0"/>
          </a:p>
        </p:txBody>
      </p:sp>
      <p:cxnSp>
        <p:nvCxnSpPr>
          <p:cNvPr id="7" name="Straight Connector 6"/>
          <p:cNvCxnSpPr/>
          <p:nvPr/>
        </p:nvCxnSpPr>
        <p:spPr>
          <a:xfrm>
            <a:off x="421793" y="1052513"/>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2050" name="Picture 2" descr="D:\00-DGWorkshop\04-Marketing\logo设计\御数坊LOGO无字.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0457848" y="-26581"/>
            <a:ext cx="1715679" cy="100102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Footer Placeholder 3"/>
          <p:cNvSpPr txBox="1"/>
          <p:nvPr userDrawn="1"/>
        </p:nvSpPr>
        <p:spPr>
          <a:xfrm>
            <a:off x="4858815" y="6517020"/>
            <a:ext cx="2389313" cy="326571"/>
          </a:xfrm>
          <a:prstGeom prst="rect">
            <a:avLst/>
          </a:prstGeom>
        </p:spPr>
        <p:txBody>
          <a:bodyPr vert="horz" lIns="91440" tIns="45720" rIns="91440" bIns="45720" rtlCol="0" anchor="ctr"/>
          <a:lstStyle>
            <a:defPPr>
              <a:defRPr lang="zh-CN"/>
            </a:defPPr>
            <a:lvl1pPr marL="0" algn="l" defTabSz="914400" rtl="0" eaLnBrk="1" latinLnBrk="0" hangingPunct="1">
              <a:defRPr sz="900" kern="1200" baseline="0">
                <a:solidFill>
                  <a:schemeClr val="tx2"/>
                </a:solidFill>
                <a:latin typeface="+mn-lt"/>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dirty="0">
                <a:solidFill>
                  <a:srgbClr val="666666"/>
                </a:solidFill>
                <a:ea typeface="+mn-ea"/>
                <a:cs typeface="Calibri" panose="020F0502020204030204" pitchFamily="34" charset="0"/>
              </a:rPr>
              <a:t>www.dgworkshop.com.cn</a:t>
            </a:r>
          </a:p>
        </p:txBody>
      </p:sp>
      <p:sp>
        <p:nvSpPr>
          <p:cNvPr id="18" name="Footer Placeholder 3"/>
          <p:cNvSpPr txBox="1"/>
          <p:nvPr userDrawn="1"/>
        </p:nvSpPr>
        <p:spPr>
          <a:xfrm>
            <a:off x="406400" y="6513114"/>
            <a:ext cx="2713269" cy="326571"/>
          </a:xfrm>
          <a:prstGeom prst="rect">
            <a:avLst/>
          </a:prstGeom>
        </p:spPr>
        <p:txBody>
          <a:bodyPr vert="horz" lIns="91440" tIns="45720" rIns="91440" bIns="45720" rtlCol="0" anchor="ctr"/>
          <a:lstStyle>
            <a:defPPr>
              <a:defRPr lang="zh-CN"/>
            </a:defPPr>
            <a:lvl1pPr marL="0" algn="l" defTabSz="914400" rtl="0" eaLnBrk="1" latinLnBrk="0" hangingPunct="1">
              <a:defRPr sz="900" kern="1200" baseline="0">
                <a:solidFill>
                  <a:schemeClr val="tx2"/>
                </a:solidFill>
                <a:latin typeface="+mn-lt"/>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900" dirty="0">
                <a:solidFill>
                  <a:srgbClr val="666666"/>
                </a:solidFill>
                <a:ea typeface="+mn-ea"/>
                <a:cs typeface="Calibri" panose="020F0502020204030204" pitchFamily="34" charset="0"/>
              </a:rPr>
              <a:t>御数坊版权所有</a:t>
            </a:r>
            <a:r>
              <a:rPr lang="en-US" altLang="zh-CN" sz="900" dirty="0">
                <a:solidFill>
                  <a:srgbClr val="666666"/>
                </a:solidFill>
                <a:ea typeface="+mn-ea"/>
                <a:cs typeface="Calibri" panose="020F0502020204030204" pitchFamily="34" charset="0"/>
              </a:rPr>
              <a:t> </a:t>
            </a:r>
            <a:r>
              <a:rPr lang="en-US" altLang="zh-CN" sz="900">
                <a:solidFill>
                  <a:srgbClr val="666666"/>
                </a:solidFill>
                <a:ea typeface="+mn-ea"/>
                <a:cs typeface="Calibri" panose="020F0502020204030204" pitchFamily="34" charset="0"/>
              </a:rPr>
              <a:t>© 2014-2018</a:t>
            </a:r>
            <a:endParaRPr lang="en-US" altLang="zh-CN" sz="100" dirty="0">
              <a:solidFill>
                <a:srgbClr val="666666"/>
              </a:solidFill>
              <a:ea typeface="+mn-ea"/>
            </a:endParaRPr>
          </a:p>
        </p:txBody>
      </p:sp>
      <p:sp>
        <p:nvSpPr>
          <p:cNvPr id="19"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pPr algn="ct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hf hdr="0" dt="0"/>
  <p:txStyles>
    <p:titleStyle>
      <a:lvl1pPr algn="l" rtl="0" eaLnBrk="1" fontAlgn="base" hangingPunct="1">
        <a:spcBef>
          <a:spcPct val="0"/>
        </a:spcBef>
        <a:spcAft>
          <a:spcPct val="0"/>
        </a:spcAft>
        <a:defRPr sz="2400" b="1">
          <a:solidFill>
            <a:srgbClr val="0070C0"/>
          </a:solidFill>
          <a:latin typeface="+mj-lt"/>
          <a:ea typeface="+mj-ea"/>
          <a:cs typeface="微软雅黑" panose="020B0503020204020204" pitchFamily="34" charset="-122"/>
        </a:defRPr>
      </a:lvl1pPr>
      <a:lvl2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2pPr>
      <a:lvl3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3pPr>
      <a:lvl4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4pPr>
      <a:lvl5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5pPr>
      <a:lvl6pPr marL="457200" algn="l" rtl="0" eaLnBrk="1" fontAlgn="base" hangingPunct="1">
        <a:spcBef>
          <a:spcPct val="0"/>
        </a:spcBef>
        <a:spcAft>
          <a:spcPct val="0"/>
        </a:spcAft>
        <a:defRPr sz="3200" b="1">
          <a:solidFill>
            <a:srgbClr val="000000"/>
          </a:solidFill>
          <a:latin typeface="Verdana" panose="020B0604030504040204" pitchFamily="34" charset="0"/>
        </a:defRPr>
      </a:lvl6pPr>
      <a:lvl7pPr marL="914400" algn="l" rtl="0" eaLnBrk="1" fontAlgn="base" hangingPunct="1">
        <a:spcBef>
          <a:spcPct val="0"/>
        </a:spcBef>
        <a:spcAft>
          <a:spcPct val="0"/>
        </a:spcAft>
        <a:defRPr sz="3200" b="1">
          <a:solidFill>
            <a:srgbClr val="000000"/>
          </a:solidFill>
          <a:latin typeface="Verdana" panose="020B0604030504040204" pitchFamily="34" charset="0"/>
        </a:defRPr>
      </a:lvl7pPr>
      <a:lvl8pPr marL="1371600" algn="l" rtl="0" eaLnBrk="1" fontAlgn="base" hangingPunct="1">
        <a:spcBef>
          <a:spcPct val="0"/>
        </a:spcBef>
        <a:spcAft>
          <a:spcPct val="0"/>
        </a:spcAft>
        <a:defRPr sz="3200" b="1">
          <a:solidFill>
            <a:srgbClr val="000000"/>
          </a:solidFill>
          <a:latin typeface="Verdana" panose="020B0604030504040204" pitchFamily="34" charset="0"/>
        </a:defRPr>
      </a:lvl8pPr>
      <a:lvl9pPr marL="1828800" algn="l" rtl="0" eaLnBrk="1" fontAlgn="base" hangingPunct="1">
        <a:spcBef>
          <a:spcPct val="0"/>
        </a:spcBef>
        <a:spcAft>
          <a:spcPct val="0"/>
        </a:spcAft>
        <a:defRPr sz="3200" b="1">
          <a:solidFill>
            <a:srgbClr val="000000"/>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mn-lt"/>
          <a:ea typeface="+mn-ea"/>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mn-lt"/>
          <a:ea typeface="+mn-ea"/>
        </a:defRPr>
      </a:lvl2pPr>
      <a:lvl3pPr marL="1143000" indent="-228600" algn="l" rtl="0" eaLnBrk="1" fontAlgn="base" hangingPunct="1">
        <a:spcBef>
          <a:spcPct val="20000"/>
        </a:spcBef>
        <a:spcAft>
          <a:spcPct val="0"/>
        </a:spcAft>
        <a:buChar char="•"/>
        <a:defRPr sz="1800">
          <a:solidFill>
            <a:schemeClr val="bg1">
              <a:lumMod val="50000"/>
            </a:schemeClr>
          </a:solidFill>
          <a:latin typeface="+mn-lt"/>
          <a:ea typeface="+mn-ea"/>
        </a:defRPr>
      </a:lvl3pPr>
      <a:lvl4pPr marL="1600200" indent="-228600" algn="l" rtl="0" eaLnBrk="1" fontAlgn="base" hangingPunct="1">
        <a:spcBef>
          <a:spcPct val="20000"/>
        </a:spcBef>
        <a:spcAft>
          <a:spcPct val="0"/>
        </a:spcAft>
        <a:buChar char="–"/>
        <a:defRPr sz="1600">
          <a:solidFill>
            <a:schemeClr val="bg1">
              <a:lumMod val="50000"/>
            </a:schemeClr>
          </a:solidFill>
          <a:latin typeface="+mn-lt"/>
          <a:ea typeface="+mn-ea"/>
        </a:defRPr>
      </a:lvl4pPr>
      <a:lvl5pPr marL="2057400" indent="-228600" algn="l" rtl="0" eaLnBrk="1" fontAlgn="base" hangingPunct="1">
        <a:spcBef>
          <a:spcPct val="20000"/>
        </a:spcBef>
        <a:spcAft>
          <a:spcPct val="0"/>
        </a:spcAft>
        <a:buChar char="»"/>
        <a:defRPr sz="1600">
          <a:solidFill>
            <a:schemeClr val="bg1">
              <a:lumMod val="50000"/>
            </a:schemeClr>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7" name="图片 6" descr="图片包含 游戏机&#10;&#10;AI 生成的内容可能不正确。"/>
          <p:cNvPicPr>
            <a:picLocks noChangeAspect="1"/>
          </p:cNvPicPr>
          <p:nvPr>
            <p:custDataLst>
              <p:tags r:id="rId13"/>
            </p:custDataLst>
          </p:nvPr>
        </p:nvPicPr>
        <p:blipFill>
          <a:blip r:embed="rId26"/>
          <a:stretch>
            <a:fillRect/>
          </a:stretch>
        </p:blipFill>
        <p:spPr>
          <a:xfrm>
            <a:off x="-1" y="6470"/>
            <a:ext cx="12171621" cy="6833617"/>
          </a:xfrm>
          <a:prstGeom prst="rect">
            <a:avLst/>
          </a:prstGeom>
        </p:spPr>
      </p:pic>
      <p:pic>
        <p:nvPicPr>
          <p:cNvPr id="9" name="图片 8" descr="徽标&#10;&#10;AI 生成的内容可能不正确。"/>
          <p:cNvPicPr>
            <a:picLocks noChangeAspect="1"/>
          </p:cNvPicPr>
          <p:nvPr>
            <p:custDataLst>
              <p:tags r:id="rId14"/>
            </p:custDataLst>
          </p:nvPr>
        </p:nvPicPr>
        <p:blipFill>
          <a:blip r:embed="rId27" cstate="print"/>
          <a:stretch>
            <a:fillRect/>
          </a:stretch>
        </p:blipFill>
        <p:spPr>
          <a:xfrm>
            <a:off x="9575800" y="466136"/>
            <a:ext cx="2166258" cy="358185"/>
          </a:xfrm>
          <a:prstGeom prst="rect">
            <a:avLst/>
          </a:prstGeom>
        </p:spPr>
      </p:pic>
      <p:sp>
        <p:nvSpPr>
          <p:cNvPr id="12" name="矩形 11"/>
          <p:cNvSpPr/>
          <p:nvPr>
            <p:custDataLst>
              <p:tags r:id="rId15"/>
            </p:custDataLst>
          </p:nvPr>
        </p:nvSpPr>
        <p:spPr>
          <a:xfrm>
            <a:off x="10116820" y="-402590"/>
            <a:ext cx="329565" cy="329565"/>
          </a:xfrm>
          <a:prstGeom prst="rect">
            <a:avLst/>
          </a:prstGeom>
          <a:solidFill>
            <a:schemeClr val="accent6">
              <a:lumMod val="93711"/>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3" name="矩形 12"/>
          <p:cNvSpPr/>
          <p:nvPr>
            <p:custDataLst>
              <p:tags r:id="rId16"/>
            </p:custDataLst>
          </p:nvPr>
        </p:nvSpPr>
        <p:spPr>
          <a:xfrm>
            <a:off x="10446385" y="-402590"/>
            <a:ext cx="329565" cy="329565"/>
          </a:xfrm>
          <a:prstGeom prst="rect">
            <a:avLst/>
          </a:prstGeom>
          <a:solidFill>
            <a:schemeClr val="accent6">
              <a:lumMod val="78616"/>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4" name="矩形 13"/>
          <p:cNvSpPr/>
          <p:nvPr>
            <p:custDataLst>
              <p:tags r:id="rId17"/>
            </p:custDataLst>
          </p:nvPr>
        </p:nvSpPr>
        <p:spPr>
          <a:xfrm>
            <a:off x="10775950" y="-402590"/>
            <a:ext cx="329565" cy="329565"/>
          </a:xfrm>
          <a:prstGeom prst="rect">
            <a:avLst/>
          </a:prstGeom>
          <a:solidFill>
            <a:schemeClr val="accent6">
              <a:lumMod val="64467"/>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5" name="矩形 14"/>
          <p:cNvSpPr/>
          <p:nvPr>
            <p:custDataLst>
              <p:tags r:id="rId18"/>
            </p:custDataLst>
          </p:nvPr>
        </p:nvSpPr>
        <p:spPr>
          <a:xfrm>
            <a:off x="11105515" y="-402590"/>
            <a:ext cx="329565" cy="329565"/>
          </a:xfrm>
          <a:prstGeom prst="rect">
            <a:avLst/>
          </a:prstGeom>
          <a:solidFill>
            <a:schemeClr val="accent4">
              <a:lumMod val="62570"/>
              <a:lumOff val="3743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6" name="矩形 15"/>
          <p:cNvSpPr/>
          <p:nvPr>
            <p:custDataLst>
              <p:tags r:id="rId19"/>
            </p:custDataLst>
          </p:nvPr>
        </p:nvSpPr>
        <p:spPr>
          <a:xfrm>
            <a:off x="11435080" y="-402590"/>
            <a:ext cx="329565" cy="329565"/>
          </a:xfrm>
          <a:prstGeom prst="rect">
            <a:avLst/>
          </a:prstGeom>
          <a:solidFill>
            <a:schemeClr val="accent1">
              <a:lumMod val="94432"/>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7" name="矩形 16"/>
          <p:cNvSpPr/>
          <p:nvPr>
            <p:custDataLst>
              <p:tags r:id="rId20"/>
            </p:custDataLst>
          </p:nvPr>
        </p:nvSpPr>
        <p:spPr>
          <a:xfrm>
            <a:off x="11764645" y="-402590"/>
            <a:ext cx="329565" cy="329565"/>
          </a:xfrm>
          <a:prstGeom prst="rect">
            <a:avLst/>
          </a:prstGeom>
          <a:solidFill>
            <a:schemeClr val="accent6">
              <a:lumMod val="8585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6" name="灯片编号占位符 5"/>
          <p:cNvSpPr>
            <a:spLocks noGrp="1"/>
          </p:cNvSpPr>
          <p:nvPr>
            <p:ph type="sldNum" sz="quarter" idx="4"/>
            <p:custDataLst>
              <p:tags r:id="rId21"/>
            </p:custDataLst>
          </p:nvPr>
        </p:nvSpPr>
        <p:spPr>
          <a:xfrm>
            <a:off x="8753983" y="6356350"/>
            <a:ext cx="2743200" cy="365125"/>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pPr/>
              <a:t>‹#›</a:t>
            </a:fld>
            <a:endParaRPr lang="zh-CN" altLang="en-US"/>
          </a:p>
        </p:txBody>
      </p:sp>
      <p:sp>
        <p:nvSpPr>
          <p:cNvPr id="5" name="页脚占位符 4"/>
          <p:cNvSpPr>
            <a:spLocks noGrp="1"/>
          </p:cNvSpPr>
          <p:nvPr>
            <p:ph type="ftr" sz="quarter" idx="3"/>
            <p:custDataLst>
              <p:tags r:id="rId22"/>
            </p:custDataLst>
          </p:nvPr>
        </p:nvSpPr>
        <p:spPr>
          <a:xfrm>
            <a:off x="4038600" y="6356350"/>
            <a:ext cx="4114800" cy="365125"/>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23"/>
            </p:custDataLst>
          </p:nvPr>
        </p:nvSpPr>
        <p:spPr>
          <a:xfrm>
            <a:off x="695960" y="6356350"/>
            <a:ext cx="2743200" cy="365125"/>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pPr/>
              <a:t>2026-06-03</a:t>
            </a:fld>
            <a:endParaRPr lang="zh-CN" altLang="en-US"/>
          </a:p>
        </p:txBody>
      </p:sp>
      <p:sp>
        <p:nvSpPr>
          <p:cNvPr id="3" name="文本占位符 2"/>
          <p:cNvSpPr>
            <a:spLocks noGrp="1"/>
          </p:cNvSpPr>
          <p:nvPr>
            <p:ph type="body" idx="1"/>
            <p:custDataLst>
              <p:tags r:id="rId24"/>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占位符 1"/>
          <p:cNvSpPr>
            <a:spLocks noGrp="1"/>
          </p:cNvSpPr>
          <p:nvPr>
            <p:ph type="title"/>
            <p:custDataLst>
              <p:tags r:id="rId25"/>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685800" rtl="0" eaLnBrk="1" latinLnBrk="0" hangingPunct="1">
        <a:lnSpc>
          <a:spcPct val="90000"/>
        </a:lnSpc>
        <a:spcBef>
          <a:spcPct val="0"/>
        </a:spcBef>
        <a:buNone/>
        <a:defRPr sz="2400" b="1" i="0" u="none" kern="1200" spc="0">
          <a:solidFill>
            <a:schemeClr val="accent6">
              <a:lumMod val="39309"/>
            </a:schemeClr>
          </a:solidFill>
          <a:effectLst>
            <a:outerShdw>
              <a:srgbClr val="FFFFFF"/>
            </a:outerShdw>
          </a:effectLst>
          <a:uFill>
            <a:solidFill>
              <a:srgbClr val="0059FA">
                <a:lumMod val="50000"/>
              </a:srgbClr>
            </a:solidFill>
          </a:uFill>
          <a:latin typeface="+mj-lt"/>
          <a:ea typeface="+mj-ea"/>
          <a:cs typeface="+mj-cs"/>
        </a:defRPr>
      </a:lvl1pPr>
    </p:titleStyle>
    <p:bodyStyle>
      <a:lvl1pPr marL="171450" indent="0" algn="l" defTabSz="685800" rtl="0" eaLnBrk="1" latinLnBrk="0" hangingPunct="1">
        <a:lnSpc>
          <a:spcPct val="130000"/>
        </a:lnSpc>
        <a:spcBef>
          <a:spcPts val="750"/>
        </a:spcBef>
        <a:buFont typeface="Arial" panose="020B0604020202020204" pitchFamily="34" charset="0"/>
        <a:buChar char="•"/>
        <a:defRPr sz="1800" kern="1200" spc="0">
          <a:solidFill>
            <a:schemeClr val="tx1"/>
          </a:solidFill>
          <a:latin typeface="+mn-lt"/>
          <a:ea typeface="+mn-ea"/>
          <a:cs typeface="+mn-cs"/>
        </a:defRPr>
      </a:lvl1pPr>
      <a:lvl2pPr marL="514350" indent="0" algn="l" defTabSz="685800" rtl="0" eaLnBrk="1" latinLnBrk="0" hangingPunct="1">
        <a:lnSpc>
          <a:spcPct val="130000"/>
        </a:lnSpc>
        <a:spcBef>
          <a:spcPts val="375"/>
        </a:spcBef>
        <a:buFont typeface="Arial" panose="020B0604020202020204" pitchFamily="34" charset="0"/>
        <a:buChar char="•"/>
        <a:defRPr sz="1500" kern="1200" spc="0">
          <a:solidFill>
            <a:schemeClr val="tx1"/>
          </a:solidFill>
          <a:latin typeface="+mn-lt"/>
          <a:ea typeface="+mn-ea"/>
          <a:cs typeface="+mn-cs"/>
        </a:defRPr>
      </a:lvl2pPr>
      <a:lvl3pPr marL="857250" indent="0" algn="l" defTabSz="685800" rtl="0" eaLnBrk="1" latinLnBrk="0" hangingPunct="1">
        <a:lnSpc>
          <a:spcPct val="130000"/>
        </a:lnSpc>
        <a:spcBef>
          <a:spcPts val="375"/>
        </a:spcBef>
        <a:buFont typeface="Arial" panose="020B0604020202020204" pitchFamily="34" charset="0"/>
        <a:buChar char="•"/>
        <a:defRPr sz="1350" kern="1200" spc="0">
          <a:solidFill>
            <a:schemeClr val="tx1"/>
          </a:solidFill>
          <a:latin typeface="+mn-lt"/>
          <a:ea typeface="+mn-ea"/>
          <a:cs typeface="+mn-cs"/>
        </a:defRPr>
      </a:lvl3pPr>
      <a:lvl4pPr marL="1200150" indent="0" algn="l" defTabSz="685800" rtl="0" eaLnBrk="1" latinLnBrk="0" hangingPunct="1">
        <a:lnSpc>
          <a:spcPct val="130000"/>
        </a:lnSpc>
        <a:spcBef>
          <a:spcPts val="375"/>
        </a:spcBef>
        <a:buFont typeface="Arial" panose="020B0604020202020204" pitchFamily="34" charset="0"/>
        <a:buChar char="•"/>
        <a:defRPr sz="1350" kern="1200" spc="0">
          <a:solidFill>
            <a:schemeClr val="tx1"/>
          </a:solidFill>
          <a:latin typeface="+mn-lt"/>
          <a:ea typeface="+mn-ea"/>
          <a:cs typeface="+mn-cs"/>
        </a:defRPr>
      </a:lvl4pPr>
      <a:lvl5pPr marL="1543050" indent="0" algn="l" defTabSz="685800" rtl="0" eaLnBrk="1" latinLnBrk="0" hangingPunct="1">
        <a:lnSpc>
          <a:spcPct val="130000"/>
        </a:lnSpc>
        <a:spcBef>
          <a:spcPts val="375"/>
        </a:spcBef>
        <a:buFont typeface="Arial" panose="020B0604020202020204" pitchFamily="34" charset="0"/>
        <a:buChar char="•"/>
        <a:defRPr sz="1350" kern="1200" spc="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notesSlide" Target="../notesSlides/notesSlide1.xml"/><Relationship Id="rId4"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18" Type="http://schemas.openxmlformats.org/officeDocument/2006/relationships/notesSlide" Target="../notesSlides/notesSlide2.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slideLayout" Target="../slideLayouts/slideLayout15.xml"/><Relationship Id="rId2" Type="http://schemas.openxmlformats.org/officeDocument/2006/relationships/tags" Target="../tags/tag77.xml"/><Relationship Id="rId16" Type="http://schemas.openxmlformats.org/officeDocument/2006/relationships/tags" Target="../tags/tag91.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tags" Target="../tags/tag90.xml"/><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97.xml"/><Relationship Id="rId1" Type="http://schemas.openxmlformats.org/officeDocument/2006/relationships/tags" Target="../tags/tag9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99.xml"/><Relationship Id="rId1" Type="http://schemas.openxmlformats.org/officeDocument/2006/relationships/tags" Target="../tags/tag98.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notesSlide" Target="../notesSlides/notesSlide7.xml"/><Relationship Id="rId4"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5" Type="http://schemas.openxmlformats.org/officeDocument/2006/relationships/notesSlide" Target="../notesSlides/notesSlide8.xml"/><Relationship Id="rId4"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notesSlide" Target="../notesSlides/notesSlide9.xml"/><Relationship Id="rId4"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12.xml"/><Relationship Id="rId1" Type="http://schemas.openxmlformats.org/officeDocument/2006/relationships/tags" Target="../tags/tag11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image" Target="../media/image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16.xml"/><Relationship Id="rId7" Type="http://schemas.openxmlformats.org/officeDocument/2006/relationships/diagramQuickStyle" Target="../diagrams/quickStyle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13.xml"/><Relationship Id="rId9" Type="http://schemas.microsoft.com/office/2007/relationships/diagramDrawing" Target="../diagrams/drawing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18.xml"/><Relationship Id="rId1" Type="http://schemas.openxmlformats.org/officeDocument/2006/relationships/tags" Target="../tags/tag117.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20.xml"/><Relationship Id="rId1" Type="http://schemas.openxmlformats.org/officeDocument/2006/relationships/tags" Target="../tags/tag119.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tags" Target="../tags/tag128.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notesSlide" Target="../notesSlides/notesSlide16.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slideLayout" Target="../slideLayouts/slideLayout16.xml"/><Relationship Id="rId5" Type="http://schemas.openxmlformats.org/officeDocument/2006/relationships/tags" Target="../tags/tag125.xml"/><Relationship Id="rId10" Type="http://schemas.openxmlformats.org/officeDocument/2006/relationships/tags" Target="../tags/tag130.xml"/><Relationship Id="rId4" Type="http://schemas.openxmlformats.org/officeDocument/2006/relationships/tags" Target="../tags/tag124.xml"/><Relationship Id="rId9" Type="http://schemas.openxmlformats.org/officeDocument/2006/relationships/tags" Target="../tags/tag129.xml"/></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tags" Target="../tags/tag133.xml"/><Relationship Id="rId7" Type="http://schemas.openxmlformats.org/officeDocument/2006/relationships/diagramLayout" Target="../diagrams/layout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diagramData" Target="../diagrams/data2.xml"/><Relationship Id="rId5" Type="http://schemas.openxmlformats.org/officeDocument/2006/relationships/notesSlide" Target="../notesSlides/notesSlide17.xml"/><Relationship Id="rId10" Type="http://schemas.microsoft.com/office/2007/relationships/diagramDrawing" Target="../diagrams/drawing2.xml"/><Relationship Id="rId4" Type="http://schemas.openxmlformats.org/officeDocument/2006/relationships/slideLayout" Target="../slideLayouts/slideLayout16.xml"/><Relationship Id="rId9" Type="http://schemas.openxmlformats.org/officeDocument/2006/relationships/diagramColors" Target="../diagrams/colors2.xml"/></Relationships>
</file>

<file path=ppt/slides/_rels/slide18.xml.rels><?xml version="1.0" encoding="UTF-8" standalone="yes"?>
<Relationships xmlns="http://schemas.openxmlformats.org/package/2006/relationships"><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chart" Target="../charts/chart1.xml"/><Relationship Id="rId5" Type="http://schemas.openxmlformats.org/officeDocument/2006/relationships/notesSlide" Target="../notesSlides/notesSlide18.xml"/><Relationship Id="rId4"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5" Type="http://schemas.openxmlformats.org/officeDocument/2006/relationships/notesSlide" Target="../notesSlides/notesSlide19.xml"/><Relationship Id="rId4"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41.xml"/><Relationship Id="rId1" Type="http://schemas.openxmlformats.org/officeDocument/2006/relationships/tags" Target="../tags/tag140.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43.xml"/><Relationship Id="rId1" Type="http://schemas.openxmlformats.org/officeDocument/2006/relationships/tags" Target="../tags/tag14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45.xml"/><Relationship Id="rId1" Type="http://schemas.openxmlformats.org/officeDocument/2006/relationships/tags" Target="../tags/tag14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47.xml"/><Relationship Id="rId1" Type="http://schemas.openxmlformats.org/officeDocument/2006/relationships/tags" Target="../tags/tag1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2"/>
          <p:cNvSpPr>
            <a:spLocks noGrp="1"/>
          </p:cNvSpPr>
          <p:nvPr>
            <p:ph type="body" idx="1"/>
            <p:custDataLst>
              <p:tags r:id="rId2"/>
            </p:custDataLst>
          </p:nvPr>
        </p:nvSpPr>
        <p:spPr/>
        <p:txBody>
          <a:bodyPr>
            <a:noAutofit/>
          </a:bodyPr>
          <a:lstStyle/>
          <a:p>
            <a:pPr marL="0" indent="0" algn="ctr">
              <a:lnSpc>
                <a:spcPct val="100000"/>
              </a:lnSpc>
              <a:spcBef>
                <a:spcPts val="0"/>
              </a:spcBef>
              <a:spcAft>
                <a:spcPts val="0"/>
              </a:spcAft>
              <a:buSzPct val="100000"/>
            </a:pPr>
            <a:r>
              <a:rPr altLang="en-US" sz="3200">
                <a:sym typeface="+mn-ea"/>
              </a:rPr>
              <a:t>民机数据标准管理培训</a:t>
            </a:r>
          </a:p>
        </p:txBody>
      </p:sp>
      <p:sp>
        <p:nvSpPr>
          <p:cNvPr id="6" name="Title 1"/>
          <p:cNvSpPr>
            <a:spLocks noGrp="1"/>
          </p:cNvSpPr>
          <p:nvPr>
            <p:ph type="ctrTitle"/>
            <p:custDataLst>
              <p:tags r:id="rId3"/>
            </p:custDataLst>
          </p:nvPr>
        </p:nvSpPr>
        <p:spPr/>
        <p:txBody>
          <a:bodyPr>
            <a:normAutofit/>
          </a:bodyPr>
          <a:lstStyle/>
          <a:p>
            <a:pPr marL="0" indent="0" algn="ctr">
              <a:lnSpc>
                <a:spcPct val="100000"/>
              </a:lnSpc>
              <a:spcBef>
                <a:spcPts val="0"/>
              </a:spcBef>
              <a:spcAft>
                <a:spcPts val="0"/>
              </a:spcAft>
              <a:buSzPct val="100000"/>
            </a:pPr>
            <a:r>
              <a:rPr altLang="en-US" sz="3555"/>
              <a:t>企业数据管理理论与实践培训</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序号"/>
          <p:cNvSpPr txBox="1"/>
          <p:nvPr>
            <p:custDataLst>
              <p:tags r:id="rId2"/>
            </p:custDataLst>
          </p:nvPr>
        </p:nvSpPr>
        <p:spPr>
          <a:xfrm>
            <a:off x="4624705" y="1521460"/>
            <a:ext cx="883920" cy="512445"/>
          </a:xfrm>
          <a:prstGeom prst="rect">
            <a:avLst/>
          </a:prstGeom>
        </p:spPr>
        <p:txBody>
          <a:bodyPr vert="horz" wrap="none" tIns="0" bIns="0" rtlCol="0" anchor="b" anchorCtr="0">
            <a:normAutofit/>
          </a:bodyPr>
          <a:lstStyle>
            <a:defPPr>
              <a:defRPr lang="zh-CN"/>
            </a:defPPr>
            <a:lvl1pPr>
              <a:lnSpc>
                <a:spcPct val="100000"/>
              </a:lnSpc>
              <a:defRPr sz="2400" b="0" i="0">
                <a:solidFill>
                  <a:schemeClr val="accent1"/>
                </a:solidFill>
                <a:latin typeface="Arial" panose="020B0604020202020204" pitchFamily="34" charset="0"/>
                <a:ea typeface="汉仪中黑 简" panose="00020600040101010101" charset="-122"/>
                <a:cs typeface="汉仪中黑 简" panose="00020600040101010101" charset="-122"/>
              </a:defRPr>
            </a:lvl1pPr>
          </a:lstStyle>
          <a:p>
            <a:pPr algn="r">
              <a:spcBef>
                <a:spcPct val="0"/>
              </a:spcBef>
              <a:spcAft>
                <a:spcPct val="0"/>
              </a:spcAft>
            </a:pPr>
            <a:r>
              <a:rPr lang="en-US" dirty="0">
                <a:solidFill>
                  <a:schemeClr val="accent1"/>
                </a:solidFill>
                <a:latin typeface="+mn-ea"/>
                <a:ea typeface="+mn-ea"/>
                <a:cs typeface="+mn-ea"/>
                <a:sym typeface="+mn-ea"/>
              </a:rPr>
              <a:t>01</a:t>
            </a:r>
          </a:p>
        </p:txBody>
      </p:sp>
      <p:sp>
        <p:nvSpPr>
          <p:cNvPr id="173" name="项标题"/>
          <p:cNvSpPr txBox="1"/>
          <p:nvPr>
            <p:custDataLst>
              <p:tags r:id="rId3"/>
            </p:custDataLst>
          </p:nvPr>
        </p:nvSpPr>
        <p:spPr>
          <a:xfrm>
            <a:off x="5735955" y="1485265"/>
            <a:ext cx="5128260" cy="589915"/>
          </a:xfrm>
          <a:prstGeom prst="rect">
            <a:avLst/>
          </a:prstGeom>
          <a:noFill/>
        </p:spPr>
        <p:txBody>
          <a:bodyPr wrap="square" lIns="0" tIns="0" rIns="0" bIns="0" rtlCol="0" anchor="ctr">
            <a:noAutofit/>
          </a:bodyPr>
          <a:lstStyle/>
          <a:p>
            <a:pPr>
              <a:lnSpc>
                <a:spcPct val="100000"/>
              </a:lnSpc>
              <a:spcBef>
                <a:spcPct val="0"/>
              </a:spcBef>
              <a:spcAft>
                <a:spcPct val="0"/>
              </a:spcAft>
            </a:pPr>
            <a:r>
              <a:rPr lang="zh-CN" altLang="en-US" sz="2000" b="1" dirty="0">
                <a:solidFill>
                  <a:schemeClr val="tx1"/>
                </a:solidFill>
                <a:latin typeface="+mn-ea"/>
                <a:cs typeface="+mn-ea"/>
                <a:sym typeface="+mn-ea"/>
              </a:rPr>
              <a:t>为什么要做数据标准</a:t>
            </a:r>
          </a:p>
        </p:txBody>
      </p:sp>
      <p:sp>
        <p:nvSpPr>
          <p:cNvPr id="174" name="序号"/>
          <p:cNvSpPr txBox="1"/>
          <p:nvPr>
            <p:custDataLst>
              <p:tags r:id="rId4"/>
            </p:custDataLst>
          </p:nvPr>
        </p:nvSpPr>
        <p:spPr>
          <a:xfrm>
            <a:off x="4624705" y="1996440"/>
            <a:ext cx="883920" cy="512445"/>
          </a:xfrm>
          <a:prstGeom prst="rect">
            <a:avLst/>
          </a:prstGeom>
        </p:spPr>
        <p:txBody>
          <a:bodyPr vert="horz" wrap="none" tIns="0" bIns="0" rtlCol="0" anchor="b" anchorCtr="0">
            <a:normAutofit/>
          </a:bodyPr>
          <a:lstStyle>
            <a:defPPr>
              <a:defRPr lang="zh-CN"/>
            </a:defPPr>
            <a:lvl1pPr>
              <a:lnSpc>
                <a:spcPct val="100000"/>
              </a:lnSpc>
              <a:defRPr sz="2400" b="0" i="0">
                <a:solidFill>
                  <a:schemeClr val="accent1"/>
                </a:solidFill>
                <a:latin typeface="Arial" panose="020B0604020202020204" pitchFamily="34" charset="0"/>
                <a:ea typeface="汉仪中黑 简" panose="00020600040101010101" charset="-122"/>
                <a:cs typeface="汉仪中黑 简" panose="00020600040101010101" charset="-122"/>
              </a:defRPr>
            </a:lvl1pPr>
          </a:lstStyle>
          <a:p>
            <a:pPr algn="r">
              <a:spcBef>
                <a:spcPct val="0"/>
              </a:spcBef>
              <a:spcAft>
                <a:spcPct val="0"/>
              </a:spcAft>
            </a:pPr>
            <a:r>
              <a:rPr lang="en-US" dirty="0">
                <a:solidFill>
                  <a:schemeClr val="accent2"/>
                </a:solidFill>
                <a:latin typeface="+mn-ea"/>
                <a:ea typeface="+mn-ea"/>
                <a:cs typeface="+mn-ea"/>
                <a:sym typeface="+mn-ea"/>
              </a:rPr>
              <a:t>02</a:t>
            </a:r>
          </a:p>
        </p:txBody>
      </p:sp>
      <p:sp>
        <p:nvSpPr>
          <p:cNvPr id="175" name="项标题"/>
          <p:cNvSpPr txBox="1"/>
          <p:nvPr>
            <p:custDataLst>
              <p:tags r:id="rId5"/>
            </p:custDataLst>
          </p:nvPr>
        </p:nvSpPr>
        <p:spPr>
          <a:xfrm>
            <a:off x="5735955" y="1959610"/>
            <a:ext cx="5128260" cy="589915"/>
          </a:xfrm>
          <a:prstGeom prst="rect">
            <a:avLst/>
          </a:prstGeom>
          <a:noFill/>
        </p:spPr>
        <p:txBody>
          <a:bodyPr wrap="square" lIns="0" tIns="0" rIns="0" bIns="0" rtlCol="0" anchor="ctr">
            <a:noAutofit/>
          </a:bodyPr>
          <a:lstStyle/>
          <a:p>
            <a:pPr>
              <a:lnSpc>
                <a:spcPct val="100000"/>
              </a:lnSpc>
              <a:spcBef>
                <a:spcPct val="0"/>
              </a:spcBef>
              <a:spcAft>
                <a:spcPct val="0"/>
              </a:spcAft>
            </a:pPr>
            <a:r>
              <a:rPr lang="zh-CN" altLang="en-US" sz="2000" b="1" dirty="0">
                <a:solidFill>
                  <a:schemeClr val="tx1"/>
                </a:solidFill>
                <a:latin typeface="+mn-ea"/>
                <a:cs typeface="+mn-ea"/>
                <a:sym typeface="+mn-ea"/>
              </a:rPr>
              <a:t>什么是数据标准</a:t>
            </a:r>
          </a:p>
        </p:txBody>
      </p:sp>
      <p:sp>
        <p:nvSpPr>
          <p:cNvPr id="176" name="序号"/>
          <p:cNvSpPr txBox="1"/>
          <p:nvPr>
            <p:custDataLst>
              <p:tags r:id="rId6"/>
            </p:custDataLst>
          </p:nvPr>
        </p:nvSpPr>
        <p:spPr>
          <a:xfrm>
            <a:off x="4624705" y="2470785"/>
            <a:ext cx="883920" cy="512445"/>
          </a:xfrm>
          <a:prstGeom prst="rect">
            <a:avLst/>
          </a:prstGeom>
        </p:spPr>
        <p:txBody>
          <a:bodyPr vert="horz" wrap="none" tIns="0" bIns="0" rtlCol="0" anchor="b" anchorCtr="0">
            <a:normAutofit/>
          </a:bodyPr>
          <a:lstStyle>
            <a:defPPr>
              <a:defRPr lang="zh-CN"/>
            </a:defPPr>
            <a:lvl1pPr>
              <a:lnSpc>
                <a:spcPct val="100000"/>
              </a:lnSpc>
              <a:defRPr sz="2400" b="0" i="0">
                <a:solidFill>
                  <a:schemeClr val="accent1"/>
                </a:solidFill>
                <a:latin typeface="Arial" panose="020B0604020202020204" pitchFamily="34" charset="0"/>
                <a:ea typeface="汉仪中黑 简" panose="00020600040101010101" charset="-122"/>
                <a:cs typeface="汉仪中黑 简" panose="00020600040101010101" charset="-122"/>
              </a:defRPr>
            </a:lvl1pPr>
          </a:lstStyle>
          <a:p>
            <a:pPr algn="r">
              <a:spcBef>
                <a:spcPct val="0"/>
              </a:spcBef>
              <a:spcAft>
                <a:spcPct val="0"/>
              </a:spcAft>
            </a:pPr>
            <a:r>
              <a:rPr lang="en-US" dirty="0">
                <a:solidFill>
                  <a:schemeClr val="accent1"/>
                </a:solidFill>
                <a:latin typeface="+mn-ea"/>
                <a:ea typeface="+mn-ea"/>
                <a:cs typeface="+mn-ea"/>
                <a:sym typeface="+mn-ea"/>
              </a:rPr>
              <a:t>03</a:t>
            </a:r>
          </a:p>
        </p:txBody>
      </p:sp>
      <p:sp>
        <p:nvSpPr>
          <p:cNvPr id="177" name="项标题"/>
          <p:cNvSpPr txBox="1"/>
          <p:nvPr>
            <p:custDataLst>
              <p:tags r:id="rId7"/>
            </p:custDataLst>
          </p:nvPr>
        </p:nvSpPr>
        <p:spPr>
          <a:xfrm>
            <a:off x="5735955" y="2434590"/>
            <a:ext cx="5128260" cy="589915"/>
          </a:xfrm>
          <a:prstGeom prst="rect">
            <a:avLst/>
          </a:prstGeom>
          <a:noFill/>
        </p:spPr>
        <p:txBody>
          <a:bodyPr wrap="square" lIns="0" tIns="0" rIns="0" bIns="0" rtlCol="0" anchor="ctr">
            <a:noAutofit/>
          </a:bodyPr>
          <a:lstStyle/>
          <a:p>
            <a:pPr>
              <a:lnSpc>
                <a:spcPct val="100000"/>
              </a:lnSpc>
              <a:spcBef>
                <a:spcPct val="0"/>
              </a:spcBef>
              <a:spcAft>
                <a:spcPct val="0"/>
              </a:spcAft>
            </a:pPr>
            <a:r>
              <a:rPr lang="zh-CN" altLang="en-US" sz="2000" b="1" dirty="0">
                <a:solidFill>
                  <a:schemeClr val="tx1"/>
                </a:solidFill>
                <a:latin typeface="+mn-ea"/>
                <a:cs typeface="+mn-ea"/>
                <a:sym typeface="+mn-ea"/>
              </a:rPr>
              <a:t>哪些可以作为数据标准</a:t>
            </a:r>
          </a:p>
        </p:txBody>
      </p:sp>
      <p:sp>
        <p:nvSpPr>
          <p:cNvPr id="178" name="序号"/>
          <p:cNvSpPr txBox="1"/>
          <p:nvPr>
            <p:custDataLst>
              <p:tags r:id="rId8"/>
            </p:custDataLst>
          </p:nvPr>
        </p:nvSpPr>
        <p:spPr>
          <a:xfrm>
            <a:off x="4624705" y="2945765"/>
            <a:ext cx="883920" cy="512445"/>
          </a:xfrm>
          <a:prstGeom prst="rect">
            <a:avLst/>
          </a:prstGeom>
        </p:spPr>
        <p:txBody>
          <a:bodyPr vert="horz" wrap="none" tIns="0" bIns="0" rtlCol="0" anchor="b" anchorCtr="0">
            <a:normAutofit/>
          </a:bodyPr>
          <a:lstStyle>
            <a:defPPr>
              <a:defRPr lang="zh-CN"/>
            </a:defPPr>
            <a:lvl1pPr>
              <a:lnSpc>
                <a:spcPct val="100000"/>
              </a:lnSpc>
              <a:defRPr sz="2400" b="0" i="0">
                <a:solidFill>
                  <a:schemeClr val="accent1"/>
                </a:solidFill>
                <a:latin typeface="Arial" panose="020B0604020202020204" pitchFamily="34" charset="0"/>
                <a:ea typeface="汉仪中黑 简" panose="00020600040101010101" charset="-122"/>
                <a:cs typeface="汉仪中黑 简" panose="00020600040101010101" charset="-122"/>
              </a:defRPr>
            </a:lvl1pPr>
          </a:lstStyle>
          <a:p>
            <a:pPr algn="r">
              <a:spcBef>
                <a:spcPct val="0"/>
              </a:spcBef>
              <a:spcAft>
                <a:spcPct val="0"/>
              </a:spcAft>
            </a:pPr>
            <a:r>
              <a:rPr lang="en-US" dirty="0">
                <a:solidFill>
                  <a:schemeClr val="accent2"/>
                </a:solidFill>
                <a:latin typeface="+mn-ea"/>
                <a:ea typeface="+mn-ea"/>
                <a:cs typeface="+mn-ea"/>
                <a:sym typeface="+mn-ea"/>
              </a:rPr>
              <a:t>04</a:t>
            </a:r>
          </a:p>
        </p:txBody>
      </p:sp>
      <p:sp>
        <p:nvSpPr>
          <p:cNvPr id="179" name="项标题"/>
          <p:cNvSpPr txBox="1"/>
          <p:nvPr>
            <p:custDataLst>
              <p:tags r:id="rId9"/>
            </p:custDataLst>
          </p:nvPr>
        </p:nvSpPr>
        <p:spPr>
          <a:xfrm>
            <a:off x="5735955" y="2908300"/>
            <a:ext cx="5128260" cy="589915"/>
          </a:xfrm>
          <a:prstGeom prst="rect">
            <a:avLst/>
          </a:prstGeom>
          <a:noFill/>
        </p:spPr>
        <p:txBody>
          <a:bodyPr wrap="square" lIns="0" tIns="0" rIns="0" bIns="0" rtlCol="0" anchor="ctr">
            <a:noAutofit/>
          </a:bodyPr>
          <a:lstStyle/>
          <a:p>
            <a:pPr>
              <a:lnSpc>
                <a:spcPct val="100000"/>
              </a:lnSpc>
              <a:spcBef>
                <a:spcPct val="0"/>
              </a:spcBef>
              <a:spcAft>
                <a:spcPct val="0"/>
              </a:spcAft>
            </a:pPr>
            <a:r>
              <a:rPr lang="zh-CN" altLang="en-US" sz="2000" b="1" dirty="0">
                <a:solidFill>
                  <a:schemeClr val="tx1"/>
                </a:solidFill>
                <a:latin typeface="+mn-ea"/>
                <a:cs typeface="+mn-ea"/>
                <a:sym typeface="+mn-ea"/>
              </a:rPr>
              <a:t>怎么做数据标准</a:t>
            </a:r>
          </a:p>
        </p:txBody>
      </p:sp>
      <p:sp>
        <p:nvSpPr>
          <p:cNvPr id="180" name="序号"/>
          <p:cNvSpPr txBox="1"/>
          <p:nvPr>
            <p:custDataLst>
              <p:tags r:id="rId10"/>
            </p:custDataLst>
          </p:nvPr>
        </p:nvSpPr>
        <p:spPr>
          <a:xfrm>
            <a:off x="4624705" y="3420110"/>
            <a:ext cx="883920" cy="512445"/>
          </a:xfrm>
          <a:prstGeom prst="rect">
            <a:avLst/>
          </a:prstGeom>
        </p:spPr>
        <p:txBody>
          <a:bodyPr vert="horz" wrap="none" tIns="0" bIns="0" rtlCol="0" anchor="b" anchorCtr="0">
            <a:normAutofit/>
          </a:bodyPr>
          <a:lstStyle>
            <a:defPPr>
              <a:defRPr lang="zh-CN"/>
            </a:defPPr>
            <a:lvl1pPr>
              <a:lnSpc>
                <a:spcPct val="100000"/>
              </a:lnSpc>
              <a:defRPr sz="2400" b="0" i="0">
                <a:solidFill>
                  <a:schemeClr val="accent1"/>
                </a:solidFill>
                <a:latin typeface="Arial" panose="020B0604020202020204" pitchFamily="34" charset="0"/>
                <a:ea typeface="汉仪中黑 简" panose="00020600040101010101" charset="-122"/>
                <a:cs typeface="汉仪中黑 简" panose="00020600040101010101" charset="-122"/>
              </a:defRPr>
            </a:lvl1pPr>
          </a:lstStyle>
          <a:p>
            <a:pPr algn="r">
              <a:spcBef>
                <a:spcPct val="0"/>
              </a:spcBef>
              <a:spcAft>
                <a:spcPct val="0"/>
              </a:spcAft>
            </a:pPr>
            <a:r>
              <a:rPr lang="en-US" dirty="0">
                <a:solidFill>
                  <a:schemeClr val="accent1"/>
                </a:solidFill>
                <a:latin typeface="+mn-ea"/>
                <a:ea typeface="+mn-ea"/>
                <a:cs typeface="+mn-ea"/>
                <a:sym typeface="+mn-ea"/>
              </a:rPr>
              <a:t>05</a:t>
            </a:r>
          </a:p>
        </p:txBody>
      </p:sp>
      <p:sp>
        <p:nvSpPr>
          <p:cNvPr id="181" name="项标题"/>
          <p:cNvSpPr txBox="1"/>
          <p:nvPr>
            <p:custDataLst>
              <p:tags r:id="rId11"/>
            </p:custDataLst>
          </p:nvPr>
        </p:nvSpPr>
        <p:spPr>
          <a:xfrm>
            <a:off x="5735955" y="3382645"/>
            <a:ext cx="5128260" cy="589915"/>
          </a:xfrm>
          <a:prstGeom prst="rect">
            <a:avLst/>
          </a:prstGeom>
          <a:noFill/>
        </p:spPr>
        <p:txBody>
          <a:bodyPr wrap="square" lIns="0" tIns="0" rIns="0" bIns="0" rtlCol="0" anchor="ctr">
            <a:noAutofit/>
          </a:bodyPr>
          <a:lstStyle/>
          <a:p>
            <a:pPr>
              <a:lnSpc>
                <a:spcPct val="100000"/>
              </a:lnSpc>
              <a:spcBef>
                <a:spcPct val="0"/>
              </a:spcBef>
              <a:spcAft>
                <a:spcPct val="0"/>
              </a:spcAft>
            </a:pPr>
            <a:r>
              <a:rPr lang="zh-CN" altLang="en-US" sz="2000" b="1" dirty="0">
                <a:solidFill>
                  <a:schemeClr val="tx1"/>
                </a:solidFill>
                <a:latin typeface="+mn-ea"/>
                <a:cs typeface="+mn-ea"/>
                <a:sym typeface="+mn-ea"/>
              </a:rPr>
              <a:t>数据标准对民机有什么用</a:t>
            </a:r>
            <a:endParaRPr lang="en-US" altLang="zh-CN" sz="2000" b="1" dirty="0">
              <a:solidFill>
                <a:schemeClr val="tx1"/>
              </a:solidFill>
              <a:latin typeface="+mn-ea"/>
              <a:cs typeface="+mn-ea"/>
              <a:sym typeface="+mn-ea"/>
            </a:endParaRPr>
          </a:p>
        </p:txBody>
      </p:sp>
      <p:sp>
        <p:nvSpPr>
          <p:cNvPr id="182" name="序号"/>
          <p:cNvSpPr txBox="1"/>
          <p:nvPr>
            <p:custDataLst>
              <p:tags r:id="rId12"/>
            </p:custDataLst>
          </p:nvPr>
        </p:nvSpPr>
        <p:spPr>
          <a:xfrm>
            <a:off x="4624705" y="3894455"/>
            <a:ext cx="883920" cy="512445"/>
          </a:xfrm>
          <a:prstGeom prst="rect">
            <a:avLst/>
          </a:prstGeom>
        </p:spPr>
        <p:txBody>
          <a:bodyPr vert="horz" wrap="none" tIns="0" bIns="0" rtlCol="0" anchor="b" anchorCtr="0">
            <a:normAutofit/>
          </a:bodyPr>
          <a:lstStyle>
            <a:defPPr>
              <a:defRPr lang="zh-CN"/>
            </a:defPPr>
            <a:lvl1pPr>
              <a:lnSpc>
                <a:spcPct val="100000"/>
              </a:lnSpc>
              <a:defRPr sz="2400" b="0" i="0">
                <a:solidFill>
                  <a:schemeClr val="accent1"/>
                </a:solidFill>
                <a:latin typeface="Arial" panose="020B0604020202020204" pitchFamily="34" charset="0"/>
                <a:ea typeface="汉仪中黑 简" panose="00020600040101010101" charset="-122"/>
                <a:cs typeface="汉仪中黑 简" panose="00020600040101010101" charset="-122"/>
              </a:defRPr>
            </a:lvl1pPr>
          </a:lstStyle>
          <a:p>
            <a:pPr algn="r">
              <a:spcBef>
                <a:spcPct val="0"/>
              </a:spcBef>
              <a:spcAft>
                <a:spcPct val="0"/>
              </a:spcAft>
            </a:pPr>
            <a:r>
              <a:rPr lang="en-US" dirty="0">
                <a:solidFill>
                  <a:schemeClr val="accent2"/>
                </a:solidFill>
                <a:latin typeface="+mn-ea"/>
                <a:ea typeface="+mn-ea"/>
                <a:cs typeface="+mn-ea"/>
                <a:sym typeface="+mn-ea"/>
              </a:rPr>
              <a:t>06</a:t>
            </a:r>
          </a:p>
        </p:txBody>
      </p:sp>
      <p:sp>
        <p:nvSpPr>
          <p:cNvPr id="183" name="项标题"/>
          <p:cNvSpPr txBox="1"/>
          <p:nvPr>
            <p:custDataLst>
              <p:tags r:id="rId13"/>
            </p:custDataLst>
          </p:nvPr>
        </p:nvSpPr>
        <p:spPr>
          <a:xfrm>
            <a:off x="5735955" y="3857625"/>
            <a:ext cx="5128260" cy="589915"/>
          </a:xfrm>
          <a:prstGeom prst="rect">
            <a:avLst/>
          </a:prstGeom>
          <a:noFill/>
        </p:spPr>
        <p:txBody>
          <a:bodyPr wrap="square" lIns="0" tIns="0" rIns="0" bIns="0" rtlCol="0" anchor="ctr">
            <a:noAutofit/>
          </a:bodyPr>
          <a:lstStyle/>
          <a:p>
            <a:pPr>
              <a:lnSpc>
                <a:spcPct val="100000"/>
              </a:lnSpc>
              <a:spcBef>
                <a:spcPct val="0"/>
              </a:spcBef>
              <a:spcAft>
                <a:spcPct val="0"/>
              </a:spcAft>
            </a:pPr>
            <a:r>
              <a:rPr lang="zh-CN" altLang="en-US" sz="2000" b="1" dirty="0">
                <a:latin typeface="+mn-ea"/>
                <a:cs typeface="+mn-ea"/>
                <a:sym typeface="+mn-ea"/>
              </a:rPr>
              <a:t>我们做数据标准有那些收获</a:t>
            </a:r>
            <a:endParaRPr lang="zh-CN" altLang="en-US" sz="2000" b="1" dirty="0">
              <a:solidFill>
                <a:schemeClr val="tx1"/>
              </a:solidFill>
              <a:latin typeface="+mn-ea"/>
              <a:cs typeface="+mn-ea"/>
              <a:sym typeface="+mn-ea"/>
            </a:endParaRPr>
          </a:p>
        </p:txBody>
      </p:sp>
      <p:sp>
        <p:nvSpPr>
          <p:cNvPr id="184" name="序号"/>
          <p:cNvSpPr txBox="1"/>
          <p:nvPr>
            <p:custDataLst>
              <p:tags r:id="rId14"/>
            </p:custDataLst>
          </p:nvPr>
        </p:nvSpPr>
        <p:spPr>
          <a:xfrm>
            <a:off x="4624705" y="4361815"/>
            <a:ext cx="883920" cy="512445"/>
          </a:xfrm>
          <a:prstGeom prst="rect">
            <a:avLst/>
          </a:prstGeom>
        </p:spPr>
        <p:txBody>
          <a:bodyPr vert="horz" wrap="none" tIns="0" bIns="0" rtlCol="0" anchor="b" anchorCtr="0">
            <a:normAutofit/>
          </a:bodyPr>
          <a:lstStyle>
            <a:defPPr>
              <a:defRPr lang="zh-CN"/>
            </a:defPPr>
            <a:lvl1pPr>
              <a:lnSpc>
                <a:spcPct val="100000"/>
              </a:lnSpc>
              <a:defRPr sz="2400" b="0" i="0">
                <a:solidFill>
                  <a:schemeClr val="accent1"/>
                </a:solidFill>
                <a:latin typeface="Arial" panose="020B0604020202020204" pitchFamily="34" charset="0"/>
                <a:ea typeface="汉仪中黑 简" panose="00020600040101010101" charset="-122"/>
                <a:cs typeface="汉仪中黑 简" panose="00020600040101010101" charset="-122"/>
              </a:defRPr>
            </a:lvl1pPr>
          </a:lstStyle>
          <a:p>
            <a:pPr algn="r">
              <a:spcBef>
                <a:spcPct val="0"/>
              </a:spcBef>
              <a:spcAft>
                <a:spcPct val="0"/>
              </a:spcAft>
            </a:pPr>
            <a:r>
              <a:rPr lang="en-US" dirty="0">
                <a:solidFill>
                  <a:schemeClr val="accent2"/>
                </a:solidFill>
                <a:latin typeface="+mn-ea"/>
                <a:ea typeface="+mn-ea"/>
                <a:cs typeface="+mn-ea"/>
                <a:sym typeface="+mn-ea"/>
              </a:rPr>
              <a:t>07</a:t>
            </a:r>
          </a:p>
        </p:txBody>
      </p:sp>
      <p:sp>
        <p:nvSpPr>
          <p:cNvPr id="185" name="项标题"/>
          <p:cNvSpPr txBox="1"/>
          <p:nvPr>
            <p:custDataLst>
              <p:tags r:id="rId15"/>
            </p:custDataLst>
          </p:nvPr>
        </p:nvSpPr>
        <p:spPr>
          <a:xfrm>
            <a:off x="5735955" y="4324985"/>
            <a:ext cx="5128260" cy="589915"/>
          </a:xfrm>
          <a:prstGeom prst="rect">
            <a:avLst/>
          </a:prstGeom>
          <a:noFill/>
        </p:spPr>
        <p:txBody>
          <a:bodyPr wrap="square" lIns="0" tIns="0" rIns="0" bIns="0" rtlCol="0" anchor="ctr">
            <a:noAutofit/>
          </a:bodyPr>
          <a:lstStyle/>
          <a:p>
            <a:pPr>
              <a:lnSpc>
                <a:spcPct val="100000"/>
              </a:lnSpc>
              <a:spcBef>
                <a:spcPct val="0"/>
              </a:spcBef>
              <a:spcAft>
                <a:spcPct val="0"/>
              </a:spcAft>
            </a:pPr>
            <a:r>
              <a:rPr lang="zh-CN" altLang="en-US" sz="2000" b="1" dirty="0">
                <a:solidFill>
                  <a:schemeClr val="tx1"/>
                </a:solidFill>
                <a:latin typeface="+mn-ea"/>
                <a:cs typeface="+mn-ea"/>
                <a:sym typeface="+mn-ea"/>
              </a:rPr>
              <a:t>讨论</a:t>
            </a:r>
          </a:p>
        </p:txBody>
      </p:sp>
      <p:sp>
        <p:nvSpPr>
          <p:cNvPr id="186" name="Title 1"/>
          <p:cNvSpPr>
            <a:spLocks noGrp="1"/>
          </p:cNvSpPr>
          <p:nvPr>
            <p:ph type="ctrTitle"/>
            <p:custDataLst>
              <p:tags r:id="rId16"/>
            </p:custDataLst>
          </p:nvPr>
        </p:nvSpPr>
        <p:spPr>
          <a:xfrm>
            <a:off x="2855595" y="2205355"/>
            <a:ext cx="1357630" cy="1993265"/>
          </a:xfrm>
        </p:spPr>
        <p:txBody>
          <a:bodyPr>
            <a:normAutofit/>
          </a:bodyPr>
          <a:lstStyle/>
          <a:p>
            <a:pPr marL="0" indent="0" algn="ctr">
              <a:lnSpc>
                <a:spcPct val="100000"/>
              </a:lnSpc>
              <a:spcBef>
                <a:spcPts val="0"/>
              </a:spcBef>
              <a:spcAft>
                <a:spcPts val="0"/>
              </a:spcAft>
              <a:buSzPct val="100000"/>
            </a:pPr>
            <a:r>
              <a:rPr lang="zh-CN" sz="5400"/>
              <a:t>目录</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为什么要做数据标准</a:t>
            </a:r>
          </a:p>
        </p:txBody>
      </p:sp>
      <p:grpSp>
        <p:nvGrpSpPr>
          <p:cNvPr id="96" name="组合 95"/>
          <p:cNvGrpSpPr/>
          <p:nvPr/>
        </p:nvGrpSpPr>
        <p:grpSpPr>
          <a:xfrm>
            <a:off x="1309709" y="1126002"/>
            <a:ext cx="9808541" cy="5508835"/>
            <a:chOff x="787" y="1843"/>
            <a:chExt cx="13163" cy="7983"/>
          </a:xfrm>
        </p:grpSpPr>
        <p:sp>
          <p:nvSpPr>
            <p:cNvPr id="3" name="圆角矩形 2"/>
            <p:cNvSpPr/>
            <p:nvPr/>
          </p:nvSpPr>
          <p:spPr bwMode="auto">
            <a:xfrm>
              <a:off x="787" y="1912"/>
              <a:ext cx="1909" cy="1021"/>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algn="ctr"/>
              <a:r>
                <a:rPr kumimoji="1" lang="zh-CN" altLang="en-US" sz="1400" i="0" dirty="0">
                  <a:solidFill>
                    <a:schemeClr val="tx1"/>
                  </a:solidFill>
                  <a:latin typeface="Times New Roman" panose="02020603050405020304" charset="0"/>
                </a:rPr>
                <a:t>适应时代发展</a:t>
              </a:r>
            </a:p>
          </p:txBody>
        </p:sp>
        <p:sp>
          <p:nvSpPr>
            <p:cNvPr id="5" name="圆角矩形 4"/>
            <p:cNvSpPr/>
            <p:nvPr/>
          </p:nvSpPr>
          <p:spPr bwMode="auto">
            <a:xfrm>
              <a:off x="787" y="3160"/>
              <a:ext cx="1928" cy="1021"/>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algn="ctr"/>
              <a:r>
                <a:rPr kumimoji="1" lang="zh-CN" altLang="en-US" sz="1400" b="0" i="0" u="none" strike="noStrike" cap="none" normalizeH="0" baseline="0" dirty="0">
                  <a:ln>
                    <a:noFill/>
                  </a:ln>
                  <a:solidFill>
                    <a:schemeClr val="tx1"/>
                  </a:solidFill>
                  <a:effectLst/>
                  <a:latin typeface="Times New Roman" panose="02020603050405020304" charset="0"/>
                </a:rPr>
                <a:t>应对同业竞争</a:t>
              </a:r>
            </a:p>
          </p:txBody>
        </p:sp>
        <p:sp>
          <p:nvSpPr>
            <p:cNvPr id="6" name="圆角矩形 5"/>
            <p:cNvSpPr/>
            <p:nvPr/>
          </p:nvSpPr>
          <p:spPr bwMode="auto">
            <a:xfrm>
              <a:off x="787" y="4426"/>
              <a:ext cx="1928" cy="1021"/>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algn="ctr"/>
              <a:r>
                <a:rPr kumimoji="1" lang="zh-CN" altLang="en-US" sz="1400" b="0" i="0" u="none" strike="noStrike" cap="none" normalizeH="0" baseline="0" dirty="0">
                  <a:ln>
                    <a:noFill/>
                  </a:ln>
                  <a:solidFill>
                    <a:schemeClr val="tx1"/>
                  </a:solidFill>
                  <a:effectLst/>
                  <a:latin typeface="Times New Roman" panose="02020603050405020304" charset="0"/>
                </a:rPr>
                <a:t>满足监管要求</a:t>
              </a:r>
            </a:p>
          </p:txBody>
        </p:sp>
        <p:sp>
          <p:nvSpPr>
            <p:cNvPr id="7" name="流程图: 磁盘 6"/>
            <p:cNvSpPr/>
            <p:nvPr/>
          </p:nvSpPr>
          <p:spPr bwMode="auto">
            <a:xfrm>
              <a:off x="3736" y="2759"/>
              <a:ext cx="2381" cy="1831"/>
            </a:xfrm>
            <a:prstGeom prst="flowChartMagneticDisk">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rPr>
                <a:t>更加准确的数据</a:t>
              </a:r>
              <a:endParaRPr kumimoji="1" lang="en-US" altLang="zh-CN" sz="14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a:p>
              <a:pPr marL="0" marR="0" indent="0" algn="ctr" defTabSz="914400" rtl="0" eaLnBrk="1" fontAlgn="base"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rPr>
                <a:t>更加完整的数据</a:t>
              </a:r>
              <a:endParaRPr kumimoji="1" lang="en-US" altLang="zh-CN" sz="14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a:p>
              <a:pPr marL="0" marR="0" indent="0" algn="ctr" defTabSz="914400" rtl="0" eaLnBrk="1" fontAlgn="base" latinLnBrk="0" hangingPunct="1">
                <a:lnSpc>
                  <a:spcPct val="100000"/>
                </a:lnSpc>
                <a:spcBef>
                  <a:spcPct val="0"/>
                </a:spcBef>
                <a:spcAft>
                  <a:spcPct val="0"/>
                </a:spcAft>
                <a:buClrTx/>
                <a:buSzTx/>
                <a:buFontTx/>
                <a:buNone/>
              </a:pPr>
              <a:r>
                <a:rPr kumimoji="1" lang="zh-CN" altLang="en-US" sz="1400" i="0" dirty="0">
                  <a:solidFill>
                    <a:schemeClr val="tx1"/>
                  </a:solidFill>
                  <a:latin typeface="Times New Roman" panose="02020603050405020304" charset="0"/>
                  <a:ea typeface="宋体" panose="02010600030101010101" pitchFamily="2" charset="-122"/>
                </a:rPr>
                <a:t>更加有效的数据</a:t>
              </a:r>
              <a:endParaRPr kumimoji="1"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p:txBody>
        </p:sp>
        <p:cxnSp>
          <p:nvCxnSpPr>
            <p:cNvPr id="8" name="直接箭头连接符 7"/>
            <p:cNvCxnSpPr>
              <a:stCxn id="3" idx="3"/>
              <a:endCxn id="7" idx="2"/>
            </p:cNvCxnSpPr>
            <p:nvPr/>
          </p:nvCxnSpPr>
          <p:spPr bwMode="auto">
            <a:xfrm>
              <a:off x="2696" y="2423"/>
              <a:ext cx="1039" cy="1252"/>
            </a:xfrm>
            <a:prstGeom prst="straightConnector1">
              <a:avLst/>
            </a:prstGeom>
            <a:solidFill>
              <a:schemeClr val="accent1"/>
            </a:solidFill>
            <a:ln w="254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a:stCxn id="5" idx="3"/>
              <a:endCxn id="7" idx="2"/>
            </p:cNvCxnSpPr>
            <p:nvPr/>
          </p:nvCxnSpPr>
          <p:spPr bwMode="auto">
            <a:xfrm>
              <a:off x="2715" y="3670"/>
              <a:ext cx="1021" cy="4"/>
            </a:xfrm>
            <a:prstGeom prst="straightConnector1">
              <a:avLst/>
            </a:prstGeom>
            <a:solidFill>
              <a:schemeClr val="accent1"/>
            </a:solidFill>
            <a:ln w="254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箭头连接符 9"/>
            <p:cNvCxnSpPr>
              <a:stCxn id="6" idx="3"/>
              <a:endCxn id="7" idx="2"/>
            </p:cNvCxnSpPr>
            <p:nvPr/>
          </p:nvCxnSpPr>
          <p:spPr bwMode="auto">
            <a:xfrm flipV="1">
              <a:off x="2715" y="3674"/>
              <a:ext cx="1021" cy="1262"/>
            </a:xfrm>
            <a:prstGeom prst="straightConnector1">
              <a:avLst/>
            </a:prstGeom>
            <a:solidFill>
              <a:schemeClr val="accent1"/>
            </a:solidFill>
            <a:ln w="254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 name="Picture 8" descr="http://www.taopic.com/uploads/allimg/120211/6380-1202111s03722.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674" y="5428"/>
              <a:ext cx="1942" cy="2590"/>
            </a:xfrm>
            <a:prstGeom prst="rect">
              <a:avLst/>
            </a:prstGeom>
            <a:noFill/>
            <a:extLst>
              <a:ext uri="{909E8E84-426E-40DD-AFC4-6F175D3DCCD1}">
                <a14:hiddenFill xmlns:a14="http://schemas.microsoft.com/office/drawing/2010/main">
                  <a:solidFill>
                    <a:srgbClr val="FFFFFF"/>
                  </a:solidFill>
                </a14:hiddenFill>
              </a:ext>
            </a:extLst>
          </p:spPr>
        </p:pic>
        <p:sp>
          <p:nvSpPr>
            <p:cNvPr id="12" name="右箭头 11"/>
            <p:cNvSpPr/>
            <p:nvPr/>
          </p:nvSpPr>
          <p:spPr bwMode="auto">
            <a:xfrm>
              <a:off x="6274" y="2964"/>
              <a:ext cx="1814" cy="1414"/>
            </a:xfrm>
            <a:prstGeom prst="rightArrow">
              <a:avLst>
                <a:gd name="adj1" fmla="val 43919"/>
                <a:gd name="adj2" fmla="val 6368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rPr>
                <a:t>面临问题</a:t>
              </a:r>
            </a:p>
          </p:txBody>
        </p:sp>
        <p:pic>
          <p:nvPicPr>
            <p:cNvPr id="13" name="Picture 6" descr="http://pic1.ooopic.cn/uploadfilepic/sheji/2009-10-06/OOOPIC_haha001_20091006069df0bf149a8b97.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9748"/>
            <a:stretch>
              <a:fillRect/>
            </a:stretch>
          </p:blipFill>
          <p:spPr bwMode="auto">
            <a:xfrm>
              <a:off x="8041" y="5506"/>
              <a:ext cx="2302" cy="2598"/>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组合 25"/>
            <p:cNvGrpSpPr/>
            <p:nvPr/>
          </p:nvGrpSpPr>
          <p:grpSpPr>
            <a:xfrm>
              <a:off x="2007" y="5551"/>
              <a:ext cx="5175" cy="4275"/>
              <a:chOff x="4618950" y="1472290"/>
              <a:chExt cx="4258356" cy="4181001"/>
            </a:xfrm>
          </p:grpSpPr>
          <p:grpSp>
            <p:nvGrpSpPr>
              <p:cNvPr id="15" name="Group 3"/>
              <p:cNvGrpSpPr/>
              <p:nvPr/>
            </p:nvGrpSpPr>
            <p:grpSpPr bwMode="auto">
              <a:xfrm>
                <a:off x="6374648" y="1872030"/>
                <a:ext cx="691466" cy="703603"/>
                <a:chOff x="2644" y="2841"/>
                <a:chExt cx="563" cy="529"/>
              </a:xfrm>
            </p:grpSpPr>
            <p:sp>
              <p:nvSpPr>
                <p:cNvPr id="2" name="AutoShape 4"/>
                <p:cNvSpPr>
                  <a:spLocks noChangeArrowheads="1"/>
                </p:cNvSpPr>
                <p:nvPr/>
              </p:nvSpPr>
              <p:spPr bwMode="gray">
                <a:xfrm>
                  <a:off x="2644" y="2932"/>
                  <a:ext cx="563" cy="438"/>
                </a:xfrm>
                <a:prstGeom prst="diamond">
                  <a:avLst/>
                </a:prstGeom>
                <a:solidFill>
                  <a:srgbClr val="4D4D4D"/>
                </a:solidFill>
                <a:ln w="9525">
                  <a:miter lim="800000"/>
                </a:ln>
                <a:scene3d>
                  <a:camera prst="legacyObliqueBottom"/>
                  <a:lightRig rig="legacyFlat2" dir="t"/>
                </a:scene3d>
                <a:sp3d extrusionH="163500" prstMaterial="legacyMatte">
                  <a:bevelT w="13500" h="13500" prst="angle"/>
                  <a:bevelB w="13500" h="13500" prst="angle"/>
                  <a:extrusionClr>
                    <a:srgbClr val="4D4D4D"/>
                  </a:extrusionClr>
                </a:sp3d>
              </p:spPr>
              <p:txBody>
                <a:bodyPr wrap="none" anchor="ctr">
                  <a:flatTx/>
                </a:bodyPr>
                <a:lstStyle/>
                <a:p>
                  <a:endParaRPr lang="zh-CN" altLang="en-US" i="0"/>
                </a:p>
              </p:txBody>
            </p:sp>
            <p:sp>
              <p:nvSpPr>
                <p:cNvPr id="4" name="AutoShape 5"/>
                <p:cNvSpPr>
                  <a:spLocks noChangeArrowheads="1"/>
                </p:cNvSpPr>
                <p:nvPr/>
              </p:nvSpPr>
              <p:spPr bwMode="gray">
                <a:xfrm>
                  <a:off x="2644" y="2888"/>
                  <a:ext cx="563" cy="439"/>
                </a:xfrm>
                <a:prstGeom prst="diamond">
                  <a:avLst/>
                </a:prstGeom>
                <a:solidFill>
                  <a:srgbClr val="969696"/>
                </a:solidFill>
                <a:ln w="9525">
                  <a:miter lim="800000"/>
                </a:ln>
                <a:scene3d>
                  <a:camera prst="legacyObliqueBottom"/>
                  <a:lightRig rig="legacyFlat2" dir="t"/>
                </a:scene3d>
                <a:sp3d extrusionH="163500" prstMaterial="legacyMatte">
                  <a:bevelT w="13500" h="13500" prst="angle"/>
                  <a:bevelB w="13500" h="13500" prst="angle"/>
                  <a:extrusionClr>
                    <a:srgbClr val="969696"/>
                  </a:extrusionClr>
                </a:sp3d>
              </p:spPr>
              <p:txBody>
                <a:bodyPr wrap="none" anchor="ctr">
                  <a:flatTx/>
                </a:bodyPr>
                <a:lstStyle/>
                <a:p>
                  <a:endParaRPr lang="zh-CN" altLang="en-US" i="0"/>
                </a:p>
              </p:txBody>
            </p:sp>
            <p:sp>
              <p:nvSpPr>
                <p:cNvPr id="16" name="AutoShape 6"/>
                <p:cNvSpPr>
                  <a:spLocks noChangeArrowheads="1"/>
                </p:cNvSpPr>
                <p:nvPr/>
              </p:nvSpPr>
              <p:spPr bwMode="gray">
                <a:xfrm>
                  <a:off x="2644" y="2841"/>
                  <a:ext cx="563" cy="438"/>
                </a:xfrm>
                <a:prstGeom prst="diamond">
                  <a:avLst/>
                </a:prstGeom>
                <a:gradFill rotWithShape="1">
                  <a:gsLst>
                    <a:gs pos="0">
                      <a:srgbClr val="B2B2B2"/>
                    </a:gs>
                    <a:gs pos="100000">
                      <a:srgbClr val="ABABAB"/>
                    </a:gs>
                  </a:gsLst>
                  <a:lin ang="5400000" scaled="1"/>
                </a:gradFill>
                <a:ln w="9525">
                  <a:miter lim="800000"/>
                </a:ln>
                <a:scene3d>
                  <a:camera prst="legacyObliqueBottom"/>
                  <a:lightRig rig="legacyFlat2" dir="t"/>
                </a:scene3d>
                <a:sp3d extrusionH="163500" prstMaterial="legacyMatte">
                  <a:bevelT w="13500" h="13500" prst="angle"/>
                  <a:bevelB w="13500" h="13500" prst="angle"/>
                  <a:extrusionClr>
                    <a:srgbClr val="B2B2B2"/>
                  </a:extrusionClr>
                </a:sp3d>
              </p:spPr>
              <p:txBody>
                <a:bodyPr wrap="none" anchor="ctr">
                  <a:flatTx/>
                </a:bodyPr>
                <a:lstStyle/>
                <a:p>
                  <a:endParaRPr lang="zh-CN" altLang="en-US" i="0"/>
                </a:p>
              </p:txBody>
            </p:sp>
          </p:grpSp>
          <p:grpSp>
            <p:nvGrpSpPr>
              <p:cNvPr id="17" name="Group 7"/>
              <p:cNvGrpSpPr/>
              <p:nvPr/>
            </p:nvGrpSpPr>
            <p:grpSpPr bwMode="auto">
              <a:xfrm>
                <a:off x="6738881" y="1478792"/>
                <a:ext cx="2138425" cy="2144933"/>
                <a:chOff x="2897" y="845"/>
                <a:chExt cx="1743" cy="1611"/>
              </a:xfrm>
            </p:grpSpPr>
            <p:sp>
              <p:nvSpPr>
                <p:cNvPr id="19" name="AutoShape 8"/>
                <p:cNvSpPr>
                  <a:spLocks noChangeArrowheads="1"/>
                </p:cNvSpPr>
                <p:nvPr/>
              </p:nvSpPr>
              <p:spPr bwMode="gray">
                <a:xfrm>
                  <a:off x="2897" y="1109"/>
                  <a:ext cx="1731" cy="1347"/>
                </a:xfrm>
                <a:prstGeom prst="diamond">
                  <a:avLst/>
                </a:prstGeom>
                <a:solidFill>
                  <a:srgbClr val="FFFFCC"/>
                </a:solidFill>
                <a:ln w="9525">
                  <a:miter lim="800000"/>
                </a:ln>
                <a:scene3d>
                  <a:camera prst="legacyObliqueBottom"/>
                  <a:lightRig rig="legacyFlat2" dir="t"/>
                </a:scene3d>
                <a:sp3d extrusionH="227000" prstMaterial="legacyMatte">
                  <a:bevelT w="13500" h="13500" prst="angle"/>
                  <a:bevelB w="13500" h="13500" prst="angle"/>
                  <a:extrusionClr>
                    <a:srgbClr val="FFFFCC"/>
                  </a:extrusionClr>
                </a:sp3d>
              </p:spPr>
              <p:txBody>
                <a:bodyPr wrap="none" anchor="ctr">
                  <a:flatTx/>
                </a:bodyPr>
                <a:lstStyle/>
                <a:p>
                  <a:endParaRPr lang="zh-CN" altLang="en-US" i="0"/>
                </a:p>
              </p:txBody>
            </p:sp>
            <p:sp>
              <p:nvSpPr>
                <p:cNvPr id="20" name="AutoShape 9"/>
                <p:cNvSpPr>
                  <a:spLocks noChangeArrowheads="1"/>
                </p:cNvSpPr>
                <p:nvPr/>
              </p:nvSpPr>
              <p:spPr bwMode="gray">
                <a:xfrm>
                  <a:off x="2898" y="966"/>
                  <a:ext cx="1731" cy="1347"/>
                </a:xfrm>
                <a:prstGeom prst="diamond">
                  <a:avLst/>
                </a:prstGeom>
                <a:solidFill>
                  <a:srgbClr val="FFCC66"/>
                </a:solidFill>
                <a:ln w="9525">
                  <a:miter lim="800000"/>
                </a:ln>
                <a:scene3d>
                  <a:camera prst="legacyObliqueBottom"/>
                  <a:lightRig rig="legacyFlat2" dir="t"/>
                </a:scene3d>
                <a:sp3d extrusionH="227000" prstMaterial="legacyMatte">
                  <a:bevelT w="13500" h="13500" prst="angle"/>
                  <a:bevelB w="13500" h="13500" prst="angle"/>
                  <a:extrusionClr>
                    <a:srgbClr val="FFCC66"/>
                  </a:extrusionClr>
                </a:sp3d>
              </p:spPr>
              <p:txBody>
                <a:bodyPr wrap="none" anchor="ctr">
                  <a:flatTx/>
                </a:bodyPr>
                <a:lstStyle/>
                <a:p>
                  <a:endParaRPr lang="zh-CN" altLang="en-US" i="0"/>
                </a:p>
              </p:txBody>
            </p:sp>
            <p:sp>
              <p:nvSpPr>
                <p:cNvPr id="21" name="AutoShape 10"/>
                <p:cNvSpPr>
                  <a:spLocks noChangeArrowheads="1"/>
                </p:cNvSpPr>
                <p:nvPr/>
              </p:nvSpPr>
              <p:spPr bwMode="gray">
                <a:xfrm>
                  <a:off x="2909" y="845"/>
                  <a:ext cx="1731" cy="1347"/>
                </a:xfrm>
                <a:prstGeom prst="diamond">
                  <a:avLst/>
                </a:prstGeom>
                <a:gradFill rotWithShape="1">
                  <a:gsLst>
                    <a:gs pos="0">
                      <a:srgbClr val="A96500"/>
                    </a:gs>
                    <a:gs pos="100000">
                      <a:srgbClr val="FF9900"/>
                    </a:gs>
                  </a:gsLst>
                  <a:lin ang="5400000" scaled="1"/>
                </a:gradFill>
                <a:ln w="9525">
                  <a:miter lim="800000"/>
                </a:ln>
                <a:scene3d>
                  <a:camera prst="legacyObliqueBottom"/>
                  <a:lightRig rig="legacyFlat2" dir="t"/>
                </a:scene3d>
                <a:sp3d extrusionH="227000" prstMaterial="legacyMatte">
                  <a:bevelT w="13500" h="13500" prst="angle"/>
                  <a:bevelB w="13500" h="13500" prst="angle"/>
                  <a:extrusionClr>
                    <a:srgbClr val="FF9900"/>
                  </a:extrusionClr>
                </a:sp3d>
              </p:spPr>
              <p:txBody>
                <a:bodyPr wrap="none" anchor="ctr">
                  <a:flatTx/>
                </a:bodyPr>
                <a:lstStyle/>
                <a:p>
                  <a:endParaRPr lang="zh-CN" altLang="en-US" i="0"/>
                </a:p>
              </p:txBody>
            </p:sp>
          </p:grpSp>
          <p:grpSp>
            <p:nvGrpSpPr>
              <p:cNvPr id="22" name="Group 11"/>
              <p:cNvGrpSpPr/>
              <p:nvPr/>
            </p:nvGrpSpPr>
            <p:grpSpPr bwMode="auto">
              <a:xfrm>
                <a:off x="4620373" y="1472290"/>
                <a:ext cx="2138425" cy="2131934"/>
                <a:chOff x="1179" y="849"/>
                <a:chExt cx="1743" cy="1601"/>
              </a:xfrm>
            </p:grpSpPr>
            <p:sp>
              <p:nvSpPr>
                <p:cNvPr id="23" name="AutoShape 12"/>
                <p:cNvSpPr>
                  <a:spLocks noChangeArrowheads="1"/>
                </p:cNvSpPr>
                <p:nvPr/>
              </p:nvSpPr>
              <p:spPr bwMode="gray">
                <a:xfrm>
                  <a:off x="1179" y="1103"/>
                  <a:ext cx="1731" cy="1347"/>
                </a:xfrm>
                <a:prstGeom prst="diamond">
                  <a:avLst/>
                </a:prstGeom>
                <a:solidFill>
                  <a:srgbClr val="CCECFF"/>
                </a:solidFill>
                <a:ln w="9525">
                  <a:miter lim="800000"/>
                </a:ln>
                <a:scene3d>
                  <a:camera prst="legacyObliqueBottom"/>
                  <a:lightRig rig="legacyFlat2" dir="t"/>
                </a:scene3d>
                <a:sp3d extrusionH="227000" prstMaterial="legacyMatte">
                  <a:bevelT w="13500" h="13500" prst="angle"/>
                  <a:bevelB w="13500" h="13500" prst="angle"/>
                  <a:extrusionClr>
                    <a:srgbClr val="CCECFF"/>
                  </a:extrusionClr>
                </a:sp3d>
              </p:spPr>
              <p:txBody>
                <a:bodyPr wrap="none" anchor="ctr">
                  <a:flatTx/>
                </a:bodyPr>
                <a:lstStyle/>
                <a:p>
                  <a:endParaRPr lang="zh-CN" altLang="en-US" i="0"/>
                </a:p>
              </p:txBody>
            </p:sp>
            <p:sp>
              <p:nvSpPr>
                <p:cNvPr id="24" name="AutoShape 13"/>
                <p:cNvSpPr>
                  <a:spLocks noChangeArrowheads="1"/>
                </p:cNvSpPr>
                <p:nvPr/>
              </p:nvSpPr>
              <p:spPr bwMode="gray">
                <a:xfrm>
                  <a:off x="1180" y="970"/>
                  <a:ext cx="1731" cy="1347"/>
                </a:xfrm>
                <a:prstGeom prst="diamond">
                  <a:avLst/>
                </a:prstGeom>
                <a:solidFill>
                  <a:srgbClr val="CC99FF"/>
                </a:solidFill>
                <a:ln w="9525">
                  <a:miter lim="800000"/>
                </a:ln>
                <a:scene3d>
                  <a:camera prst="legacyObliqueBottom"/>
                  <a:lightRig rig="legacyFlat2" dir="t"/>
                </a:scene3d>
                <a:sp3d extrusionH="227000" prstMaterial="legacyMatte">
                  <a:bevelT w="13500" h="13500" prst="angle"/>
                  <a:bevelB w="13500" h="13500" prst="angle"/>
                  <a:extrusionClr>
                    <a:srgbClr val="CC99FF"/>
                  </a:extrusionClr>
                </a:sp3d>
              </p:spPr>
              <p:txBody>
                <a:bodyPr wrap="none" anchor="ctr">
                  <a:flatTx/>
                </a:bodyPr>
                <a:lstStyle/>
                <a:p>
                  <a:endParaRPr lang="zh-CN" altLang="en-US" i="0"/>
                </a:p>
              </p:txBody>
            </p:sp>
            <p:sp>
              <p:nvSpPr>
                <p:cNvPr id="25" name="AutoShape 14"/>
                <p:cNvSpPr>
                  <a:spLocks noChangeArrowheads="1"/>
                </p:cNvSpPr>
                <p:nvPr/>
              </p:nvSpPr>
              <p:spPr bwMode="gray">
                <a:xfrm>
                  <a:off x="1191" y="849"/>
                  <a:ext cx="1731" cy="1347"/>
                </a:xfrm>
                <a:prstGeom prst="diamond">
                  <a:avLst/>
                </a:prstGeom>
                <a:gradFill rotWithShape="1">
                  <a:gsLst>
                    <a:gs pos="0">
                      <a:srgbClr val="393956"/>
                    </a:gs>
                    <a:gs pos="100000">
                      <a:srgbClr val="666699"/>
                    </a:gs>
                  </a:gsLst>
                  <a:lin ang="5400000" scaled="1"/>
                </a:gradFill>
                <a:ln w="9525">
                  <a:miter lim="800000"/>
                </a:ln>
                <a:scene3d>
                  <a:camera prst="legacyObliqueBottom"/>
                  <a:lightRig rig="legacyFlat2" dir="t"/>
                </a:scene3d>
                <a:sp3d extrusionH="227000" prstMaterial="legacyMatte">
                  <a:bevelT w="13500" h="13500" prst="angle"/>
                  <a:bevelB w="13500" h="13500" prst="angle"/>
                  <a:extrusionClr>
                    <a:srgbClr val="666699"/>
                  </a:extrusionClr>
                </a:sp3d>
              </p:spPr>
              <p:txBody>
                <a:bodyPr wrap="none" anchor="ctr">
                  <a:flatTx/>
                </a:bodyPr>
                <a:lstStyle/>
                <a:p>
                  <a:endParaRPr lang="zh-CN" altLang="en-US" i="0"/>
                </a:p>
              </p:txBody>
            </p:sp>
          </p:grpSp>
          <p:sp>
            <p:nvSpPr>
              <p:cNvPr id="26" name="Rectangle 15"/>
              <p:cNvSpPr>
                <a:spLocks noChangeArrowheads="1"/>
              </p:cNvSpPr>
              <p:nvPr/>
            </p:nvSpPr>
            <p:spPr bwMode="gray">
              <a:xfrm>
                <a:off x="5105079" y="2231143"/>
                <a:ext cx="1311283" cy="47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zh-CN" altLang="en-US" sz="1600" b="1" i="0" dirty="0">
                    <a:solidFill>
                      <a:srgbClr val="FF0000"/>
                    </a:solidFill>
                  </a:rPr>
                  <a:t>数据标准</a:t>
                </a:r>
              </a:p>
            </p:txBody>
          </p:sp>
          <p:sp>
            <p:nvSpPr>
              <p:cNvPr id="27" name="Rectangle 16"/>
              <p:cNvSpPr>
                <a:spLocks noChangeArrowheads="1"/>
              </p:cNvSpPr>
              <p:nvPr/>
            </p:nvSpPr>
            <p:spPr bwMode="gray">
              <a:xfrm>
                <a:off x="7215049" y="2231143"/>
                <a:ext cx="1311283" cy="47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zh-CN" altLang="en-US" sz="1600" b="1" i="0" dirty="0">
                    <a:solidFill>
                      <a:schemeClr val="bg1"/>
                    </a:solidFill>
                  </a:rPr>
                  <a:t>数据监控</a:t>
                </a:r>
              </a:p>
            </p:txBody>
          </p:sp>
          <p:sp>
            <p:nvSpPr>
              <p:cNvPr id="28" name="Rectangle 17"/>
              <p:cNvSpPr>
                <a:spLocks noChangeArrowheads="1"/>
              </p:cNvSpPr>
              <p:nvPr/>
            </p:nvSpPr>
            <p:spPr bwMode="gray">
              <a:xfrm>
                <a:off x="5967350" y="3342609"/>
                <a:ext cx="1577196" cy="5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zh-CN" altLang="en-US" sz="2000" b="1" i="0" dirty="0"/>
                  <a:t>数据治理</a:t>
                </a:r>
              </a:p>
            </p:txBody>
          </p:sp>
          <p:sp>
            <p:nvSpPr>
              <p:cNvPr id="29" name="Oval 18"/>
              <p:cNvSpPr>
                <a:spLocks noChangeArrowheads="1"/>
              </p:cNvSpPr>
              <p:nvPr/>
            </p:nvSpPr>
            <p:spPr bwMode="gray">
              <a:xfrm>
                <a:off x="5498760" y="1774533"/>
                <a:ext cx="431099" cy="469610"/>
              </a:xfrm>
              <a:prstGeom prst="ellipse">
                <a:avLst/>
              </a:prstGeom>
              <a:solidFill>
                <a:srgbClr val="CCC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i="0"/>
              </a:p>
            </p:txBody>
          </p:sp>
          <p:sp>
            <p:nvSpPr>
              <p:cNvPr id="30" name="Text Box 19"/>
              <p:cNvSpPr txBox="1">
                <a:spLocks noChangeArrowheads="1"/>
              </p:cNvSpPr>
              <p:nvPr/>
            </p:nvSpPr>
            <p:spPr bwMode="gray">
              <a:xfrm>
                <a:off x="5466952" y="1646738"/>
                <a:ext cx="528087" cy="65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0" dirty="0">
                    <a:solidFill>
                      <a:srgbClr val="5F5F5F"/>
                    </a:solidFill>
                  </a:rPr>
                  <a:t>A</a:t>
                </a:r>
              </a:p>
            </p:txBody>
          </p:sp>
          <p:sp>
            <p:nvSpPr>
              <p:cNvPr id="31" name="Oval 20"/>
              <p:cNvSpPr>
                <a:spLocks noChangeArrowheads="1"/>
              </p:cNvSpPr>
              <p:nvPr/>
            </p:nvSpPr>
            <p:spPr bwMode="gray">
              <a:xfrm>
                <a:off x="7677905" y="1774533"/>
                <a:ext cx="432522" cy="469610"/>
              </a:xfrm>
              <a:prstGeom prst="ellipse">
                <a:avLst/>
              </a:prstGeom>
              <a:solidFill>
                <a:srgbClr val="FFCC99"/>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i="0"/>
              </a:p>
            </p:txBody>
          </p:sp>
          <p:sp>
            <p:nvSpPr>
              <p:cNvPr id="32" name="Text Box 21"/>
              <p:cNvSpPr txBox="1">
                <a:spLocks noChangeArrowheads="1"/>
              </p:cNvSpPr>
              <p:nvPr/>
            </p:nvSpPr>
            <p:spPr bwMode="gray">
              <a:xfrm>
                <a:off x="7623729" y="1646738"/>
                <a:ext cx="528087" cy="65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0" dirty="0">
                    <a:solidFill>
                      <a:srgbClr val="5F5F5F"/>
                    </a:solidFill>
                  </a:rPr>
                  <a:t>B</a:t>
                </a:r>
              </a:p>
            </p:txBody>
          </p:sp>
          <p:grpSp>
            <p:nvGrpSpPr>
              <p:cNvPr id="33" name="Group 22"/>
              <p:cNvGrpSpPr/>
              <p:nvPr/>
            </p:nvGrpSpPr>
            <p:grpSpPr bwMode="auto">
              <a:xfrm>
                <a:off x="7830141" y="3212615"/>
                <a:ext cx="691466" cy="705228"/>
                <a:chOff x="2644" y="2841"/>
                <a:chExt cx="563" cy="529"/>
              </a:xfrm>
            </p:grpSpPr>
            <p:sp>
              <p:nvSpPr>
                <p:cNvPr id="34" name="AutoShape 23"/>
                <p:cNvSpPr>
                  <a:spLocks noChangeArrowheads="1"/>
                </p:cNvSpPr>
                <p:nvPr/>
              </p:nvSpPr>
              <p:spPr bwMode="gray">
                <a:xfrm>
                  <a:off x="2644" y="2932"/>
                  <a:ext cx="563" cy="438"/>
                </a:xfrm>
                <a:prstGeom prst="diamond">
                  <a:avLst/>
                </a:prstGeom>
                <a:solidFill>
                  <a:srgbClr val="4D4D4D"/>
                </a:solidFill>
                <a:ln w="9525">
                  <a:miter lim="800000"/>
                </a:ln>
                <a:scene3d>
                  <a:camera prst="legacyObliqueBottom"/>
                  <a:lightRig rig="legacyFlat2" dir="t"/>
                </a:scene3d>
                <a:sp3d extrusionH="163500" prstMaterial="legacyMatte">
                  <a:bevelT w="13500" h="13500" prst="angle"/>
                  <a:bevelB w="13500" h="13500" prst="angle"/>
                  <a:extrusionClr>
                    <a:srgbClr val="4D4D4D"/>
                  </a:extrusionClr>
                </a:sp3d>
              </p:spPr>
              <p:txBody>
                <a:bodyPr wrap="none" anchor="ctr">
                  <a:flatTx/>
                </a:bodyPr>
                <a:lstStyle/>
                <a:p>
                  <a:endParaRPr lang="zh-CN" altLang="en-US" i="0"/>
                </a:p>
              </p:txBody>
            </p:sp>
            <p:sp>
              <p:nvSpPr>
                <p:cNvPr id="35" name="AutoShape 24"/>
                <p:cNvSpPr>
                  <a:spLocks noChangeArrowheads="1"/>
                </p:cNvSpPr>
                <p:nvPr/>
              </p:nvSpPr>
              <p:spPr bwMode="gray">
                <a:xfrm>
                  <a:off x="2644" y="2888"/>
                  <a:ext cx="563" cy="439"/>
                </a:xfrm>
                <a:prstGeom prst="diamond">
                  <a:avLst/>
                </a:prstGeom>
                <a:solidFill>
                  <a:srgbClr val="969696"/>
                </a:solidFill>
                <a:ln w="9525">
                  <a:miter lim="800000"/>
                </a:ln>
                <a:scene3d>
                  <a:camera prst="legacyObliqueBottom"/>
                  <a:lightRig rig="legacyFlat2" dir="t"/>
                </a:scene3d>
                <a:sp3d extrusionH="163500" prstMaterial="legacyMatte">
                  <a:bevelT w="13500" h="13500" prst="angle"/>
                  <a:bevelB w="13500" h="13500" prst="angle"/>
                  <a:extrusionClr>
                    <a:srgbClr val="969696"/>
                  </a:extrusionClr>
                </a:sp3d>
              </p:spPr>
              <p:txBody>
                <a:bodyPr wrap="none" anchor="ctr">
                  <a:flatTx/>
                </a:bodyPr>
                <a:lstStyle/>
                <a:p>
                  <a:endParaRPr lang="zh-CN" altLang="en-US" i="0"/>
                </a:p>
              </p:txBody>
            </p:sp>
            <p:sp>
              <p:nvSpPr>
                <p:cNvPr id="36" name="AutoShape 25"/>
                <p:cNvSpPr>
                  <a:spLocks noChangeArrowheads="1"/>
                </p:cNvSpPr>
                <p:nvPr/>
              </p:nvSpPr>
              <p:spPr bwMode="gray">
                <a:xfrm>
                  <a:off x="2644" y="2841"/>
                  <a:ext cx="563" cy="438"/>
                </a:xfrm>
                <a:prstGeom prst="diamond">
                  <a:avLst/>
                </a:prstGeom>
                <a:gradFill rotWithShape="1">
                  <a:gsLst>
                    <a:gs pos="0">
                      <a:srgbClr val="B2B2B2"/>
                    </a:gs>
                    <a:gs pos="100000">
                      <a:srgbClr val="B7B7B7"/>
                    </a:gs>
                  </a:gsLst>
                  <a:lin ang="5400000" scaled="1"/>
                </a:gradFill>
                <a:ln w="9525">
                  <a:miter lim="800000"/>
                </a:ln>
                <a:scene3d>
                  <a:camera prst="legacyObliqueBottom"/>
                  <a:lightRig rig="legacyFlat2" dir="t"/>
                </a:scene3d>
                <a:sp3d extrusionH="163500" prstMaterial="legacyMatte">
                  <a:bevelT w="13500" h="13500" prst="angle"/>
                  <a:bevelB w="13500" h="13500" prst="angle"/>
                  <a:extrusionClr>
                    <a:srgbClr val="B2B2B2"/>
                  </a:extrusionClr>
                </a:sp3d>
              </p:spPr>
              <p:txBody>
                <a:bodyPr wrap="none" anchor="ctr">
                  <a:flatTx/>
                </a:bodyPr>
                <a:lstStyle/>
                <a:p>
                  <a:endParaRPr lang="zh-CN" altLang="en-US" i="0"/>
                </a:p>
              </p:txBody>
            </p:sp>
          </p:grpSp>
          <p:grpSp>
            <p:nvGrpSpPr>
              <p:cNvPr id="37" name="Group 26"/>
              <p:cNvGrpSpPr/>
              <p:nvPr/>
            </p:nvGrpSpPr>
            <p:grpSpPr bwMode="auto">
              <a:xfrm>
                <a:off x="6738881" y="3514855"/>
                <a:ext cx="2138425" cy="2138436"/>
                <a:chOff x="2916" y="2200"/>
                <a:chExt cx="1743" cy="1605"/>
              </a:xfrm>
            </p:grpSpPr>
            <p:sp>
              <p:nvSpPr>
                <p:cNvPr id="45" name="AutoShape 27"/>
                <p:cNvSpPr>
                  <a:spLocks noChangeArrowheads="1"/>
                </p:cNvSpPr>
                <p:nvPr/>
              </p:nvSpPr>
              <p:spPr bwMode="gray">
                <a:xfrm>
                  <a:off x="2916" y="2458"/>
                  <a:ext cx="1731" cy="1347"/>
                </a:xfrm>
                <a:prstGeom prst="diamond">
                  <a:avLst/>
                </a:prstGeom>
                <a:solidFill>
                  <a:srgbClr val="CCFFFF"/>
                </a:solidFill>
                <a:ln w="9525">
                  <a:miter lim="800000"/>
                </a:ln>
                <a:scene3d>
                  <a:camera prst="legacyObliqueBottom"/>
                  <a:lightRig rig="legacyFlat2" dir="t"/>
                </a:scene3d>
                <a:sp3d extrusionH="227000" prstMaterial="legacyMatte">
                  <a:bevelT w="13500" h="13500" prst="angle"/>
                  <a:bevelB w="13500" h="13500" prst="angle"/>
                  <a:extrusionClr>
                    <a:srgbClr val="CCFFFF"/>
                  </a:extrusionClr>
                </a:sp3d>
              </p:spPr>
              <p:txBody>
                <a:bodyPr wrap="none" anchor="ctr">
                  <a:flatTx/>
                </a:bodyPr>
                <a:lstStyle/>
                <a:p>
                  <a:endParaRPr lang="zh-CN" altLang="en-US" i="0"/>
                </a:p>
              </p:txBody>
            </p:sp>
            <p:sp>
              <p:nvSpPr>
                <p:cNvPr id="38" name="AutoShape 28"/>
                <p:cNvSpPr>
                  <a:spLocks noChangeArrowheads="1"/>
                </p:cNvSpPr>
                <p:nvPr/>
              </p:nvSpPr>
              <p:spPr bwMode="gray">
                <a:xfrm>
                  <a:off x="2917" y="2328"/>
                  <a:ext cx="1731" cy="1347"/>
                </a:xfrm>
                <a:prstGeom prst="diamond">
                  <a:avLst/>
                </a:prstGeom>
                <a:solidFill>
                  <a:srgbClr val="33CCFF"/>
                </a:solidFill>
                <a:ln w="9525">
                  <a:miter lim="800000"/>
                </a:ln>
                <a:scene3d>
                  <a:camera prst="legacyObliqueBottom"/>
                  <a:lightRig rig="legacyFlat2" dir="t"/>
                </a:scene3d>
                <a:sp3d extrusionH="227000" prstMaterial="legacyMatte">
                  <a:bevelT w="13500" h="13500" prst="angle"/>
                  <a:bevelB w="13500" h="13500" prst="angle"/>
                  <a:extrusionClr>
                    <a:srgbClr val="33CCFF"/>
                  </a:extrusionClr>
                </a:sp3d>
              </p:spPr>
              <p:txBody>
                <a:bodyPr wrap="none" anchor="ctr">
                  <a:flatTx/>
                </a:bodyPr>
                <a:lstStyle/>
                <a:p>
                  <a:endParaRPr lang="zh-CN" altLang="en-US" i="0"/>
                </a:p>
              </p:txBody>
            </p:sp>
            <p:sp>
              <p:nvSpPr>
                <p:cNvPr id="47" name="AutoShape 29"/>
                <p:cNvSpPr>
                  <a:spLocks noChangeArrowheads="1"/>
                </p:cNvSpPr>
                <p:nvPr/>
              </p:nvSpPr>
              <p:spPr bwMode="gray">
                <a:xfrm>
                  <a:off x="2928" y="2200"/>
                  <a:ext cx="1731" cy="1347"/>
                </a:xfrm>
                <a:prstGeom prst="diamond">
                  <a:avLst/>
                </a:prstGeom>
                <a:gradFill rotWithShape="1">
                  <a:gsLst>
                    <a:gs pos="0">
                      <a:srgbClr val="006587"/>
                    </a:gs>
                    <a:gs pos="100000">
                      <a:srgbClr val="0099CC"/>
                    </a:gs>
                  </a:gsLst>
                  <a:lin ang="5400000" scaled="1"/>
                </a:gradFill>
                <a:ln w="9525">
                  <a:miter lim="800000"/>
                </a:ln>
                <a:scene3d>
                  <a:camera prst="legacyObliqueBottom"/>
                  <a:lightRig rig="legacyFlat2" dir="t"/>
                </a:scene3d>
                <a:sp3d extrusionH="227000" prstMaterial="legacyMatte">
                  <a:bevelT w="13500" h="13500" prst="angle"/>
                  <a:bevelB w="13500" h="13500" prst="angle"/>
                  <a:extrusionClr>
                    <a:srgbClr val="0099CC"/>
                  </a:extrusionClr>
                </a:sp3d>
              </p:spPr>
              <p:txBody>
                <a:bodyPr wrap="none" anchor="ctr">
                  <a:flatTx/>
                </a:bodyPr>
                <a:lstStyle/>
                <a:p>
                  <a:endParaRPr lang="zh-CN" altLang="en-US" i="0"/>
                </a:p>
              </p:txBody>
            </p:sp>
          </p:grpSp>
          <p:sp>
            <p:nvSpPr>
              <p:cNvPr id="39" name="Rectangle 30"/>
              <p:cNvSpPr>
                <a:spLocks noChangeArrowheads="1"/>
              </p:cNvSpPr>
              <p:nvPr/>
            </p:nvSpPr>
            <p:spPr bwMode="gray">
              <a:xfrm>
                <a:off x="7217891" y="4356577"/>
                <a:ext cx="1311283" cy="47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zh-CN" altLang="en-US" sz="1600" b="1" i="0" dirty="0">
                    <a:solidFill>
                      <a:schemeClr val="bg1"/>
                    </a:solidFill>
                  </a:rPr>
                  <a:t>数据改进</a:t>
                </a:r>
              </a:p>
            </p:txBody>
          </p:sp>
          <p:sp>
            <p:nvSpPr>
              <p:cNvPr id="40" name="Oval 31"/>
              <p:cNvSpPr>
                <a:spLocks noChangeArrowheads="1"/>
              </p:cNvSpPr>
              <p:nvPr/>
            </p:nvSpPr>
            <p:spPr bwMode="gray">
              <a:xfrm>
                <a:off x="7666523" y="3878842"/>
                <a:ext cx="431099" cy="469610"/>
              </a:xfrm>
              <a:prstGeom prst="ellipse">
                <a:avLst/>
              </a:prstGeom>
              <a:solidFill>
                <a:srgbClr val="CCFFFF">
                  <a:alpha val="79999"/>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i="0"/>
              </a:p>
            </p:txBody>
          </p:sp>
          <p:sp>
            <p:nvSpPr>
              <p:cNvPr id="41" name="Text Box 32"/>
              <p:cNvSpPr txBox="1">
                <a:spLocks noChangeArrowheads="1"/>
              </p:cNvSpPr>
              <p:nvPr/>
            </p:nvSpPr>
            <p:spPr bwMode="gray">
              <a:xfrm>
                <a:off x="7623729" y="3754484"/>
                <a:ext cx="528087" cy="65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0" dirty="0">
                    <a:solidFill>
                      <a:srgbClr val="5F5F5F"/>
                    </a:solidFill>
                  </a:rPr>
                  <a:t>D</a:t>
                </a:r>
              </a:p>
            </p:txBody>
          </p:sp>
          <p:grpSp>
            <p:nvGrpSpPr>
              <p:cNvPr id="42" name="Group 33"/>
              <p:cNvGrpSpPr/>
              <p:nvPr/>
            </p:nvGrpSpPr>
            <p:grpSpPr bwMode="auto">
              <a:xfrm>
                <a:off x="5000253" y="3261361"/>
                <a:ext cx="691466" cy="703603"/>
                <a:chOff x="2644" y="2841"/>
                <a:chExt cx="563" cy="529"/>
              </a:xfrm>
            </p:grpSpPr>
            <p:sp>
              <p:nvSpPr>
                <p:cNvPr id="43" name="AutoShape 34"/>
                <p:cNvSpPr>
                  <a:spLocks noChangeArrowheads="1"/>
                </p:cNvSpPr>
                <p:nvPr/>
              </p:nvSpPr>
              <p:spPr bwMode="gray">
                <a:xfrm>
                  <a:off x="2644" y="2932"/>
                  <a:ext cx="563" cy="438"/>
                </a:xfrm>
                <a:prstGeom prst="diamond">
                  <a:avLst/>
                </a:prstGeom>
                <a:solidFill>
                  <a:srgbClr val="4D4D4D"/>
                </a:solidFill>
                <a:ln w="9525">
                  <a:miter lim="800000"/>
                </a:ln>
                <a:scene3d>
                  <a:camera prst="legacyObliqueBottom"/>
                  <a:lightRig rig="legacyFlat2" dir="t"/>
                </a:scene3d>
                <a:sp3d extrusionH="163500" prstMaterial="legacyMatte">
                  <a:bevelT w="13500" h="13500" prst="angle"/>
                  <a:bevelB w="13500" h="13500" prst="angle"/>
                  <a:extrusionClr>
                    <a:srgbClr val="4D4D4D"/>
                  </a:extrusionClr>
                </a:sp3d>
              </p:spPr>
              <p:txBody>
                <a:bodyPr wrap="none" anchor="ctr">
                  <a:flatTx/>
                </a:bodyPr>
                <a:lstStyle/>
                <a:p>
                  <a:endParaRPr lang="zh-CN" altLang="en-US" i="0"/>
                </a:p>
              </p:txBody>
            </p:sp>
            <p:sp>
              <p:nvSpPr>
                <p:cNvPr id="44" name="AutoShape 35"/>
                <p:cNvSpPr>
                  <a:spLocks noChangeArrowheads="1"/>
                </p:cNvSpPr>
                <p:nvPr/>
              </p:nvSpPr>
              <p:spPr bwMode="gray">
                <a:xfrm>
                  <a:off x="2644" y="2888"/>
                  <a:ext cx="563" cy="439"/>
                </a:xfrm>
                <a:prstGeom prst="diamond">
                  <a:avLst/>
                </a:prstGeom>
                <a:solidFill>
                  <a:srgbClr val="969696"/>
                </a:solidFill>
                <a:ln w="9525">
                  <a:miter lim="800000"/>
                </a:ln>
                <a:scene3d>
                  <a:camera prst="legacyObliqueBottom"/>
                  <a:lightRig rig="legacyFlat2" dir="t"/>
                </a:scene3d>
                <a:sp3d extrusionH="163500" prstMaterial="legacyMatte">
                  <a:bevelT w="13500" h="13500" prst="angle"/>
                  <a:bevelB w="13500" h="13500" prst="angle"/>
                  <a:extrusionClr>
                    <a:srgbClr val="969696"/>
                  </a:extrusionClr>
                </a:sp3d>
              </p:spPr>
              <p:txBody>
                <a:bodyPr wrap="none" anchor="ctr">
                  <a:flatTx/>
                </a:bodyPr>
                <a:lstStyle/>
                <a:p>
                  <a:endParaRPr lang="zh-CN" altLang="en-US" i="0"/>
                </a:p>
              </p:txBody>
            </p:sp>
            <p:sp>
              <p:nvSpPr>
                <p:cNvPr id="65" name="AutoShape 36"/>
                <p:cNvSpPr>
                  <a:spLocks noChangeArrowheads="1"/>
                </p:cNvSpPr>
                <p:nvPr/>
              </p:nvSpPr>
              <p:spPr bwMode="gray">
                <a:xfrm>
                  <a:off x="2644" y="2841"/>
                  <a:ext cx="563" cy="438"/>
                </a:xfrm>
                <a:prstGeom prst="diamond">
                  <a:avLst/>
                </a:prstGeom>
                <a:gradFill rotWithShape="1">
                  <a:gsLst>
                    <a:gs pos="0">
                      <a:srgbClr val="B2B2B2"/>
                    </a:gs>
                    <a:gs pos="100000">
                      <a:srgbClr val="ABABAB"/>
                    </a:gs>
                  </a:gsLst>
                  <a:lin ang="5400000" scaled="1"/>
                </a:gradFill>
                <a:ln w="9525">
                  <a:miter lim="800000"/>
                </a:ln>
                <a:scene3d>
                  <a:camera prst="legacyObliqueBottom"/>
                  <a:lightRig rig="legacyFlat2" dir="t"/>
                </a:scene3d>
                <a:sp3d extrusionH="163500" prstMaterial="legacyMatte">
                  <a:bevelT w="13500" h="13500" prst="angle"/>
                  <a:bevelB w="13500" h="13500" prst="angle"/>
                  <a:extrusionClr>
                    <a:srgbClr val="B2B2B2"/>
                  </a:extrusionClr>
                </a:sp3d>
              </p:spPr>
              <p:txBody>
                <a:bodyPr wrap="none" anchor="ctr">
                  <a:flatTx/>
                </a:bodyPr>
                <a:lstStyle/>
                <a:p>
                  <a:endParaRPr lang="zh-CN" altLang="en-US" i="0"/>
                </a:p>
              </p:txBody>
            </p:sp>
          </p:grpSp>
          <p:grpSp>
            <p:nvGrpSpPr>
              <p:cNvPr id="66" name="Group 37"/>
              <p:cNvGrpSpPr/>
              <p:nvPr/>
            </p:nvGrpSpPr>
            <p:grpSpPr bwMode="auto">
              <a:xfrm>
                <a:off x="4618950" y="3511603"/>
                <a:ext cx="2138425" cy="2130308"/>
                <a:chOff x="1185" y="2206"/>
                <a:chExt cx="1743" cy="1599"/>
              </a:xfrm>
            </p:grpSpPr>
            <p:sp>
              <p:nvSpPr>
                <p:cNvPr id="67" name="AutoShape 38"/>
                <p:cNvSpPr>
                  <a:spLocks noChangeArrowheads="1"/>
                </p:cNvSpPr>
                <p:nvPr/>
              </p:nvSpPr>
              <p:spPr bwMode="gray">
                <a:xfrm>
                  <a:off x="1185" y="2458"/>
                  <a:ext cx="1731" cy="1347"/>
                </a:xfrm>
                <a:prstGeom prst="diamond">
                  <a:avLst/>
                </a:prstGeom>
                <a:solidFill>
                  <a:srgbClr val="CCFFCC"/>
                </a:solidFill>
                <a:ln w="9525">
                  <a:miter lim="800000"/>
                </a:ln>
                <a:scene3d>
                  <a:camera prst="legacyObliqueBottom"/>
                  <a:lightRig rig="legacyFlat2" dir="t"/>
                </a:scene3d>
                <a:sp3d extrusionH="227000" prstMaterial="legacyMatte">
                  <a:bevelT w="13500" h="13500" prst="angle"/>
                  <a:bevelB w="13500" h="13500" prst="angle"/>
                  <a:extrusionClr>
                    <a:srgbClr val="CCFFCC"/>
                  </a:extrusionClr>
                </a:sp3d>
              </p:spPr>
              <p:txBody>
                <a:bodyPr wrap="none" anchor="ctr">
                  <a:flatTx/>
                </a:bodyPr>
                <a:lstStyle/>
                <a:p>
                  <a:endParaRPr lang="zh-CN" altLang="en-US" i="0"/>
                </a:p>
              </p:txBody>
            </p:sp>
            <p:sp>
              <p:nvSpPr>
                <p:cNvPr id="68" name="AutoShape 39"/>
                <p:cNvSpPr>
                  <a:spLocks noChangeArrowheads="1"/>
                </p:cNvSpPr>
                <p:nvPr/>
              </p:nvSpPr>
              <p:spPr bwMode="gray">
                <a:xfrm>
                  <a:off x="1186" y="2327"/>
                  <a:ext cx="1731" cy="1347"/>
                </a:xfrm>
                <a:prstGeom prst="diamond">
                  <a:avLst/>
                </a:prstGeom>
                <a:solidFill>
                  <a:srgbClr val="66FF66"/>
                </a:solidFill>
                <a:ln w="9525">
                  <a:miter lim="800000"/>
                </a:ln>
                <a:scene3d>
                  <a:camera prst="legacyObliqueBottom"/>
                  <a:lightRig rig="legacyFlat2" dir="t"/>
                </a:scene3d>
                <a:sp3d extrusionH="227000" prstMaterial="legacyMatte">
                  <a:bevelT w="13500" h="13500" prst="angle"/>
                  <a:bevelB w="13500" h="13500" prst="angle"/>
                  <a:extrusionClr>
                    <a:srgbClr val="66FF66"/>
                  </a:extrusionClr>
                </a:sp3d>
              </p:spPr>
              <p:txBody>
                <a:bodyPr wrap="none" anchor="ctr">
                  <a:flatTx/>
                </a:bodyPr>
                <a:lstStyle/>
                <a:p>
                  <a:endParaRPr lang="zh-CN" altLang="en-US" i="0"/>
                </a:p>
              </p:txBody>
            </p:sp>
            <p:sp>
              <p:nvSpPr>
                <p:cNvPr id="69" name="AutoShape 40"/>
                <p:cNvSpPr>
                  <a:spLocks noChangeArrowheads="1"/>
                </p:cNvSpPr>
                <p:nvPr/>
              </p:nvSpPr>
              <p:spPr bwMode="gray">
                <a:xfrm>
                  <a:off x="1197" y="2206"/>
                  <a:ext cx="1731" cy="1347"/>
                </a:xfrm>
                <a:prstGeom prst="diamond">
                  <a:avLst/>
                </a:prstGeom>
                <a:gradFill rotWithShape="1">
                  <a:gsLst>
                    <a:gs pos="0">
                      <a:srgbClr val="009B4E"/>
                    </a:gs>
                    <a:gs pos="100000">
                      <a:srgbClr val="00CC66"/>
                    </a:gs>
                  </a:gsLst>
                  <a:lin ang="5400000" scaled="1"/>
                </a:gradFill>
                <a:ln w="9525">
                  <a:miter lim="800000"/>
                </a:ln>
                <a:scene3d>
                  <a:camera prst="legacyObliqueBottom"/>
                  <a:lightRig rig="legacyFlat2" dir="t"/>
                </a:scene3d>
                <a:sp3d extrusionH="227000" prstMaterial="legacyMatte">
                  <a:bevelT w="13500" h="13500" prst="angle"/>
                  <a:bevelB w="13500" h="13500" prst="angle"/>
                  <a:extrusionClr>
                    <a:srgbClr val="00CC66"/>
                  </a:extrusionClr>
                </a:sp3d>
              </p:spPr>
              <p:txBody>
                <a:bodyPr wrap="none" anchor="ctr">
                  <a:flatTx/>
                </a:bodyPr>
                <a:lstStyle/>
                <a:p>
                  <a:endParaRPr lang="zh-CN" altLang="en-US" i="0"/>
                </a:p>
              </p:txBody>
            </p:sp>
          </p:grpSp>
          <p:sp>
            <p:nvSpPr>
              <p:cNvPr id="70" name="Rectangle 41"/>
              <p:cNvSpPr>
                <a:spLocks noChangeArrowheads="1"/>
              </p:cNvSpPr>
              <p:nvPr/>
            </p:nvSpPr>
            <p:spPr bwMode="gray">
              <a:xfrm>
                <a:off x="5116461" y="4356577"/>
                <a:ext cx="1311283" cy="477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zh-CN" altLang="en-US" sz="1600" b="1" i="0" dirty="0">
                    <a:solidFill>
                      <a:schemeClr val="bg1"/>
                    </a:solidFill>
                  </a:rPr>
                  <a:t>数据管理</a:t>
                </a:r>
              </a:p>
            </p:txBody>
          </p:sp>
          <p:sp>
            <p:nvSpPr>
              <p:cNvPr id="71" name="Oval 42"/>
              <p:cNvSpPr>
                <a:spLocks noChangeArrowheads="1"/>
              </p:cNvSpPr>
              <p:nvPr/>
            </p:nvSpPr>
            <p:spPr bwMode="gray">
              <a:xfrm>
                <a:off x="5560824" y="3878842"/>
                <a:ext cx="431099" cy="469610"/>
              </a:xfrm>
              <a:prstGeom prst="ellipse">
                <a:avLst/>
              </a:prstGeom>
              <a:solidFill>
                <a:srgbClr val="CCFFCC">
                  <a:alpha val="70195"/>
                </a:srgb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i="0"/>
              </a:p>
            </p:txBody>
          </p:sp>
          <p:sp>
            <p:nvSpPr>
              <p:cNvPr id="72" name="Text Box 43"/>
              <p:cNvSpPr txBox="1">
                <a:spLocks noChangeArrowheads="1"/>
              </p:cNvSpPr>
              <p:nvPr/>
            </p:nvSpPr>
            <p:spPr bwMode="gray">
              <a:xfrm>
                <a:off x="5494354" y="3754484"/>
                <a:ext cx="528087" cy="65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0" dirty="0">
                    <a:solidFill>
                      <a:srgbClr val="5F5F5F"/>
                    </a:solidFill>
                  </a:rPr>
                  <a:t>C</a:t>
                </a:r>
              </a:p>
            </p:txBody>
          </p:sp>
          <p:grpSp>
            <p:nvGrpSpPr>
              <p:cNvPr id="73" name="Group 44"/>
              <p:cNvGrpSpPr/>
              <p:nvPr/>
            </p:nvGrpSpPr>
            <p:grpSpPr bwMode="auto">
              <a:xfrm>
                <a:off x="6374648" y="4645820"/>
                <a:ext cx="691466" cy="705228"/>
                <a:chOff x="2644" y="2841"/>
                <a:chExt cx="563" cy="529"/>
              </a:xfrm>
            </p:grpSpPr>
            <p:sp>
              <p:nvSpPr>
                <p:cNvPr id="74" name="AutoShape 45"/>
                <p:cNvSpPr>
                  <a:spLocks noChangeArrowheads="1"/>
                </p:cNvSpPr>
                <p:nvPr/>
              </p:nvSpPr>
              <p:spPr bwMode="gray">
                <a:xfrm>
                  <a:off x="2644" y="2932"/>
                  <a:ext cx="563" cy="438"/>
                </a:xfrm>
                <a:prstGeom prst="diamond">
                  <a:avLst/>
                </a:prstGeom>
                <a:solidFill>
                  <a:srgbClr val="4D4D4D"/>
                </a:solidFill>
                <a:ln w="9525">
                  <a:miter lim="800000"/>
                </a:ln>
                <a:scene3d>
                  <a:camera prst="legacyObliqueBottom"/>
                  <a:lightRig rig="legacyFlat2" dir="t"/>
                </a:scene3d>
                <a:sp3d extrusionH="163500" prstMaterial="legacyMatte">
                  <a:bevelT w="13500" h="13500" prst="angle"/>
                  <a:bevelB w="13500" h="13500" prst="angle"/>
                  <a:extrusionClr>
                    <a:srgbClr val="4D4D4D"/>
                  </a:extrusionClr>
                </a:sp3d>
              </p:spPr>
              <p:txBody>
                <a:bodyPr wrap="none" anchor="ctr">
                  <a:flatTx/>
                </a:bodyPr>
                <a:lstStyle/>
                <a:p>
                  <a:endParaRPr lang="zh-CN" altLang="en-US" i="0"/>
                </a:p>
              </p:txBody>
            </p:sp>
            <p:sp>
              <p:nvSpPr>
                <p:cNvPr id="75" name="AutoShape 46"/>
                <p:cNvSpPr>
                  <a:spLocks noChangeArrowheads="1"/>
                </p:cNvSpPr>
                <p:nvPr/>
              </p:nvSpPr>
              <p:spPr bwMode="gray">
                <a:xfrm>
                  <a:off x="2644" y="2888"/>
                  <a:ext cx="563" cy="439"/>
                </a:xfrm>
                <a:prstGeom prst="diamond">
                  <a:avLst/>
                </a:prstGeom>
                <a:solidFill>
                  <a:srgbClr val="969696"/>
                </a:solidFill>
                <a:ln w="9525">
                  <a:miter lim="800000"/>
                </a:ln>
                <a:scene3d>
                  <a:camera prst="legacyObliqueBottom"/>
                  <a:lightRig rig="legacyFlat2" dir="t"/>
                </a:scene3d>
                <a:sp3d extrusionH="163500" prstMaterial="legacyMatte">
                  <a:bevelT w="13500" h="13500" prst="angle"/>
                  <a:bevelB w="13500" h="13500" prst="angle"/>
                  <a:extrusionClr>
                    <a:srgbClr val="969696"/>
                  </a:extrusionClr>
                </a:sp3d>
              </p:spPr>
              <p:txBody>
                <a:bodyPr wrap="none" anchor="ctr">
                  <a:flatTx/>
                </a:bodyPr>
                <a:lstStyle/>
                <a:p>
                  <a:endParaRPr lang="zh-CN" altLang="en-US" i="0"/>
                </a:p>
              </p:txBody>
            </p:sp>
            <p:sp>
              <p:nvSpPr>
                <p:cNvPr id="76" name="AutoShape 47"/>
                <p:cNvSpPr>
                  <a:spLocks noChangeArrowheads="1"/>
                </p:cNvSpPr>
                <p:nvPr/>
              </p:nvSpPr>
              <p:spPr bwMode="gray">
                <a:xfrm>
                  <a:off x="2644" y="2841"/>
                  <a:ext cx="563" cy="438"/>
                </a:xfrm>
                <a:prstGeom prst="diamond">
                  <a:avLst/>
                </a:prstGeom>
                <a:gradFill rotWithShape="1">
                  <a:gsLst>
                    <a:gs pos="0">
                      <a:srgbClr val="B2B2B2"/>
                    </a:gs>
                    <a:gs pos="100000">
                      <a:srgbClr val="ABABAB"/>
                    </a:gs>
                  </a:gsLst>
                  <a:lin ang="5400000" scaled="1"/>
                </a:gradFill>
                <a:ln w="9525">
                  <a:miter lim="800000"/>
                </a:ln>
                <a:scene3d>
                  <a:camera prst="legacyObliqueBottom"/>
                  <a:lightRig rig="legacyFlat2" dir="t"/>
                </a:scene3d>
                <a:sp3d extrusionH="163500" prstMaterial="legacyMatte">
                  <a:bevelT w="13500" h="13500" prst="angle"/>
                  <a:bevelB w="13500" h="13500" prst="angle"/>
                  <a:extrusionClr>
                    <a:srgbClr val="B2B2B2"/>
                  </a:extrusionClr>
                </a:sp3d>
              </p:spPr>
              <p:txBody>
                <a:bodyPr wrap="none" anchor="ctr">
                  <a:flatTx/>
                </a:bodyPr>
                <a:lstStyle/>
                <a:p>
                  <a:endParaRPr lang="zh-CN" altLang="en-US" i="0"/>
                </a:p>
              </p:txBody>
            </p:sp>
          </p:grpSp>
        </p:grpSp>
        <p:sp>
          <p:nvSpPr>
            <p:cNvPr id="77" name="直角上箭头 76"/>
            <p:cNvSpPr/>
            <p:nvPr/>
          </p:nvSpPr>
          <p:spPr bwMode="auto">
            <a:xfrm rot="5400000" flipV="1">
              <a:off x="7491" y="5188"/>
              <a:ext cx="4170" cy="4196"/>
            </a:xfrm>
            <a:prstGeom prst="bentUpArrow">
              <a:avLst>
                <a:gd name="adj1" fmla="val 17893"/>
                <a:gd name="adj2" fmla="val 18369"/>
                <a:gd name="adj3" fmla="val 3651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1400" b="0" i="0" u="none" strike="noStrike" cap="none" normalizeH="0" baseline="0" dirty="0">
                <a:ln>
                  <a:noFill/>
                </a:ln>
                <a:solidFill>
                  <a:schemeClr val="tx1"/>
                </a:solidFill>
                <a:effectLst/>
                <a:latin typeface="Times New Roman" panose="02020603050405020304" charset="0"/>
                <a:ea typeface="宋体" panose="02010600030101010101" pitchFamily="2" charset="-122"/>
              </a:endParaRPr>
            </a:p>
          </p:txBody>
        </p:sp>
        <p:sp>
          <p:nvSpPr>
            <p:cNvPr id="78" name="TextBox 60"/>
            <p:cNvSpPr txBox="1"/>
            <p:nvPr/>
          </p:nvSpPr>
          <p:spPr>
            <a:xfrm>
              <a:off x="9199" y="8333"/>
              <a:ext cx="3048" cy="489"/>
            </a:xfrm>
            <a:prstGeom prst="rect">
              <a:avLst/>
            </a:prstGeom>
            <a:noFill/>
          </p:spPr>
          <p:txBody>
            <a:bodyPr wrap="square" rtlCol="0">
              <a:spAutoFit/>
            </a:bodyPr>
            <a:lstStyle/>
            <a:p>
              <a:r>
                <a:rPr lang="zh-CN" altLang="en-US" sz="1600" i="0" dirty="0"/>
                <a:t>解决方案</a:t>
              </a:r>
            </a:p>
          </p:txBody>
        </p:sp>
        <p:sp>
          <p:nvSpPr>
            <p:cNvPr id="79" name="TextBox 61"/>
            <p:cNvSpPr txBox="1"/>
            <p:nvPr/>
          </p:nvSpPr>
          <p:spPr bwMode="white">
            <a:xfrm>
              <a:off x="3487" y="2176"/>
              <a:ext cx="2925" cy="444"/>
            </a:xfrm>
            <a:prstGeom prst="rect">
              <a:avLst/>
            </a:prstGeom>
            <a:solidFill>
              <a:schemeClr val="accent1"/>
            </a:solidFill>
            <a:ln w="9525">
              <a:noFill/>
              <a:miter lim="800000"/>
            </a:ln>
            <a:effectLst/>
          </p:spPr>
          <p:txBody>
            <a:bodyPr wrap="square" rtlCol="0">
              <a:spAutoFit/>
            </a:bodyPr>
            <a:lstStyle/>
            <a:p>
              <a:pPr marL="457200" indent="-457200">
                <a:spcBef>
                  <a:spcPct val="50000"/>
                </a:spcBef>
                <a:buClr>
                  <a:schemeClr val="tx1"/>
                </a:buClr>
              </a:pPr>
              <a:r>
                <a:rPr lang="zh-CN" altLang="en-US" sz="1400" b="1" i="0" dirty="0">
                  <a:solidFill>
                    <a:schemeClr val="tx1"/>
                  </a:solidFill>
                </a:rPr>
                <a:t>“全”“准”“用”</a:t>
              </a:r>
            </a:p>
          </p:txBody>
        </p:sp>
        <p:grpSp>
          <p:nvGrpSpPr>
            <p:cNvPr id="80" name="组合 79"/>
            <p:cNvGrpSpPr/>
            <p:nvPr/>
          </p:nvGrpSpPr>
          <p:grpSpPr>
            <a:xfrm>
              <a:off x="8438" y="1843"/>
              <a:ext cx="5513" cy="3179"/>
              <a:chOff x="1500188" y="1919288"/>
              <a:chExt cx="6355337" cy="3521259"/>
            </a:xfrm>
          </p:grpSpPr>
          <p:sp>
            <p:nvSpPr>
              <p:cNvPr id="81" name="任意多边形 28"/>
              <p:cNvSpPr/>
              <p:nvPr/>
            </p:nvSpPr>
            <p:spPr bwMode="auto">
              <a:xfrm rot="9257143">
                <a:off x="4427538" y="4587875"/>
                <a:ext cx="1290637" cy="365125"/>
              </a:xfrm>
              <a:custGeom>
                <a:avLst/>
                <a:gdLst/>
                <a:ahLst/>
                <a:cxnLst>
                  <a:cxn ang="0">
                    <a:pos x="0" y="0"/>
                  </a:cxn>
                  <a:cxn ang="0">
                    <a:pos x="2085975" y="0"/>
                  </a:cxn>
                  <a:cxn ang="0">
                    <a:pos x="1042988" y="590550"/>
                  </a:cxn>
                  <a:cxn ang="0">
                    <a:pos x="0" y="0"/>
                  </a:cxn>
                </a:cxnLst>
                <a:rect l="0" t="0" r="r" b="b"/>
                <a:pathLst>
                  <a:path w="2085975" h="590550">
                    <a:moveTo>
                      <a:pt x="0" y="0"/>
                    </a:moveTo>
                    <a:lnTo>
                      <a:pt x="2085975" y="0"/>
                    </a:lnTo>
                    <a:lnTo>
                      <a:pt x="1042988" y="590550"/>
                    </a:lnTo>
                    <a:lnTo>
                      <a:pt x="0" y="0"/>
                    </a:lnTo>
                    <a:close/>
                  </a:path>
                </a:pathLst>
              </a:custGeom>
              <a:solidFill>
                <a:srgbClr val="B0DA14"/>
              </a:solidFill>
              <a:ln w="9525">
                <a:noFill/>
                <a:round/>
              </a:ln>
            </p:spPr>
            <p:txBody>
              <a:bodyPr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ysClr val="windowText" lastClr="000000"/>
                  </a:solidFill>
                  <a:effectLst/>
                  <a:uLnTx/>
                  <a:uFillTx/>
                </a:endParaRPr>
              </a:p>
            </p:txBody>
          </p:sp>
          <p:sp>
            <p:nvSpPr>
              <p:cNvPr id="82" name="任意多边形 29"/>
              <p:cNvSpPr/>
              <p:nvPr/>
            </p:nvSpPr>
            <p:spPr bwMode="auto">
              <a:xfrm rot="12342857">
                <a:off x="3425825" y="4587875"/>
                <a:ext cx="1290638" cy="365125"/>
              </a:xfrm>
              <a:custGeom>
                <a:avLst/>
                <a:gdLst/>
                <a:ahLst/>
                <a:cxnLst>
                  <a:cxn ang="0">
                    <a:pos x="0" y="0"/>
                  </a:cxn>
                  <a:cxn ang="0">
                    <a:pos x="2085975" y="0"/>
                  </a:cxn>
                  <a:cxn ang="0">
                    <a:pos x="1042988" y="590550"/>
                  </a:cxn>
                  <a:cxn ang="0">
                    <a:pos x="0" y="0"/>
                  </a:cxn>
                </a:cxnLst>
                <a:rect l="0" t="0" r="r" b="b"/>
                <a:pathLst>
                  <a:path w="2085975" h="590550">
                    <a:moveTo>
                      <a:pt x="0" y="0"/>
                    </a:moveTo>
                    <a:lnTo>
                      <a:pt x="2085975" y="0"/>
                    </a:lnTo>
                    <a:lnTo>
                      <a:pt x="1042988" y="590550"/>
                    </a:lnTo>
                    <a:lnTo>
                      <a:pt x="0" y="0"/>
                    </a:lnTo>
                    <a:close/>
                  </a:path>
                </a:pathLst>
              </a:custGeom>
              <a:solidFill>
                <a:srgbClr val="B0DA14"/>
              </a:solidFill>
              <a:ln w="9525">
                <a:noFill/>
                <a:round/>
              </a:ln>
            </p:spPr>
            <p:txBody>
              <a:bodyPr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ysClr val="windowText" lastClr="000000"/>
                  </a:solidFill>
                  <a:effectLst/>
                  <a:uLnTx/>
                  <a:uFillTx/>
                </a:endParaRPr>
              </a:p>
            </p:txBody>
          </p:sp>
          <p:sp>
            <p:nvSpPr>
              <p:cNvPr id="83" name="任意多边形 30"/>
              <p:cNvSpPr/>
              <p:nvPr/>
            </p:nvSpPr>
            <p:spPr bwMode="auto">
              <a:xfrm rot="15428571">
                <a:off x="2801144" y="3804444"/>
                <a:ext cx="1290637" cy="365125"/>
              </a:xfrm>
              <a:custGeom>
                <a:avLst/>
                <a:gdLst/>
                <a:ahLst/>
                <a:cxnLst>
                  <a:cxn ang="0">
                    <a:pos x="0" y="0"/>
                  </a:cxn>
                  <a:cxn ang="0">
                    <a:pos x="2085975" y="0"/>
                  </a:cxn>
                  <a:cxn ang="0">
                    <a:pos x="1042988" y="590550"/>
                  </a:cxn>
                  <a:cxn ang="0">
                    <a:pos x="0" y="0"/>
                  </a:cxn>
                </a:cxnLst>
                <a:rect l="0" t="0" r="r" b="b"/>
                <a:pathLst>
                  <a:path w="2085975" h="590550">
                    <a:moveTo>
                      <a:pt x="0" y="0"/>
                    </a:moveTo>
                    <a:lnTo>
                      <a:pt x="2085975" y="0"/>
                    </a:lnTo>
                    <a:lnTo>
                      <a:pt x="1042988" y="590550"/>
                    </a:lnTo>
                    <a:lnTo>
                      <a:pt x="0" y="0"/>
                    </a:lnTo>
                    <a:close/>
                  </a:path>
                </a:pathLst>
              </a:custGeom>
              <a:solidFill>
                <a:srgbClr val="B0DA14"/>
              </a:solidFill>
              <a:ln w="9525">
                <a:noFill/>
                <a:round/>
              </a:ln>
            </p:spPr>
            <p:txBody>
              <a:bodyPr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ysClr val="windowText" lastClr="000000"/>
                  </a:solidFill>
                  <a:effectLst/>
                  <a:uLnTx/>
                  <a:uFillTx/>
                </a:endParaRPr>
              </a:p>
            </p:txBody>
          </p:sp>
          <p:sp>
            <p:nvSpPr>
              <p:cNvPr id="84" name="任意多边形 31"/>
              <p:cNvSpPr/>
              <p:nvPr/>
            </p:nvSpPr>
            <p:spPr bwMode="auto">
              <a:xfrm rot="18514285">
                <a:off x="3024188" y="2827337"/>
                <a:ext cx="1289050" cy="365125"/>
              </a:xfrm>
              <a:custGeom>
                <a:avLst/>
                <a:gdLst/>
                <a:ahLst/>
                <a:cxnLst>
                  <a:cxn ang="0">
                    <a:pos x="0" y="0"/>
                  </a:cxn>
                  <a:cxn ang="0">
                    <a:pos x="2085975" y="0"/>
                  </a:cxn>
                  <a:cxn ang="0">
                    <a:pos x="1042988" y="590550"/>
                  </a:cxn>
                  <a:cxn ang="0">
                    <a:pos x="0" y="0"/>
                  </a:cxn>
                </a:cxnLst>
                <a:rect l="0" t="0" r="r" b="b"/>
                <a:pathLst>
                  <a:path w="2085975" h="590550">
                    <a:moveTo>
                      <a:pt x="0" y="0"/>
                    </a:moveTo>
                    <a:lnTo>
                      <a:pt x="2085975" y="0"/>
                    </a:lnTo>
                    <a:lnTo>
                      <a:pt x="1042988" y="590550"/>
                    </a:lnTo>
                    <a:lnTo>
                      <a:pt x="0" y="0"/>
                    </a:lnTo>
                    <a:close/>
                  </a:path>
                </a:pathLst>
              </a:custGeom>
              <a:solidFill>
                <a:srgbClr val="B0DA14"/>
              </a:solidFill>
              <a:ln w="9525">
                <a:noFill/>
                <a:round/>
              </a:ln>
            </p:spPr>
            <p:txBody>
              <a:bodyPr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ysClr val="windowText" lastClr="000000"/>
                  </a:solidFill>
                  <a:effectLst/>
                  <a:uLnTx/>
                  <a:uFillTx/>
                </a:endParaRPr>
              </a:p>
            </p:txBody>
          </p:sp>
          <p:sp>
            <p:nvSpPr>
              <p:cNvPr id="85" name="任意多边形 32"/>
              <p:cNvSpPr/>
              <p:nvPr/>
            </p:nvSpPr>
            <p:spPr bwMode="auto">
              <a:xfrm>
                <a:off x="3927475" y="2392363"/>
                <a:ext cx="1289050" cy="365125"/>
              </a:xfrm>
              <a:custGeom>
                <a:avLst/>
                <a:gdLst/>
                <a:ahLst/>
                <a:cxnLst>
                  <a:cxn ang="0">
                    <a:pos x="0" y="0"/>
                  </a:cxn>
                  <a:cxn ang="0">
                    <a:pos x="2085975" y="0"/>
                  </a:cxn>
                  <a:cxn ang="0">
                    <a:pos x="1042988" y="590550"/>
                  </a:cxn>
                  <a:cxn ang="0">
                    <a:pos x="0" y="0"/>
                  </a:cxn>
                </a:cxnLst>
                <a:rect l="0" t="0" r="r" b="b"/>
                <a:pathLst>
                  <a:path w="2085975" h="590550">
                    <a:moveTo>
                      <a:pt x="0" y="0"/>
                    </a:moveTo>
                    <a:lnTo>
                      <a:pt x="2085975" y="0"/>
                    </a:lnTo>
                    <a:lnTo>
                      <a:pt x="1042988" y="590550"/>
                    </a:lnTo>
                    <a:lnTo>
                      <a:pt x="0" y="0"/>
                    </a:lnTo>
                    <a:close/>
                  </a:path>
                </a:pathLst>
              </a:custGeom>
              <a:solidFill>
                <a:srgbClr val="B0DA14"/>
              </a:solidFill>
              <a:ln w="9525">
                <a:noFill/>
                <a:round/>
              </a:ln>
            </p:spPr>
            <p:txBody>
              <a:bodyPr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ysClr val="windowText" lastClr="000000"/>
                  </a:solidFill>
                  <a:effectLst/>
                  <a:uLnTx/>
                  <a:uFillTx/>
                </a:endParaRPr>
              </a:p>
            </p:txBody>
          </p:sp>
          <p:sp>
            <p:nvSpPr>
              <p:cNvPr id="86" name="任意多边形 33"/>
              <p:cNvSpPr/>
              <p:nvPr/>
            </p:nvSpPr>
            <p:spPr bwMode="auto">
              <a:xfrm rot="3085714">
                <a:off x="4830763" y="2827337"/>
                <a:ext cx="1289050" cy="365125"/>
              </a:xfrm>
              <a:custGeom>
                <a:avLst/>
                <a:gdLst/>
                <a:ahLst/>
                <a:cxnLst>
                  <a:cxn ang="0">
                    <a:pos x="0" y="0"/>
                  </a:cxn>
                  <a:cxn ang="0">
                    <a:pos x="2085975" y="0"/>
                  </a:cxn>
                  <a:cxn ang="0">
                    <a:pos x="1042988" y="590550"/>
                  </a:cxn>
                  <a:cxn ang="0">
                    <a:pos x="0" y="0"/>
                  </a:cxn>
                </a:cxnLst>
                <a:rect l="0" t="0" r="r" b="b"/>
                <a:pathLst>
                  <a:path w="2085975" h="590550">
                    <a:moveTo>
                      <a:pt x="0" y="0"/>
                    </a:moveTo>
                    <a:lnTo>
                      <a:pt x="2085975" y="0"/>
                    </a:lnTo>
                    <a:lnTo>
                      <a:pt x="1042988" y="590550"/>
                    </a:lnTo>
                    <a:lnTo>
                      <a:pt x="0" y="0"/>
                    </a:lnTo>
                    <a:close/>
                  </a:path>
                </a:pathLst>
              </a:custGeom>
              <a:solidFill>
                <a:srgbClr val="B0DA14"/>
              </a:solidFill>
              <a:ln w="9525">
                <a:noFill/>
                <a:round/>
              </a:ln>
            </p:spPr>
            <p:txBody>
              <a:bodyPr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ysClr val="windowText" lastClr="000000"/>
                  </a:solidFill>
                  <a:effectLst/>
                  <a:uLnTx/>
                  <a:uFillTx/>
                </a:endParaRPr>
              </a:p>
            </p:txBody>
          </p:sp>
          <p:sp>
            <p:nvSpPr>
              <p:cNvPr id="87" name="任意多边形 34"/>
              <p:cNvSpPr/>
              <p:nvPr/>
            </p:nvSpPr>
            <p:spPr bwMode="auto">
              <a:xfrm rot="6171428">
                <a:off x="5052219" y="3804444"/>
                <a:ext cx="1290637" cy="365125"/>
              </a:xfrm>
              <a:custGeom>
                <a:avLst/>
                <a:gdLst/>
                <a:ahLst/>
                <a:cxnLst>
                  <a:cxn ang="0">
                    <a:pos x="0" y="0"/>
                  </a:cxn>
                  <a:cxn ang="0">
                    <a:pos x="2085975" y="0"/>
                  </a:cxn>
                  <a:cxn ang="0">
                    <a:pos x="1042988" y="590550"/>
                  </a:cxn>
                  <a:cxn ang="0">
                    <a:pos x="0" y="0"/>
                  </a:cxn>
                </a:cxnLst>
                <a:rect l="0" t="0" r="r" b="b"/>
                <a:pathLst>
                  <a:path w="2085975" h="590550">
                    <a:moveTo>
                      <a:pt x="0" y="0"/>
                    </a:moveTo>
                    <a:lnTo>
                      <a:pt x="2085975" y="0"/>
                    </a:lnTo>
                    <a:lnTo>
                      <a:pt x="1042988" y="590550"/>
                    </a:lnTo>
                    <a:lnTo>
                      <a:pt x="0" y="0"/>
                    </a:lnTo>
                    <a:close/>
                  </a:path>
                </a:pathLst>
              </a:custGeom>
              <a:solidFill>
                <a:srgbClr val="B0DA14"/>
              </a:solidFill>
              <a:ln w="9525">
                <a:noFill/>
                <a:round/>
              </a:ln>
            </p:spPr>
            <p:txBody>
              <a:bodyPr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a:ln>
                    <a:noFill/>
                  </a:ln>
                  <a:solidFill>
                    <a:sysClr val="windowText" lastClr="000000"/>
                  </a:solidFill>
                  <a:effectLst/>
                  <a:uLnTx/>
                  <a:uFillTx/>
                </a:endParaRPr>
              </a:p>
            </p:txBody>
          </p:sp>
          <p:sp>
            <p:nvSpPr>
              <p:cNvPr id="88" name="矩形 3"/>
              <p:cNvSpPr>
                <a:spLocks noChangeArrowheads="1"/>
              </p:cNvSpPr>
              <p:nvPr/>
            </p:nvSpPr>
            <p:spPr bwMode="auto">
              <a:xfrm>
                <a:off x="3854451" y="3317242"/>
                <a:ext cx="1449388" cy="837843"/>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数据质量问题</a:t>
                </a:r>
              </a:p>
            </p:txBody>
          </p:sp>
          <p:sp>
            <p:nvSpPr>
              <p:cNvPr id="89" name="矩形 4"/>
              <p:cNvSpPr>
                <a:spLocks noChangeArrowheads="1"/>
              </p:cNvSpPr>
              <p:nvPr/>
            </p:nvSpPr>
            <p:spPr bwMode="auto">
              <a:xfrm>
                <a:off x="3018177" y="1919288"/>
                <a:ext cx="3262839" cy="492309"/>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定义缺失或记录不准确</a:t>
                </a:r>
              </a:p>
            </p:txBody>
          </p:sp>
          <p:sp>
            <p:nvSpPr>
              <p:cNvPr id="90" name="矩形 14"/>
              <p:cNvSpPr>
                <a:spLocks noChangeArrowheads="1"/>
              </p:cNvSpPr>
              <p:nvPr/>
            </p:nvSpPr>
            <p:spPr bwMode="auto">
              <a:xfrm>
                <a:off x="5670462" y="2542340"/>
                <a:ext cx="2185063" cy="837843"/>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违背规范或逻辑错误</a:t>
                </a:r>
              </a:p>
            </p:txBody>
          </p:sp>
          <p:sp>
            <p:nvSpPr>
              <p:cNvPr id="91" name="矩形 15"/>
              <p:cNvSpPr>
                <a:spLocks noChangeArrowheads="1"/>
              </p:cNvSpPr>
              <p:nvPr/>
            </p:nvSpPr>
            <p:spPr bwMode="auto">
              <a:xfrm>
                <a:off x="6054153" y="3788444"/>
                <a:ext cx="1794392" cy="837843"/>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系统间数据不一致</a:t>
                </a:r>
              </a:p>
            </p:txBody>
          </p:sp>
          <p:sp>
            <p:nvSpPr>
              <p:cNvPr id="92" name="矩形 16"/>
              <p:cNvSpPr>
                <a:spLocks noChangeArrowheads="1"/>
              </p:cNvSpPr>
              <p:nvPr/>
            </p:nvSpPr>
            <p:spPr bwMode="auto">
              <a:xfrm>
                <a:off x="5167312" y="4948238"/>
                <a:ext cx="2375280" cy="492309"/>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4F4F4F"/>
                    </a:solidFill>
                    <a:effectLst/>
                    <a:uLnTx/>
                    <a:uFillTx/>
                    <a:latin typeface="微软雅黑" panose="020B0503020204020204" pitchFamily="34" charset="-122"/>
                    <a:ea typeface="微软雅黑" panose="020B0503020204020204" pitchFamily="34" charset="-122"/>
                  </a:rPr>
                  <a:t>数据完整性问题</a:t>
                </a:r>
              </a:p>
            </p:txBody>
          </p:sp>
          <p:sp>
            <p:nvSpPr>
              <p:cNvPr id="93" name="矩形 17"/>
              <p:cNvSpPr>
                <a:spLocks noChangeArrowheads="1"/>
              </p:cNvSpPr>
              <p:nvPr/>
            </p:nvSpPr>
            <p:spPr bwMode="auto">
              <a:xfrm>
                <a:off x="1914185" y="4948238"/>
                <a:ext cx="2671137" cy="492309"/>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4F4F4F"/>
                    </a:solidFill>
                    <a:effectLst/>
                    <a:uLnTx/>
                    <a:uFillTx/>
                    <a:latin typeface="微软雅黑" panose="020B0503020204020204" pitchFamily="34" charset="-122"/>
                    <a:ea typeface="微软雅黑" panose="020B0503020204020204" pitchFamily="34" charset="-122"/>
                  </a:rPr>
                  <a:t>数据生命周期问题</a:t>
                </a:r>
              </a:p>
            </p:txBody>
          </p:sp>
          <p:sp>
            <p:nvSpPr>
              <p:cNvPr id="94" name="矩形 18"/>
              <p:cNvSpPr>
                <a:spLocks noChangeArrowheads="1"/>
              </p:cNvSpPr>
              <p:nvPr/>
            </p:nvSpPr>
            <p:spPr bwMode="auto">
              <a:xfrm>
                <a:off x="1500188" y="3907089"/>
                <a:ext cx="2375280" cy="486159"/>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4F4F4F"/>
                    </a:solidFill>
                    <a:effectLst/>
                    <a:uLnTx/>
                    <a:uFillTx/>
                    <a:latin typeface="微软雅黑" panose="020B0503020204020204" pitchFamily="34" charset="-122"/>
                    <a:ea typeface="微软雅黑" panose="020B0503020204020204" pitchFamily="34" charset="-122"/>
                  </a:rPr>
                  <a:t>编码不规范问题</a:t>
                </a:r>
              </a:p>
            </p:txBody>
          </p:sp>
          <p:sp>
            <p:nvSpPr>
              <p:cNvPr id="95" name="矩形 19"/>
              <p:cNvSpPr>
                <a:spLocks noChangeArrowheads="1"/>
              </p:cNvSpPr>
              <p:nvPr/>
            </p:nvSpPr>
            <p:spPr bwMode="auto">
              <a:xfrm>
                <a:off x="1760830" y="2582411"/>
                <a:ext cx="2079427" cy="486159"/>
              </a:xfrm>
              <a:prstGeom prst="rect">
                <a:avLst/>
              </a:prstGeom>
              <a:noFill/>
              <a:ln w="9525">
                <a:noFill/>
                <a:miter lim="800000"/>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4F4F4F"/>
                    </a:solidFill>
                    <a:effectLst/>
                    <a:uLnTx/>
                    <a:uFillTx/>
                    <a:latin typeface="微软雅黑" panose="020B0503020204020204" pitchFamily="34" charset="-122"/>
                    <a:ea typeface="微软雅黑" panose="020B0503020204020204" pitchFamily="34" charset="-122"/>
                  </a:rPr>
                  <a:t>数据安全问题</a:t>
                </a:r>
              </a:p>
            </p:txBody>
          </p:sp>
        </p:grpSp>
      </p:gr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为什么要做数据标准</a:t>
            </a:r>
            <a:r>
              <a:rPr lang="en-US" altLang="zh-CN">
                <a:sym typeface="+mn-ea"/>
              </a:rPr>
              <a:t>——</a:t>
            </a:r>
            <a:r>
              <a:rPr lang="zh-CN" altLang="en-US">
                <a:sym typeface="+mn-ea"/>
              </a:rPr>
              <a:t>数据标准化的目标</a:t>
            </a:r>
          </a:p>
        </p:txBody>
      </p:sp>
      <p:grpSp>
        <p:nvGrpSpPr>
          <p:cNvPr id="62" name="组合 61"/>
          <p:cNvGrpSpPr/>
          <p:nvPr/>
        </p:nvGrpSpPr>
        <p:grpSpPr>
          <a:xfrm>
            <a:off x="1052946" y="1628001"/>
            <a:ext cx="9804357" cy="4268713"/>
            <a:chOff x="-61" y="3513"/>
            <a:chExt cx="13846" cy="5937"/>
          </a:xfrm>
        </p:grpSpPr>
        <p:sp>
          <p:nvSpPr>
            <p:cNvPr id="20" name="AutoShape 3"/>
            <p:cNvSpPr>
              <a:spLocks noChangeArrowheads="1"/>
            </p:cNvSpPr>
            <p:nvPr/>
          </p:nvSpPr>
          <p:spPr bwMode="gray">
            <a:xfrm rot="17973186">
              <a:off x="7321" y="4544"/>
              <a:ext cx="1247" cy="455"/>
            </a:xfrm>
            <a:prstGeom prst="rightArrow">
              <a:avLst>
                <a:gd name="adj1" fmla="val 35167"/>
                <a:gd name="adj2" fmla="val 111028"/>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p>
          </p:txBody>
        </p:sp>
        <p:sp>
          <p:nvSpPr>
            <p:cNvPr id="21" name="AutoShape 4"/>
            <p:cNvSpPr>
              <a:spLocks noChangeArrowheads="1"/>
            </p:cNvSpPr>
            <p:nvPr/>
          </p:nvSpPr>
          <p:spPr bwMode="gray">
            <a:xfrm rot="3465783">
              <a:off x="7321" y="7951"/>
              <a:ext cx="1248" cy="455"/>
            </a:xfrm>
            <a:prstGeom prst="rightArrow">
              <a:avLst>
                <a:gd name="adj1" fmla="val 35167"/>
                <a:gd name="adj2" fmla="val 111029"/>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p>
          </p:txBody>
        </p:sp>
        <p:sp>
          <p:nvSpPr>
            <p:cNvPr id="22" name="AutoShape 5"/>
            <p:cNvSpPr>
              <a:spLocks noChangeArrowheads="1"/>
            </p:cNvSpPr>
            <p:nvPr/>
          </p:nvSpPr>
          <p:spPr bwMode="gray">
            <a:xfrm rot="14369022">
              <a:off x="5401" y="4664"/>
              <a:ext cx="1247" cy="455"/>
            </a:xfrm>
            <a:prstGeom prst="rightArrow">
              <a:avLst>
                <a:gd name="adj1" fmla="val 35167"/>
                <a:gd name="adj2" fmla="val 111028"/>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p>
          </p:txBody>
        </p:sp>
        <p:sp>
          <p:nvSpPr>
            <p:cNvPr id="23" name="AutoShape 6"/>
            <p:cNvSpPr>
              <a:spLocks noChangeArrowheads="1"/>
            </p:cNvSpPr>
            <p:nvPr/>
          </p:nvSpPr>
          <p:spPr bwMode="gray">
            <a:xfrm rot="7535209">
              <a:off x="5341" y="7899"/>
              <a:ext cx="1247" cy="455"/>
            </a:xfrm>
            <a:prstGeom prst="rightArrow">
              <a:avLst>
                <a:gd name="adj1" fmla="val 35167"/>
                <a:gd name="adj2" fmla="val 111028"/>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p>
          </p:txBody>
        </p:sp>
        <p:sp>
          <p:nvSpPr>
            <p:cNvPr id="24" name="AutoShape 7"/>
            <p:cNvSpPr>
              <a:spLocks noChangeArrowheads="1"/>
            </p:cNvSpPr>
            <p:nvPr/>
          </p:nvSpPr>
          <p:spPr bwMode="gray">
            <a:xfrm>
              <a:off x="8233" y="6320"/>
              <a:ext cx="1248" cy="455"/>
            </a:xfrm>
            <a:prstGeom prst="rightArrow">
              <a:avLst>
                <a:gd name="adj1" fmla="val 35167"/>
                <a:gd name="adj2" fmla="val 111029"/>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p>
          </p:txBody>
        </p:sp>
        <p:sp>
          <p:nvSpPr>
            <p:cNvPr id="25" name="AutoShape 8"/>
            <p:cNvSpPr>
              <a:spLocks noChangeArrowheads="1"/>
            </p:cNvSpPr>
            <p:nvPr/>
          </p:nvSpPr>
          <p:spPr bwMode="gray">
            <a:xfrm rot="10800000">
              <a:off x="4438" y="6310"/>
              <a:ext cx="1360" cy="455"/>
            </a:xfrm>
            <a:prstGeom prst="rightArrow">
              <a:avLst>
                <a:gd name="adj1" fmla="val 35167"/>
                <a:gd name="adj2" fmla="val 121041"/>
              </a:avLst>
            </a:prstGeom>
            <a:gradFill rotWithShape="1">
              <a:gsLst>
                <a:gs pos="0">
                  <a:schemeClr val="accent1">
                    <a:gamma/>
                    <a:shade val="89020"/>
                    <a:invGamma/>
                    <a:alpha val="0"/>
                  </a:schemeClr>
                </a:gs>
                <a:gs pos="100000">
                  <a:schemeClr val="accent1"/>
                </a:gs>
              </a:gsLst>
              <a:lin ang="0" scaled="1"/>
            </a:gradFill>
            <a:ln w="0" algn="ctr">
              <a:noFill/>
              <a:miter lim="800000"/>
            </a:ln>
            <a:effectLst/>
          </p:spPr>
          <p:txBody>
            <a:bodyPr wrap="none" anchor="ctr"/>
            <a:lstStyle/>
            <a:p>
              <a:endParaRPr lang="zh-CN" altLang="en-US"/>
            </a:p>
          </p:txBody>
        </p:sp>
        <p:sp>
          <p:nvSpPr>
            <p:cNvPr id="26" name="Oval 9"/>
            <p:cNvSpPr>
              <a:spLocks noChangeArrowheads="1"/>
            </p:cNvSpPr>
            <p:nvPr/>
          </p:nvSpPr>
          <p:spPr bwMode="auto">
            <a:xfrm>
              <a:off x="3998" y="3553"/>
              <a:ext cx="5895" cy="5897"/>
            </a:xfrm>
            <a:prstGeom prst="ellipse">
              <a:avLst/>
            </a:prstGeom>
            <a:noFill/>
            <a:ln w="38100" algn="ctr">
              <a:solidFill>
                <a:schemeClr val="tx2">
                  <a:lumMod val="50000"/>
                  <a:lumOff val="50000"/>
                </a:schemeClr>
              </a:solidFill>
              <a:round/>
            </a:ln>
            <a:effectLst/>
          </p:spPr>
          <p:txBody>
            <a:bodyPr anchor="ctr">
              <a:spAutoFit/>
            </a:bodyPr>
            <a:lstStyle/>
            <a:p>
              <a:endParaRPr lang="zh-CN" altLang="en-US"/>
            </a:p>
          </p:txBody>
        </p:sp>
        <p:grpSp>
          <p:nvGrpSpPr>
            <p:cNvPr id="27" name="Group 10"/>
            <p:cNvGrpSpPr/>
            <p:nvPr/>
          </p:nvGrpSpPr>
          <p:grpSpPr bwMode="auto">
            <a:xfrm>
              <a:off x="5198" y="3628"/>
              <a:ext cx="568" cy="567"/>
              <a:chOff x="1973" y="1706"/>
              <a:chExt cx="227" cy="227"/>
            </a:xfrm>
          </p:grpSpPr>
          <p:sp>
            <p:nvSpPr>
              <p:cNvPr id="28" name="Oval 11"/>
              <p:cNvSpPr>
                <a:spLocks noChangeArrowheads="1"/>
              </p:cNvSpPr>
              <p:nvPr/>
            </p:nvSpPr>
            <p:spPr bwMode="gray">
              <a:xfrm>
                <a:off x="1973" y="1706"/>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p>
            </p:txBody>
          </p:sp>
          <p:sp>
            <p:nvSpPr>
              <p:cNvPr id="29" name="Oval 12"/>
              <p:cNvSpPr>
                <a:spLocks noChangeArrowheads="1"/>
              </p:cNvSpPr>
              <p:nvPr/>
            </p:nvSpPr>
            <p:spPr bwMode="gray">
              <a:xfrm>
                <a:off x="1983" y="1725"/>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30" name="Group 13"/>
            <p:cNvGrpSpPr/>
            <p:nvPr/>
          </p:nvGrpSpPr>
          <p:grpSpPr bwMode="auto">
            <a:xfrm>
              <a:off x="3710" y="6235"/>
              <a:ext cx="567" cy="568"/>
              <a:chOff x="1565" y="2659"/>
              <a:chExt cx="227" cy="227"/>
            </a:xfrm>
          </p:grpSpPr>
          <p:sp>
            <p:nvSpPr>
              <p:cNvPr id="31" name="Oval 14"/>
              <p:cNvSpPr>
                <a:spLocks noChangeArrowheads="1"/>
              </p:cNvSpPr>
              <p:nvPr/>
            </p:nvSpPr>
            <p:spPr bwMode="gray">
              <a:xfrm>
                <a:off x="1565" y="2659"/>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p>
            </p:txBody>
          </p:sp>
          <p:sp>
            <p:nvSpPr>
              <p:cNvPr id="32" name="Oval 15"/>
              <p:cNvSpPr>
                <a:spLocks noChangeArrowheads="1"/>
              </p:cNvSpPr>
              <p:nvPr/>
            </p:nvSpPr>
            <p:spPr bwMode="gray">
              <a:xfrm>
                <a:off x="1575" y="2678"/>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33" name="Group 16"/>
            <p:cNvGrpSpPr/>
            <p:nvPr/>
          </p:nvGrpSpPr>
          <p:grpSpPr bwMode="auto">
            <a:xfrm>
              <a:off x="5070" y="8665"/>
              <a:ext cx="567" cy="568"/>
              <a:chOff x="2109" y="3612"/>
              <a:chExt cx="227" cy="227"/>
            </a:xfrm>
          </p:grpSpPr>
          <p:sp>
            <p:nvSpPr>
              <p:cNvPr id="34" name="Oval 17"/>
              <p:cNvSpPr>
                <a:spLocks noChangeArrowheads="1"/>
              </p:cNvSpPr>
              <p:nvPr/>
            </p:nvSpPr>
            <p:spPr bwMode="gray">
              <a:xfrm>
                <a:off x="2109" y="3612"/>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p>
            </p:txBody>
          </p:sp>
          <p:sp>
            <p:nvSpPr>
              <p:cNvPr id="35" name="Oval 18"/>
              <p:cNvSpPr>
                <a:spLocks noChangeArrowheads="1"/>
              </p:cNvSpPr>
              <p:nvPr/>
            </p:nvSpPr>
            <p:spPr bwMode="gray">
              <a:xfrm>
                <a:off x="2119" y="3631"/>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36" name="Group 19"/>
            <p:cNvGrpSpPr/>
            <p:nvPr/>
          </p:nvGrpSpPr>
          <p:grpSpPr bwMode="auto">
            <a:xfrm>
              <a:off x="8110" y="3595"/>
              <a:ext cx="567" cy="568"/>
              <a:chOff x="3470" y="1706"/>
              <a:chExt cx="227" cy="227"/>
            </a:xfrm>
          </p:grpSpPr>
          <p:sp>
            <p:nvSpPr>
              <p:cNvPr id="37" name="Oval 20"/>
              <p:cNvSpPr>
                <a:spLocks noChangeArrowheads="1"/>
              </p:cNvSpPr>
              <p:nvPr/>
            </p:nvSpPr>
            <p:spPr bwMode="gray">
              <a:xfrm>
                <a:off x="3470" y="1706"/>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p>
            </p:txBody>
          </p:sp>
          <p:sp>
            <p:nvSpPr>
              <p:cNvPr id="38" name="Oval 21"/>
              <p:cNvSpPr>
                <a:spLocks noChangeArrowheads="1"/>
              </p:cNvSpPr>
              <p:nvPr/>
            </p:nvSpPr>
            <p:spPr bwMode="gray">
              <a:xfrm>
                <a:off x="3480" y="1725"/>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39" name="Group 22"/>
            <p:cNvGrpSpPr/>
            <p:nvPr/>
          </p:nvGrpSpPr>
          <p:grpSpPr bwMode="auto">
            <a:xfrm>
              <a:off x="9605" y="6235"/>
              <a:ext cx="567" cy="568"/>
              <a:chOff x="3923" y="2659"/>
              <a:chExt cx="227" cy="227"/>
            </a:xfrm>
          </p:grpSpPr>
          <p:sp>
            <p:nvSpPr>
              <p:cNvPr id="40" name="Oval 23"/>
              <p:cNvSpPr>
                <a:spLocks noChangeArrowheads="1"/>
              </p:cNvSpPr>
              <p:nvPr/>
            </p:nvSpPr>
            <p:spPr bwMode="gray">
              <a:xfrm>
                <a:off x="3923" y="2659"/>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p>
            </p:txBody>
          </p:sp>
          <p:sp>
            <p:nvSpPr>
              <p:cNvPr id="41" name="Oval 24"/>
              <p:cNvSpPr>
                <a:spLocks noChangeArrowheads="1"/>
              </p:cNvSpPr>
              <p:nvPr/>
            </p:nvSpPr>
            <p:spPr bwMode="gray">
              <a:xfrm>
                <a:off x="3933" y="2678"/>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p>
            </p:txBody>
          </p:sp>
        </p:grpSp>
        <p:grpSp>
          <p:nvGrpSpPr>
            <p:cNvPr id="42" name="Group 25"/>
            <p:cNvGrpSpPr/>
            <p:nvPr/>
          </p:nvGrpSpPr>
          <p:grpSpPr bwMode="auto">
            <a:xfrm>
              <a:off x="8198" y="8755"/>
              <a:ext cx="568" cy="568"/>
              <a:chOff x="3515" y="3521"/>
              <a:chExt cx="227" cy="227"/>
            </a:xfrm>
          </p:grpSpPr>
          <p:sp>
            <p:nvSpPr>
              <p:cNvPr id="43" name="Oval 26"/>
              <p:cNvSpPr>
                <a:spLocks noChangeArrowheads="1"/>
              </p:cNvSpPr>
              <p:nvPr/>
            </p:nvSpPr>
            <p:spPr bwMode="gray">
              <a:xfrm>
                <a:off x="3515" y="3521"/>
                <a:ext cx="227" cy="227"/>
              </a:xfrm>
              <a:prstGeom prst="ellipse">
                <a:avLst/>
              </a:prstGeom>
              <a:gradFill rotWithShape="1">
                <a:gsLst>
                  <a:gs pos="0">
                    <a:schemeClr val="accent2">
                      <a:gamma/>
                      <a:tint val="33725"/>
                      <a:invGamma/>
                    </a:schemeClr>
                  </a:gs>
                  <a:gs pos="100000">
                    <a:schemeClr val="accent2"/>
                  </a:gs>
                </a:gsLst>
                <a:path path="shape">
                  <a:fillToRect l="50000" t="50000" r="50000" b="50000"/>
                </a:path>
              </a:gradFill>
              <a:ln w="9525" algn="ctr">
                <a:noFill/>
                <a:round/>
              </a:ln>
              <a:effectLst/>
            </p:spPr>
            <p:txBody>
              <a:bodyPr wrap="none" anchor="ctr"/>
              <a:lstStyle/>
              <a:p>
                <a:endParaRPr lang="zh-CN" altLang="en-US"/>
              </a:p>
            </p:txBody>
          </p:sp>
          <p:sp>
            <p:nvSpPr>
              <p:cNvPr id="44" name="Oval 27"/>
              <p:cNvSpPr>
                <a:spLocks noChangeArrowheads="1"/>
              </p:cNvSpPr>
              <p:nvPr/>
            </p:nvSpPr>
            <p:spPr bwMode="gray">
              <a:xfrm>
                <a:off x="3525" y="3540"/>
                <a:ext cx="141" cy="142"/>
              </a:xfrm>
              <a:prstGeom prst="ellipse">
                <a:avLst/>
              </a:prstGeom>
              <a:gradFill rotWithShape="1">
                <a:gsLst>
                  <a:gs pos="0">
                    <a:schemeClr val="accent2">
                      <a:gamma/>
                      <a:tint val="33725"/>
                      <a:invGamma/>
                    </a:schemeClr>
                  </a:gs>
                  <a:gs pos="100000">
                    <a:schemeClr val="accent2">
                      <a:alpha val="0"/>
                    </a:schemeClr>
                  </a:gs>
                </a:gsLst>
                <a:path path="shape">
                  <a:fillToRect l="50000" t="50000" r="50000" b="50000"/>
                </a:path>
              </a:gradFill>
              <a:ln w="9525" algn="ctr">
                <a:noFill/>
                <a:round/>
              </a:ln>
              <a:effectLst/>
            </p:spPr>
            <p:txBody>
              <a:bodyPr wrap="none" anchor="ctr"/>
              <a:lstStyle/>
              <a:p>
                <a:endParaRPr lang="zh-CN" altLang="en-US"/>
              </a:p>
            </p:txBody>
          </p:sp>
        </p:grpSp>
        <p:sp>
          <p:nvSpPr>
            <p:cNvPr id="45" name="Oval 28"/>
            <p:cNvSpPr>
              <a:spLocks noChangeArrowheads="1"/>
            </p:cNvSpPr>
            <p:nvPr/>
          </p:nvSpPr>
          <p:spPr bwMode="gray">
            <a:xfrm>
              <a:off x="5505" y="5035"/>
              <a:ext cx="3062" cy="3063"/>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ln>
            <a:effectLst/>
          </p:spPr>
          <p:txBody>
            <a:bodyPr wrap="square" anchor="ctr">
              <a:spAutoFit/>
            </a:bodyPr>
            <a:lstStyle/>
            <a:p>
              <a:endParaRPr lang="zh-CN" altLang="en-US"/>
            </a:p>
          </p:txBody>
        </p:sp>
        <p:sp>
          <p:nvSpPr>
            <p:cNvPr id="46" name="Oval 29"/>
            <p:cNvSpPr>
              <a:spLocks noChangeArrowheads="1"/>
            </p:cNvSpPr>
            <p:nvPr/>
          </p:nvSpPr>
          <p:spPr bwMode="gray">
            <a:xfrm>
              <a:off x="5495" y="5010"/>
              <a:ext cx="3062" cy="3063"/>
            </a:xfrm>
            <a:prstGeom prst="ellipse">
              <a:avLst/>
            </a:prstGeom>
            <a:gradFill rotWithShape="1">
              <a:gsLst>
                <a:gs pos="0">
                  <a:schemeClr val="hlink">
                    <a:alpha val="32001"/>
                  </a:schemeClr>
                </a:gs>
                <a:gs pos="100000">
                  <a:schemeClr val="hlink">
                    <a:gamma/>
                    <a:shade val="46275"/>
                    <a:invGamma/>
                  </a:schemeClr>
                </a:gs>
              </a:gsLst>
              <a:lin ang="2700000" scaled="1"/>
            </a:gradFill>
            <a:ln w="38100" algn="ctr">
              <a:noFill/>
              <a:round/>
            </a:ln>
            <a:effectLst/>
          </p:spPr>
          <p:txBody>
            <a:bodyPr wrap="square" anchor="ctr">
              <a:spAutoFit/>
            </a:bodyPr>
            <a:lstStyle/>
            <a:p>
              <a:endParaRPr lang="zh-CN" altLang="en-US"/>
            </a:p>
          </p:txBody>
        </p:sp>
        <p:sp>
          <p:nvSpPr>
            <p:cNvPr id="47" name="Oval 30"/>
            <p:cNvSpPr>
              <a:spLocks noChangeArrowheads="1"/>
            </p:cNvSpPr>
            <p:nvPr/>
          </p:nvSpPr>
          <p:spPr bwMode="gray">
            <a:xfrm>
              <a:off x="5705" y="5235"/>
              <a:ext cx="2662" cy="2663"/>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ln>
            <a:effectLst/>
          </p:spPr>
          <p:txBody>
            <a:bodyPr anchor="ctr">
              <a:spAutoFit/>
            </a:bodyPr>
            <a:lstStyle/>
            <a:p>
              <a:endParaRPr lang="zh-CN" altLang="en-US"/>
            </a:p>
          </p:txBody>
        </p:sp>
        <p:sp>
          <p:nvSpPr>
            <p:cNvPr id="48" name="Oval 31"/>
            <p:cNvSpPr>
              <a:spLocks noChangeArrowheads="1"/>
            </p:cNvSpPr>
            <p:nvPr/>
          </p:nvSpPr>
          <p:spPr bwMode="gray">
            <a:xfrm>
              <a:off x="5678" y="5193"/>
              <a:ext cx="2663" cy="2662"/>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ln>
            <a:effectLst/>
          </p:spPr>
          <p:txBody>
            <a:bodyPr anchor="ctr">
              <a:spAutoFit/>
            </a:bodyPr>
            <a:lstStyle/>
            <a:p>
              <a:endParaRPr lang="zh-CN" altLang="en-US"/>
            </a:p>
          </p:txBody>
        </p:sp>
        <p:sp>
          <p:nvSpPr>
            <p:cNvPr id="49" name="Oval 32"/>
            <p:cNvSpPr>
              <a:spLocks noChangeArrowheads="1"/>
            </p:cNvSpPr>
            <p:nvPr/>
          </p:nvSpPr>
          <p:spPr bwMode="gray">
            <a:xfrm>
              <a:off x="5838" y="5368"/>
              <a:ext cx="2398" cy="2397"/>
            </a:xfrm>
            <a:prstGeom prst="ellipse">
              <a:avLst/>
            </a:prstGeom>
            <a:solidFill>
              <a:srgbClr val="333333"/>
            </a:solidFill>
            <a:ln w="38100" algn="ctr">
              <a:noFill/>
              <a:round/>
            </a:ln>
            <a:effectLst/>
          </p:spPr>
          <p:txBody>
            <a:bodyPr anchor="ctr">
              <a:spAutoFit/>
            </a:bodyPr>
            <a:lstStyle/>
            <a:p>
              <a:endParaRPr lang="zh-CN" altLang="en-US"/>
            </a:p>
          </p:txBody>
        </p:sp>
        <p:sp>
          <p:nvSpPr>
            <p:cNvPr id="50" name="Oval 33"/>
            <p:cNvSpPr>
              <a:spLocks noChangeArrowheads="1"/>
            </p:cNvSpPr>
            <p:nvPr/>
          </p:nvSpPr>
          <p:spPr bwMode="gray">
            <a:xfrm>
              <a:off x="5873" y="5398"/>
              <a:ext cx="2318" cy="2320"/>
            </a:xfrm>
            <a:prstGeom prst="ellipse">
              <a:avLst/>
            </a:prstGeom>
            <a:gradFill rotWithShape="1">
              <a:gsLst>
                <a:gs pos="0">
                  <a:srgbClr val="D6E1E2">
                    <a:gamma/>
                    <a:shade val="46275"/>
                    <a:invGamma/>
                  </a:srgbClr>
                </a:gs>
                <a:gs pos="100000">
                  <a:srgbClr val="D6E1E2"/>
                </a:gs>
              </a:gsLst>
              <a:lin ang="5400000" scaled="1"/>
            </a:gradFill>
            <a:ln w="9525" algn="ctr">
              <a:noFill/>
              <a:round/>
            </a:ln>
            <a:effectLst/>
          </p:spPr>
          <p:txBody>
            <a:bodyPr vert="eaVert" wrap="none" anchor="ctr"/>
            <a:lstStyle/>
            <a:p>
              <a:endParaRPr lang="zh-CN" altLang="en-US"/>
            </a:p>
          </p:txBody>
        </p:sp>
        <p:sp>
          <p:nvSpPr>
            <p:cNvPr id="51" name="Oval 34"/>
            <p:cNvSpPr>
              <a:spLocks noChangeArrowheads="1"/>
            </p:cNvSpPr>
            <p:nvPr/>
          </p:nvSpPr>
          <p:spPr bwMode="gray">
            <a:xfrm>
              <a:off x="5900" y="5413"/>
              <a:ext cx="2265" cy="226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ln>
            <a:effectLst/>
          </p:spPr>
          <p:txBody>
            <a:bodyPr vert="eaVert" wrap="none" anchor="ctr"/>
            <a:lstStyle/>
            <a:p>
              <a:endParaRPr lang="zh-CN" altLang="en-US"/>
            </a:p>
          </p:txBody>
        </p:sp>
        <p:sp>
          <p:nvSpPr>
            <p:cNvPr id="52" name="Oval 35"/>
            <p:cNvSpPr>
              <a:spLocks noChangeArrowheads="1"/>
            </p:cNvSpPr>
            <p:nvPr/>
          </p:nvSpPr>
          <p:spPr bwMode="gray">
            <a:xfrm>
              <a:off x="5925" y="5435"/>
              <a:ext cx="2152" cy="2113"/>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ln>
            <a:effectLst/>
          </p:spPr>
          <p:txBody>
            <a:bodyPr vert="eaVert" wrap="none" anchor="ctr"/>
            <a:lstStyle/>
            <a:p>
              <a:endParaRPr lang="zh-CN" altLang="en-US"/>
            </a:p>
          </p:txBody>
        </p:sp>
        <p:sp>
          <p:nvSpPr>
            <p:cNvPr id="53" name="Oval 36"/>
            <p:cNvSpPr>
              <a:spLocks noChangeArrowheads="1"/>
            </p:cNvSpPr>
            <p:nvPr/>
          </p:nvSpPr>
          <p:spPr bwMode="gray">
            <a:xfrm>
              <a:off x="6053" y="5493"/>
              <a:ext cx="1913" cy="1717"/>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ln>
            <a:effectLst/>
          </p:spPr>
          <p:txBody>
            <a:bodyPr vert="eaVert" wrap="none" anchor="ctr"/>
            <a:lstStyle/>
            <a:p>
              <a:endParaRPr lang="zh-CN" altLang="en-US"/>
            </a:p>
          </p:txBody>
        </p:sp>
        <p:sp>
          <p:nvSpPr>
            <p:cNvPr id="54" name="Text Box 37"/>
            <p:cNvSpPr txBox="1">
              <a:spLocks noChangeArrowheads="1"/>
            </p:cNvSpPr>
            <p:nvPr/>
          </p:nvSpPr>
          <p:spPr bwMode="gray">
            <a:xfrm>
              <a:off x="6300" y="6138"/>
              <a:ext cx="1422" cy="726"/>
            </a:xfrm>
            <a:prstGeom prst="rect">
              <a:avLst/>
            </a:prstGeom>
            <a:noFill/>
            <a:ln w="9525" algn="ctr">
              <a:noFill/>
              <a:miter lim="800000"/>
            </a:ln>
            <a:effectLst/>
          </p:spPr>
          <p:txBody>
            <a:bodyPr wrap="square">
              <a:spAutoFit/>
            </a:bodyPr>
            <a:lstStyle/>
            <a:p>
              <a:pPr algn="ctr" eaLnBrk="0" hangingPunct="0"/>
              <a:r>
                <a:rPr lang="zh-CN" altLang="en-US" sz="2800" b="1" i="0" dirty="0">
                  <a:solidFill>
                    <a:srgbClr val="000000"/>
                  </a:solidFill>
                  <a:latin typeface="华文中宋" panose="02010600040101010101" pitchFamily="2" charset="-122"/>
                  <a:ea typeface="华文中宋" panose="02010600040101010101" pitchFamily="2" charset="-122"/>
                </a:rPr>
                <a:t>目标</a:t>
              </a:r>
              <a:endParaRPr lang="en-US" altLang="zh-CN" sz="2800" b="1" i="0" dirty="0">
                <a:solidFill>
                  <a:srgbClr val="000000"/>
                </a:solidFill>
                <a:latin typeface="华文中宋" panose="02010600040101010101" pitchFamily="2" charset="-122"/>
                <a:ea typeface="华文中宋" panose="02010600040101010101" pitchFamily="2" charset="-122"/>
              </a:endParaRPr>
            </a:p>
          </p:txBody>
        </p:sp>
        <p:sp>
          <p:nvSpPr>
            <p:cNvPr id="55" name="Text Box 38"/>
            <p:cNvSpPr txBox="1">
              <a:spLocks noChangeArrowheads="1"/>
            </p:cNvSpPr>
            <p:nvPr/>
          </p:nvSpPr>
          <p:spPr bwMode="auto">
            <a:xfrm>
              <a:off x="8798" y="3513"/>
              <a:ext cx="3547" cy="469"/>
            </a:xfrm>
            <a:prstGeom prst="rect">
              <a:avLst/>
            </a:prstGeom>
            <a:noFill/>
            <a:ln w="9525" algn="ctr">
              <a:noFill/>
              <a:miter lim="800000"/>
            </a:ln>
            <a:effectLst/>
          </p:spPr>
          <p:txBody>
            <a:bodyPr wrap="square">
              <a:spAutoFit/>
            </a:bodyPr>
            <a:lstStyle/>
            <a:p>
              <a:pPr eaLnBrk="0" hangingPunct="0"/>
              <a:r>
                <a:rPr lang="zh-CN" altLang="en-US" sz="1600" b="1" i="0" dirty="0"/>
                <a:t>数据有明确的标准要求</a:t>
              </a:r>
            </a:p>
          </p:txBody>
        </p:sp>
        <p:sp>
          <p:nvSpPr>
            <p:cNvPr id="56" name="Text Box 39"/>
            <p:cNvSpPr txBox="1">
              <a:spLocks noChangeArrowheads="1"/>
            </p:cNvSpPr>
            <p:nvPr/>
          </p:nvSpPr>
          <p:spPr bwMode="auto">
            <a:xfrm>
              <a:off x="1598" y="3513"/>
              <a:ext cx="3547" cy="469"/>
            </a:xfrm>
            <a:prstGeom prst="rect">
              <a:avLst/>
            </a:prstGeom>
            <a:noFill/>
            <a:ln w="9525" algn="ctr">
              <a:noFill/>
              <a:miter lim="800000"/>
            </a:ln>
            <a:effectLst/>
          </p:spPr>
          <p:txBody>
            <a:bodyPr wrap="square">
              <a:spAutoFit/>
            </a:bodyPr>
            <a:lstStyle/>
            <a:p>
              <a:pPr algn="r" eaLnBrk="0" hangingPunct="0"/>
              <a:r>
                <a:rPr lang="zh-CN" altLang="en-US" sz="1600" b="1" i="0" dirty="0"/>
                <a:t>数据有明确的业务含义</a:t>
              </a:r>
            </a:p>
          </p:txBody>
        </p:sp>
        <p:sp>
          <p:nvSpPr>
            <p:cNvPr id="57" name="Text Box 40"/>
            <p:cNvSpPr txBox="1">
              <a:spLocks noChangeArrowheads="1"/>
            </p:cNvSpPr>
            <p:nvPr/>
          </p:nvSpPr>
          <p:spPr bwMode="auto">
            <a:xfrm>
              <a:off x="10238" y="6273"/>
              <a:ext cx="3547" cy="469"/>
            </a:xfrm>
            <a:prstGeom prst="rect">
              <a:avLst/>
            </a:prstGeom>
            <a:noFill/>
            <a:ln w="9525" algn="ctr">
              <a:noFill/>
              <a:miter lim="800000"/>
            </a:ln>
            <a:effectLst/>
          </p:spPr>
          <p:txBody>
            <a:bodyPr wrap="square">
              <a:spAutoFit/>
            </a:bodyPr>
            <a:lstStyle/>
            <a:p>
              <a:pPr eaLnBrk="0" hangingPunct="0"/>
              <a:r>
                <a:rPr lang="zh-CN" altLang="en-US" sz="1600" b="1" i="0" dirty="0"/>
                <a:t>数据有明确的质量要求</a:t>
              </a:r>
            </a:p>
          </p:txBody>
        </p:sp>
        <p:sp>
          <p:nvSpPr>
            <p:cNvPr id="58" name="Text Box 41"/>
            <p:cNvSpPr txBox="1">
              <a:spLocks noChangeArrowheads="1"/>
            </p:cNvSpPr>
            <p:nvPr/>
          </p:nvSpPr>
          <p:spPr bwMode="auto">
            <a:xfrm>
              <a:off x="9101" y="8793"/>
              <a:ext cx="3222" cy="469"/>
            </a:xfrm>
            <a:prstGeom prst="rect">
              <a:avLst/>
            </a:prstGeom>
            <a:noFill/>
            <a:ln w="9525" algn="ctr">
              <a:noFill/>
              <a:miter lim="800000"/>
            </a:ln>
            <a:effectLst/>
          </p:spPr>
          <p:txBody>
            <a:bodyPr wrap="square">
              <a:spAutoFit/>
            </a:bodyPr>
            <a:lstStyle/>
            <a:p>
              <a:pPr eaLnBrk="0" hangingPunct="0"/>
              <a:r>
                <a:rPr lang="zh-CN" altLang="en-US" sz="1600" b="1" i="0" dirty="0"/>
                <a:t>数据有明确的责任方</a:t>
              </a:r>
            </a:p>
          </p:txBody>
        </p:sp>
        <p:sp>
          <p:nvSpPr>
            <p:cNvPr id="59" name="Text Box 42"/>
            <p:cNvSpPr txBox="1">
              <a:spLocks noChangeArrowheads="1"/>
            </p:cNvSpPr>
            <p:nvPr/>
          </p:nvSpPr>
          <p:spPr bwMode="auto">
            <a:xfrm>
              <a:off x="-61" y="6283"/>
              <a:ext cx="3547" cy="469"/>
            </a:xfrm>
            <a:prstGeom prst="rect">
              <a:avLst/>
            </a:prstGeom>
            <a:noFill/>
            <a:ln w="9525" algn="ctr">
              <a:noFill/>
              <a:miter lim="800000"/>
            </a:ln>
            <a:effectLst/>
          </p:spPr>
          <p:txBody>
            <a:bodyPr wrap="square">
              <a:spAutoFit/>
            </a:bodyPr>
            <a:lstStyle/>
            <a:p>
              <a:pPr algn="r" eaLnBrk="0" hangingPunct="0"/>
              <a:r>
                <a:rPr lang="zh-CN" altLang="en-US" sz="1600" b="1" i="0" dirty="0"/>
                <a:t>数据有明确的应用方向</a:t>
              </a:r>
            </a:p>
          </p:txBody>
        </p:sp>
        <p:sp>
          <p:nvSpPr>
            <p:cNvPr id="60" name="Text Box 43"/>
            <p:cNvSpPr txBox="1">
              <a:spLocks noChangeArrowheads="1"/>
            </p:cNvSpPr>
            <p:nvPr/>
          </p:nvSpPr>
          <p:spPr bwMode="auto">
            <a:xfrm>
              <a:off x="1373" y="8695"/>
              <a:ext cx="3547" cy="469"/>
            </a:xfrm>
            <a:prstGeom prst="rect">
              <a:avLst/>
            </a:prstGeom>
            <a:noFill/>
            <a:ln w="9525" algn="ctr">
              <a:noFill/>
              <a:miter lim="800000"/>
            </a:ln>
            <a:effectLst/>
          </p:spPr>
          <p:txBody>
            <a:bodyPr wrap="square">
              <a:spAutoFit/>
            </a:bodyPr>
            <a:lstStyle/>
            <a:p>
              <a:pPr algn="r" eaLnBrk="0" hangingPunct="0"/>
              <a:r>
                <a:rPr lang="zh-CN" altLang="en-US" sz="1600" b="1" i="0" dirty="0"/>
                <a:t>数据有明确的法律依据</a:t>
              </a:r>
            </a:p>
          </p:txBody>
        </p:sp>
      </p:gr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什么是数据标准</a:t>
            </a:r>
            <a:r>
              <a:rPr lang="en-US" altLang="zh-CN">
                <a:sym typeface="+mn-ea"/>
              </a:rPr>
              <a:t>——</a:t>
            </a:r>
            <a:r>
              <a:rPr lang="zh-CN" altLang="en-US">
                <a:sym typeface="+mn-ea"/>
              </a:rPr>
              <a:t>数据标准分类的思路</a:t>
            </a:r>
          </a:p>
        </p:txBody>
      </p:sp>
      <p:sp>
        <p:nvSpPr>
          <p:cNvPr id="21" name="圆角矩形 20"/>
          <p:cNvSpPr/>
          <p:nvPr/>
        </p:nvSpPr>
        <p:spPr>
          <a:xfrm>
            <a:off x="5153025" y="3356610"/>
            <a:ext cx="1878965" cy="720090"/>
          </a:xfrm>
          <a:prstGeom prst="roundRect">
            <a:avLst/>
          </a:prstGeom>
          <a:solidFill>
            <a:schemeClr val="bg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t>标准分类思路</a:t>
            </a:r>
          </a:p>
        </p:txBody>
      </p:sp>
      <p:sp>
        <p:nvSpPr>
          <p:cNvPr id="22" name="圆角矩形 21"/>
          <p:cNvSpPr/>
          <p:nvPr/>
        </p:nvSpPr>
        <p:spPr>
          <a:xfrm>
            <a:off x="3155950" y="2276475"/>
            <a:ext cx="1464310" cy="720090"/>
          </a:xfrm>
          <a:prstGeom prst="round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t>按标准应用方向划分</a:t>
            </a:r>
            <a:r>
              <a:rPr lang="en-US" altLang="zh-CN" sz="1600"/>
              <a:t> </a:t>
            </a:r>
          </a:p>
        </p:txBody>
      </p:sp>
      <p:sp>
        <p:nvSpPr>
          <p:cNvPr id="24" name="圆角矩形 23"/>
          <p:cNvSpPr/>
          <p:nvPr/>
        </p:nvSpPr>
        <p:spPr>
          <a:xfrm>
            <a:off x="3155315" y="4436745"/>
            <a:ext cx="1553210" cy="720090"/>
          </a:xfrm>
          <a:prstGeom prst="round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a:sym typeface="+mn-ea"/>
              </a:rPr>
              <a:t>按标准来源划分</a:t>
            </a:r>
          </a:p>
        </p:txBody>
      </p:sp>
      <p:sp>
        <p:nvSpPr>
          <p:cNvPr id="25" name="圆角矩形 24"/>
          <p:cNvSpPr/>
          <p:nvPr/>
        </p:nvSpPr>
        <p:spPr>
          <a:xfrm>
            <a:off x="7574280" y="2276475"/>
            <a:ext cx="1381125" cy="720090"/>
          </a:xfrm>
          <a:prstGeom prst="round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a:sym typeface="+mn-ea"/>
              </a:rPr>
              <a:t>按数据主题划分</a:t>
            </a:r>
          </a:p>
        </p:txBody>
      </p:sp>
      <p:sp>
        <p:nvSpPr>
          <p:cNvPr id="26" name="圆角矩形 25"/>
          <p:cNvSpPr/>
          <p:nvPr/>
        </p:nvSpPr>
        <p:spPr>
          <a:xfrm>
            <a:off x="7646035" y="4436745"/>
            <a:ext cx="1452245" cy="720090"/>
          </a:xfrm>
          <a:prstGeom prst="round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a:sym typeface="+mn-ea"/>
              </a:rPr>
              <a:t>按数据类型划分</a:t>
            </a:r>
          </a:p>
        </p:txBody>
      </p:sp>
      <p:sp>
        <p:nvSpPr>
          <p:cNvPr id="28" name="圆角矩形 27"/>
          <p:cNvSpPr/>
          <p:nvPr/>
        </p:nvSpPr>
        <p:spPr>
          <a:xfrm>
            <a:off x="4964430" y="1914525"/>
            <a:ext cx="2265680" cy="720090"/>
          </a:xfrm>
          <a:prstGeom prst="round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a:sym typeface="+mn-ea"/>
              </a:rPr>
              <a:t>按属性类型划分</a:t>
            </a:r>
          </a:p>
        </p:txBody>
      </p:sp>
      <p:sp>
        <p:nvSpPr>
          <p:cNvPr id="29" name="圆角矩形 28"/>
          <p:cNvSpPr/>
          <p:nvPr/>
        </p:nvSpPr>
        <p:spPr>
          <a:xfrm>
            <a:off x="4964430" y="4798695"/>
            <a:ext cx="2265680" cy="720090"/>
          </a:xfrm>
          <a:prstGeom prst="round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a:sym typeface="+mn-ea"/>
              </a:rPr>
              <a:t>按责任划分</a:t>
            </a:r>
          </a:p>
        </p:txBody>
      </p:sp>
      <p:sp>
        <p:nvSpPr>
          <p:cNvPr id="30" name="文本框 29"/>
          <p:cNvSpPr txBox="1"/>
          <p:nvPr/>
        </p:nvSpPr>
        <p:spPr>
          <a:xfrm>
            <a:off x="711835" y="2252980"/>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r"/>
            <a:r>
              <a:rPr lang="zh-CN" altLang="en-US" sz="1400">
                <a:latin typeface="Arial" panose="020B0604020202020204" pitchFamily="34" charset="0"/>
                <a:ea typeface="微软雅黑" panose="020B0503020204020204" pitchFamily="34" charset="-122"/>
              </a:rPr>
              <a:t>前台业务数据标准</a:t>
            </a:r>
          </a:p>
        </p:txBody>
      </p:sp>
      <p:sp>
        <p:nvSpPr>
          <p:cNvPr id="31" name="文本框 30"/>
          <p:cNvSpPr txBox="1"/>
          <p:nvPr/>
        </p:nvSpPr>
        <p:spPr>
          <a:xfrm>
            <a:off x="711835" y="2684780"/>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r"/>
            <a:r>
              <a:rPr lang="zh-CN" altLang="en-US" sz="1400">
                <a:latin typeface="Arial" panose="020B0604020202020204" pitchFamily="34" charset="0"/>
                <a:ea typeface="微软雅黑" panose="020B0503020204020204" pitchFamily="34" charset="-122"/>
              </a:rPr>
              <a:t>数仓数据标准</a:t>
            </a:r>
          </a:p>
        </p:txBody>
      </p:sp>
      <p:sp>
        <p:nvSpPr>
          <p:cNvPr id="32" name="文本框 31"/>
          <p:cNvSpPr txBox="1"/>
          <p:nvPr/>
        </p:nvSpPr>
        <p:spPr>
          <a:xfrm>
            <a:off x="711835" y="3933190"/>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r"/>
            <a:r>
              <a:rPr lang="zh-CN" altLang="en-US" sz="1400">
                <a:latin typeface="Arial" panose="020B0604020202020204" pitchFamily="34" charset="0"/>
                <a:ea typeface="微软雅黑" panose="020B0503020204020204" pitchFamily="34" charset="-122"/>
              </a:rPr>
              <a:t>国际标准</a:t>
            </a:r>
          </a:p>
        </p:txBody>
      </p:sp>
      <p:sp>
        <p:nvSpPr>
          <p:cNvPr id="33" name="文本框 32"/>
          <p:cNvSpPr txBox="1"/>
          <p:nvPr/>
        </p:nvSpPr>
        <p:spPr>
          <a:xfrm>
            <a:off x="711835" y="4293235"/>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r"/>
            <a:r>
              <a:rPr lang="zh-CN" altLang="en-US" sz="1400">
                <a:latin typeface="Arial" panose="020B0604020202020204" pitchFamily="34" charset="0"/>
                <a:ea typeface="微软雅黑" panose="020B0503020204020204" pitchFamily="34" charset="-122"/>
              </a:rPr>
              <a:t>国家标准</a:t>
            </a:r>
          </a:p>
        </p:txBody>
      </p:sp>
      <p:sp>
        <p:nvSpPr>
          <p:cNvPr id="34" name="文本框 33"/>
          <p:cNvSpPr txBox="1"/>
          <p:nvPr/>
        </p:nvSpPr>
        <p:spPr>
          <a:xfrm>
            <a:off x="711835" y="4653280"/>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r"/>
            <a:r>
              <a:rPr lang="zh-CN" altLang="en-US" sz="1400">
                <a:latin typeface="Arial" panose="020B0604020202020204" pitchFamily="34" charset="0"/>
                <a:ea typeface="微软雅黑" panose="020B0503020204020204" pitchFamily="34" charset="-122"/>
              </a:rPr>
              <a:t>行业标准</a:t>
            </a:r>
          </a:p>
        </p:txBody>
      </p:sp>
      <p:sp>
        <p:nvSpPr>
          <p:cNvPr id="35" name="文本框 34"/>
          <p:cNvSpPr txBox="1"/>
          <p:nvPr/>
        </p:nvSpPr>
        <p:spPr>
          <a:xfrm>
            <a:off x="711835" y="5013325"/>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r"/>
            <a:r>
              <a:rPr lang="zh-CN" altLang="en-US" sz="1400">
                <a:latin typeface="Arial" panose="020B0604020202020204" pitchFamily="34" charset="0"/>
                <a:ea typeface="微软雅黑" panose="020B0503020204020204" pitchFamily="34" charset="-122"/>
              </a:rPr>
              <a:t>公司标准</a:t>
            </a:r>
          </a:p>
        </p:txBody>
      </p:sp>
      <p:sp>
        <p:nvSpPr>
          <p:cNvPr id="36" name="文本框 35"/>
          <p:cNvSpPr txBox="1"/>
          <p:nvPr/>
        </p:nvSpPr>
        <p:spPr>
          <a:xfrm>
            <a:off x="711835" y="5373370"/>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r"/>
            <a:r>
              <a:rPr lang="zh-CN" altLang="en-US" sz="1400">
                <a:latin typeface="Arial" panose="020B0604020202020204" pitchFamily="34" charset="0"/>
                <a:ea typeface="微软雅黑" panose="020B0503020204020204" pitchFamily="34" charset="-122"/>
              </a:rPr>
              <a:t>其他</a:t>
            </a:r>
          </a:p>
        </p:txBody>
      </p:sp>
      <p:sp>
        <p:nvSpPr>
          <p:cNvPr id="37" name="文本框 36"/>
          <p:cNvSpPr txBox="1"/>
          <p:nvPr/>
        </p:nvSpPr>
        <p:spPr>
          <a:xfrm>
            <a:off x="9483090" y="2112010"/>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一级主题</a:t>
            </a:r>
          </a:p>
        </p:txBody>
      </p:sp>
      <p:sp>
        <p:nvSpPr>
          <p:cNvPr id="38" name="文本框 37"/>
          <p:cNvSpPr txBox="1"/>
          <p:nvPr/>
        </p:nvSpPr>
        <p:spPr>
          <a:xfrm>
            <a:off x="9483090" y="2472055"/>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二级主题</a:t>
            </a:r>
          </a:p>
        </p:txBody>
      </p:sp>
      <p:sp>
        <p:nvSpPr>
          <p:cNvPr id="39" name="文本框 38"/>
          <p:cNvSpPr txBox="1"/>
          <p:nvPr/>
        </p:nvSpPr>
        <p:spPr>
          <a:xfrm>
            <a:off x="9483090" y="2870200"/>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三级主题</a:t>
            </a:r>
          </a:p>
        </p:txBody>
      </p:sp>
      <p:sp>
        <p:nvSpPr>
          <p:cNvPr id="43" name="文本框 42"/>
          <p:cNvSpPr txBox="1"/>
          <p:nvPr/>
        </p:nvSpPr>
        <p:spPr>
          <a:xfrm>
            <a:off x="9407525" y="4040505"/>
            <a:ext cx="126936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业务数据类型</a:t>
            </a:r>
          </a:p>
        </p:txBody>
      </p:sp>
      <p:sp>
        <p:nvSpPr>
          <p:cNvPr id="45" name="文本框 44"/>
          <p:cNvSpPr txBox="1"/>
          <p:nvPr/>
        </p:nvSpPr>
        <p:spPr>
          <a:xfrm>
            <a:off x="9407525" y="5733415"/>
            <a:ext cx="126936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技术数据类型</a:t>
            </a:r>
          </a:p>
        </p:txBody>
      </p:sp>
      <p:sp>
        <p:nvSpPr>
          <p:cNvPr id="46" name="文本框 45"/>
          <p:cNvSpPr txBox="1"/>
          <p:nvPr/>
        </p:nvSpPr>
        <p:spPr>
          <a:xfrm>
            <a:off x="10991850" y="3089275"/>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文本类</a:t>
            </a:r>
          </a:p>
        </p:txBody>
      </p:sp>
      <p:sp>
        <p:nvSpPr>
          <p:cNvPr id="47" name="文本框 46"/>
          <p:cNvSpPr txBox="1"/>
          <p:nvPr/>
        </p:nvSpPr>
        <p:spPr>
          <a:xfrm>
            <a:off x="10991850" y="3415030"/>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数值类</a:t>
            </a:r>
          </a:p>
        </p:txBody>
      </p:sp>
      <p:sp>
        <p:nvSpPr>
          <p:cNvPr id="48" name="文本框 47"/>
          <p:cNvSpPr txBox="1"/>
          <p:nvPr/>
        </p:nvSpPr>
        <p:spPr>
          <a:xfrm>
            <a:off x="10991850" y="3740785"/>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代码类</a:t>
            </a:r>
          </a:p>
        </p:txBody>
      </p:sp>
      <p:sp>
        <p:nvSpPr>
          <p:cNvPr id="49" name="文本框 48"/>
          <p:cNvSpPr txBox="1"/>
          <p:nvPr/>
        </p:nvSpPr>
        <p:spPr>
          <a:xfrm>
            <a:off x="10991850" y="4066540"/>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标志类</a:t>
            </a:r>
          </a:p>
        </p:txBody>
      </p:sp>
      <p:sp>
        <p:nvSpPr>
          <p:cNvPr id="51" name="文本框 50"/>
          <p:cNvSpPr txBox="1"/>
          <p:nvPr/>
        </p:nvSpPr>
        <p:spPr>
          <a:xfrm>
            <a:off x="10991850" y="4392295"/>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日期时间类</a:t>
            </a:r>
          </a:p>
        </p:txBody>
      </p:sp>
      <p:sp>
        <p:nvSpPr>
          <p:cNvPr id="52" name="文本框 51"/>
          <p:cNvSpPr txBox="1"/>
          <p:nvPr/>
        </p:nvSpPr>
        <p:spPr>
          <a:xfrm>
            <a:off x="10991850" y="4718050"/>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400">
                <a:latin typeface="Arial" panose="020B0604020202020204" pitchFamily="34" charset="0"/>
                <a:ea typeface="微软雅黑" panose="020B0503020204020204" pitchFamily="34" charset="-122"/>
              </a:rPr>
              <a:t>编号类</a:t>
            </a:r>
          </a:p>
        </p:txBody>
      </p:sp>
      <p:sp>
        <p:nvSpPr>
          <p:cNvPr id="53" name="文本框 52"/>
          <p:cNvSpPr txBox="1"/>
          <p:nvPr/>
        </p:nvSpPr>
        <p:spPr>
          <a:xfrm>
            <a:off x="10991850" y="5074285"/>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en-US" altLang="zh-CN" sz="1400">
                <a:latin typeface="Arial" panose="020B0604020202020204" pitchFamily="34" charset="0"/>
                <a:ea typeface="微软雅黑" panose="020B0503020204020204" pitchFamily="34" charset="-122"/>
              </a:rPr>
              <a:t>STRING</a:t>
            </a:r>
          </a:p>
        </p:txBody>
      </p:sp>
      <p:sp>
        <p:nvSpPr>
          <p:cNvPr id="54" name="文本框 53"/>
          <p:cNvSpPr txBox="1"/>
          <p:nvPr/>
        </p:nvSpPr>
        <p:spPr>
          <a:xfrm>
            <a:off x="10991850" y="5400040"/>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en-US" altLang="zh-CN" sz="1400">
                <a:latin typeface="Arial" panose="020B0604020202020204" pitchFamily="34" charset="0"/>
                <a:ea typeface="微软雅黑" panose="020B0503020204020204" pitchFamily="34" charset="-122"/>
              </a:rPr>
              <a:t>DECIMAL</a:t>
            </a:r>
          </a:p>
        </p:txBody>
      </p:sp>
      <p:sp>
        <p:nvSpPr>
          <p:cNvPr id="55" name="文本框 54"/>
          <p:cNvSpPr txBox="1"/>
          <p:nvPr/>
        </p:nvSpPr>
        <p:spPr>
          <a:xfrm>
            <a:off x="10991850" y="5725795"/>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en-US" altLang="zh-CN" sz="1400">
                <a:latin typeface="Arial" panose="020B0604020202020204" pitchFamily="34" charset="0"/>
                <a:ea typeface="微软雅黑" panose="020B0503020204020204" pitchFamily="34" charset="-122"/>
              </a:rPr>
              <a:t>CHAR</a:t>
            </a:r>
          </a:p>
        </p:txBody>
      </p:sp>
      <p:sp>
        <p:nvSpPr>
          <p:cNvPr id="56" name="文本框 55"/>
          <p:cNvSpPr txBox="1"/>
          <p:nvPr/>
        </p:nvSpPr>
        <p:spPr>
          <a:xfrm>
            <a:off x="10991850" y="6051550"/>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en-US" altLang="zh-CN" sz="1400">
                <a:latin typeface="Arial" panose="020B0604020202020204" pitchFamily="34" charset="0"/>
                <a:ea typeface="微软雅黑" panose="020B0503020204020204" pitchFamily="34" charset="-122"/>
              </a:rPr>
              <a:t>TIMESTAMP</a:t>
            </a:r>
          </a:p>
        </p:txBody>
      </p:sp>
      <p:sp>
        <p:nvSpPr>
          <p:cNvPr id="57" name="文本框 56"/>
          <p:cNvSpPr txBox="1"/>
          <p:nvPr/>
        </p:nvSpPr>
        <p:spPr>
          <a:xfrm>
            <a:off x="10991850" y="6377305"/>
            <a:ext cx="154178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en-US" altLang="zh-CN" sz="1400">
                <a:latin typeface="Arial" panose="020B0604020202020204" pitchFamily="34" charset="0"/>
                <a:ea typeface="微软雅黑" panose="020B0503020204020204" pitchFamily="34" charset="-122"/>
              </a:rPr>
              <a:t>INT</a:t>
            </a:r>
          </a:p>
        </p:txBody>
      </p:sp>
      <p:sp>
        <p:nvSpPr>
          <p:cNvPr id="59" name="文本框 58"/>
          <p:cNvSpPr txBox="1"/>
          <p:nvPr/>
        </p:nvSpPr>
        <p:spPr>
          <a:xfrm>
            <a:off x="1703705" y="1162050"/>
            <a:ext cx="210439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ctr"/>
            <a:r>
              <a:rPr lang="zh-CN" altLang="en-US" sz="1400">
                <a:latin typeface="Arial" panose="020B0604020202020204" pitchFamily="34" charset="0"/>
                <a:ea typeface="微软雅黑" panose="020B0503020204020204" pitchFamily="34" charset="-122"/>
              </a:rPr>
              <a:t>数据标准分类体系属性</a:t>
            </a:r>
          </a:p>
        </p:txBody>
      </p:sp>
      <p:sp>
        <p:nvSpPr>
          <p:cNvPr id="60" name="文本框 59"/>
          <p:cNvSpPr txBox="1"/>
          <p:nvPr/>
        </p:nvSpPr>
        <p:spPr>
          <a:xfrm>
            <a:off x="4128770" y="1151890"/>
            <a:ext cx="210439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ctr"/>
            <a:r>
              <a:rPr lang="zh-CN" altLang="en-US" sz="1400">
                <a:latin typeface="Arial" panose="020B0604020202020204" pitchFamily="34" charset="0"/>
                <a:ea typeface="微软雅黑" panose="020B0503020204020204" pitchFamily="34" charset="-122"/>
              </a:rPr>
              <a:t>业务属性</a:t>
            </a:r>
          </a:p>
        </p:txBody>
      </p:sp>
      <p:sp>
        <p:nvSpPr>
          <p:cNvPr id="61" name="文本框 60"/>
          <p:cNvSpPr txBox="1"/>
          <p:nvPr/>
        </p:nvSpPr>
        <p:spPr>
          <a:xfrm>
            <a:off x="6553835" y="1151890"/>
            <a:ext cx="210439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ctr"/>
            <a:r>
              <a:rPr lang="zh-CN" altLang="en-US" sz="1400">
                <a:latin typeface="Arial" panose="020B0604020202020204" pitchFamily="34" charset="0"/>
                <a:ea typeface="微软雅黑" panose="020B0503020204020204" pitchFamily="34" charset="-122"/>
              </a:rPr>
              <a:t>技术属性</a:t>
            </a:r>
          </a:p>
        </p:txBody>
      </p:sp>
      <p:sp>
        <p:nvSpPr>
          <p:cNvPr id="62" name="文本框 61"/>
          <p:cNvSpPr txBox="1"/>
          <p:nvPr/>
        </p:nvSpPr>
        <p:spPr>
          <a:xfrm>
            <a:off x="8978900" y="1161415"/>
            <a:ext cx="210439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ctr"/>
            <a:r>
              <a:rPr lang="zh-CN" altLang="en-US" sz="1400">
                <a:latin typeface="Arial" panose="020B0604020202020204" pitchFamily="34" charset="0"/>
                <a:ea typeface="微软雅黑" panose="020B0503020204020204" pitchFamily="34" charset="-122"/>
              </a:rPr>
              <a:t>管理属性</a:t>
            </a:r>
          </a:p>
        </p:txBody>
      </p:sp>
      <p:sp>
        <p:nvSpPr>
          <p:cNvPr id="63" name="文本框 62"/>
          <p:cNvSpPr txBox="1"/>
          <p:nvPr/>
        </p:nvSpPr>
        <p:spPr>
          <a:xfrm>
            <a:off x="3502660" y="6139180"/>
            <a:ext cx="1786255"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ctr"/>
            <a:r>
              <a:rPr lang="zh-CN" altLang="en-US" sz="1400">
                <a:latin typeface="Arial" panose="020B0604020202020204" pitchFamily="34" charset="0"/>
                <a:ea typeface="微软雅黑" panose="020B0503020204020204" pitchFamily="34" charset="-122"/>
              </a:rPr>
              <a:t>数据标准责任方</a:t>
            </a:r>
          </a:p>
        </p:txBody>
      </p:sp>
      <p:sp>
        <p:nvSpPr>
          <p:cNvPr id="64" name="文本框 63"/>
          <p:cNvSpPr txBox="1"/>
          <p:nvPr/>
        </p:nvSpPr>
        <p:spPr>
          <a:xfrm>
            <a:off x="5215255" y="6139180"/>
            <a:ext cx="178562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ctr"/>
            <a:r>
              <a:rPr lang="zh-CN" altLang="en-US" sz="1400">
                <a:latin typeface="Arial" panose="020B0604020202020204" pitchFamily="34" charset="0"/>
                <a:ea typeface="微软雅黑" panose="020B0503020204020204" pitchFamily="34" charset="-122"/>
              </a:rPr>
              <a:t>数据标准协作方</a:t>
            </a:r>
          </a:p>
        </p:txBody>
      </p:sp>
      <p:sp>
        <p:nvSpPr>
          <p:cNvPr id="65" name="文本框 64"/>
          <p:cNvSpPr txBox="1"/>
          <p:nvPr/>
        </p:nvSpPr>
        <p:spPr>
          <a:xfrm>
            <a:off x="6927215" y="6139180"/>
            <a:ext cx="1785620" cy="306705"/>
          </a:xfrm>
          <a:prstGeom prst="rect">
            <a:avLst/>
          </a:prstGeom>
        </p:spPr>
        <p:txBody>
          <a:bodyPr wrap="square">
            <a:spAutoFit/>
            <a:extLst>
              <a:ext uri="{4A0BC546-FE56-4ADE-93B0-CB8AF2F6F144}">
                <wpsdc:textFrameExt xmlns="" xmlns:wpsdc="http://www.wps.cn/officeDocument/2022/drawingmlCustomData" type="text"/>
              </a:ext>
            </a:extLst>
          </a:bodyPr>
          <a:lstStyle/>
          <a:p>
            <a:pPr algn="ctr"/>
            <a:r>
              <a:rPr lang="zh-CN" altLang="en-US" sz="1400">
                <a:latin typeface="Arial" panose="020B0604020202020204" pitchFamily="34" charset="0"/>
                <a:ea typeface="微软雅黑" panose="020B0503020204020204" pitchFamily="34" charset="-122"/>
              </a:rPr>
              <a:t>权威数据源</a:t>
            </a:r>
          </a:p>
        </p:txBody>
      </p:sp>
      <p:cxnSp>
        <p:nvCxnSpPr>
          <p:cNvPr id="69" name="肘形连接符 68"/>
          <p:cNvCxnSpPr>
            <a:stCxn id="22" idx="1"/>
            <a:endCxn id="30" idx="3"/>
          </p:cNvCxnSpPr>
          <p:nvPr/>
        </p:nvCxnSpPr>
        <p:spPr>
          <a:xfrm rot="10800000">
            <a:off x="2498090" y="2406650"/>
            <a:ext cx="657860" cy="22987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70" name="肘形连接符 69"/>
          <p:cNvCxnSpPr>
            <a:stCxn id="22" idx="1"/>
            <a:endCxn id="31" idx="3"/>
          </p:cNvCxnSpPr>
          <p:nvPr/>
        </p:nvCxnSpPr>
        <p:spPr>
          <a:xfrm rot="10800000" flipV="1">
            <a:off x="2498090" y="2636520"/>
            <a:ext cx="657860" cy="20193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71" name="肘形连接符 70"/>
          <p:cNvCxnSpPr>
            <a:stCxn id="24" idx="1"/>
            <a:endCxn id="32" idx="3"/>
          </p:cNvCxnSpPr>
          <p:nvPr/>
        </p:nvCxnSpPr>
        <p:spPr>
          <a:xfrm rot="10800000">
            <a:off x="2498090" y="4086860"/>
            <a:ext cx="657225" cy="709930"/>
          </a:xfrm>
          <a:prstGeom prst="bentConnector3">
            <a:avLst>
              <a:gd name="adj1" fmla="val 49952"/>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72" name="肘形连接符 71"/>
          <p:cNvCxnSpPr>
            <a:stCxn id="24" idx="1"/>
            <a:endCxn id="33" idx="3"/>
          </p:cNvCxnSpPr>
          <p:nvPr/>
        </p:nvCxnSpPr>
        <p:spPr>
          <a:xfrm rot="10800000">
            <a:off x="2498090" y="4446905"/>
            <a:ext cx="657225" cy="349885"/>
          </a:xfrm>
          <a:prstGeom prst="bentConnector3">
            <a:avLst>
              <a:gd name="adj1" fmla="val 49952"/>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73" name="肘形连接符 72"/>
          <p:cNvCxnSpPr>
            <a:stCxn id="24" idx="1"/>
            <a:endCxn id="34" idx="3"/>
          </p:cNvCxnSpPr>
          <p:nvPr/>
        </p:nvCxnSpPr>
        <p:spPr>
          <a:xfrm rot="10800000" flipV="1">
            <a:off x="2498090" y="4796790"/>
            <a:ext cx="657225" cy="10160"/>
          </a:xfrm>
          <a:prstGeom prst="bentConnector3">
            <a:avLst>
              <a:gd name="adj1" fmla="val 49952"/>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75" name="肘形连接符 74"/>
          <p:cNvCxnSpPr>
            <a:stCxn id="24" idx="1"/>
            <a:endCxn id="36" idx="3"/>
          </p:cNvCxnSpPr>
          <p:nvPr/>
        </p:nvCxnSpPr>
        <p:spPr>
          <a:xfrm rot="10800000" flipV="1">
            <a:off x="2498090" y="4796790"/>
            <a:ext cx="657225" cy="730250"/>
          </a:xfrm>
          <a:prstGeom prst="bentConnector3">
            <a:avLst>
              <a:gd name="adj1" fmla="val 49952"/>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76" name="肘形连接符 75"/>
          <p:cNvCxnSpPr>
            <a:stCxn id="24" idx="1"/>
            <a:endCxn id="35" idx="3"/>
          </p:cNvCxnSpPr>
          <p:nvPr/>
        </p:nvCxnSpPr>
        <p:spPr>
          <a:xfrm rot="10800000" flipV="1">
            <a:off x="2498090" y="4796790"/>
            <a:ext cx="657225" cy="370205"/>
          </a:xfrm>
          <a:prstGeom prst="bentConnector3">
            <a:avLst>
              <a:gd name="adj1" fmla="val 49952"/>
            </a:avLst>
          </a:prstGeom>
        </p:spPr>
        <p:style>
          <a:lnRef idx="2">
            <a:schemeClr val="accent1"/>
          </a:lnRef>
          <a:fillRef idx="0">
            <a:srgbClr val="FFFFFF"/>
          </a:fillRef>
          <a:effectRef idx="0">
            <a:srgbClr val="FFFFFF"/>
          </a:effectRef>
          <a:fontRef idx="minor">
            <a:schemeClr val="tx1"/>
          </a:fontRef>
        </p:style>
      </p:cxnSp>
      <p:cxnSp>
        <p:nvCxnSpPr>
          <p:cNvPr id="77" name="肘形连接符 76"/>
          <p:cNvCxnSpPr>
            <a:stCxn id="28" idx="0"/>
            <a:endCxn id="59" idx="2"/>
          </p:cNvCxnSpPr>
          <p:nvPr/>
        </p:nvCxnSpPr>
        <p:spPr>
          <a:xfrm rot="16200000" flipV="1">
            <a:off x="4203700" y="20955"/>
            <a:ext cx="445770" cy="334137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1" name="肘形连接符 80"/>
          <p:cNvCxnSpPr>
            <a:stCxn id="28" idx="0"/>
            <a:endCxn id="61" idx="2"/>
          </p:cNvCxnSpPr>
          <p:nvPr/>
        </p:nvCxnSpPr>
        <p:spPr>
          <a:xfrm rot="16200000">
            <a:off x="6623685" y="932180"/>
            <a:ext cx="455930" cy="150876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2" name="肘形连接符 81"/>
          <p:cNvCxnSpPr>
            <a:stCxn id="28" idx="0"/>
            <a:endCxn id="62" idx="2"/>
          </p:cNvCxnSpPr>
          <p:nvPr/>
        </p:nvCxnSpPr>
        <p:spPr>
          <a:xfrm rot="16200000">
            <a:off x="7840980" y="-275590"/>
            <a:ext cx="446405" cy="3933825"/>
          </a:xfrm>
          <a:prstGeom prst="bentConnector3">
            <a:avLst>
              <a:gd name="adj1" fmla="val 49929"/>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3" name="肘形连接符 82"/>
          <p:cNvCxnSpPr>
            <a:stCxn id="25" idx="3"/>
            <a:endCxn id="37" idx="1"/>
          </p:cNvCxnSpPr>
          <p:nvPr/>
        </p:nvCxnSpPr>
        <p:spPr>
          <a:xfrm flipV="1">
            <a:off x="8955405" y="2265680"/>
            <a:ext cx="527685" cy="370840"/>
          </a:xfrm>
          <a:prstGeom prst="bentConnector3">
            <a:avLst>
              <a:gd name="adj1" fmla="val 5006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4" name="肘形连接符 83"/>
          <p:cNvCxnSpPr>
            <a:endCxn id="38" idx="1"/>
          </p:cNvCxnSpPr>
          <p:nvPr/>
        </p:nvCxnSpPr>
        <p:spPr>
          <a:xfrm flipV="1">
            <a:off x="8976360" y="2625725"/>
            <a:ext cx="506730" cy="10795"/>
          </a:xfrm>
          <a:prstGeom prst="bentConnector3">
            <a:avLst>
              <a:gd name="adj1" fmla="val 50125"/>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5" name="肘形连接符 84"/>
          <p:cNvCxnSpPr>
            <a:endCxn id="39" idx="1"/>
          </p:cNvCxnSpPr>
          <p:nvPr/>
        </p:nvCxnSpPr>
        <p:spPr>
          <a:xfrm>
            <a:off x="8904605" y="2636520"/>
            <a:ext cx="578485" cy="387350"/>
          </a:xfrm>
          <a:prstGeom prst="bentConnector3">
            <a:avLst>
              <a:gd name="adj1" fmla="val 5510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6" name="肘形连接符 85"/>
          <p:cNvCxnSpPr>
            <a:stCxn id="26" idx="3"/>
            <a:endCxn id="43" idx="1"/>
          </p:cNvCxnSpPr>
          <p:nvPr/>
        </p:nvCxnSpPr>
        <p:spPr>
          <a:xfrm flipV="1">
            <a:off x="9098280" y="4194175"/>
            <a:ext cx="309245" cy="602615"/>
          </a:xfrm>
          <a:prstGeom prst="bentConnector3">
            <a:avLst>
              <a:gd name="adj1" fmla="val 50103"/>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7" name="肘形连接符 86"/>
          <p:cNvCxnSpPr>
            <a:stCxn id="26" idx="3"/>
            <a:endCxn id="45" idx="1"/>
          </p:cNvCxnSpPr>
          <p:nvPr/>
        </p:nvCxnSpPr>
        <p:spPr>
          <a:xfrm>
            <a:off x="9098280" y="4796790"/>
            <a:ext cx="309245" cy="1090295"/>
          </a:xfrm>
          <a:prstGeom prst="bentConnector3">
            <a:avLst>
              <a:gd name="adj1" fmla="val 50103"/>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8" name="肘形连接符 87"/>
          <p:cNvCxnSpPr>
            <a:stCxn id="43" idx="3"/>
            <a:endCxn id="46" idx="1"/>
          </p:cNvCxnSpPr>
          <p:nvPr/>
        </p:nvCxnSpPr>
        <p:spPr>
          <a:xfrm flipV="1">
            <a:off x="10676890" y="3242945"/>
            <a:ext cx="314960" cy="95123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89" name="肘形连接符 88"/>
          <p:cNvCxnSpPr>
            <a:stCxn id="43" idx="3"/>
            <a:endCxn id="47" idx="1"/>
          </p:cNvCxnSpPr>
          <p:nvPr/>
        </p:nvCxnSpPr>
        <p:spPr>
          <a:xfrm flipV="1">
            <a:off x="10676890" y="3568700"/>
            <a:ext cx="314960" cy="625475"/>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1" name="肘形连接符 90"/>
          <p:cNvCxnSpPr>
            <a:stCxn id="43" idx="3"/>
            <a:endCxn id="49" idx="1"/>
          </p:cNvCxnSpPr>
          <p:nvPr/>
        </p:nvCxnSpPr>
        <p:spPr>
          <a:xfrm>
            <a:off x="10676890" y="4194175"/>
            <a:ext cx="314960" cy="26035"/>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2" name="肘形连接符 91"/>
          <p:cNvCxnSpPr>
            <a:stCxn id="43" idx="3"/>
            <a:endCxn id="51" idx="1"/>
          </p:cNvCxnSpPr>
          <p:nvPr/>
        </p:nvCxnSpPr>
        <p:spPr>
          <a:xfrm>
            <a:off x="10676890" y="4194175"/>
            <a:ext cx="314960" cy="35179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3" name="肘形连接符 92"/>
          <p:cNvCxnSpPr>
            <a:stCxn id="43" idx="3"/>
            <a:endCxn id="52" idx="1"/>
          </p:cNvCxnSpPr>
          <p:nvPr/>
        </p:nvCxnSpPr>
        <p:spPr>
          <a:xfrm>
            <a:off x="10676890" y="4194175"/>
            <a:ext cx="314960" cy="677545"/>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4" name="肘形连接符 93"/>
          <p:cNvCxnSpPr>
            <a:stCxn id="45" idx="3"/>
            <a:endCxn id="53" idx="1"/>
          </p:cNvCxnSpPr>
          <p:nvPr/>
        </p:nvCxnSpPr>
        <p:spPr>
          <a:xfrm flipV="1">
            <a:off x="10676890" y="5227955"/>
            <a:ext cx="314960" cy="65913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5" name="肘形连接符 94"/>
          <p:cNvCxnSpPr>
            <a:stCxn id="45" idx="3"/>
            <a:endCxn id="54" idx="1"/>
          </p:cNvCxnSpPr>
          <p:nvPr/>
        </p:nvCxnSpPr>
        <p:spPr>
          <a:xfrm flipV="1">
            <a:off x="10676890" y="5553710"/>
            <a:ext cx="314960" cy="333375"/>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6" name="肘形连接符 95"/>
          <p:cNvCxnSpPr>
            <a:stCxn id="45" idx="3"/>
            <a:endCxn id="55" idx="1"/>
          </p:cNvCxnSpPr>
          <p:nvPr/>
        </p:nvCxnSpPr>
        <p:spPr>
          <a:xfrm flipV="1">
            <a:off x="10676890" y="5879465"/>
            <a:ext cx="314960" cy="762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7" name="肘形连接符 96"/>
          <p:cNvCxnSpPr>
            <a:stCxn id="45" idx="3"/>
            <a:endCxn id="56" idx="1"/>
          </p:cNvCxnSpPr>
          <p:nvPr/>
        </p:nvCxnSpPr>
        <p:spPr>
          <a:xfrm>
            <a:off x="10676890" y="5887085"/>
            <a:ext cx="314960" cy="318135"/>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8" name="肘形连接符 97"/>
          <p:cNvCxnSpPr>
            <a:stCxn id="45" idx="3"/>
            <a:endCxn id="57" idx="1"/>
          </p:cNvCxnSpPr>
          <p:nvPr/>
        </p:nvCxnSpPr>
        <p:spPr>
          <a:xfrm>
            <a:off x="10676890" y="5887085"/>
            <a:ext cx="314960" cy="643890"/>
          </a:xfrm>
          <a:prstGeom prst="bent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99" name="肘形连接符 98"/>
          <p:cNvCxnSpPr>
            <a:stCxn id="29" idx="2"/>
            <a:endCxn id="63" idx="0"/>
          </p:cNvCxnSpPr>
          <p:nvPr/>
        </p:nvCxnSpPr>
        <p:spPr>
          <a:xfrm rot="5400000">
            <a:off x="4936490" y="4978400"/>
            <a:ext cx="620395" cy="1701165"/>
          </a:xfrm>
          <a:prstGeom prst="bentConnector3">
            <a:avLst>
              <a:gd name="adj1" fmla="val 50051"/>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00" name="肘形连接符 99"/>
          <p:cNvCxnSpPr>
            <a:stCxn id="29" idx="2"/>
            <a:endCxn id="64" idx="0"/>
          </p:cNvCxnSpPr>
          <p:nvPr/>
        </p:nvCxnSpPr>
        <p:spPr>
          <a:xfrm rot="5400000" flipV="1">
            <a:off x="5792470" y="5823585"/>
            <a:ext cx="620395" cy="10795"/>
          </a:xfrm>
          <a:prstGeom prst="bentConnector3">
            <a:avLst>
              <a:gd name="adj1" fmla="val 50051"/>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01" name="肘形连接符 100"/>
          <p:cNvCxnSpPr>
            <a:stCxn id="29" idx="2"/>
            <a:endCxn id="65" idx="0"/>
          </p:cNvCxnSpPr>
          <p:nvPr/>
        </p:nvCxnSpPr>
        <p:spPr>
          <a:xfrm rot="5400000" flipV="1">
            <a:off x="6648450" y="4967605"/>
            <a:ext cx="620395" cy="1722755"/>
          </a:xfrm>
          <a:prstGeom prst="bentConnector3">
            <a:avLst>
              <a:gd name="adj1" fmla="val 50051"/>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02" name="肘形连接符 101"/>
          <p:cNvCxnSpPr>
            <a:stCxn id="60" idx="2"/>
            <a:endCxn id="28" idx="0"/>
          </p:cNvCxnSpPr>
          <p:nvPr/>
        </p:nvCxnSpPr>
        <p:spPr>
          <a:xfrm rot="5400000" flipV="1">
            <a:off x="5411153" y="1228408"/>
            <a:ext cx="455930" cy="916305"/>
          </a:xfrm>
          <a:prstGeom prst="bentConnector3">
            <a:avLst>
              <a:gd name="adj1" fmla="val 4993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03" name="肘形连接符 102"/>
          <p:cNvCxnSpPr>
            <a:stCxn id="24" idx="1"/>
            <a:endCxn id="35" idx="3"/>
          </p:cNvCxnSpPr>
          <p:nvPr/>
        </p:nvCxnSpPr>
        <p:spPr>
          <a:xfrm rot="10800000" flipV="1">
            <a:off x="2498090" y="4796790"/>
            <a:ext cx="657225" cy="370205"/>
          </a:xfrm>
          <a:prstGeom prst="bentConnector3">
            <a:avLst>
              <a:gd name="adj1" fmla="val 49952"/>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04" name="直接箭头连接符 103"/>
          <p:cNvCxnSpPr>
            <a:stCxn id="21" idx="0"/>
            <a:endCxn id="28" idx="2"/>
          </p:cNvCxnSpPr>
          <p:nvPr/>
        </p:nvCxnSpPr>
        <p:spPr>
          <a:xfrm flipV="1">
            <a:off x="6092825" y="2634615"/>
            <a:ext cx="4445" cy="72199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5" name="直接箭头连接符 104"/>
          <p:cNvCxnSpPr>
            <a:endCxn id="22" idx="3"/>
          </p:cNvCxnSpPr>
          <p:nvPr/>
        </p:nvCxnSpPr>
        <p:spPr>
          <a:xfrm flipH="1" flipV="1">
            <a:off x="4620260" y="2636520"/>
            <a:ext cx="539750" cy="115189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6" name="直接箭头连接符 105"/>
          <p:cNvCxnSpPr>
            <a:endCxn id="24" idx="3"/>
          </p:cNvCxnSpPr>
          <p:nvPr/>
        </p:nvCxnSpPr>
        <p:spPr>
          <a:xfrm flipH="1">
            <a:off x="4708525" y="3716655"/>
            <a:ext cx="451485" cy="108013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7" name="直接箭头连接符 106"/>
          <p:cNvCxnSpPr>
            <a:stCxn id="21" idx="3"/>
            <a:endCxn id="25" idx="1"/>
          </p:cNvCxnSpPr>
          <p:nvPr/>
        </p:nvCxnSpPr>
        <p:spPr>
          <a:xfrm flipV="1">
            <a:off x="7031990" y="2636520"/>
            <a:ext cx="542290" cy="108013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8" name="直接箭头连接符 107"/>
          <p:cNvCxnSpPr>
            <a:stCxn id="21" idx="3"/>
            <a:endCxn id="26" idx="1"/>
          </p:cNvCxnSpPr>
          <p:nvPr/>
        </p:nvCxnSpPr>
        <p:spPr>
          <a:xfrm>
            <a:off x="7031990" y="3716655"/>
            <a:ext cx="614045" cy="108013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9" name="直接箭头连接符 108"/>
          <p:cNvCxnSpPr>
            <a:stCxn id="21" idx="2"/>
            <a:endCxn id="29" idx="0"/>
          </p:cNvCxnSpPr>
          <p:nvPr/>
        </p:nvCxnSpPr>
        <p:spPr>
          <a:xfrm>
            <a:off x="6092825" y="4076700"/>
            <a:ext cx="4445" cy="721995"/>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11" name="肘形连接符 110"/>
          <p:cNvCxnSpPr>
            <a:stCxn id="43" idx="3"/>
            <a:endCxn id="48" idx="1"/>
          </p:cNvCxnSpPr>
          <p:nvPr/>
        </p:nvCxnSpPr>
        <p:spPr>
          <a:xfrm flipV="1">
            <a:off x="10676890" y="3894455"/>
            <a:ext cx="314960" cy="299720"/>
          </a:xfrm>
          <a:prstGeom prst="bentConnector3">
            <a:avLst>
              <a:gd name="adj1" fmla="val 50000"/>
            </a:avLst>
          </a:prstGeom>
          <a:ln>
            <a:solidFill>
              <a:schemeClr val="tx1"/>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圆角矩形 250"/>
          <p:cNvSpPr/>
          <p:nvPr/>
        </p:nvSpPr>
        <p:spPr>
          <a:xfrm>
            <a:off x="982980" y="5417820"/>
            <a:ext cx="6480810" cy="1119505"/>
          </a:xfrm>
          <a:prstGeom prst="roundRect">
            <a:avLst/>
          </a:prstGeom>
          <a:solidFill>
            <a:schemeClr val="accent4">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怎么构建数据标准</a:t>
            </a:r>
            <a:r>
              <a:rPr lang="en-US" altLang="zh-CN">
                <a:sym typeface="+mn-ea"/>
              </a:rPr>
              <a:t>——</a:t>
            </a:r>
            <a:r>
              <a:rPr lang="zh-CN" altLang="en-US">
                <a:sym typeface="+mn-ea"/>
              </a:rPr>
              <a:t>数据标准模型</a:t>
            </a:r>
          </a:p>
        </p:txBody>
      </p:sp>
      <p:sp>
        <p:nvSpPr>
          <p:cNvPr id="4" name="矩形 4"/>
          <p:cNvSpPr>
            <a:spLocks noChangeArrowheads="1"/>
          </p:cNvSpPr>
          <p:nvPr/>
        </p:nvSpPr>
        <p:spPr bwMode="auto">
          <a:xfrm>
            <a:off x="815340" y="1124585"/>
            <a:ext cx="10499090" cy="645160"/>
          </a:xfrm>
          <a:prstGeom prst="rect">
            <a:avLst/>
          </a:prstGeom>
          <a:noFill/>
          <a:ln w="9525">
            <a:noFill/>
            <a:miter lim="800000"/>
          </a:ln>
        </p:spPr>
        <p:txBody>
          <a:bodyPr wrap="square">
            <a:spAutoFit/>
          </a:bodyPr>
          <a:lstStyle/>
          <a:p>
            <a:r>
              <a:rPr lang="zh-CN" altLang="en-US" sz="1800" b="1" i="0" dirty="0"/>
              <a:t>数据标准</a:t>
            </a:r>
            <a:r>
              <a:rPr lang="zh-CN" altLang="en-US" sz="1800" i="0" dirty="0">
                <a:latin typeface="微软雅黑" panose="020B0503020204020204" pitchFamily="34" charset="-122"/>
                <a:ea typeface="微软雅黑" panose="020B0503020204020204" pitchFamily="34" charset="-122"/>
              </a:rPr>
              <a:t>是对数据的表达、格式及定义的一致约定，包含数据业务属性、技术属性和管理属性的统一定义。</a:t>
            </a:r>
          </a:p>
        </p:txBody>
      </p:sp>
      <p:sp>
        <p:nvSpPr>
          <p:cNvPr id="3" name="Rectangle 248"/>
          <p:cNvSpPr/>
          <p:nvPr/>
        </p:nvSpPr>
        <p:spPr>
          <a:xfrm>
            <a:off x="599007" y="2253727"/>
            <a:ext cx="306216" cy="2196000"/>
          </a:xfrm>
          <a:prstGeom prst="rect">
            <a:avLst/>
          </a:prstGeom>
          <a:solidFill>
            <a:srgbClr val="0042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标准编号</a:t>
            </a:r>
          </a:p>
        </p:txBody>
      </p:sp>
      <p:sp>
        <p:nvSpPr>
          <p:cNvPr id="17" name="Rectangle 249"/>
          <p:cNvSpPr/>
          <p:nvPr/>
        </p:nvSpPr>
        <p:spPr>
          <a:xfrm>
            <a:off x="180975" y="2253615"/>
            <a:ext cx="376555" cy="4082415"/>
          </a:xfrm>
          <a:prstGeom prst="rect">
            <a:avLst/>
          </a:prstGeom>
          <a:solidFill>
            <a:schemeClr val="bg2">
              <a:lumMod val="5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标准分类</a:t>
            </a:r>
          </a:p>
        </p:txBody>
      </p:sp>
      <p:sp>
        <p:nvSpPr>
          <p:cNvPr id="19" name="Rectangle 250"/>
          <p:cNvSpPr/>
          <p:nvPr/>
        </p:nvSpPr>
        <p:spPr>
          <a:xfrm>
            <a:off x="946760" y="2253727"/>
            <a:ext cx="306216" cy="2196000"/>
          </a:xfrm>
          <a:prstGeom prst="rect">
            <a:avLst/>
          </a:prstGeom>
          <a:solidFill>
            <a:srgbClr val="0042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一级主题</a:t>
            </a:r>
          </a:p>
        </p:txBody>
      </p:sp>
      <p:sp>
        <p:nvSpPr>
          <p:cNvPr id="20" name="Rectangle 251"/>
          <p:cNvSpPr/>
          <p:nvPr/>
        </p:nvSpPr>
        <p:spPr>
          <a:xfrm>
            <a:off x="1294513" y="2253727"/>
            <a:ext cx="306216" cy="2196000"/>
          </a:xfrm>
          <a:prstGeom prst="rect">
            <a:avLst/>
          </a:prstGeom>
          <a:solidFill>
            <a:srgbClr val="0042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二级主题</a:t>
            </a:r>
          </a:p>
        </p:txBody>
      </p:sp>
      <p:sp>
        <p:nvSpPr>
          <p:cNvPr id="21" name="Rectangle 252"/>
          <p:cNvSpPr/>
          <p:nvPr/>
        </p:nvSpPr>
        <p:spPr>
          <a:xfrm>
            <a:off x="1642266" y="2253727"/>
            <a:ext cx="306216" cy="2196000"/>
          </a:xfrm>
          <a:prstGeom prst="rect">
            <a:avLst/>
          </a:prstGeom>
          <a:solidFill>
            <a:srgbClr val="0042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三级主题</a:t>
            </a:r>
          </a:p>
        </p:txBody>
      </p:sp>
      <p:sp>
        <p:nvSpPr>
          <p:cNvPr id="22" name="Rectangle 253"/>
          <p:cNvSpPr/>
          <p:nvPr/>
        </p:nvSpPr>
        <p:spPr>
          <a:xfrm>
            <a:off x="1990019" y="2239701"/>
            <a:ext cx="306216"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标准中文名称</a:t>
            </a:r>
          </a:p>
        </p:txBody>
      </p:sp>
      <p:sp>
        <p:nvSpPr>
          <p:cNvPr id="23" name="Rectangle 254"/>
          <p:cNvSpPr/>
          <p:nvPr/>
        </p:nvSpPr>
        <p:spPr>
          <a:xfrm>
            <a:off x="233687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标准别名</a:t>
            </a:r>
          </a:p>
        </p:txBody>
      </p:sp>
      <p:sp>
        <p:nvSpPr>
          <p:cNvPr id="24" name="Rectangle 255"/>
          <p:cNvSpPr/>
          <p:nvPr/>
        </p:nvSpPr>
        <p:spPr>
          <a:xfrm>
            <a:off x="268358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业务表单标准英文名称</a:t>
            </a:r>
          </a:p>
        </p:txBody>
      </p:sp>
      <p:sp>
        <p:nvSpPr>
          <p:cNvPr id="25" name="Rectangle 256"/>
          <p:cNvSpPr/>
          <p:nvPr/>
        </p:nvSpPr>
        <p:spPr>
          <a:xfrm>
            <a:off x="303029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业务定义</a:t>
            </a:r>
          </a:p>
        </p:txBody>
      </p:sp>
      <p:sp>
        <p:nvSpPr>
          <p:cNvPr id="27" name="Rectangle 258"/>
          <p:cNvSpPr/>
          <p:nvPr/>
        </p:nvSpPr>
        <p:spPr>
          <a:xfrm>
            <a:off x="372371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标准来源</a:t>
            </a:r>
          </a:p>
        </p:txBody>
      </p:sp>
      <p:sp>
        <p:nvSpPr>
          <p:cNvPr id="28" name="Rectangle 259"/>
          <p:cNvSpPr/>
          <p:nvPr/>
        </p:nvSpPr>
        <p:spPr>
          <a:xfrm>
            <a:off x="407042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标准来源依据</a:t>
            </a:r>
          </a:p>
        </p:txBody>
      </p:sp>
      <p:sp>
        <p:nvSpPr>
          <p:cNvPr id="29" name="Rectangle 260"/>
          <p:cNvSpPr/>
          <p:nvPr/>
        </p:nvSpPr>
        <p:spPr>
          <a:xfrm>
            <a:off x="511055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1200" b="1" kern="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业务规则</a:t>
            </a:r>
            <a:r>
              <a:rPr lang="en-US" altLang="zh-CN" sz="1200" b="1" kern="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3</a:t>
            </a:r>
            <a:r>
              <a:rPr lang="zh-CN" altLang="en-US" sz="1200" b="1" kern="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（其他规则描述</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a:t>
            </a:r>
          </a:p>
        </p:txBody>
      </p:sp>
      <p:sp>
        <p:nvSpPr>
          <p:cNvPr id="30" name="Rectangle 261"/>
          <p:cNvSpPr/>
          <p:nvPr/>
        </p:nvSpPr>
        <p:spPr>
          <a:xfrm>
            <a:off x="545726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相关标准名称</a:t>
            </a:r>
          </a:p>
        </p:txBody>
      </p:sp>
      <p:sp>
        <p:nvSpPr>
          <p:cNvPr id="31" name="Rectangle 262"/>
          <p:cNvSpPr/>
          <p:nvPr/>
        </p:nvSpPr>
        <p:spPr>
          <a:xfrm>
            <a:off x="580397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相关标准编号</a:t>
            </a:r>
          </a:p>
        </p:txBody>
      </p:sp>
      <p:sp>
        <p:nvSpPr>
          <p:cNvPr id="32" name="Rectangle 263"/>
          <p:cNvSpPr/>
          <p:nvPr/>
        </p:nvSpPr>
        <p:spPr>
          <a:xfrm>
            <a:off x="615068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与相关标准关系</a:t>
            </a:r>
          </a:p>
        </p:txBody>
      </p:sp>
      <p:sp>
        <p:nvSpPr>
          <p:cNvPr id="33" name="Rectangle 264"/>
          <p:cNvSpPr/>
          <p:nvPr/>
        </p:nvSpPr>
        <p:spPr>
          <a:xfrm>
            <a:off x="8176152" y="2252084"/>
            <a:ext cx="306070" cy="2196000"/>
          </a:xfrm>
          <a:prstGeom prst="rect">
            <a:avLst/>
          </a:prstGeom>
          <a:solidFill>
            <a:srgbClr val="6BC72B">
              <a:lumMod val="75000"/>
            </a:srgbClr>
          </a:solidFill>
          <a:ln w="25400" cap="flat" cmpd="sng" algn="ctr">
            <a:noFill/>
            <a:prstDash val="solid"/>
          </a:ln>
          <a:effectLst/>
        </p:spPr>
        <p:txBody>
          <a:bodyPr rtlCol="0" anchor="ctr">
            <a:noAutofit/>
          </a:bodyPr>
          <a:lstStyle/>
          <a:p>
            <a:pPr lvl="0" algn="ctr">
              <a:spcBef>
                <a:spcPts val="0"/>
              </a:spcBef>
              <a:spcAft>
                <a:spcPts val="0"/>
              </a:spcAft>
              <a:buClrTx/>
              <a:buSzTx/>
              <a:buFontTx/>
              <a:defRPr/>
            </a:pPr>
            <a:r>
              <a:rPr lang="zh-CN" altLang="en-US" sz="1200" b="1" kern="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引用公共代码标准编号</a:t>
            </a:r>
          </a:p>
        </p:txBody>
      </p:sp>
      <p:sp>
        <p:nvSpPr>
          <p:cNvPr id="34" name="Rectangle 265"/>
          <p:cNvSpPr/>
          <p:nvPr/>
        </p:nvSpPr>
        <p:spPr>
          <a:xfrm>
            <a:off x="7179837" y="2252084"/>
            <a:ext cx="306070" cy="219600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数据类型</a:t>
            </a:r>
          </a:p>
        </p:txBody>
      </p:sp>
      <p:sp>
        <p:nvSpPr>
          <p:cNvPr id="35" name="Rectangle 266"/>
          <p:cNvSpPr/>
          <p:nvPr/>
        </p:nvSpPr>
        <p:spPr>
          <a:xfrm>
            <a:off x="7511942" y="2252084"/>
            <a:ext cx="306070" cy="219600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数据长度</a:t>
            </a:r>
          </a:p>
        </p:txBody>
      </p:sp>
      <p:sp>
        <p:nvSpPr>
          <p:cNvPr id="36" name="Rectangle 267"/>
          <p:cNvSpPr/>
          <p:nvPr/>
        </p:nvSpPr>
        <p:spPr>
          <a:xfrm>
            <a:off x="7844047" y="2252084"/>
            <a:ext cx="306070" cy="219600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数据精度</a:t>
            </a:r>
          </a:p>
        </p:txBody>
      </p:sp>
      <p:sp>
        <p:nvSpPr>
          <p:cNvPr id="38" name="Rectangle 269"/>
          <p:cNvSpPr/>
          <p:nvPr/>
        </p:nvSpPr>
        <p:spPr>
          <a:xfrm>
            <a:off x="10205339" y="2258172"/>
            <a:ext cx="306070" cy="219600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权威系统</a:t>
            </a:r>
          </a:p>
        </p:txBody>
      </p:sp>
      <p:sp>
        <p:nvSpPr>
          <p:cNvPr id="39" name="Rectangle 270"/>
          <p:cNvSpPr/>
          <p:nvPr/>
        </p:nvSpPr>
        <p:spPr>
          <a:xfrm>
            <a:off x="10879709" y="2258172"/>
            <a:ext cx="306070" cy="219600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数据标准状态</a:t>
            </a:r>
          </a:p>
        </p:txBody>
      </p:sp>
      <p:sp>
        <p:nvSpPr>
          <p:cNvPr id="40" name="Rectangle 271"/>
          <p:cNvSpPr/>
          <p:nvPr/>
        </p:nvSpPr>
        <p:spPr>
          <a:xfrm>
            <a:off x="9868154" y="2258172"/>
            <a:ext cx="306070" cy="219600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数据标准协作方</a:t>
            </a:r>
          </a:p>
        </p:txBody>
      </p:sp>
      <p:sp>
        <p:nvSpPr>
          <p:cNvPr id="41" name="Rectangle 272"/>
          <p:cNvSpPr/>
          <p:nvPr/>
        </p:nvSpPr>
        <p:spPr>
          <a:xfrm>
            <a:off x="11216894" y="2258172"/>
            <a:ext cx="306070" cy="219600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失效时间</a:t>
            </a:r>
          </a:p>
        </p:txBody>
      </p:sp>
      <p:sp>
        <p:nvSpPr>
          <p:cNvPr id="42" name="Rectangle 273"/>
          <p:cNvSpPr/>
          <p:nvPr/>
        </p:nvSpPr>
        <p:spPr>
          <a:xfrm>
            <a:off x="10542524" y="2258172"/>
            <a:ext cx="306070" cy="219600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版本号</a:t>
            </a:r>
          </a:p>
        </p:txBody>
      </p:sp>
      <p:sp>
        <p:nvSpPr>
          <p:cNvPr id="43" name="Rectangle 274"/>
          <p:cNvSpPr/>
          <p:nvPr/>
        </p:nvSpPr>
        <p:spPr>
          <a:xfrm>
            <a:off x="174625" y="1812925"/>
            <a:ext cx="1773555" cy="403860"/>
          </a:xfrm>
          <a:prstGeom prst="rect">
            <a:avLst/>
          </a:prstGeom>
          <a:solidFill>
            <a:srgbClr val="004266"/>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数据标准体系分类</a:t>
            </a:r>
          </a:p>
        </p:txBody>
      </p:sp>
      <p:sp>
        <p:nvSpPr>
          <p:cNvPr id="44" name="Rectangle 275"/>
          <p:cNvSpPr/>
          <p:nvPr/>
        </p:nvSpPr>
        <p:spPr>
          <a:xfrm>
            <a:off x="1993265" y="1819275"/>
            <a:ext cx="4809490" cy="378460"/>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业务属性</a:t>
            </a:r>
          </a:p>
        </p:txBody>
      </p:sp>
      <p:sp>
        <p:nvSpPr>
          <p:cNvPr id="45" name="Rectangle 276"/>
          <p:cNvSpPr/>
          <p:nvPr/>
        </p:nvSpPr>
        <p:spPr>
          <a:xfrm>
            <a:off x="6847205" y="1812925"/>
            <a:ext cx="2643505" cy="40386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技术属性</a:t>
            </a:r>
          </a:p>
        </p:txBody>
      </p:sp>
      <p:sp>
        <p:nvSpPr>
          <p:cNvPr id="46" name="Rectangle 277"/>
          <p:cNvSpPr/>
          <p:nvPr/>
        </p:nvSpPr>
        <p:spPr>
          <a:xfrm>
            <a:off x="9558655" y="1812925"/>
            <a:ext cx="2303145" cy="40386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管理属性</a:t>
            </a:r>
          </a:p>
        </p:txBody>
      </p:sp>
      <p:sp>
        <p:nvSpPr>
          <p:cNvPr id="145" name="Rectangle 257"/>
          <p:cNvSpPr/>
          <p:nvPr/>
        </p:nvSpPr>
        <p:spPr>
          <a:xfrm>
            <a:off x="337700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业务数据类型</a:t>
            </a:r>
          </a:p>
        </p:txBody>
      </p:sp>
      <p:sp>
        <p:nvSpPr>
          <p:cNvPr id="146" name="Rectangle 265"/>
          <p:cNvSpPr/>
          <p:nvPr/>
        </p:nvSpPr>
        <p:spPr>
          <a:xfrm>
            <a:off x="6847586" y="2252084"/>
            <a:ext cx="306216" cy="219600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标准英文名</a:t>
            </a:r>
          </a:p>
        </p:txBody>
      </p:sp>
      <p:sp>
        <p:nvSpPr>
          <p:cNvPr id="150" name="Rectangle 257"/>
          <p:cNvSpPr/>
          <p:nvPr/>
        </p:nvSpPr>
        <p:spPr>
          <a:xfrm>
            <a:off x="441713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业务规则</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a:t>
            </a:r>
            <a:r>
              <a:rPr lang="zh-CN" altLang="en-US" sz="1200" b="1" kern="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长度，精度</a:t>
            </a:r>
            <a:endPar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a:t>
            </a:r>
          </a:p>
        </p:txBody>
      </p:sp>
      <p:sp>
        <p:nvSpPr>
          <p:cNvPr id="151" name="Rectangle 257"/>
          <p:cNvSpPr/>
          <p:nvPr/>
        </p:nvSpPr>
        <p:spPr>
          <a:xfrm>
            <a:off x="476384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业务规则</a:t>
            </a: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（值域</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a:t>
            </a:r>
          </a:p>
        </p:txBody>
      </p:sp>
      <p:sp>
        <p:nvSpPr>
          <p:cNvPr id="154" name="Rectangle 264"/>
          <p:cNvSpPr/>
          <p:nvPr/>
        </p:nvSpPr>
        <p:spPr>
          <a:xfrm>
            <a:off x="6497395" y="2239701"/>
            <a:ext cx="306070" cy="2197735"/>
          </a:xfrm>
          <a:prstGeom prst="rect">
            <a:avLst/>
          </a:prstGeom>
          <a:solidFill>
            <a:srgbClr val="AAD5F7">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数据示例</a:t>
            </a:r>
          </a:p>
        </p:txBody>
      </p:sp>
      <p:sp>
        <p:nvSpPr>
          <p:cNvPr id="155" name="Rectangle 268"/>
          <p:cNvSpPr/>
          <p:nvPr/>
        </p:nvSpPr>
        <p:spPr>
          <a:xfrm>
            <a:off x="8508257" y="2252084"/>
            <a:ext cx="306070" cy="219600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数据录入规范</a:t>
            </a:r>
          </a:p>
        </p:txBody>
      </p:sp>
      <p:sp>
        <p:nvSpPr>
          <p:cNvPr id="156" name="Rectangle 268"/>
          <p:cNvSpPr/>
          <p:nvPr/>
        </p:nvSpPr>
        <p:spPr>
          <a:xfrm>
            <a:off x="8840362" y="2252084"/>
            <a:ext cx="306070" cy="219600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是否允许为空</a:t>
            </a:r>
          </a:p>
        </p:txBody>
      </p:sp>
      <p:sp>
        <p:nvSpPr>
          <p:cNvPr id="157" name="Rectangle 269"/>
          <p:cNvSpPr/>
          <p:nvPr/>
        </p:nvSpPr>
        <p:spPr>
          <a:xfrm>
            <a:off x="9530823" y="2258172"/>
            <a:ext cx="306216" cy="219600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数据标准责任方</a:t>
            </a:r>
          </a:p>
        </p:txBody>
      </p:sp>
      <p:sp>
        <p:nvSpPr>
          <p:cNvPr id="158" name="Rectangle 272"/>
          <p:cNvSpPr/>
          <p:nvPr/>
        </p:nvSpPr>
        <p:spPr>
          <a:xfrm>
            <a:off x="11554079" y="2258172"/>
            <a:ext cx="306070" cy="2196000"/>
          </a:xfrm>
          <a:prstGeom prst="rect">
            <a:avLst/>
          </a:prstGeom>
          <a:solidFill>
            <a:srgbClr val="808080">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失效原因</a:t>
            </a:r>
          </a:p>
        </p:txBody>
      </p:sp>
      <p:sp>
        <p:nvSpPr>
          <p:cNvPr id="159" name="Rectangle 268"/>
          <p:cNvSpPr/>
          <p:nvPr/>
        </p:nvSpPr>
        <p:spPr>
          <a:xfrm>
            <a:off x="9172467" y="2257799"/>
            <a:ext cx="306070" cy="2196000"/>
          </a:xfrm>
          <a:prstGeom prst="rect">
            <a:avLst/>
          </a:prstGeom>
          <a:solidFill>
            <a:srgbClr val="6BC72B">
              <a:lumMod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单位</a:t>
            </a:r>
          </a:p>
        </p:txBody>
      </p:sp>
      <p:sp>
        <p:nvSpPr>
          <p:cNvPr id="163" name="圆角矩形 162"/>
          <p:cNvSpPr/>
          <p:nvPr/>
        </p:nvSpPr>
        <p:spPr>
          <a:xfrm>
            <a:off x="1919605" y="5642610"/>
            <a:ext cx="2088515" cy="647700"/>
          </a:xfrm>
          <a:prstGeom prst="roundRect">
            <a:avLst/>
          </a:prstGeom>
          <a:solidFill>
            <a:srgbClr val="8D85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前台业务数据标准</a:t>
            </a:r>
          </a:p>
        </p:txBody>
      </p:sp>
      <p:sp>
        <p:nvSpPr>
          <p:cNvPr id="165" name="圆角矩形 164"/>
          <p:cNvSpPr/>
          <p:nvPr/>
        </p:nvSpPr>
        <p:spPr>
          <a:xfrm>
            <a:off x="4728210" y="5660390"/>
            <a:ext cx="2088515" cy="647700"/>
          </a:xfrm>
          <a:prstGeom prst="roundRect">
            <a:avLst/>
          </a:prstGeom>
          <a:solidFill>
            <a:srgbClr val="00B05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数仓数据标准</a:t>
            </a:r>
          </a:p>
        </p:txBody>
      </p:sp>
      <p:sp>
        <p:nvSpPr>
          <p:cNvPr id="166" name="圆角矩形 165"/>
          <p:cNvSpPr/>
          <p:nvPr/>
        </p:nvSpPr>
        <p:spPr>
          <a:xfrm>
            <a:off x="8472170" y="5615940"/>
            <a:ext cx="2088515" cy="647700"/>
          </a:xfrm>
          <a:prstGeom prst="roundRect">
            <a:avLst/>
          </a:prstGeom>
          <a:solidFill>
            <a:srgbClr val="DEA7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公共代码</a:t>
            </a:r>
          </a:p>
        </p:txBody>
      </p:sp>
      <p:cxnSp>
        <p:nvCxnSpPr>
          <p:cNvPr id="167" name="肘形连接符 166"/>
          <p:cNvCxnSpPr>
            <a:stCxn id="17" idx="2"/>
            <a:endCxn id="166" idx="2"/>
          </p:cNvCxnSpPr>
          <p:nvPr/>
        </p:nvCxnSpPr>
        <p:spPr>
          <a:xfrm rot="5400000" flipH="1" flipV="1">
            <a:off x="4906963" y="1726248"/>
            <a:ext cx="72390" cy="9147175"/>
          </a:xfrm>
          <a:prstGeom prst="bentConnector3">
            <a:avLst>
              <a:gd name="adj1" fmla="val -315789"/>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69" name="肘形连接符 168"/>
          <p:cNvCxnSpPr>
            <a:stCxn id="17" idx="2"/>
            <a:endCxn id="165" idx="2"/>
          </p:cNvCxnSpPr>
          <p:nvPr/>
        </p:nvCxnSpPr>
        <p:spPr>
          <a:xfrm rot="5400000" flipH="1" flipV="1">
            <a:off x="3057208" y="3620453"/>
            <a:ext cx="27940" cy="5403215"/>
          </a:xfrm>
          <a:prstGeom prst="bentConnector3">
            <a:avLst>
              <a:gd name="adj1" fmla="val -851136"/>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70" name="肘形连接符 169"/>
          <p:cNvCxnSpPr>
            <a:stCxn id="17" idx="2"/>
            <a:endCxn id="163" idx="2"/>
          </p:cNvCxnSpPr>
          <p:nvPr/>
        </p:nvCxnSpPr>
        <p:spPr>
          <a:xfrm rot="5400000" flipH="1" flipV="1">
            <a:off x="1644015" y="5015865"/>
            <a:ext cx="45720" cy="2594610"/>
          </a:xfrm>
          <a:prstGeom prst="bentConnector3">
            <a:avLst>
              <a:gd name="adj1" fmla="val -520833"/>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71" name="曲线连接符 170"/>
          <p:cNvCxnSpPr>
            <a:stCxn id="3" idx="2"/>
            <a:endCxn id="163" idx="0"/>
          </p:cNvCxnSpPr>
          <p:nvPr/>
        </p:nvCxnSpPr>
        <p:spPr>
          <a:xfrm rot="5400000" flipV="1">
            <a:off x="1261428" y="3939858"/>
            <a:ext cx="1193165" cy="221234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72" name="曲线连接符 171"/>
          <p:cNvCxnSpPr>
            <a:stCxn id="19" idx="2"/>
            <a:endCxn id="165" idx="0"/>
          </p:cNvCxnSpPr>
          <p:nvPr/>
        </p:nvCxnSpPr>
        <p:spPr>
          <a:xfrm rot="5400000" flipV="1">
            <a:off x="2830830" y="2718435"/>
            <a:ext cx="1210945" cy="4672965"/>
          </a:xfrm>
          <a:prstGeom prst="curvedConnector3">
            <a:avLst>
              <a:gd name="adj1" fmla="val 50026"/>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73" name="曲线连接符 172"/>
          <p:cNvCxnSpPr>
            <a:stCxn id="20" idx="2"/>
            <a:endCxn id="165" idx="0"/>
          </p:cNvCxnSpPr>
          <p:nvPr/>
        </p:nvCxnSpPr>
        <p:spPr>
          <a:xfrm rot="5400000" flipV="1">
            <a:off x="3004820" y="2892425"/>
            <a:ext cx="1210945" cy="4324985"/>
          </a:xfrm>
          <a:prstGeom prst="curvedConnector3">
            <a:avLst>
              <a:gd name="adj1" fmla="val 50026"/>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74" name="曲线连接符 173"/>
          <p:cNvCxnSpPr>
            <a:stCxn id="21" idx="2"/>
            <a:endCxn id="165" idx="0"/>
          </p:cNvCxnSpPr>
          <p:nvPr/>
        </p:nvCxnSpPr>
        <p:spPr>
          <a:xfrm rot="5400000" flipV="1">
            <a:off x="3178493" y="3066098"/>
            <a:ext cx="1210945" cy="397764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75" name="曲线连接符 174"/>
          <p:cNvCxnSpPr>
            <a:stCxn id="3" idx="2"/>
            <a:endCxn id="165" idx="0"/>
          </p:cNvCxnSpPr>
          <p:nvPr/>
        </p:nvCxnSpPr>
        <p:spPr>
          <a:xfrm rot="5400000" flipV="1">
            <a:off x="2656840" y="2544445"/>
            <a:ext cx="1210945" cy="5020945"/>
          </a:xfrm>
          <a:prstGeom prst="curvedConnector3">
            <a:avLst>
              <a:gd name="adj1" fmla="val 50026"/>
            </a:avLst>
          </a:prstGeom>
          <a:ln w="3175">
            <a:solidFill>
              <a:schemeClr val="tx1"/>
            </a:solidFill>
          </a:ln>
        </p:spPr>
        <p:style>
          <a:lnRef idx="2">
            <a:prstClr val="black"/>
          </a:lnRef>
          <a:fillRef idx="0">
            <a:srgbClr val="FFFFFF"/>
          </a:fillRef>
          <a:effectRef idx="0">
            <a:srgbClr val="FFFFFF"/>
          </a:effectRef>
          <a:fontRef idx="minor">
            <a:schemeClr val="tx1"/>
          </a:fontRef>
        </p:style>
      </p:cxnSp>
      <p:cxnSp>
        <p:nvCxnSpPr>
          <p:cNvPr id="176" name="曲线连接符 175"/>
          <p:cNvCxnSpPr>
            <a:stCxn id="22" idx="2"/>
          </p:cNvCxnSpPr>
          <p:nvPr/>
        </p:nvCxnSpPr>
        <p:spPr>
          <a:xfrm rot="5400000" flipV="1">
            <a:off x="1923415" y="4656455"/>
            <a:ext cx="1296035" cy="856615"/>
          </a:xfrm>
          <a:prstGeom prst="curvedConnector3">
            <a:avLst>
              <a:gd name="adj1" fmla="val 50024"/>
            </a:avLst>
          </a:prstGeom>
          <a:ln w="3175">
            <a:solidFill>
              <a:schemeClr val="tx1"/>
            </a:solidFill>
          </a:ln>
        </p:spPr>
        <p:style>
          <a:lnRef idx="2">
            <a:prstClr val="black"/>
          </a:lnRef>
          <a:fillRef idx="0">
            <a:srgbClr val="FFFFFF"/>
          </a:fillRef>
          <a:effectRef idx="0">
            <a:srgbClr val="FFFFFF"/>
          </a:effectRef>
          <a:fontRef idx="minor">
            <a:schemeClr val="tx1"/>
          </a:fontRef>
        </p:style>
      </p:cxnSp>
      <p:cxnSp>
        <p:nvCxnSpPr>
          <p:cNvPr id="177" name="曲线连接符 176"/>
          <p:cNvCxnSpPr>
            <a:stCxn id="23" idx="2"/>
            <a:endCxn id="163" idx="0"/>
          </p:cNvCxnSpPr>
          <p:nvPr/>
        </p:nvCxnSpPr>
        <p:spPr>
          <a:xfrm rot="5400000" flipV="1">
            <a:off x="2124393" y="4802823"/>
            <a:ext cx="1205230" cy="474345"/>
          </a:xfrm>
          <a:prstGeom prst="curvedConnector3">
            <a:avLst>
              <a:gd name="adj1" fmla="val 49974"/>
            </a:avLst>
          </a:prstGeom>
          <a:ln w="3175">
            <a:solidFill>
              <a:schemeClr val="tx1"/>
            </a:solidFill>
          </a:ln>
        </p:spPr>
        <p:style>
          <a:lnRef idx="2">
            <a:prstClr val="black"/>
          </a:lnRef>
          <a:fillRef idx="0">
            <a:srgbClr val="FFFFFF"/>
          </a:fillRef>
          <a:effectRef idx="0">
            <a:srgbClr val="FFFFFF"/>
          </a:effectRef>
          <a:fontRef idx="minor">
            <a:schemeClr val="tx1"/>
          </a:fontRef>
        </p:style>
      </p:cxnSp>
      <p:cxnSp>
        <p:nvCxnSpPr>
          <p:cNvPr id="183" name="曲线连接符 182"/>
          <p:cNvCxnSpPr>
            <a:stCxn id="24" idx="2"/>
            <a:endCxn id="163" idx="0"/>
          </p:cNvCxnSpPr>
          <p:nvPr/>
        </p:nvCxnSpPr>
        <p:spPr>
          <a:xfrm rot="5400000" flipV="1">
            <a:off x="2297430" y="4975860"/>
            <a:ext cx="1205230" cy="12763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84" name="曲线连接符 183"/>
          <p:cNvCxnSpPr>
            <a:stCxn id="25" idx="2"/>
            <a:endCxn id="163" idx="0"/>
          </p:cNvCxnSpPr>
          <p:nvPr/>
        </p:nvCxnSpPr>
        <p:spPr>
          <a:xfrm rot="5400000">
            <a:off x="2471103" y="4930458"/>
            <a:ext cx="1205230" cy="21907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85" name="曲线连接符 184"/>
          <p:cNvCxnSpPr>
            <a:stCxn id="145" idx="2"/>
            <a:endCxn id="163" idx="0"/>
          </p:cNvCxnSpPr>
          <p:nvPr/>
        </p:nvCxnSpPr>
        <p:spPr>
          <a:xfrm rot="5400000">
            <a:off x="2644458" y="4757103"/>
            <a:ext cx="1205230" cy="56578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86" name="曲线连接符 185"/>
          <p:cNvCxnSpPr>
            <a:stCxn id="27" idx="2"/>
            <a:endCxn id="163" idx="0"/>
          </p:cNvCxnSpPr>
          <p:nvPr/>
        </p:nvCxnSpPr>
        <p:spPr>
          <a:xfrm rot="5400000">
            <a:off x="2817813" y="4583748"/>
            <a:ext cx="1205230" cy="91249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87" name="曲线连接符 186"/>
          <p:cNvCxnSpPr>
            <a:stCxn id="28" idx="2"/>
            <a:endCxn id="163" idx="0"/>
          </p:cNvCxnSpPr>
          <p:nvPr/>
        </p:nvCxnSpPr>
        <p:spPr>
          <a:xfrm rot="5400000">
            <a:off x="2991168" y="4410393"/>
            <a:ext cx="1205230" cy="125920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88" name="曲线连接符 187"/>
          <p:cNvCxnSpPr>
            <a:stCxn id="150" idx="2"/>
            <a:endCxn id="163" idx="0"/>
          </p:cNvCxnSpPr>
          <p:nvPr/>
        </p:nvCxnSpPr>
        <p:spPr>
          <a:xfrm rot="5400000">
            <a:off x="3164523" y="4237038"/>
            <a:ext cx="1205230" cy="160591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89" name="曲线连接符 188"/>
          <p:cNvCxnSpPr>
            <a:stCxn id="151" idx="2"/>
            <a:endCxn id="163" idx="0"/>
          </p:cNvCxnSpPr>
          <p:nvPr/>
        </p:nvCxnSpPr>
        <p:spPr>
          <a:xfrm rot="5400000">
            <a:off x="3337878" y="4063683"/>
            <a:ext cx="1205230" cy="195262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0" name="曲线连接符 189"/>
          <p:cNvCxnSpPr>
            <a:stCxn id="29" idx="2"/>
            <a:endCxn id="163" idx="0"/>
          </p:cNvCxnSpPr>
          <p:nvPr/>
        </p:nvCxnSpPr>
        <p:spPr>
          <a:xfrm rot="5400000">
            <a:off x="3511233" y="3890328"/>
            <a:ext cx="1205230" cy="229933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1" name="曲线连接符 190"/>
          <p:cNvCxnSpPr>
            <a:stCxn id="30" idx="2"/>
            <a:endCxn id="163" idx="0"/>
          </p:cNvCxnSpPr>
          <p:nvPr/>
        </p:nvCxnSpPr>
        <p:spPr>
          <a:xfrm rot="5400000">
            <a:off x="3684588" y="3716973"/>
            <a:ext cx="1205230" cy="264604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2" name="曲线连接符 191"/>
          <p:cNvCxnSpPr>
            <a:stCxn id="31" idx="2"/>
            <a:endCxn id="163" idx="0"/>
          </p:cNvCxnSpPr>
          <p:nvPr/>
        </p:nvCxnSpPr>
        <p:spPr>
          <a:xfrm rot="5400000">
            <a:off x="3857943" y="3543618"/>
            <a:ext cx="1205230" cy="299275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3" name="曲线连接符 192"/>
          <p:cNvCxnSpPr>
            <a:stCxn id="31" idx="2"/>
            <a:endCxn id="163" idx="0"/>
          </p:cNvCxnSpPr>
          <p:nvPr/>
        </p:nvCxnSpPr>
        <p:spPr>
          <a:xfrm rot="5400000">
            <a:off x="3857943" y="3543618"/>
            <a:ext cx="1205230" cy="299275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4" name="曲线连接符 193"/>
          <p:cNvCxnSpPr>
            <a:stCxn id="32" idx="2"/>
            <a:endCxn id="163" idx="0"/>
          </p:cNvCxnSpPr>
          <p:nvPr/>
        </p:nvCxnSpPr>
        <p:spPr>
          <a:xfrm rot="5400000">
            <a:off x="4031298" y="3370263"/>
            <a:ext cx="1205230" cy="333946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5" name="曲线连接符 194"/>
          <p:cNvCxnSpPr>
            <a:stCxn id="154" idx="2"/>
            <a:endCxn id="163" idx="0"/>
          </p:cNvCxnSpPr>
          <p:nvPr/>
        </p:nvCxnSpPr>
        <p:spPr>
          <a:xfrm rot="5400000">
            <a:off x="4204653" y="3196908"/>
            <a:ext cx="1205230" cy="368617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6" name="曲线连接符 195"/>
          <p:cNvCxnSpPr>
            <a:stCxn id="22" idx="2"/>
            <a:endCxn id="165" idx="0"/>
          </p:cNvCxnSpPr>
          <p:nvPr/>
        </p:nvCxnSpPr>
        <p:spPr>
          <a:xfrm rot="5400000" flipV="1">
            <a:off x="3346450" y="3234055"/>
            <a:ext cx="1223010" cy="362966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7" name="曲线连接符 196"/>
          <p:cNvCxnSpPr>
            <a:stCxn id="23" idx="2"/>
            <a:endCxn id="165" idx="0"/>
          </p:cNvCxnSpPr>
          <p:nvPr/>
        </p:nvCxnSpPr>
        <p:spPr>
          <a:xfrm rot="5400000" flipV="1">
            <a:off x="3519805" y="3407410"/>
            <a:ext cx="1223010" cy="328295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8" name="曲线连接符 197"/>
          <p:cNvCxnSpPr>
            <a:stCxn id="24" idx="2"/>
            <a:endCxn id="165" idx="0"/>
          </p:cNvCxnSpPr>
          <p:nvPr/>
        </p:nvCxnSpPr>
        <p:spPr>
          <a:xfrm rot="5400000" flipV="1">
            <a:off x="3693160" y="3580765"/>
            <a:ext cx="1223010" cy="293624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199" name="曲线连接符 198"/>
          <p:cNvCxnSpPr>
            <a:stCxn id="25" idx="2"/>
            <a:endCxn id="165" idx="0"/>
          </p:cNvCxnSpPr>
          <p:nvPr/>
        </p:nvCxnSpPr>
        <p:spPr>
          <a:xfrm rot="5400000" flipV="1">
            <a:off x="3866515" y="3754120"/>
            <a:ext cx="1223010" cy="258953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0" name="曲线连接符 199"/>
          <p:cNvCxnSpPr>
            <a:stCxn id="145" idx="2"/>
            <a:endCxn id="165" idx="0"/>
          </p:cNvCxnSpPr>
          <p:nvPr/>
        </p:nvCxnSpPr>
        <p:spPr>
          <a:xfrm rot="5400000" flipV="1">
            <a:off x="4039870" y="3927475"/>
            <a:ext cx="1223010" cy="224282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1" name="曲线连接符 200"/>
          <p:cNvCxnSpPr>
            <a:stCxn id="27" idx="2"/>
            <a:endCxn id="165" idx="0"/>
          </p:cNvCxnSpPr>
          <p:nvPr/>
        </p:nvCxnSpPr>
        <p:spPr>
          <a:xfrm rot="5400000" flipV="1">
            <a:off x="4213225" y="4100830"/>
            <a:ext cx="1223010" cy="189611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2" name="曲线连接符 201"/>
          <p:cNvCxnSpPr>
            <a:stCxn id="28" idx="2"/>
            <a:endCxn id="165" idx="0"/>
          </p:cNvCxnSpPr>
          <p:nvPr/>
        </p:nvCxnSpPr>
        <p:spPr>
          <a:xfrm rot="5400000" flipV="1">
            <a:off x="4386580" y="4274185"/>
            <a:ext cx="1223010" cy="154940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3" name="曲线连接符 202"/>
          <p:cNvCxnSpPr>
            <a:stCxn id="150" idx="2"/>
            <a:endCxn id="165" idx="0"/>
          </p:cNvCxnSpPr>
          <p:nvPr/>
        </p:nvCxnSpPr>
        <p:spPr>
          <a:xfrm rot="5400000" flipV="1">
            <a:off x="4559935" y="4447540"/>
            <a:ext cx="1223010" cy="120269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4" name="曲线连接符 203"/>
          <p:cNvCxnSpPr>
            <a:stCxn id="151" idx="2"/>
            <a:endCxn id="165" idx="0"/>
          </p:cNvCxnSpPr>
          <p:nvPr/>
        </p:nvCxnSpPr>
        <p:spPr>
          <a:xfrm rot="5400000" flipV="1">
            <a:off x="4733290" y="4620895"/>
            <a:ext cx="1223010" cy="85598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5" name="曲线连接符 204"/>
          <p:cNvCxnSpPr>
            <a:stCxn id="29" idx="2"/>
            <a:endCxn id="165" idx="0"/>
          </p:cNvCxnSpPr>
          <p:nvPr/>
        </p:nvCxnSpPr>
        <p:spPr>
          <a:xfrm rot="5400000" flipV="1">
            <a:off x="4906645" y="4794250"/>
            <a:ext cx="1223010" cy="50927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6" name="曲线连接符 205"/>
          <p:cNvCxnSpPr>
            <a:stCxn id="30" idx="2"/>
            <a:endCxn id="165" idx="0"/>
          </p:cNvCxnSpPr>
          <p:nvPr/>
        </p:nvCxnSpPr>
        <p:spPr>
          <a:xfrm rot="5400000" flipV="1">
            <a:off x="5080000" y="4967605"/>
            <a:ext cx="1223010" cy="16256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7" name="曲线连接符 206"/>
          <p:cNvCxnSpPr>
            <a:stCxn id="31" idx="2"/>
            <a:endCxn id="165" idx="0"/>
          </p:cNvCxnSpPr>
          <p:nvPr/>
        </p:nvCxnSpPr>
        <p:spPr>
          <a:xfrm rot="5400000">
            <a:off x="5253355" y="4956810"/>
            <a:ext cx="1223010" cy="18415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8" name="曲线连接符 207"/>
          <p:cNvCxnSpPr>
            <a:stCxn id="32" idx="2"/>
            <a:endCxn id="165" idx="0"/>
          </p:cNvCxnSpPr>
          <p:nvPr/>
        </p:nvCxnSpPr>
        <p:spPr>
          <a:xfrm rot="5400000">
            <a:off x="5426710" y="4783455"/>
            <a:ext cx="1223010" cy="53086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09" name="曲线连接符 208"/>
          <p:cNvCxnSpPr>
            <a:stCxn id="154" idx="2"/>
            <a:endCxn id="165" idx="0"/>
          </p:cNvCxnSpPr>
          <p:nvPr/>
        </p:nvCxnSpPr>
        <p:spPr>
          <a:xfrm rot="5400000">
            <a:off x="5600065" y="4610100"/>
            <a:ext cx="1223010" cy="87757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0" name="曲线连接符 209"/>
          <p:cNvCxnSpPr>
            <a:stCxn id="146" idx="2"/>
            <a:endCxn id="165" idx="0"/>
          </p:cNvCxnSpPr>
          <p:nvPr/>
        </p:nvCxnSpPr>
        <p:spPr>
          <a:xfrm rot="5400000">
            <a:off x="5780723" y="4440238"/>
            <a:ext cx="1212215" cy="122809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1" name="曲线连接符 210"/>
          <p:cNvCxnSpPr>
            <a:stCxn id="34" idx="2"/>
            <a:endCxn id="165" idx="0"/>
          </p:cNvCxnSpPr>
          <p:nvPr/>
        </p:nvCxnSpPr>
        <p:spPr>
          <a:xfrm rot="5400000">
            <a:off x="5946775" y="4274185"/>
            <a:ext cx="1212215" cy="1560195"/>
          </a:xfrm>
          <a:prstGeom prst="curvedConnector3">
            <a:avLst>
              <a:gd name="adj1" fmla="val 50026"/>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3" name="曲线连接符 212"/>
          <p:cNvCxnSpPr>
            <a:stCxn id="35" idx="2"/>
            <a:endCxn id="165" idx="0"/>
          </p:cNvCxnSpPr>
          <p:nvPr/>
        </p:nvCxnSpPr>
        <p:spPr>
          <a:xfrm rot="5400000">
            <a:off x="6112828" y="4108133"/>
            <a:ext cx="1212215" cy="189230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4" name="曲线连接符 213"/>
          <p:cNvCxnSpPr>
            <a:stCxn id="36" idx="2"/>
            <a:endCxn id="165" idx="0"/>
          </p:cNvCxnSpPr>
          <p:nvPr/>
        </p:nvCxnSpPr>
        <p:spPr>
          <a:xfrm rot="5400000">
            <a:off x="6278880" y="3942080"/>
            <a:ext cx="1212215" cy="2224405"/>
          </a:xfrm>
          <a:prstGeom prst="curvedConnector3">
            <a:avLst>
              <a:gd name="adj1" fmla="val 50026"/>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5" name="曲线连接符 214"/>
          <p:cNvCxnSpPr>
            <a:stCxn id="33" idx="2"/>
            <a:endCxn id="165" idx="0"/>
          </p:cNvCxnSpPr>
          <p:nvPr/>
        </p:nvCxnSpPr>
        <p:spPr>
          <a:xfrm rot="5400000">
            <a:off x="6444933" y="3776028"/>
            <a:ext cx="1212215" cy="255651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6" name="曲线连接符 215"/>
          <p:cNvCxnSpPr>
            <a:stCxn id="155" idx="2"/>
            <a:endCxn id="165" idx="0"/>
          </p:cNvCxnSpPr>
          <p:nvPr/>
        </p:nvCxnSpPr>
        <p:spPr>
          <a:xfrm rot="5400000">
            <a:off x="6610985" y="3609975"/>
            <a:ext cx="1212215" cy="2888615"/>
          </a:xfrm>
          <a:prstGeom prst="curvedConnector3">
            <a:avLst>
              <a:gd name="adj1" fmla="val 50026"/>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7" name="曲线连接符 216"/>
          <p:cNvCxnSpPr>
            <a:stCxn id="156" idx="2"/>
            <a:endCxn id="165" idx="0"/>
          </p:cNvCxnSpPr>
          <p:nvPr/>
        </p:nvCxnSpPr>
        <p:spPr>
          <a:xfrm rot="5400000">
            <a:off x="6777038" y="3443923"/>
            <a:ext cx="1212215" cy="322072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8" name="曲线连接符 217"/>
          <p:cNvCxnSpPr>
            <a:stCxn id="159" idx="2"/>
            <a:endCxn id="165" idx="0"/>
          </p:cNvCxnSpPr>
          <p:nvPr/>
        </p:nvCxnSpPr>
        <p:spPr>
          <a:xfrm rot="5400000">
            <a:off x="6945948" y="3280728"/>
            <a:ext cx="1206500" cy="355282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19" name="曲线连接符 218"/>
          <p:cNvCxnSpPr>
            <a:stCxn id="157" idx="2"/>
            <a:endCxn id="163" idx="0"/>
          </p:cNvCxnSpPr>
          <p:nvPr/>
        </p:nvCxnSpPr>
        <p:spPr>
          <a:xfrm rot="5400000">
            <a:off x="5729605" y="1688465"/>
            <a:ext cx="1188720" cy="671957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0" name="曲线连接符 219"/>
          <p:cNvCxnSpPr>
            <a:stCxn id="157" idx="2"/>
            <a:endCxn id="165" idx="0"/>
          </p:cNvCxnSpPr>
          <p:nvPr/>
        </p:nvCxnSpPr>
        <p:spPr>
          <a:xfrm rot="5400000">
            <a:off x="7125018" y="3101658"/>
            <a:ext cx="1206500" cy="391096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1" name="曲线连接符 220"/>
          <p:cNvCxnSpPr>
            <a:stCxn id="40" idx="2"/>
            <a:endCxn id="163" idx="0"/>
          </p:cNvCxnSpPr>
          <p:nvPr/>
        </p:nvCxnSpPr>
        <p:spPr>
          <a:xfrm rot="5400000">
            <a:off x="5898198" y="1519873"/>
            <a:ext cx="1188720" cy="7056755"/>
          </a:xfrm>
          <a:prstGeom prst="curvedConnector3">
            <a:avLst>
              <a:gd name="adj1" fmla="val 49973"/>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2" name="曲线连接符 221"/>
          <p:cNvCxnSpPr>
            <a:stCxn id="40" idx="2"/>
            <a:endCxn id="165" idx="0"/>
          </p:cNvCxnSpPr>
          <p:nvPr/>
        </p:nvCxnSpPr>
        <p:spPr>
          <a:xfrm rot="5400000">
            <a:off x="7293610" y="2933065"/>
            <a:ext cx="1206500" cy="424815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3" name="曲线连接符 222"/>
          <p:cNvCxnSpPr>
            <a:stCxn id="38" idx="2"/>
            <a:endCxn id="163" idx="0"/>
          </p:cNvCxnSpPr>
          <p:nvPr/>
        </p:nvCxnSpPr>
        <p:spPr>
          <a:xfrm rot="5400000">
            <a:off x="6066790" y="1351280"/>
            <a:ext cx="1188720" cy="739394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4" name="曲线连接符 223"/>
          <p:cNvCxnSpPr>
            <a:stCxn id="38" idx="2"/>
            <a:endCxn id="165" idx="0"/>
          </p:cNvCxnSpPr>
          <p:nvPr/>
        </p:nvCxnSpPr>
        <p:spPr>
          <a:xfrm rot="5400000">
            <a:off x="7462203" y="2764473"/>
            <a:ext cx="1206500" cy="458533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5" name="曲线连接符 224"/>
          <p:cNvCxnSpPr>
            <a:stCxn id="42" idx="2"/>
            <a:endCxn id="165" idx="0"/>
          </p:cNvCxnSpPr>
          <p:nvPr/>
        </p:nvCxnSpPr>
        <p:spPr>
          <a:xfrm rot="5400000">
            <a:off x="7630795" y="2595880"/>
            <a:ext cx="1206500" cy="492252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6" name="曲线连接符 225"/>
          <p:cNvCxnSpPr>
            <a:stCxn id="39" idx="2"/>
            <a:endCxn id="163" idx="0"/>
          </p:cNvCxnSpPr>
          <p:nvPr/>
        </p:nvCxnSpPr>
        <p:spPr>
          <a:xfrm rot="5400000">
            <a:off x="6403975" y="1014095"/>
            <a:ext cx="1188720" cy="806831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7" name="曲线连接符 226"/>
          <p:cNvCxnSpPr>
            <a:stCxn id="39" idx="2"/>
            <a:endCxn id="165" idx="0"/>
          </p:cNvCxnSpPr>
          <p:nvPr/>
        </p:nvCxnSpPr>
        <p:spPr>
          <a:xfrm rot="5400000">
            <a:off x="7799388" y="2427288"/>
            <a:ext cx="1206500" cy="525970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8" name="曲线连接符 227"/>
          <p:cNvCxnSpPr>
            <a:stCxn id="41" idx="2"/>
            <a:endCxn id="165" idx="0"/>
          </p:cNvCxnSpPr>
          <p:nvPr/>
        </p:nvCxnSpPr>
        <p:spPr>
          <a:xfrm rot="5400000">
            <a:off x="7967980" y="2258695"/>
            <a:ext cx="1206500" cy="559689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29" name="曲线连接符 228"/>
          <p:cNvCxnSpPr>
            <a:stCxn id="41" idx="2"/>
            <a:endCxn id="163" idx="0"/>
          </p:cNvCxnSpPr>
          <p:nvPr/>
        </p:nvCxnSpPr>
        <p:spPr>
          <a:xfrm rot="5400000">
            <a:off x="6572568" y="845503"/>
            <a:ext cx="1188720" cy="8405495"/>
          </a:xfrm>
          <a:prstGeom prst="curvedConnector3">
            <a:avLst>
              <a:gd name="adj1" fmla="val 49973"/>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0" name="曲线连接符 229"/>
          <p:cNvCxnSpPr>
            <a:stCxn id="158" idx="2"/>
            <a:endCxn id="163" idx="0"/>
          </p:cNvCxnSpPr>
          <p:nvPr/>
        </p:nvCxnSpPr>
        <p:spPr>
          <a:xfrm rot="5400000">
            <a:off x="6741160" y="676910"/>
            <a:ext cx="1188720" cy="874268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1" name="曲线连接符 230"/>
          <p:cNvCxnSpPr>
            <a:stCxn id="158" idx="2"/>
            <a:endCxn id="165" idx="0"/>
          </p:cNvCxnSpPr>
          <p:nvPr/>
        </p:nvCxnSpPr>
        <p:spPr>
          <a:xfrm rot="5400000">
            <a:off x="8136573" y="2090103"/>
            <a:ext cx="1206500" cy="5934075"/>
          </a:xfrm>
          <a:prstGeom prst="curvedConnector3">
            <a:avLst>
              <a:gd name="adj1" fmla="val 49974"/>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2" name="曲线连接符 231"/>
          <p:cNvCxnSpPr>
            <a:stCxn id="3" idx="2"/>
            <a:endCxn id="166" idx="0"/>
          </p:cNvCxnSpPr>
          <p:nvPr/>
        </p:nvCxnSpPr>
        <p:spPr>
          <a:xfrm rot="5400000" flipV="1">
            <a:off x="4551045" y="650240"/>
            <a:ext cx="1166495" cy="8764905"/>
          </a:xfrm>
          <a:prstGeom prst="curvedConnector3">
            <a:avLst>
              <a:gd name="adj1" fmla="val 50027"/>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3" name="曲线连接符 232"/>
          <p:cNvCxnSpPr>
            <a:stCxn id="19" idx="2"/>
            <a:endCxn id="166" idx="0"/>
          </p:cNvCxnSpPr>
          <p:nvPr/>
        </p:nvCxnSpPr>
        <p:spPr>
          <a:xfrm rot="5400000" flipV="1">
            <a:off x="4725035" y="824230"/>
            <a:ext cx="1166495" cy="8416925"/>
          </a:xfrm>
          <a:prstGeom prst="curvedConnector3">
            <a:avLst>
              <a:gd name="adj1" fmla="val 50027"/>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4" name="曲线连接符 233"/>
          <p:cNvCxnSpPr>
            <a:stCxn id="20" idx="2"/>
            <a:endCxn id="166" idx="0"/>
          </p:cNvCxnSpPr>
          <p:nvPr/>
        </p:nvCxnSpPr>
        <p:spPr>
          <a:xfrm rot="5400000" flipV="1">
            <a:off x="4899025" y="998220"/>
            <a:ext cx="1166495" cy="8068945"/>
          </a:xfrm>
          <a:prstGeom prst="curvedConnector3">
            <a:avLst>
              <a:gd name="adj1" fmla="val 50027"/>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5" name="曲线连接符 234"/>
          <p:cNvCxnSpPr>
            <a:stCxn id="21" idx="2"/>
            <a:endCxn id="166" idx="0"/>
          </p:cNvCxnSpPr>
          <p:nvPr/>
        </p:nvCxnSpPr>
        <p:spPr>
          <a:xfrm rot="5400000" flipV="1">
            <a:off x="5072698" y="1171893"/>
            <a:ext cx="1166495" cy="772160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6" name="曲线连接符 235"/>
          <p:cNvCxnSpPr>
            <a:stCxn id="22" idx="2"/>
            <a:endCxn id="166" idx="0"/>
          </p:cNvCxnSpPr>
          <p:nvPr/>
        </p:nvCxnSpPr>
        <p:spPr>
          <a:xfrm rot="5400000" flipV="1">
            <a:off x="5240655" y="1339850"/>
            <a:ext cx="1178560" cy="737362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7" name="曲线连接符 236"/>
          <p:cNvCxnSpPr>
            <a:stCxn id="146" idx="2"/>
            <a:endCxn id="166" idx="0"/>
          </p:cNvCxnSpPr>
          <p:nvPr/>
        </p:nvCxnSpPr>
        <p:spPr>
          <a:xfrm rot="5400000" flipV="1">
            <a:off x="7674928" y="3774123"/>
            <a:ext cx="1167765" cy="251587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8" name="曲线连接符 237"/>
          <p:cNvCxnSpPr>
            <a:stCxn id="25" idx="2"/>
            <a:endCxn id="166" idx="0"/>
          </p:cNvCxnSpPr>
          <p:nvPr/>
        </p:nvCxnSpPr>
        <p:spPr>
          <a:xfrm rot="5400000" flipV="1">
            <a:off x="5760720" y="1859915"/>
            <a:ext cx="1178560" cy="633349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39" name="曲线连接符 238"/>
          <p:cNvCxnSpPr>
            <a:stCxn id="27" idx="2"/>
            <a:endCxn id="166" idx="0"/>
          </p:cNvCxnSpPr>
          <p:nvPr/>
        </p:nvCxnSpPr>
        <p:spPr>
          <a:xfrm rot="5400000" flipV="1">
            <a:off x="6107430" y="2206625"/>
            <a:ext cx="1178560" cy="564007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40" name="曲线连接符 239"/>
          <p:cNvCxnSpPr>
            <a:stCxn id="28" idx="2"/>
            <a:endCxn id="166" idx="0"/>
          </p:cNvCxnSpPr>
          <p:nvPr/>
        </p:nvCxnSpPr>
        <p:spPr>
          <a:xfrm rot="5400000" flipV="1">
            <a:off x="6280785" y="2379980"/>
            <a:ext cx="1178560" cy="5293360"/>
          </a:xfrm>
          <a:prstGeom prst="curvedConnector3">
            <a:avLst>
              <a:gd name="adj1" fmla="val 50000"/>
            </a:avLst>
          </a:prstGeom>
          <a:ln w="3175">
            <a:solidFill>
              <a:schemeClr val="tx1"/>
            </a:solidFill>
          </a:ln>
        </p:spPr>
        <p:style>
          <a:lnRef idx="2">
            <a:schemeClr val="accent1"/>
          </a:lnRef>
          <a:fillRef idx="0">
            <a:srgbClr val="FFFFFF"/>
          </a:fillRef>
          <a:effectRef idx="0">
            <a:srgbClr val="FFFFFF"/>
          </a:effectRef>
          <a:fontRef idx="minor">
            <a:schemeClr val="tx1"/>
          </a:fontRef>
        </p:style>
      </p:cxnSp>
      <p:sp>
        <p:nvSpPr>
          <p:cNvPr id="243" name="圆角矩形 242"/>
          <p:cNvSpPr/>
          <p:nvPr/>
        </p:nvSpPr>
        <p:spPr>
          <a:xfrm>
            <a:off x="10848340" y="5013325"/>
            <a:ext cx="1134745" cy="298450"/>
          </a:xfrm>
          <a:prstGeom prst="roundRect">
            <a:avLst/>
          </a:prstGeom>
          <a:solidFill>
            <a:srgbClr val="DEA7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t>代码值</a:t>
            </a:r>
          </a:p>
        </p:txBody>
      </p:sp>
      <p:sp>
        <p:nvSpPr>
          <p:cNvPr id="244" name="圆角矩形 243"/>
          <p:cNvSpPr/>
          <p:nvPr/>
        </p:nvSpPr>
        <p:spPr>
          <a:xfrm>
            <a:off x="10848340" y="5493385"/>
            <a:ext cx="1134745" cy="298450"/>
          </a:xfrm>
          <a:prstGeom prst="roundRect">
            <a:avLst/>
          </a:prstGeom>
          <a:solidFill>
            <a:srgbClr val="DEA7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t>代码含义</a:t>
            </a:r>
          </a:p>
        </p:txBody>
      </p:sp>
      <p:sp>
        <p:nvSpPr>
          <p:cNvPr id="245" name="圆角矩形 244"/>
          <p:cNvSpPr/>
          <p:nvPr/>
        </p:nvSpPr>
        <p:spPr>
          <a:xfrm>
            <a:off x="10848340" y="5973445"/>
            <a:ext cx="1134110" cy="298450"/>
          </a:xfrm>
          <a:prstGeom prst="roundRect">
            <a:avLst/>
          </a:prstGeom>
          <a:solidFill>
            <a:srgbClr val="DEA7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t>业务定义</a:t>
            </a:r>
          </a:p>
        </p:txBody>
      </p:sp>
      <p:sp>
        <p:nvSpPr>
          <p:cNvPr id="246" name="圆角矩形 245"/>
          <p:cNvSpPr/>
          <p:nvPr/>
        </p:nvSpPr>
        <p:spPr>
          <a:xfrm>
            <a:off x="10848340" y="6453505"/>
            <a:ext cx="1134110" cy="298450"/>
          </a:xfrm>
          <a:prstGeom prst="roundRect">
            <a:avLst/>
          </a:prstGeom>
          <a:solidFill>
            <a:srgbClr val="DEA7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t>源系统码值</a:t>
            </a:r>
          </a:p>
        </p:txBody>
      </p:sp>
      <p:cxnSp>
        <p:nvCxnSpPr>
          <p:cNvPr id="247" name="曲线连接符 246"/>
          <p:cNvCxnSpPr>
            <a:stCxn id="166" idx="3"/>
            <a:endCxn id="243" idx="1"/>
          </p:cNvCxnSpPr>
          <p:nvPr/>
        </p:nvCxnSpPr>
        <p:spPr>
          <a:xfrm flipV="1">
            <a:off x="10560685" y="5162550"/>
            <a:ext cx="287655" cy="777240"/>
          </a:xfrm>
          <a:prstGeom prst="curvedConnector3">
            <a:avLst>
              <a:gd name="adj1" fmla="val 5011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48" name="曲线连接符 247"/>
          <p:cNvCxnSpPr>
            <a:stCxn id="166" idx="3"/>
            <a:endCxn id="244" idx="1"/>
          </p:cNvCxnSpPr>
          <p:nvPr/>
        </p:nvCxnSpPr>
        <p:spPr>
          <a:xfrm flipV="1">
            <a:off x="10560685" y="5642610"/>
            <a:ext cx="287655" cy="297180"/>
          </a:xfrm>
          <a:prstGeom prst="curvedConnector3">
            <a:avLst>
              <a:gd name="adj1" fmla="val 5011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49" name="曲线连接符 248"/>
          <p:cNvCxnSpPr>
            <a:stCxn id="166" idx="3"/>
            <a:endCxn id="245" idx="1"/>
          </p:cNvCxnSpPr>
          <p:nvPr/>
        </p:nvCxnSpPr>
        <p:spPr>
          <a:xfrm>
            <a:off x="10560685" y="5939790"/>
            <a:ext cx="287655" cy="182880"/>
          </a:xfrm>
          <a:prstGeom prst="curvedConnector3">
            <a:avLst>
              <a:gd name="adj1" fmla="val 50110"/>
            </a:avLst>
          </a:prstGeom>
          <a:ln w="3175">
            <a:solidFill>
              <a:schemeClr val="tx1"/>
            </a:solidFill>
          </a:ln>
        </p:spPr>
        <p:style>
          <a:lnRef idx="2">
            <a:schemeClr val="accent1"/>
          </a:lnRef>
          <a:fillRef idx="0">
            <a:srgbClr val="FFFFFF"/>
          </a:fillRef>
          <a:effectRef idx="0">
            <a:srgbClr val="FFFFFF"/>
          </a:effectRef>
          <a:fontRef idx="minor">
            <a:schemeClr val="tx1"/>
          </a:fontRef>
        </p:style>
      </p:cxnSp>
      <p:cxnSp>
        <p:nvCxnSpPr>
          <p:cNvPr id="250" name="曲线连接符 249"/>
          <p:cNvCxnSpPr>
            <a:stCxn id="166" idx="3"/>
            <a:endCxn id="246" idx="1"/>
          </p:cNvCxnSpPr>
          <p:nvPr/>
        </p:nvCxnSpPr>
        <p:spPr>
          <a:xfrm>
            <a:off x="10560685" y="5939790"/>
            <a:ext cx="287655" cy="662940"/>
          </a:xfrm>
          <a:prstGeom prst="curvedConnector3">
            <a:avLst>
              <a:gd name="adj1" fmla="val 50110"/>
            </a:avLst>
          </a:prstGeom>
          <a:ln w="3175">
            <a:solidFill>
              <a:schemeClr val="tx1"/>
            </a:solidFill>
          </a:ln>
        </p:spPr>
        <p:style>
          <a:lnRef idx="2">
            <a:schemeClr val="accent1"/>
          </a:lnRef>
          <a:fillRef idx="0">
            <a:srgbClr val="FFFFFF"/>
          </a:fillRef>
          <a:effectRef idx="0">
            <a:srgbClr val="FFFFFF"/>
          </a:effectRef>
          <a:fontRef idx="minor">
            <a:schemeClr val="tx1"/>
          </a:fontRef>
        </p:style>
      </p:cxnSp>
      <p:sp>
        <p:nvSpPr>
          <p:cNvPr id="252" name="文本框 251"/>
          <p:cNvSpPr txBox="1"/>
          <p:nvPr/>
        </p:nvSpPr>
        <p:spPr>
          <a:xfrm>
            <a:off x="1154430" y="5517515"/>
            <a:ext cx="640715" cy="922020"/>
          </a:xfrm>
          <a:prstGeom prst="rect">
            <a:avLst/>
          </a:prstGeom>
          <a:noFill/>
        </p:spPr>
        <p:txBody>
          <a:bodyPr wrap="square" rtlCol="0">
            <a:spAutoFit/>
          </a:bodyPr>
          <a:lstStyle/>
          <a:p>
            <a:r>
              <a:rPr lang="zh-CN" altLang="en-US"/>
              <a:t>基础数据标准</a:t>
            </a:r>
          </a:p>
        </p:txBody>
      </p:sp>
      <p:sp>
        <p:nvSpPr>
          <p:cNvPr id="253" name="右箭头 252"/>
          <p:cNvSpPr/>
          <p:nvPr/>
        </p:nvSpPr>
        <p:spPr>
          <a:xfrm>
            <a:off x="4079875" y="5695315"/>
            <a:ext cx="720090" cy="509270"/>
          </a:xfrm>
          <a:prstGeom prst="rightArrow">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rPr>
              <a:t>参考输入</a:t>
            </a:r>
          </a:p>
        </p:txBody>
      </p:sp>
      <p:sp>
        <p:nvSpPr>
          <p:cNvPr id="256" name="右箭头 255"/>
          <p:cNvSpPr/>
          <p:nvPr/>
        </p:nvSpPr>
        <p:spPr>
          <a:xfrm>
            <a:off x="6888480" y="5733415"/>
            <a:ext cx="1511935" cy="288290"/>
          </a:xfrm>
          <a:prstGeom prst="rightArrow">
            <a:avLst>
              <a:gd name="adj1" fmla="val 50000"/>
              <a:gd name="adj2" fmla="val 110132"/>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tx1"/>
                </a:solidFill>
                <a:sym typeface="+mn-ea"/>
              </a:rPr>
              <a:t>输入</a:t>
            </a:r>
          </a:p>
        </p:txBody>
      </p:sp>
      <p:sp>
        <p:nvSpPr>
          <p:cNvPr id="257" name="左箭头 256"/>
          <p:cNvSpPr/>
          <p:nvPr/>
        </p:nvSpPr>
        <p:spPr>
          <a:xfrm>
            <a:off x="6888480" y="6021705"/>
            <a:ext cx="1511935" cy="288290"/>
          </a:xfrm>
          <a:prstGeom prst="leftArrow">
            <a:avLst>
              <a:gd name="adj1" fmla="val 50000"/>
              <a:gd name="adj2" fmla="val 96916"/>
            </a:avLst>
          </a:prstGeom>
          <a:solidFill>
            <a:schemeClr val="tx2">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tx1"/>
                </a:solidFill>
                <a:sym typeface="+mn-ea"/>
              </a:rPr>
              <a:t>引用</a:t>
            </a: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什么是数据标准</a:t>
            </a:r>
            <a:r>
              <a:rPr lang="en-US" altLang="zh-CN">
                <a:sym typeface="+mn-ea"/>
              </a:rPr>
              <a:t>——</a:t>
            </a:r>
            <a:r>
              <a:rPr lang="zh-CN" altLang="en-US">
                <a:sym typeface="+mn-ea"/>
              </a:rPr>
              <a:t>重要数据标准要素定义</a:t>
            </a:r>
          </a:p>
        </p:txBody>
      </p:sp>
      <p:sp>
        <p:nvSpPr>
          <p:cNvPr id="2" name="内容占位符 4"/>
          <p:cNvSpPr txBox="1"/>
          <p:nvPr/>
        </p:nvSpPr>
        <p:spPr>
          <a:xfrm>
            <a:off x="623392" y="1052736"/>
            <a:ext cx="10945216" cy="820738"/>
          </a:xfrm>
          <a:prstGeom prst="rect">
            <a:avLst/>
          </a:prstGeom>
        </p:spPr>
        <p:txBody>
          <a:bodyPr vert="horz" lIns="0" tIns="0" rIns="0" bIns="0" rtlCol="0" anchor="t" anchorCtr="0">
            <a:normAutofit/>
          </a:bodyPr>
          <a:lstStyle>
            <a:lvl1pPr marL="267335" indent="-267335" algn="l" defTabSz="685165" rtl="0" eaLnBrk="1" latinLnBrk="0" hangingPunct="1">
              <a:spcBef>
                <a:spcPts val="1350"/>
              </a:spcBef>
              <a:buClr>
                <a:schemeClr val="accent2"/>
              </a:buClr>
              <a:buSzPct val="70000"/>
              <a:buFont typeface="Arial" panose="020B0604020202020204" pitchFamily="34" charset="0"/>
              <a:buChar char="►"/>
              <a:defRPr sz="1800" kern="1200">
                <a:solidFill>
                  <a:schemeClr val="bg1"/>
                </a:solidFill>
                <a:latin typeface="EYInterstate Light" panose="02000506000000020004" pitchFamily="2" charset="0"/>
                <a:ea typeface="+mn-ea"/>
                <a:cs typeface="+mn-cs"/>
              </a:defRPr>
            </a:lvl1pPr>
            <a:lvl2pPr marL="534670" indent="-267335" algn="l" defTabSz="685165" rtl="0" eaLnBrk="1" latinLnBrk="0" hangingPunct="1">
              <a:spcBef>
                <a:spcPct val="20000"/>
              </a:spcBef>
              <a:buClr>
                <a:schemeClr val="accent2"/>
              </a:buClr>
              <a:buSzPct val="70000"/>
              <a:buFont typeface="Arial" panose="020B0604020202020204" pitchFamily="34" charset="0"/>
              <a:buChar char="►"/>
              <a:defRPr sz="1500" kern="1200">
                <a:solidFill>
                  <a:schemeClr val="bg1"/>
                </a:solidFill>
                <a:latin typeface="EYInterstate Light" panose="02000506000000020004" pitchFamily="2" charset="0"/>
                <a:ea typeface="+mn-ea"/>
                <a:cs typeface="+mn-cs"/>
              </a:defRPr>
            </a:lvl2pPr>
            <a:lvl3pPr marL="802005" indent="-267335" algn="l" defTabSz="685165" rtl="0" eaLnBrk="1" latinLnBrk="0" hangingPunct="1">
              <a:spcBef>
                <a:spcPct val="20000"/>
              </a:spcBef>
              <a:buClr>
                <a:schemeClr val="accent2"/>
              </a:buClr>
              <a:buSzPct val="70000"/>
              <a:buFont typeface="Arial" panose="020B0604020202020204" pitchFamily="34" charset="0"/>
              <a:buChar char="►"/>
              <a:defRPr sz="1350" kern="1200">
                <a:solidFill>
                  <a:schemeClr val="bg1"/>
                </a:solidFill>
                <a:latin typeface="EYInterstate Light" panose="02000506000000020004" pitchFamily="2" charset="0"/>
                <a:ea typeface="+mn-ea"/>
                <a:cs typeface="+mn-cs"/>
              </a:defRPr>
            </a:lvl3pPr>
            <a:lvl4pPr marL="1069340" indent="-267335" algn="l" defTabSz="685165" rtl="0" eaLnBrk="1" latinLnBrk="0" hangingPunct="1">
              <a:spcBef>
                <a:spcPct val="20000"/>
              </a:spcBef>
              <a:buClr>
                <a:schemeClr val="accent2"/>
              </a:buClr>
              <a:buSzPct val="70000"/>
              <a:buFont typeface="Arial" panose="020B0604020202020204" pitchFamily="34" charset="0"/>
              <a:buChar char="►"/>
              <a:defRPr sz="1200" kern="1200">
                <a:solidFill>
                  <a:schemeClr val="bg1"/>
                </a:solidFill>
                <a:latin typeface="EYInterstate Light" panose="02000506000000020004" pitchFamily="2" charset="0"/>
                <a:ea typeface="+mn-ea"/>
                <a:cs typeface="+mn-cs"/>
              </a:defRPr>
            </a:lvl4pPr>
            <a:lvl5pPr marL="1336675" indent="-267335" algn="l" defTabSz="685165" rtl="0" eaLnBrk="1" latinLnBrk="0" hangingPunct="1">
              <a:spcBef>
                <a:spcPct val="20000"/>
              </a:spcBef>
              <a:buClr>
                <a:schemeClr val="accent2"/>
              </a:buClr>
              <a:buSzPct val="70000"/>
              <a:buFont typeface="Arial" panose="020B0604020202020204" pitchFamily="34" charset="0"/>
              <a:buChar char="►"/>
              <a:defRPr sz="1200" kern="1200">
                <a:solidFill>
                  <a:schemeClr val="bg1"/>
                </a:solidFill>
                <a:latin typeface="EYInterstate Light" panose="02000506000000020004" pitchFamily="2" charset="0"/>
                <a:ea typeface="+mn-ea"/>
                <a:cs typeface="+mn-cs"/>
              </a:defRPr>
            </a:lvl5pPr>
            <a:lvl6pPr marL="18846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75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04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3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R="0" lvl="0" algn="l" defTabSz="685165" rtl="0" eaLnBrk="1" fontAlgn="auto" latinLnBrk="0" hangingPunct="1">
              <a:lnSpc>
                <a:spcPct val="100000"/>
              </a:lnSpc>
              <a:spcBef>
                <a:spcPts val="1350"/>
              </a:spcBef>
              <a:spcAft>
                <a:spcPts val="0"/>
              </a:spcAft>
              <a:buClr>
                <a:schemeClr val="bg2">
                  <a:lumMod val="10000"/>
                </a:schemeClr>
              </a:buClr>
              <a:buSzPct val="100000"/>
              <a:buFont typeface="Wingdings" panose="05000000000000000000" pitchFamily="2" charset="2"/>
              <a:buChar char="n"/>
              <a:defRPr/>
            </a:pPr>
            <a:endParaRPr kumimoji="1" lang="zh-CN" altLang="en-US" sz="1400" b="0" i="0" u="none" strike="noStrike" kern="1200" cap="none" spc="0" normalizeH="0" baseline="0" noProof="0" dirty="0">
              <a:ln>
                <a:noFill/>
              </a:ln>
              <a:solidFill>
                <a:schemeClr val="bg2">
                  <a:lumMod val="10000"/>
                </a:schemeClr>
              </a:solidFill>
              <a:effectLst/>
              <a:uLnTx/>
              <a:uFillTx/>
              <a:latin typeface="EYInterstate Light" panose="02000506000000020004" pitchFamily="2" charset="0"/>
              <a:ea typeface="微软雅黑" panose="020B0503020204020204" pitchFamily="34" charset="-122"/>
              <a:cs typeface="+mn-cs"/>
            </a:endParaRPr>
          </a:p>
        </p:txBody>
      </p:sp>
      <p:graphicFrame>
        <p:nvGraphicFramePr>
          <p:cNvPr id="55" name="表格 54"/>
          <p:cNvGraphicFramePr/>
          <p:nvPr>
            <p:custDataLst>
              <p:tags r:id="rId3"/>
            </p:custDataLst>
          </p:nvPr>
        </p:nvGraphicFramePr>
        <p:xfrm>
          <a:off x="284480" y="1124585"/>
          <a:ext cx="11623040" cy="5564187"/>
        </p:xfrm>
        <a:graphic>
          <a:graphicData uri="http://schemas.openxmlformats.org/drawingml/2006/table">
            <a:tbl>
              <a:tblPr/>
              <a:tblGrid>
                <a:gridCol w="1050925">
                  <a:extLst>
                    <a:ext uri="{9D8B030D-6E8A-4147-A177-3AD203B41FA5}">
                      <a16:colId xmlns:a16="http://schemas.microsoft.com/office/drawing/2014/main" val="20000"/>
                    </a:ext>
                  </a:extLst>
                </a:gridCol>
                <a:gridCol w="1884680">
                  <a:extLst>
                    <a:ext uri="{9D8B030D-6E8A-4147-A177-3AD203B41FA5}">
                      <a16:colId xmlns:a16="http://schemas.microsoft.com/office/drawing/2014/main" val="20001"/>
                    </a:ext>
                  </a:extLst>
                </a:gridCol>
                <a:gridCol w="4469130">
                  <a:extLst>
                    <a:ext uri="{9D8B030D-6E8A-4147-A177-3AD203B41FA5}">
                      <a16:colId xmlns:a16="http://schemas.microsoft.com/office/drawing/2014/main" val="20002"/>
                    </a:ext>
                  </a:extLst>
                </a:gridCol>
                <a:gridCol w="203898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814705">
                  <a:extLst>
                    <a:ext uri="{9D8B030D-6E8A-4147-A177-3AD203B41FA5}">
                      <a16:colId xmlns:a16="http://schemas.microsoft.com/office/drawing/2014/main" val="20005"/>
                    </a:ext>
                  </a:extLst>
                </a:gridCol>
                <a:gridCol w="842010">
                  <a:extLst>
                    <a:ext uri="{9D8B030D-6E8A-4147-A177-3AD203B41FA5}">
                      <a16:colId xmlns:a16="http://schemas.microsoft.com/office/drawing/2014/main" val="20006"/>
                    </a:ext>
                  </a:extLst>
                </a:gridCol>
              </a:tblGrid>
              <a:tr h="390525">
                <a:tc>
                  <a:txBody>
                    <a:bodyPr/>
                    <a:lstStyle/>
                    <a:p>
                      <a:pPr algn="ctr" fontAlgn="ctr"/>
                      <a:r>
                        <a:rPr lang="zh-CN" altLang="en-US" sz="1400" b="1" i="0" dirty="0">
                          <a:solidFill>
                            <a:schemeClr val="bg1"/>
                          </a:solidFill>
                          <a:latin typeface="微软雅黑" panose="020B0503020204020204" pitchFamily="34" charset="-122"/>
                          <a:ea typeface="微软雅黑" panose="020B0503020204020204" pitchFamily="34" charset="-122"/>
                        </a:rPr>
                        <a:t>属性类型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属性名称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说明</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填写规则</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l" fontAlgn="ctr"/>
                      <a:r>
                        <a:rPr lang="zh-CN" altLang="en-US" sz="1400" b="1" i="0">
                          <a:solidFill>
                            <a:schemeClr val="bg1"/>
                          </a:solidFill>
                          <a:latin typeface="微软雅黑" panose="020B0503020204020204" pitchFamily="34" charset="-122"/>
                          <a:ea typeface="微软雅黑" panose="020B0503020204020204" pitchFamily="34" charset="-122"/>
                        </a:rPr>
                        <a:t>是否必填</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长度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extLst>
                  <a:ext uri="{0D108BD9-81ED-4DB2-BD59-A6C34878D82A}">
                    <a16:rowId xmlns:a16="http://schemas.microsoft.com/office/drawing/2014/main" val="10000"/>
                  </a:ext>
                </a:extLst>
              </a:tr>
              <a:tr h="389890">
                <a:tc rowSpan="12">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业务属性</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solidFill>
                      <a:schemeClr val="tx2">
                        <a:lumMod val="50000"/>
                        <a:lumOff val="50000"/>
                      </a:schemeClr>
                    </a:solid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标准编号</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对每个标准信息项赋予唯一的标识符。编码规则</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BAS+5</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位顺序码</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自动生成或手动输入；编码规则：</a:t>
                      </a:r>
                      <a:r>
                        <a:rPr lang="en-US" altLang="zh-CN"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BAS+5</a:t>
                      </a: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位顺序码</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56</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58229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标准中文名称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依据业务习惯、被普遍认可的该数据项的中文语言描述的名称。前台业务数据标准是程序中表单数据项的标准名称，数仓数据标准是数据仓库表中数据属性的中文名称。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名称不能为空，且名称和路径不能包含字符：</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\/:*"?&lt;&gt; |</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255</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390525">
                <a:tc vMerge="1">
                  <a:txBody>
                    <a:bodyPr/>
                    <a:lstStyle/>
                    <a:p>
                      <a:endParaRPr lang="zh-CN"/>
                    </a:p>
                  </a:txBody>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标准别名</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在业务沟通中，标准名称之外较常使用的习惯叫法，可为空。</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2147483647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38989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业务表单标准英文名称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是程序中表单数据项英语描述的名称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2147483647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39052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业务定义</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描述标准数据项业务概念以及相关业务规则。</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2147483647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58229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业务数据类型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a:solidFill>
                            <a:srgbClr val="000000"/>
                          </a:solidFill>
                          <a:latin typeface="微软雅黑" panose="020B0503020204020204" pitchFamily="34" charset="-122"/>
                          <a:ea typeface="微软雅黑" panose="020B0503020204020204" pitchFamily="34" charset="-122"/>
                          <a:sym typeface="+mn-ea"/>
                        </a:rPr>
                        <a:t>描述标准数据项存储与表示数据信息的类型，包含：文本类、数值类、代码类、标志类、日期时间类、编号类，是技术数据类型定义的参考。</a:t>
                      </a:r>
                      <a:endParaRPr lang="zh-CN" altLang="en-US" sz="12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r>
                        <a:rPr lang="zh-CN" altLang="en-US" sz="1200">
                          <a:solidFill>
                            <a:srgbClr val="000000"/>
                          </a:solidFill>
                          <a:latin typeface="微软雅黑" panose="020B0503020204020204" pitchFamily="34" charset="-122"/>
                          <a:ea typeface="微软雅黑" panose="020B0503020204020204" pitchFamily="34" charset="-122"/>
                          <a:sym typeface="+mn-ea"/>
                        </a:rPr>
                        <a:t>文本类、数值类、代码类、标志类、日期时间类、编号类</a:t>
                      </a:r>
                      <a:endParaRPr lang="zh-CN" altLang="en-US" sz="1200" b="0" i="0">
                        <a:solidFill>
                          <a:srgbClr val="000000"/>
                        </a:solidFill>
                        <a:latin typeface="微软雅黑" panose="020B0503020204020204" pitchFamily="34" charset="-122"/>
                        <a:ea typeface="微软雅黑" panose="020B0503020204020204" pitchFamily="34" charset="-122"/>
                        <a:sym typeface="+mn-ea"/>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a:solidFill>
                            <a:srgbClr val="000000"/>
                          </a:solidFill>
                          <a:latin typeface="微软雅黑" panose="020B0503020204020204" pitchFamily="34" charset="-122"/>
                          <a:ea typeface="微软雅黑" panose="020B0503020204020204" pitchFamily="34" charset="-122"/>
                          <a:sym typeface="+mn-ea"/>
                        </a:rPr>
                        <a:t>枚举值</a:t>
                      </a:r>
                      <a:endParaRPr lang="zh-CN" altLang="en-US" sz="1200" b="0" i="0">
                        <a:solidFill>
                          <a:srgbClr val="000000"/>
                        </a:solidFill>
                        <a:latin typeface="微软雅黑" panose="020B0503020204020204" pitchFamily="34" charset="-122"/>
                        <a:ea typeface="微软雅黑" panose="020B0503020204020204" pitchFamily="34" charset="-122"/>
                      </a:endParaRPr>
                    </a:p>
                    <a:p>
                      <a:pPr algn="l" fontAlgn="ct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38989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标准来源</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描述数据标准的来源，包括国际标准，国家标准，行业标准，公司标准、其他</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国际标准，国家标准，行业标准，公司标准、其他</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枚举值</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r h="44196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标准来源依据</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描述标准数据项定义所依赖的参考依据，是对标准来源的详细说明，具体描述数据标准定义的文档名称或文档编号。</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2147483647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8"/>
                  </a:ext>
                </a:extLst>
              </a:tr>
              <a:tr h="38989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marL="0" marR="0" lvl="0" algn="l" defTabSz="685800" eaLnBrk="1" fontAlgn="ctr" latinLnBrk="0" hangingPunct="1">
                        <a:lnSpc>
                          <a:spcPct val="100000"/>
                        </a:lnSpc>
                        <a:spcBef>
                          <a:spcPts val="0"/>
                        </a:spcBef>
                        <a:buClrTx/>
                        <a:buSzTx/>
                        <a:buFontTx/>
                        <a:buNone/>
                      </a:pPr>
                      <a:r>
                        <a:rPr lang="zh-CN" altLang="en-US" sz="1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业务规则1（长度，精度）</a:t>
                      </a:r>
                      <a:endPar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r>
                        <a:rPr lang="zh-CN" altLang="en-US" sz="1200" b="0" i="0">
                          <a:solidFill>
                            <a:srgbClr val="000000"/>
                          </a:solidFill>
                          <a:latin typeface="微软雅黑" panose="020B0503020204020204" pitchFamily="34" charset="-122"/>
                          <a:ea typeface="微软雅黑" panose="020B0503020204020204" pitchFamily="34" charset="-122"/>
                        </a:rPr>
                        <a:t>从长度和精度的角度，描述该数据标准的业务质量规则，主要面向数值类的数据标准</a:t>
                      </a: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2147483647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9"/>
                  </a:ext>
                </a:extLst>
              </a:tr>
              <a:tr h="40322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业务规则</a:t>
                      </a: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（值域）</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代码类的数据标准需要描述标准数据项所允许设定值的集合；数值类的数据标准需要描述取值范围。是公共代码的参考依据。</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endParaRPr lang="zh-CN" altLang="en-US" sz="1200" b="0" i="0">
                        <a:solidFill>
                          <a:srgbClr val="000000"/>
                        </a:solidFill>
                        <a:latin typeface="微软雅黑" panose="020B0503020204020204" pitchFamily="34" charset="-122"/>
                        <a:ea typeface="微软雅黑" panose="020B0503020204020204" pitchFamily="3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0"/>
                  </a:ext>
                </a:extLst>
              </a:tr>
              <a:tr h="38989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业务规则</a:t>
                      </a:r>
                      <a:r>
                        <a:rPr lang="en-US" altLang="zh-CN"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（其他规则描述）</a:t>
                      </a:r>
                      <a:endParaRPr lang="zh-CN" altLang="en-US" sz="12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ctr"/>
                      <a:endParaRPr lang="zh-CN" altLang="en-US" sz="12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dirty="0">
                          <a:solidFill>
                            <a:srgbClr val="000000"/>
                          </a:solidFill>
                          <a:latin typeface="微软雅黑" panose="020B0503020204020204" pitchFamily="34" charset="-122"/>
                          <a:ea typeface="微软雅黑" panose="020B0503020204020204" pitchFamily="34" charset="-122"/>
                        </a:rPr>
                        <a:t>除以上两个业务规则以外的数据质量业务规则详细描述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2147483647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1"/>
                  </a:ext>
                </a:extLst>
              </a:tr>
              <a:tr h="39052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相关标准名称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如果数据类型为代码类则该列描述该代码对应的统一标准代码编号。</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200" b="0" i="0" dirty="0">
                        <a:solidFill>
                          <a:srgbClr val="000000"/>
                        </a:solidFill>
                        <a:latin typeface="微软雅黑" panose="020B0503020204020204" pitchFamily="34" charset="-122"/>
                        <a:ea typeface="微软雅黑" panose="020B0503020204020204" pitchFamily="34" charset="-122"/>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微软雅黑" panose="020B0503020204020204" pitchFamily="34" charset="-122"/>
                          <a:ea typeface="微软雅黑" panose="020B0503020204020204" pitchFamily="34"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2147483647</a:t>
                      </a:r>
                      <a:r>
                        <a:rPr lang="zh-CN" altLang="en-US" sz="12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2"/>
                  </a:ext>
                </a:extLst>
              </a:tr>
            </a:tbl>
          </a:graphicData>
        </a:graphic>
      </p:graphicFrame>
    </p:spTree>
    <p:custDataLst>
      <p:tags r:id="rId1"/>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什么是数据标准</a:t>
            </a:r>
            <a:r>
              <a:rPr lang="en-US" altLang="zh-CN">
                <a:sym typeface="+mn-ea"/>
              </a:rPr>
              <a:t>——</a:t>
            </a:r>
            <a:r>
              <a:rPr lang="zh-CN" altLang="en-US">
                <a:sym typeface="+mn-ea"/>
              </a:rPr>
              <a:t>重要数据标准要素定义</a:t>
            </a:r>
          </a:p>
        </p:txBody>
      </p:sp>
      <p:sp>
        <p:nvSpPr>
          <p:cNvPr id="2" name="内容占位符 4"/>
          <p:cNvSpPr txBox="1"/>
          <p:nvPr/>
        </p:nvSpPr>
        <p:spPr>
          <a:xfrm>
            <a:off x="623392" y="1052736"/>
            <a:ext cx="10945216" cy="820738"/>
          </a:xfrm>
          <a:prstGeom prst="rect">
            <a:avLst/>
          </a:prstGeom>
        </p:spPr>
        <p:txBody>
          <a:bodyPr vert="horz" lIns="0" tIns="0" rIns="0" bIns="0" rtlCol="0" anchor="t" anchorCtr="0">
            <a:normAutofit/>
          </a:bodyPr>
          <a:lstStyle>
            <a:lvl1pPr marL="267335" indent="-267335" algn="l" defTabSz="685165" rtl="0" eaLnBrk="1" latinLnBrk="0" hangingPunct="1">
              <a:spcBef>
                <a:spcPts val="1350"/>
              </a:spcBef>
              <a:buClr>
                <a:schemeClr val="accent2"/>
              </a:buClr>
              <a:buSzPct val="70000"/>
              <a:buFont typeface="Arial" panose="020B0604020202020204" pitchFamily="34" charset="0"/>
              <a:buChar char="►"/>
              <a:defRPr sz="1800" kern="1200">
                <a:solidFill>
                  <a:schemeClr val="bg1"/>
                </a:solidFill>
                <a:latin typeface="EYInterstate Light" panose="02000506000000020004" pitchFamily="2" charset="0"/>
                <a:ea typeface="+mn-ea"/>
                <a:cs typeface="+mn-cs"/>
              </a:defRPr>
            </a:lvl1pPr>
            <a:lvl2pPr marL="534670" indent="-267335" algn="l" defTabSz="685165" rtl="0" eaLnBrk="1" latinLnBrk="0" hangingPunct="1">
              <a:spcBef>
                <a:spcPct val="20000"/>
              </a:spcBef>
              <a:buClr>
                <a:schemeClr val="accent2"/>
              </a:buClr>
              <a:buSzPct val="70000"/>
              <a:buFont typeface="Arial" panose="020B0604020202020204" pitchFamily="34" charset="0"/>
              <a:buChar char="►"/>
              <a:defRPr sz="1500" kern="1200">
                <a:solidFill>
                  <a:schemeClr val="bg1"/>
                </a:solidFill>
                <a:latin typeface="EYInterstate Light" panose="02000506000000020004" pitchFamily="2" charset="0"/>
                <a:ea typeface="+mn-ea"/>
                <a:cs typeface="+mn-cs"/>
              </a:defRPr>
            </a:lvl2pPr>
            <a:lvl3pPr marL="802005" indent="-267335" algn="l" defTabSz="685165" rtl="0" eaLnBrk="1" latinLnBrk="0" hangingPunct="1">
              <a:spcBef>
                <a:spcPct val="20000"/>
              </a:spcBef>
              <a:buClr>
                <a:schemeClr val="accent2"/>
              </a:buClr>
              <a:buSzPct val="70000"/>
              <a:buFont typeface="Arial" panose="020B0604020202020204" pitchFamily="34" charset="0"/>
              <a:buChar char="►"/>
              <a:defRPr sz="1350" kern="1200">
                <a:solidFill>
                  <a:schemeClr val="bg1"/>
                </a:solidFill>
                <a:latin typeface="EYInterstate Light" panose="02000506000000020004" pitchFamily="2" charset="0"/>
                <a:ea typeface="+mn-ea"/>
                <a:cs typeface="+mn-cs"/>
              </a:defRPr>
            </a:lvl3pPr>
            <a:lvl4pPr marL="1069340" indent="-267335" algn="l" defTabSz="685165" rtl="0" eaLnBrk="1" latinLnBrk="0" hangingPunct="1">
              <a:spcBef>
                <a:spcPct val="20000"/>
              </a:spcBef>
              <a:buClr>
                <a:schemeClr val="accent2"/>
              </a:buClr>
              <a:buSzPct val="70000"/>
              <a:buFont typeface="Arial" panose="020B0604020202020204" pitchFamily="34" charset="0"/>
              <a:buChar char="►"/>
              <a:defRPr sz="1200" kern="1200">
                <a:solidFill>
                  <a:schemeClr val="bg1"/>
                </a:solidFill>
                <a:latin typeface="EYInterstate Light" panose="02000506000000020004" pitchFamily="2" charset="0"/>
                <a:ea typeface="+mn-ea"/>
                <a:cs typeface="+mn-cs"/>
              </a:defRPr>
            </a:lvl4pPr>
            <a:lvl5pPr marL="1336675" indent="-267335" algn="l" defTabSz="685165" rtl="0" eaLnBrk="1" latinLnBrk="0" hangingPunct="1">
              <a:spcBef>
                <a:spcPct val="20000"/>
              </a:spcBef>
              <a:buClr>
                <a:schemeClr val="accent2"/>
              </a:buClr>
              <a:buSzPct val="70000"/>
              <a:buFont typeface="Arial" panose="020B0604020202020204" pitchFamily="34" charset="0"/>
              <a:buChar char="►"/>
              <a:defRPr sz="1200" kern="1200">
                <a:solidFill>
                  <a:schemeClr val="bg1"/>
                </a:solidFill>
                <a:latin typeface="EYInterstate Light" panose="02000506000000020004" pitchFamily="2" charset="0"/>
                <a:ea typeface="+mn-ea"/>
                <a:cs typeface="+mn-cs"/>
              </a:defRPr>
            </a:lvl5pPr>
            <a:lvl6pPr marL="18846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75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04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3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R="0" lvl="0" algn="l" defTabSz="685165" rtl="0" eaLnBrk="1" fontAlgn="auto" latinLnBrk="0" hangingPunct="1">
              <a:lnSpc>
                <a:spcPct val="100000"/>
              </a:lnSpc>
              <a:spcBef>
                <a:spcPts val="1350"/>
              </a:spcBef>
              <a:spcAft>
                <a:spcPts val="0"/>
              </a:spcAft>
              <a:buClr>
                <a:schemeClr val="bg2">
                  <a:lumMod val="10000"/>
                </a:schemeClr>
              </a:buClr>
              <a:buSzPct val="100000"/>
              <a:buFont typeface="Wingdings" panose="05000000000000000000" pitchFamily="2" charset="2"/>
              <a:buChar char="n"/>
              <a:defRPr/>
            </a:pPr>
            <a:endParaRPr kumimoji="1" lang="zh-CN" altLang="en-US" sz="1400" b="0" i="0" u="none" strike="noStrike" kern="1200" cap="none" spc="0" normalizeH="0" baseline="0" noProof="0" dirty="0">
              <a:ln>
                <a:noFill/>
              </a:ln>
              <a:solidFill>
                <a:schemeClr val="bg2">
                  <a:lumMod val="10000"/>
                </a:schemeClr>
              </a:solidFill>
              <a:effectLst/>
              <a:uLnTx/>
              <a:uFillTx/>
              <a:latin typeface="EYInterstate Light" panose="02000506000000020004" pitchFamily="2" charset="0"/>
              <a:ea typeface="微软雅黑" panose="020B0503020204020204" pitchFamily="34" charset="-122"/>
              <a:cs typeface="+mn-cs"/>
            </a:endParaRPr>
          </a:p>
        </p:txBody>
      </p:sp>
      <p:graphicFrame>
        <p:nvGraphicFramePr>
          <p:cNvPr id="55" name="表格 54"/>
          <p:cNvGraphicFramePr/>
          <p:nvPr>
            <p:custDataLst>
              <p:tags r:id="rId3"/>
            </p:custDataLst>
          </p:nvPr>
        </p:nvGraphicFramePr>
        <p:xfrm>
          <a:off x="284480" y="1124585"/>
          <a:ext cx="11623040" cy="5204458"/>
        </p:xfrm>
        <a:graphic>
          <a:graphicData uri="http://schemas.openxmlformats.org/drawingml/2006/table">
            <a:tbl>
              <a:tblPr/>
              <a:tblGrid>
                <a:gridCol w="1050925">
                  <a:extLst>
                    <a:ext uri="{9D8B030D-6E8A-4147-A177-3AD203B41FA5}">
                      <a16:colId xmlns:a16="http://schemas.microsoft.com/office/drawing/2014/main" val="20000"/>
                    </a:ext>
                  </a:extLst>
                </a:gridCol>
                <a:gridCol w="1884680">
                  <a:extLst>
                    <a:ext uri="{9D8B030D-6E8A-4147-A177-3AD203B41FA5}">
                      <a16:colId xmlns:a16="http://schemas.microsoft.com/office/drawing/2014/main" val="20001"/>
                    </a:ext>
                  </a:extLst>
                </a:gridCol>
                <a:gridCol w="4469130">
                  <a:extLst>
                    <a:ext uri="{9D8B030D-6E8A-4147-A177-3AD203B41FA5}">
                      <a16:colId xmlns:a16="http://schemas.microsoft.com/office/drawing/2014/main" val="20002"/>
                    </a:ext>
                  </a:extLst>
                </a:gridCol>
                <a:gridCol w="203898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814705">
                  <a:extLst>
                    <a:ext uri="{9D8B030D-6E8A-4147-A177-3AD203B41FA5}">
                      <a16:colId xmlns:a16="http://schemas.microsoft.com/office/drawing/2014/main" val="20005"/>
                    </a:ext>
                  </a:extLst>
                </a:gridCol>
                <a:gridCol w="842010">
                  <a:extLst>
                    <a:ext uri="{9D8B030D-6E8A-4147-A177-3AD203B41FA5}">
                      <a16:colId xmlns:a16="http://schemas.microsoft.com/office/drawing/2014/main" val="20006"/>
                    </a:ext>
                  </a:extLst>
                </a:gridCol>
              </a:tblGrid>
              <a:tr h="372110">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属性类型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属性名称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说明</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填写规则</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是否必填</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长度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extLst>
                  <a:ext uri="{0D108BD9-81ED-4DB2-BD59-A6C34878D82A}">
                    <a16:rowId xmlns:a16="http://schemas.microsoft.com/office/drawing/2014/main" val="10000"/>
                  </a:ext>
                </a:extLst>
              </a:tr>
              <a:tr h="372110">
                <a:tc rowSpan="8">
                  <a:txBody>
                    <a:bodyPr/>
                    <a:lstStyle/>
                    <a:p>
                      <a:pPr algn="ctr" fontAlgn="ctr">
                        <a:buClrTx/>
                        <a:buSzTx/>
                        <a:buFontTx/>
                        <a:buNone/>
                      </a:pPr>
                      <a:r>
                        <a:rPr lang="zh-CN" altLang="en-US" sz="1400" b="1" i="0">
                          <a:solidFill>
                            <a:schemeClr val="bg1"/>
                          </a:solidFill>
                          <a:latin typeface="微软雅黑" panose="020B0503020204020204" pitchFamily="34" charset="-122"/>
                          <a:ea typeface="微软雅黑" panose="020B0503020204020204" pitchFamily="34" charset="-122"/>
                        </a:rPr>
                        <a:t>技术属性</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l" fontAlgn="ctr"/>
                      <a:r>
                        <a:rPr lang="zh-CN" altLang="en-US" sz="1200" b="0" i="0">
                          <a:solidFill>
                            <a:srgbClr val="000000"/>
                          </a:solidFill>
                          <a:latin typeface="宋体" panose="02010600030101010101" pitchFamily="2" charset="-122"/>
                          <a:ea typeface="宋体" panose="02010600030101010101" pitchFamily="2" charset="-122"/>
                        </a:rPr>
                        <a:t>标准英文名称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宋体" panose="02010600030101010101" pitchFamily="2" charset="-122"/>
                          <a:ea typeface="宋体" panose="02010600030101010101" pitchFamily="2" charset="-122"/>
                        </a:rPr>
                        <a:t>依据业务习惯、被普遍认可的该数据项的英语描述的名称，常用在系统字段命名中，多个单词之间以</a:t>
                      </a:r>
                      <a:r>
                        <a:rPr lang="en-US" altLang="zh-CN" sz="1200" b="0" i="0">
                          <a:solidFill>
                            <a:srgbClr val="000000"/>
                          </a:solidFill>
                          <a:latin typeface="宋体" panose="02010600030101010101" pitchFamily="2" charset="-122"/>
                          <a:ea typeface="宋体" panose="02010600030101010101" pitchFamily="2" charset="-122"/>
                        </a:rPr>
                        <a:t>“_”</a:t>
                      </a:r>
                      <a:r>
                        <a:rPr lang="zh-CN" altLang="en-US" sz="1200" b="0" i="0">
                          <a:solidFill>
                            <a:srgbClr val="000000"/>
                          </a:solidFill>
                          <a:latin typeface="宋体" panose="02010600030101010101" pitchFamily="2" charset="-122"/>
                          <a:ea typeface="宋体" panose="02010600030101010101" pitchFamily="2" charset="-122"/>
                        </a:rPr>
                        <a:t>分割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r>
                        <a:rPr lang="zh-CN" altLang="en-US" sz="1200">
                          <a:solidFill>
                            <a:srgbClr val="000000"/>
                          </a:solidFill>
                          <a:latin typeface="宋体" panose="02010600030101010101" pitchFamily="2" charset="-122"/>
                          <a:ea typeface="宋体" panose="02010600030101010101" pitchFamily="2" charset="-122"/>
                          <a:sym typeface="+mn-ea"/>
                        </a:rPr>
                        <a:t>多个单词之间以</a:t>
                      </a:r>
                      <a:r>
                        <a:rPr lang="en-US" altLang="zh-CN" sz="1200">
                          <a:solidFill>
                            <a:srgbClr val="000000"/>
                          </a:solidFill>
                          <a:latin typeface="宋体" panose="02010600030101010101" pitchFamily="2" charset="-122"/>
                          <a:ea typeface="宋体" panose="02010600030101010101" pitchFamily="2" charset="-122"/>
                          <a:sym typeface="+mn-ea"/>
                        </a:rPr>
                        <a:t>“_”</a:t>
                      </a:r>
                      <a:r>
                        <a:rPr lang="zh-CN" altLang="en-US" sz="1200">
                          <a:solidFill>
                            <a:srgbClr val="000000"/>
                          </a:solidFill>
                          <a:latin typeface="宋体" panose="02010600030101010101" pitchFamily="2" charset="-122"/>
                          <a:ea typeface="宋体" panose="02010600030101010101" pitchFamily="2" charset="-122"/>
                          <a:sym typeface="+mn-ea"/>
                        </a:rPr>
                        <a:t>分割</a:t>
                      </a:r>
                      <a:endParaRPr lang="zh-CN" altLang="en-US" sz="1200" b="0" i="0">
                        <a:solidFill>
                          <a:srgbClr val="000000"/>
                        </a:solidFill>
                        <a:latin typeface="宋体" panose="02010600030101010101" pitchFamily="2" charset="-122"/>
                        <a:ea typeface="宋体" panose="02010600030101010101" pitchFamily="2" charset="-122"/>
                      </a:endParaRPr>
                    </a:p>
                    <a:p>
                      <a:pPr algn="l" fontAlgn="t"/>
                      <a:endParaRPr sz="12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宋体" panose="02010600030101010101" pitchFamily="2" charset="-122"/>
                          <a:ea typeface="宋体" panose="02010600030101010101" pitchFamily="2"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宋体" panose="02010600030101010101" pitchFamily="2" charset="-122"/>
                          <a:ea typeface="宋体" panose="02010600030101010101" pitchFamily="2"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宋体" panose="02010600030101010101" pitchFamily="2" charset="-122"/>
                          <a:ea typeface="宋体" panose="02010600030101010101" pitchFamily="2" charset="-122"/>
                        </a:rPr>
                        <a:t>2147483647</a:t>
                      </a:r>
                      <a:r>
                        <a:rPr lang="zh-CN" altLang="en-US" sz="12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646430">
                <a:tc vMerge="1">
                  <a:txBody>
                    <a:bodyPr/>
                    <a:lstStyle/>
                    <a:p>
                      <a:endParaRPr lang="zh-CN"/>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数据类型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描述数据仓库中从技术角度规定的数据项所允许的数据类型。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r>
                        <a:rPr lang="en-US" altLang="zh-CN" sz="1400">
                          <a:latin typeface="Arial" panose="020B0604020202020204" pitchFamily="34" charset="0"/>
                          <a:ea typeface="微软雅黑" panose="020B0503020204020204" pitchFamily="34" charset="-122"/>
                          <a:sym typeface="+mn-ea"/>
                        </a:rPr>
                        <a:t>STRING</a:t>
                      </a:r>
                      <a:r>
                        <a:rPr lang="zh-CN" altLang="en-US" sz="1400">
                          <a:latin typeface="Arial" panose="020B0604020202020204" pitchFamily="34" charset="0"/>
                          <a:ea typeface="微软雅黑" panose="020B0503020204020204" pitchFamily="34" charset="-122"/>
                          <a:sym typeface="+mn-ea"/>
                        </a:rPr>
                        <a:t>、</a:t>
                      </a:r>
                      <a:r>
                        <a:rPr lang="en-US" altLang="zh-CN" sz="1400">
                          <a:latin typeface="Arial" panose="020B0604020202020204" pitchFamily="34" charset="0"/>
                          <a:ea typeface="微软雅黑" panose="020B0503020204020204" pitchFamily="34" charset="-122"/>
                          <a:sym typeface="+mn-ea"/>
                        </a:rPr>
                        <a:t>DECIMAL</a:t>
                      </a:r>
                      <a:r>
                        <a:rPr lang="zh-CN" altLang="en-US" sz="1400">
                          <a:latin typeface="Arial" panose="020B0604020202020204" pitchFamily="34" charset="0"/>
                          <a:ea typeface="微软雅黑" panose="020B0503020204020204" pitchFamily="34" charset="-122"/>
                          <a:sym typeface="+mn-ea"/>
                        </a:rPr>
                        <a:t>、</a:t>
                      </a:r>
                      <a:r>
                        <a:rPr lang="en-US" altLang="zh-CN" sz="1400">
                          <a:latin typeface="Arial" panose="020B0604020202020204" pitchFamily="34" charset="0"/>
                          <a:ea typeface="微软雅黑" panose="020B0503020204020204" pitchFamily="34" charset="-122"/>
                          <a:sym typeface="+mn-ea"/>
                        </a:rPr>
                        <a:t>CHAR</a:t>
                      </a:r>
                      <a:r>
                        <a:rPr lang="zh-CN" altLang="en-US" sz="1400">
                          <a:latin typeface="Arial" panose="020B0604020202020204" pitchFamily="34" charset="0"/>
                          <a:ea typeface="微软雅黑" panose="020B0503020204020204" pitchFamily="34" charset="-122"/>
                          <a:sym typeface="+mn-ea"/>
                        </a:rPr>
                        <a:t>、</a:t>
                      </a:r>
                      <a:r>
                        <a:rPr lang="en-US" altLang="zh-CN" sz="1400">
                          <a:latin typeface="Arial" panose="020B0604020202020204" pitchFamily="34" charset="0"/>
                          <a:ea typeface="微软雅黑" panose="020B0503020204020204" pitchFamily="34" charset="-122"/>
                          <a:sym typeface="+mn-ea"/>
                        </a:rPr>
                        <a:t>TIMESTAMP</a:t>
                      </a:r>
                      <a:r>
                        <a:rPr lang="zh-CN" altLang="en-US" sz="1400">
                          <a:latin typeface="Arial" panose="020B0604020202020204" pitchFamily="34" charset="0"/>
                          <a:ea typeface="微软雅黑" panose="020B0503020204020204" pitchFamily="34" charset="-122"/>
                          <a:sym typeface="+mn-ea"/>
                        </a:rPr>
                        <a:t>、</a:t>
                      </a:r>
                      <a:r>
                        <a:rPr lang="en-US" altLang="zh-CN" sz="1400">
                          <a:latin typeface="Arial" panose="020B0604020202020204" pitchFamily="34" charset="0"/>
                          <a:ea typeface="微软雅黑" panose="020B0503020204020204" pitchFamily="34" charset="-122"/>
                          <a:sym typeface="+mn-ea"/>
                        </a:rPr>
                        <a:t>INT</a:t>
                      </a:r>
                      <a:endParaRPr lang="zh-CN" altLang="en-US" sz="1400" b="0" i="0">
                        <a:solidFill>
                          <a:srgbClr val="000000"/>
                        </a:solidFill>
                        <a:latin typeface="Arial" panose="020B0604020202020204" pitchFamily="34" charset="0"/>
                        <a:ea typeface="微软雅黑" panose="020B0503020204020204" pitchFamily="34" charset="-122"/>
                        <a:sym typeface="+mn-ea"/>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枚举值</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400" b="0" i="0">
                          <a:solidFill>
                            <a:srgbClr val="000000"/>
                          </a:solidFill>
                          <a:latin typeface="宋体" panose="02010600030101010101" pitchFamily="2" charset="-122"/>
                          <a:ea typeface="宋体" panose="02010600030101010101" pitchFamily="2" charset="-122"/>
                        </a:rPr>
                        <a:t>2147483647</a:t>
                      </a:r>
                      <a:r>
                        <a:rPr lang="zh-CN" altLang="en-US" sz="14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43307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数据精度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描述从业务角度规定的数据项所表达的精确度，即小数点位数。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整数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数值</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103632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数据长度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描述从业务角度规定的数据项所允许的数据长度。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endParaRPr lang="zh-CN" altLang="en-US" sz="1400" b="0" i="0">
                        <a:solidFill>
                          <a:srgbClr val="000000"/>
                        </a:solidFill>
                        <a:latin typeface="宋体" panose="02010600030101010101" pitchFamily="2" charset="-122"/>
                        <a:ea typeface="宋体" panose="02010600030101010101" pitchFamily="2"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en-US" altLang="zh-CN" sz="1400" b="0" i="0">
                          <a:solidFill>
                            <a:srgbClr val="000000"/>
                          </a:solidFill>
                          <a:latin typeface="宋体" panose="02010600030101010101" pitchFamily="2" charset="-122"/>
                          <a:ea typeface="宋体" panose="02010600030101010101" pitchFamily="2" charset="-122"/>
                        </a:rPr>
                        <a:t>E</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70230">
                <a:tc vMerge="1">
                  <a:txBody>
                    <a:bodyPr/>
                    <a:lstStyle/>
                    <a:p>
                      <a:endParaRPr lang="zh-CN"/>
                    </a:p>
                  </a:txBody>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引用公共代码标准编号</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如果是枚举项，则需要填写公共代码数据标准编号</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buNone/>
                      </a:pPr>
                      <a:endParaRPr lang="zh-CN" altLang="en-US"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200" b="0" i="0">
                          <a:solidFill>
                            <a:srgbClr val="000000"/>
                          </a:solidFill>
                          <a:latin typeface="宋体" panose="02010600030101010101" pitchFamily="2" charset="-122"/>
                          <a:ea typeface="宋体" panose="02010600030101010101" pitchFamily="2"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200" b="0" i="0">
                          <a:solidFill>
                            <a:srgbClr val="000000"/>
                          </a:solidFill>
                          <a:latin typeface="宋体" panose="02010600030101010101" pitchFamily="2" charset="-122"/>
                          <a:ea typeface="宋体" panose="02010600030101010101" pitchFamily="2" charset="-122"/>
                        </a:rPr>
                        <a:t>2147483647</a:t>
                      </a:r>
                      <a:r>
                        <a:rPr lang="zh-CN" altLang="en-US" sz="12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570865">
                <a:tc vMerge="1">
                  <a:txBody>
                    <a:bodyPr/>
                    <a:lstStyle/>
                    <a:p>
                      <a:endParaRPr lang="zh-CN"/>
                    </a:p>
                  </a:txBody>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数据录入规范</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描述数据生成的方式，可参考按实际情况录入、系统自动生成、下拉选框</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buNone/>
                      </a:pPr>
                      <a:endParaRPr lang="zh-CN" altLang="en-US"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400" b="0" i="0">
                          <a:solidFill>
                            <a:srgbClr val="000000"/>
                          </a:solidFill>
                          <a:latin typeface="宋体" panose="02010600030101010101" pitchFamily="2" charset="-122"/>
                          <a:ea typeface="宋体" panose="02010600030101010101" pitchFamily="2" charset="-122"/>
                        </a:rPr>
                        <a:t>2147483647</a:t>
                      </a:r>
                      <a:r>
                        <a:rPr lang="zh-CN" altLang="en-US" sz="14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570230">
                <a:tc vMerge="1">
                  <a:txBody>
                    <a:bodyPr/>
                    <a:lstStyle/>
                    <a:p>
                      <a:endParaRPr lang="zh-CN"/>
                    </a:p>
                  </a:txBody>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是否允许为空</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描述该数据标准在数据仓库表中是否允许为空</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buNone/>
                      </a:pPr>
                      <a:r>
                        <a:rPr lang="zh-CN" altLang="en-US" sz="1400" b="0" i="0">
                          <a:solidFill>
                            <a:srgbClr val="000000"/>
                          </a:solidFill>
                          <a:latin typeface="Arial" panose="020B0604020202020204"/>
                          <a:ea typeface="Arial" panose="020B0604020202020204"/>
                        </a:rPr>
                        <a:t>是、否</a:t>
                      </a: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buNone/>
                      </a:pPr>
                      <a:r>
                        <a:rPr lang="zh-CN" altLang="en-US" sz="1400" b="0" i="0">
                          <a:solidFill>
                            <a:srgbClr val="000000"/>
                          </a:solidFill>
                          <a:latin typeface="宋体" panose="02010600030101010101" pitchFamily="2" charset="-122"/>
                          <a:ea typeface="宋体" panose="02010600030101010101" pitchFamily="2" charset="-122"/>
                        </a:rPr>
                        <a:t>枚举值</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buNone/>
                      </a:pPr>
                      <a:endParaRPr lang="zh-CN" altLang="en-US" sz="1400" b="0" i="0">
                        <a:solidFill>
                          <a:srgbClr val="000000"/>
                        </a:solidFill>
                        <a:latin typeface="宋体" panose="02010600030101010101" pitchFamily="2" charset="-122"/>
                        <a:ea typeface="宋体" panose="02010600030101010101" pitchFamily="2"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r h="57086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单位</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反应指标的度量衡。对于数值型需定义该数值的度量单位，数值的单位，可包括平方米、个、份数、元、万元等。</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400" b="0" i="0">
                          <a:solidFill>
                            <a:srgbClr val="000000"/>
                          </a:solidFill>
                          <a:latin typeface="宋体" panose="02010600030101010101" pitchFamily="2" charset="-122"/>
                          <a:ea typeface="宋体" panose="02010600030101010101" pitchFamily="2" charset="-122"/>
                        </a:rPr>
                        <a:t>2147483647</a:t>
                      </a:r>
                      <a:r>
                        <a:rPr lang="zh-CN" altLang="en-US" sz="14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8"/>
                  </a:ext>
                </a:extLst>
              </a:tr>
            </a:tbl>
          </a:graphicData>
        </a:graphic>
      </p:graphicFrame>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什么是数据标准</a:t>
            </a:r>
            <a:r>
              <a:rPr lang="en-US" altLang="zh-CN">
                <a:sym typeface="+mn-ea"/>
              </a:rPr>
              <a:t>——</a:t>
            </a:r>
            <a:r>
              <a:rPr lang="zh-CN" altLang="en-US">
                <a:sym typeface="+mn-ea"/>
              </a:rPr>
              <a:t>数据标准要素定义</a:t>
            </a:r>
          </a:p>
        </p:txBody>
      </p:sp>
      <p:sp>
        <p:nvSpPr>
          <p:cNvPr id="2" name="内容占位符 4"/>
          <p:cNvSpPr txBox="1"/>
          <p:nvPr/>
        </p:nvSpPr>
        <p:spPr>
          <a:xfrm>
            <a:off x="623392" y="1052736"/>
            <a:ext cx="10945216" cy="820738"/>
          </a:xfrm>
          <a:prstGeom prst="rect">
            <a:avLst/>
          </a:prstGeom>
        </p:spPr>
        <p:txBody>
          <a:bodyPr vert="horz" lIns="0" tIns="0" rIns="0" bIns="0" rtlCol="0" anchor="t" anchorCtr="0">
            <a:normAutofit/>
          </a:bodyPr>
          <a:lstStyle>
            <a:lvl1pPr marL="267335" indent="-267335" algn="l" defTabSz="685165" rtl="0" eaLnBrk="1" latinLnBrk="0" hangingPunct="1">
              <a:spcBef>
                <a:spcPts val="1350"/>
              </a:spcBef>
              <a:buClr>
                <a:schemeClr val="accent2"/>
              </a:buClr>
              <a:buSzPct val="70000"/>
              <a:buFont typeface="Arial" panose="020B0604020202020204" pitchFamily="34" charset="0"/>
              <a:buChar char="►"/>
              <a:defRPr sz="1800" kern="1200">
                <a:solidFill>
                  <a:schemeClr val="bg1"/>
                </a:solidFill>
                <a:latin typeface="EYInterstate Light" panose="02000506000000020004" pitchFamily="2" charset="0"/>
                <a:ea typeface="+mn-ea"/>
                <a:cs typeface="+mn-cs"/>
              </a:defRPr>
            </a:lvl1pPr>
            <a:lvl2pPr marL="534670" indent="-267335" algn="l" defTabSz="685165" rtl="0" eaLnBrk="1" latinLnBrk="0" hangingPunct="1">
              <a:spcBef>
                <a:spcPct val="20000"/>
              </a:spcBef>
              <a:buClr>
                <a:schemeClr val="accent2"/>
              </a:buClr>
              <a:buSzPct val="70000"/>
              <a:buFont typeface="Arial" panose="020B0604020202020204" pitchFamily="34" charset="0"/>
              <a:buChar char="►"/>
              <a:defRPr sz="1500" kern="1200">
                <a:solidFill>
                  <a:schemeClr val="bg1"/>
                </a:solidFill>
                <a:latin typeface="EYInterstate Light" panose="02000506000000020004" pitchFamily="2" charset="0"/>
                <a:ea typeface="+mn-ea"/>
                <a:cs typeface="+mn-cs"/>
              </a:defRPr>
            </a:lvl2pPr>
            <a:lvl3pPr marL="802005" indent="-267335" algn="l" defTabSz="685165" rtl="0" eaLnBrk="1" latinLnBrk="0" hangingPunct="1">
              <a:spcBef>
                <a:spcPct val="20000"/>
              </a:spcBef>
              <a:buClr>
                <a:schemeClr val="accent2"/>
              </a:buClr>
              <a:buSzPct val="70000"/>
              <a:buFont typeface="Arial" panose="020B0604020202020204" pitchFamily="34" charset="0"/>
              <a:buChar char="►"/>
              <a:defRPr sz="1350" kern="1200">
                <a:solidFill>
                  <a:schemeClr val="bg1"/>
                </a:solidFill>
                <a:latin typeface="EYInterstate Light" panose="02000506000000020004" pitchFamily="2" charset="0"/>
                <a:ea typeface="+mn-ea"/>
                <a:cs typeface="+mn-cs"/>
              </a:defRPr>
            </a:lvl3pPr>
            <a:lvl4pPr marL="1069340" indent="-267335" algn="l" defTabSz="685165" rtl="0" eaLnBrk="1" latinLnBrk="0" hangingPunct="1">
              <a:spcBef>
                <a:spcPct val="20000"/>
              </a:spcBef>
              <a:buClr>
                <a:schemeClr val="accent2"/>
              </a:buClr>
              <a:buSzPct val="70000"/>
              <a:buFont typeface="Arial" panose="020B0604020202020204" pitchFamily="34" charset="0"/>
              <a:buChar char="►"/>
              <a:defRPr sz="1200" kern="1200">
                <a:solidFill>
                  <a:schemeClr val="bg1"/>
                </a:solidFill>
                <a:latin typeface="EYInterstate Light" panose="02000506000000020004" pitchFamily="2" charset="0"/>
                <a:ea typeface="+mn-ea"/>
                <a:cs typeface="+mn-cs"/>
              </a:defRPr>
            </a:lvl4pPr>
            <a:lvl5pPr marL="1336675" indent="-267335" algn="l" defTabSz="685165" rtl="0" eaLnBrk="1" latinLnBrk="0" hangingPunct="1">
              <a:spcBef>
                <a:spcPct val="20000"/>
              </a:spcBef>
              <a:buClr>
                <a:schemeClr val="accent2"/>
              </a:buClr>
              <a:buSzPct val="70000"/>
              <a:buFont typeface="Arial" panose="020B0604020202020204" pitchFamily="34" charset="0"/>
              <a:buChar char="►"/>
              <a:defRPr sz="1200" kern="1200">
                <a:solidFill>
                  <a:schemeClr val="bg1"/>
                </a:solidFill>
                <a:latin typeface="EYInterstate Light" panose="02000506000000020004" pitchFamily="2" charset="0"/>
                <a:ea typeface="+mn-ea"/>
                <a:cs typeface="+mn-cs"/>
              </a:defRPr>
            </a:lvl5pPr>
            <a:lvl6pPr marL="18846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75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04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380" indent="-171450" algn="l" defTabSz="685165"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R="0" lvl="0" algn="l" defTabSz="685165" rtl="0" eaLnBrk="1" fontAlgn="auto" latinLnBrk="0" hangingPunct="1">
              <a:lnSpc>
                <a:spcPct val="100000"/>
              </a:lnSpc>
              <a:spcBef>
                <a:spcPts val="1350"/>
              </a:spcBef>
              <a:spcAft>
                <a:spcPts val="0"/>
              </a:spcAft>
              <a:buClr>
                <a:schemeClr val="bg2">
                  <a:lumMod val="10000"/>
                </a:schemeClr>
              </a:buClr>
              <a:buSzPct val="100000"/>
              <a:buFont typeface="Wingdings" panose="05000000000000000000" pitchFamily="2" charset="2"/>
              <a:buChar char="n"/>
              <a:defRPr/>
            </a:pPr>
            <a:endParaRPr kumimoji="1" lang="zh-CN" altLang="en-US" sz="1400" b="0" i="0" u="none" strike="noStrike" kern="1200" cap="none" spc="0" normalizeH="0" baseline="0" noProof="0" dirty="0">
              <a:ln>
                <a:noFill/>
              </a:ln>
              <a:solidFill>
                <a:schemeClr val="bg2">
                  <a:lumMod val="10000"/>
                </a:schemeClr>
              </a:solidFill>
              <a:effectLst/>
              <a:uLnTx/>
              <a:uFillTx/>
              <a:latin typeface="EYInterstate Light" panose="02000506000000020004" pitchFamily="2" charset="0"/>
              <a:ea typeface="微软雅黑" panose="020B0503020204020204" pitchFamily="34" charset="-122"/>
              <a:cs typeface="+mn-cs"/>
            </a:endParaRPr>
          </a:p>
        </p:txBody>
      </p:sp>
      <p:graphicFrame>
        <p:nvGraphicFramePr>
          <p:cNvPr id="55" name="表格 54"/>
          <p:cNvGraphicFramePr/>
          <p:nvPr>
            <p:custDataLst>
              <p:tags r:id="rId3"/>
            </p:custDataLst>
          </p:nvPr>
        </p:nvGraphicFramePr>
        <p:xfrm>
          <a:off x="263525" y="1196340"/>
          <a:ext cx="11623040" cy="4597400"/>
        </p:xfrm>
        <a:graphic>
          <a:graphicData uri="http://schemas.openxmlformats.org/drawingml/2006/table">
            <a:tbl>
              <a:tblPr/>
              <a:tblGrid>
                <a:gridCol w="1050925">
                  <a:extLst>
                    <a:ext uri="{9D8B030D-6E8A-4147-A177-3AD203B41FA5}">
                      <a16:colId xmlns:a16="http://schemas.microsoft.com/office/drawing/2014/main" val="20000"/>
                    </a:ext>
                  </a:extLst>
                </a:gridCol>
                <a:gridCol w="2134870">
                  <a:extLst>
                    <a:ext uri="{9D8B030D-6E8A-4147-A177-3AD203B41FA5}">
                      <a16:colId xmlns:a16="http://schemas.microsoft.com/office/drawing/2014/main" val="20001"/>
                    </a:ext>
                  </a:extLst>
                </a:gridCol>
                <a:gridCol w="3978910">
                  <a:extLst>
                    <a:ext uri="{9D8B030D-6E8A-4147-A177-3AD203B41FA5}">
                      <a16:colId xmlns:a16="http://schemas.microsoft.com/office/drawing/2014/main" val="20002"/>
                    </a:ext>
                  </a:extLst>
                </a:gridCol>
                <a:gridCol w="227901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814705">
                  <a:extLst>
                    <a:ext uri="{9D8B030D-6E8A-4147-A177-3AD203B41FA5}">
                      <a16:colId xmlns:a16="http://schemas.microsoft.com/office/drawing/2014/main" val="20005"/>
                    </a:ext>
                  </a:extLst>
                </a:gridCol>
                <a:gridCol w="842010">
                  <a:extLst>
                    <a:ext uri="{9D8B030D-6E8A-4147-A177-3AD203B41FA5}">
                      <a16:colId xmlns:a16="http://schemas.microsoft.com/office/drawing/2014/main" val="20006"/>
                    </a:ext>
                  </a:extLst>
                </a:gridCol>
              </a:tblGrid>
              <a:tr h="555625">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属性类型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属性名称</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说明</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填写规则</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是否必填</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类型</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ctr" fontAlgn="ctr">
                        <a:buClrTx/>
                        <a:buSzTx/>
                        <a:buFontTx/>
                      </a:pPr>
                      <a:r>
                        <a:rPr lang="zh-CN" altLang="en-US" sz="1400" b="1" i="0">
                          <a:solidFill>
                            <a:schemeClr val="bg1"/>
                          </a:solidFill>
                          <a:latin typeface="微软雅黑" panose="020B0503020204020204" pitchFamily="34" charset="-122"/>
                          <a:ea typeface="微软雅黑" panose="020B0503020204020204" pitchFamily="34" charset="-122"/>
                        </a:rPr>
                        <a:t>长度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extLst>
                  <a:ext uri="{0D108BD9-81ED-4DB2-BD59-A6C34878D82A}">
                    <a16:rowId xmlns:a16="http://schemas.microsoft.com/office/drawing/2014/main" val="10000"/>
                  </a:ext>
                </a:extLst>
              </a:tr>
              <a:tr h="554990">
                <a:tc rowSpan="7">
                  <a:txBody>
                    <a:bodyPr/>
                    <a:lstStyle/>
                    <a:p>
                      <a:pPr algn="ctr" fontAlgn="ctr"/>
                      <a:r>
                        <a:rPr lang="zh-CN" altLang="en-US" sz="1400" b="1" i="0">
                          <a:solidFill>
                            <a:schemeClr val="bg1"/>
                          </a:solidFill>
                          <a:latin typeface="微软雅黑" panose="020B0503020204020204" pitchFamily="34" charset="-122"/>
                          <a:ea typeface="微软雅黑" panose="020B0503020204020204" pitchFamily="34" charset="-122"/>
                        </a:rPr>
                        <a:t>管理属性</a:t>
                      </a:r>
                      <a:endParaRPr lang="zh-CN" altLang="en-US" sz="1400" b="0" i="0">
                        <a:solidFill>
                          <a:srgbClr val="000000"/>
                        </a:solidFill>
                        <a:latin typeface="宋体" panose="02010600030101010101" pitchFamily="2" charset="-122"/>
                        <a:ea typeface="宋体" panose="02010600030101010101" pitchFamily="2"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tx2">
                        <a:lumMod val="50000"/>
                        <a:lumOff val="50000"/>
                      </a:schemeClr>
                    </a:solid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数据标准责任方</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数据标准业务属性定义的责任方</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无需手动填写，系统自动生成；</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en-US" altLang="zh-CN" sz="1400" b="0" i="0">
                          <a:solidFill>
                            <a:srgbClr val="000000"/>
                          </a:solidFill>
                          <a:latin typeface="宋体" panose="02010600030101010101" pitchFamily="2" charset="-122"/>
                          <a:ea typeface="宋体" panose="02010600030101010101" pitchFamily="2" charset="-122"/>
                        </a:rPr>
                        <a:t>200</a:t>
                      </a:r>
                      <a:r>
                        <a:rPr lang="zh-CN" altLang="en-US" sz="14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55562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数据标准协作方</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协助数据标准责任方定义数据标准业务属性的相关方</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无需手动填写，系统自动生成；</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en-US" altLang="zh-CN" sz="1400" b="0" i="0">
                          <a:solidFill>
                            <a:srgbClr val="000000"/>
                          </a:solidFill>
                          <a:latin typeface="宋体" panose="02010600030101010101" pitchFamily="2" charset="-122"/>
                          <a:ea typeface="宋体" panose="02010600030101010101" pitchFamily="2" charset="-122"/>
                        </a:rPr>
                        <a:t>200</a:t>
                      </a:r>
                      <a:r>
                        <a:rPr lang="zh-CN" altLang="en-US" sz="14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55562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权威系统</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该数据标准的权威数据源系统英文缩写</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枚举项</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时间</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55499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版本号</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描述本标准的最新版本编号。</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无需手动填写，系统自动生成；</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400" b="0" i="0">
                          <a:solidFill>
                            <a:srgbClr val="000000"/>
                          </a:solidFill>
                          <a:latin typeface="宋体" panose="02010600030101010101" pitchFamily="2" charset="-122"/>
                          <a:ea typeface="宋体" panose="02010600030101010101" pitchFamily="2" charset="-122"/>
                        </a:rPr>
                        <a:t>2147483647</a:t>
                      </a:r>
                      <a:r>
                        <a:rPr lang="zh-CN" altLang="en-US" sz="14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5562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数据标准状态</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描述本条标准目前的状态，包括有效和失效和未生效。</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有效，失效，未生效</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是</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枚举值</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55562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失效时间</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标准为失效状态时，标注该条标准的失效日期。</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无需手动填写，系统自动生成；</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r>
                        <a:rPr lang="zh-CN" altLang="en-US" sz="1400" b="0" i="0">
                          <a:solidFill>
                            <a:srgbClr val="000000"/>
                          </a:solidFill>
                          <a:latin typeface="宋体" panose="02010600030101010101" pitchFamily="2" charset="-122"/>
                          <a:ea typeface="宋体" panose="02010600030101010101" pitchFamily="2" charset="-122"/>
                        </a:rPr>
                        <a:t>否     </a:t>
                      </a:r>
                      <a:endParaRPr lang="en-US" altLang="zh-CN" sz="1400" b="0" i="0">
                        <a:solidFill>
                          <a:srgbClr val="000000"/>
                        </a:solidFill>
                        <a:latin typeface="宋体" panose="02010600030101010101" pitchFamily="2" charset="-122"/>
                        <a:ea typeface="宋体" panose="02010600030101010101" pitchFamily="2"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日 期        </a:t>
                      </a:r>
                      <a:endParaRPr lang="en-US" altLang="zh-CN" sz="1400" b="0" i="0">
                        <a:solidFill>
                          <a:srgbClr val="000000"/>
                        </a:solidFill>
                        <a:latin typeface="宋体" panose="02010600030101010101" pitchFamily="2" charset="-122"/>
                        <a:ea typeface="宋体" panose="02010600030101010101" pitchFamily="2"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709295">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失效原因</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标准为失效状态时，描述该条标准的失效原因。</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t"/>
                      <a:endParaRPr sz="1400" b="0" i="0">
                        <a:solidFill>
                          <a:srgbClr val="000000"/>
                        </a:solidFill>
                        <a:latin typeface="Arial" panose="020B0604020202020204"/>
                        <a:ea typeface="Arial" panose="020B0604020202020204"/>
                      </a:endParaRPr>
                    </a:p>
                  </a:txBody>
                  <a:tcPr marL="6667" marR="6667" marT="6667" marB="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ctr"/>
                      <a:r>
                        <a:rPr lang="zh-CN" altLang="en-US" sz="1400" b="0" i="0">
                          <a:solidFill>
                            <a:srgbClr val="000000"/>
                          </a:solidFill>
                          <a:latin typeface="宋体" panose="02010600030101010101" pitchFamily="2" charset="-122"/>
                          <a:ea typeface="宋体" panose="02010600030101010101" pitchFamily="2" charset="-122"/>
                        </a:rPr>
                        <a:t>超长字符串</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ctr"/>
                      <a:r>
                        <a:rPr lang="en-US" altLang="zh-CN" sz="1400" b="0" i="0">
                          <a:solidFill>
                            <a:srgbClr val="000000"/>
                          </a:solidFill>
                          <a:latin typeface="宋体" panose="02010600030101010101" pitchFamily="2" charset="-122"/>
                          <a:ea typeface="宋体" panose="02010600030101010101" pitchFamily="2" charset="-122"/>
                        </a:rPr>
                        <a:t>2147483647</a:t>
                      </a:r>
                      <a:r>
                        <a:rPr lang="zh-CN" altLang="en-US" sz="1400" b="0" i="0">
                          <a:solidFill>
                            <a:srgbClr val="000000"/>
                          </a:solidFill>
                          <a:latin typeface="宋体" panose="02010600030101010101" pitchFamily="2" charset="-122"/>
                          <a:ea typeface="宋体" panose="02010600030101010101" pitchFamily="2" charset="-122"/>
                        </a:rPr>
                        <a:t>字符</a:t>
                      </a: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怎么构建数据标准</a:t>
            </a:r>
            <a:r>
              <a:rPr lang="en-US" altLang="zh-CN">
                <a:sym typeface="+mn-ea"/>
              </a:rPr>
              <a:t>——</a:t>
            </a:r>
            <a:r>
              <a:rPr lang="zh-CN" altLang="en-US">
                <a:sym typeface="+mn-ea"/>
              </a:rPr>
              <a:t>示例</a:t>
            </a:r>
          </a:p>
        </p:txBody>
      </p:sp>
      <p:grpSp>
        <p:nvGrpSpPr>
          <p:cNvPr id="2" name="组合 1"/>
          <p:cNvGrpSpPr/>
          <p:nvPr/>
        </p:nvGrpSpPr>
        <p:grpSpPr>
          <a:xfrm>
            <a:off x="-1829019" y="-2206788"/>
            <a:ext cx="12092035" cy="8518373"/>
            <a:chOff x="-1935" y="-2584"/>
            <a:chExt cx="16749" cy="12608"/>
          </a:xfrm>
        </p:grpSpPr>
        <p:sp>
          <p:nvSpPr>
            <p:cNvPr id="4" name="矩形 4"/>
            <p:cNvSpPr>
              <a:spLocks noChangeArrowheads="1"/>
            </p:cNvSpPr>
            <p:nvPr/>
          </p:nvSpPr>
          <p:spPr bwMode="auto">
            <a:xfrm>
              <a:off x="-1935" y="-2584"/>
              <a:ext cx="14543" cy="545"/>
            </a:xfrm>
            <a:prstGeom prst="rect">
              <a:avLst/>
            </a:prstGeom>
            <a:noFill/>
            <a:ln w="9525">
              <a:noFill/>
              <a:miter lim="800000"/>
            </a:ln>
          </p:spPr>
          <p:txBody>
            <a:bodyPr wrap="square">
              <a:spAutoFit/>
            </a:bodyPr>
            <a:lstStyle/>
            <a:p>
              <a:endParaRPr lang="zh-CN" altLang="en-US" sz="1800" i="0" dirty="0">
                <a:latin typeface="微软雅黑" panose="020B0503020204020204" pitchFamily="34" charset="-122"/>
                <a:ea typeface="微软雅黑" panose="020B0503020204020204" pitchFamily="34" charset="-122"/>
              </a:endParaRPr>
            </a:p>
          </p:txBody>
        </p:sp>
        <p:sp>
          <p:nvSpPr>
            <p:cNvPr id="5" name="任意多边形 42"/>
            <p:cNvSpPr>
              <a:spLocks noChangeArrowheads="1"/>
            </p:cNvSpPr>
            <p:nvPr/>
          </p:nvSpPr>
          <p:spPr bwMode="auto">
            <a:xfrm>
              <a:off x="5021" y="6314"/>
              <a:ext cx="3100" cy="3592"/>
            </a:xfrm>
            <a:custGeom>
              <a:avLst/>
              <a:gdLst>
                <a:gd name="T0" fmla="*/ 984786 w 1967428"/>
                <a:gd name="T1" fmla="*/ 0 h 2282216"/>
                <a:gd name="T2" fmla="*/ 1969573 w 1967428"/>
                <a:gd name="T3" fmla="*/ 491435 h 2282216"/>
                <a:gd name="T4" fmla="*/ 1969573 w 1967428"/>
                <a:gd name="T5" fmla="*/ 1788823 h 2282216"/>
                <a:gd name="T6" fmla="*/ 984786 w 1967428"/>
                <a:gd name="T7" fmla="*/ 2280257 h 2282216"/>
                <a:gd name="T8" fmla="*/ 0 w 1967428"/>
                <a:gd name="T9" fmla="*/ 1788823 h 2282216"/>
                <a:gd name="T10" fmla="*/ 0 w 1967428"/>
                <a:gd name="T11" fmla="*/ 491435 h 2282216"/>
                <a:gd name="T12" fmla="*/ 0 60000 65536"/>
                <a:gd name="T13" fmla="*/ 0 60000 65536"/>
                <a:gd name="T14" fmla="*/ 0 60000 65536"/>
                <a:gd name="T15" fmla="*/ 0 60000 65536"/>
                <a:gd name="T16" fmla="*/ 0 60000 65536"/>
                <a:gd name="T17" fmla="*/ 0 60000 65536"/>
                <a:gd name="T18" fmla="*/ 0 w 1967428"/>
                <a:gd name="T19" fmla="*/ 0 h 2282216"/>
                <a:gd name="T20" fmla="*/ 1967428 w 1967428"/>
                <a:gd name="T21" fmla="*/ 2282216 h 2282216"/>
              </a:gdLst>
              <a:ahLst/>
              <a:cxnLst>
                <a:cxn ang="T12">
                  <a:pos x="T0" y="T1"/>
                </a:cxn>
                <a:cxn ang="T13">
                  <a:pos x="T2" y="T3"/>
                </a:cxn>
                <a:cxn ang="T14">
                  <a:pos x="T4" y="T5"/>
                </a:cxn>
                <a:cxn ang="T15">
                  <a:pos x="T6" y="T7"/>
                </a:cxn>
                <a:cxn ang="T16">
                  <a:pos x="T8" y="T9"/>
                </a:cxn>
                <a:cxn ang="T17">
                  <a:pos x="T10" y="T11"/>
                </a:cxn>
              </a:cxnLst>
              <a:rect l="T18" t="T19" r="T20" b="T21"/>
              <a:pathLst>
                <a:path w="1967428" h="2282216">
                  <a:moveTo>
                    <a:pt x="983714" y="0"/>
                  </a:moveTo>
                  <a:lnTo>
                    <a:pt x="1967428" y="491857"/>
                  </a:lnTo>
                  <a:lnTo>
                    <a:pt x="1967428" y="1790359"/>
                  </a:lnTo>
                  <a:lnTo>
                    <a:pt x="983714" y="2282216"/>
                  </a:lnTo>
                  <a:lnTo>
                    <a:pt x="0" y="1790359"/>
                  </a:lnTo>
                  <a:lnTo>
                    <a:pt x="0" y="491857"/>
                  </a:lnTo>
                  <a:lnTo>
                    <a:pt x="983714" y="0"/>
                  </a:lnTo>
                  <a:close/>
                </a:path>
              </a:pathLst>
            </a:custGeom>
            <a:solidFill>
              <a:srgbClr val="3366FF"/>
            </a:solidFill>
            <a:ln w="9525">
              <a:noFill/>
              <a:miter lim="800000"/>
            </a:ln>
          </p:spPr>
          <p:txBody>
            <a:bodyPr lIns="90170" tIns="46990" rIns="90170" bIns="46990" anchor="ctr" anchorCtr="1"/>
            <a:lstStyle/>
            <a:p>
              <a:r>
                <a:rPr lang="zh-CN" altLang="en-US" sz="2000" b="1" i="0">
                  <a:solidFill>
                    <a:srgbClr val="FFFFFF"/>
                  </a:solidFill>
                  <a:latin typeface="幼圆" panose="02010509060101010101" pitchFamily="49" charset="-122"/>
                  <a:ea typeface="微软雅黑" panose="020B0503020204020204" pitchFamily="34" charset="-122"/>
                </a:rPr>
                <a:t>管理属性</a:t>
              </a:r>
            </a:p>
          </p:txBody>
        </p:sp>
        <p:sp>
          <p:nvSpPr>
            <p:cNvPr id="6" name="任意多边形 45"/>
            <p:cNvSpPr>
              <a:spLocks noChangeArrowheads="1"/>
            </p:cNvSpPr>
            <p:nvPr/>
          </p:nvSpPr>
          <p:spPr bwMode="auto">
            <a:xfrm>
              <a:off x="8121" y="6314"/>
              <a:ext cx="3097" cy="3592"/>
            </a:xfrm>
            <a:custGeom>
              <a:avLst/>
              <a:gdLst>
                <a:gd name="T0" fmla="*/ 983198 w 1967428"/>
                <a:gd name="T1" fmla="*/ 0 h 2282216"/>
                <a:gd name="T2" fmla="*/ 1966396 w 1967428"/>
                <a:gd name="T3" fmla="*/ 491435 h 2282216"/>
                <a:gd name="T4" fmla="*/ 1966396 w 1967428"/>
                <a:gd name="T5" fmla="*/ 1788823 h 2282216"/>
                <a:gd name="T6" fmla="*/ 983198 w 1967428"/>
                <a:gd name="T7" fmla="*/ 2280257 h 2282216"/>
                <a:gd name="T8" fmla="*/ 0 w 1967428"/>
                <a:gd name="T9" fmla="*/ 1788823 h 2282216"/>
                <a:gd name="T10" fmla="*/ 0 w 1967428"/>
                <a:gd name="T11" fmla="*/ 491435 h 2282216"/>
                <a:gd name="T12" fmla="*/ 0 60000 65536"/>
                <a:gd name="T13" fmla="*/ 0 60000 65536"/>
                <a:gd name="T14" fmla="*/ 0 60000 65536"/>
                <a:gd name="T15" fmla="*/ 0 60000 65536"/>
                <a:gd name="T16" fmla="*/ 0 60000 65536"/>
                <a:gd name="T17" fmla="*/ 0 60000 65536"/>
                <a:gd name="T18" fmla="*/ 0 w 1967428"/>
                <a:gd name="T19" fmla="*/ 0 h 2282216"/>
                <a:gd name="T20" fmla="*/ 1967428 w 1967428"/>
                <a:gd name="T21" fmla="*/ 2282216 h 2282216"/>
              </a:gdLst>
              <a:ahLst/>
              <a:cxnLst>
                <a:cxn ang="T12">
                  <a:pos x="T0" y="T1"/>
                </a:cxn>
                <a:cxn ang="T13">
                  <a:pos x="T2" y="T3"/>
                </a:cxn>
                <a:cxn ang="T14">
                  <a:pos x="T4" y="T5"/>
                </a:cxn>
                <a:cxn ang="T15">
                  <a:pos x="T6" y="T7"/>
                </a:cxn>
                <a:cxn ang="T16">
                  <a:pos x="T8" y="T9"/>
                </a:cxn>
                <a:cxn ang="T17">
                  <a:pos x="T10" y="T11"/>
                </a:cxn>
              </a:cxnLst>
              <a:rect l="T18" t="T19" r="T20" b="T21"/>
              <a:pathLst>
                <a:path w="1967428" h="2282216">
                  <a:moveTo>
                    <a:pt x="983714" y="0"/>
                  </a:moveTo>
                  <a:lnTo>
                    <a:pt x="1967428" y="491857"/>
                  </a:lnTo>
                  <a:lnTo>
                    <a:pt x="1967428" y="1790359"/>
                  </a:lnTo>
                  <a:lnTo>
                    <a:pt x="983714" y="2282216"/>
                  </a:lnTo>
                  <a:lnTo>
                    <a:pt x="0" y="1790359"/>
                  </a:lnTo>
                  <a:lnTo>
                    <a:pt x="0" y="491857"/>
                  </a:lnTo>
                  <a:lnTo>
                    <a:pt x="983714" y="0"/>
                  </a:lnTo>
                  <a:close/>
                </a:path>
              </a:pathLst>
            </a:custGeom>
            <a:solidFill>
              <a:srgbClr val="99CC00"/>
            </a:solidFill>
            <a:ln w="9525">
              <a:noFill/>
              <a:miter lim="800000"/>
            </a:ln>
          </p:spPr>
          <p:txBody>
            <a:bodyPr lIns="90170" tIns="46990" rIns="90170" bIns="46990" anchor="ctr" anchorCtr="1"/>
            <a:lstStyle/>
            <a:p>
              <a:r>
                <a:rPr lang="zh-CN" altLang="en-US" sz="2000" b="1" i="0">
                  <a:solidFill>
                    <a:srgbClr val="FFFFFF"/>
                  </a:solidFill>
                  <a:latin typeface="幼圆" panose="02010509060101010101" pitchFamily="49" charset="-122"/>
                  <a:ea typeface="微软雅黑" panose="020B0503020204020204" pitchFamily="34" charset="-122"/>
                </a:rPr>
                <a:t>技术属性</a:t>
              </a:r>
            </a:p>
          </p:txBody>
        </p:sp>
        <p:sp>
          <p:nvSpPr>
            <p:cNvPr id="7" name="任意多边形 34"/>
            <p:cNvSpPr>
              <a:spLocks noChangeArrowheads="1"/>
            </p:cNvSpPr>
            <p:nvPr/>
          </p:nvSpPr>
          <p:spPr bwMode="auto">
            <a:xfrm>
              <a:off x="6571" y="3512"/>
              <a:ext cx="3097" cy="3593"/>
            </a:xfrm>
            <a:custGeom>
              <a:avLst/>
              <a:gdLst>
                <a:gd name="T0" fmla="*/ 983198 w 1967428"/>
                <a:gd name="T1" fmla="*/ 0 h 2282216"/>
                <a:gd name="T2" fmla="*/ 1966396 w 1967428"/>
                <a:gd name="T3" fmla="*/ 491435 h 2282216"/>
                <a:gd name="T4" fmla="*/ 1966396 w 1967428"/>
                <a:gd name="T5" fmla="*/ 1788824 h 2282216"/>
                <a:gd name="T6" fmla="*/ 983198 w 1967428"/>
                <a:gd name="T7" fmla="*/ 2280260 h 2282216"/>
                <a:gd name="T8" fmla="*/ 0 w 1967428"/>
                <a:gd name="T9" fmla="*/ 1788824 h 2282216"/>
                <a:gd name="T10" fmla="*/ 0 w 1967428"/>
                <a:gd name="T11" fmla="*/ 491435 h 2282216"/>
                <a:gd name="T12" fmla="*/ 0 60000 65536"/>
                <a:gd name="T13" fmla="*/ 0 60000 65536"/>
                <a:gd name="T14" fmla="*/ 0 60000 65536"/>
                <a:gd name="T15" fmla="*/ 0 60000 65536"/>
                <a:gd name="T16" fmla="*/ 0 60000 65536"/>
                <a:gd name="T17" fmla="*/ 0 60000 65536"/>
                <a:gd name="T18" fmla="*/ 0 w 1967428"/>
                <a:gd name="T19" fmla="*/ 0 h 2282216"/>
                <a:gd name="T20" fmla="*/ 1967428 w 1967428"/>
                <a:gd name="T21" fmla="*/ 2282216 h 2282216"/>
              </a:gdLst>
              <a:ahLst/>
              <a:cxnLst>
                <a:cxn ang="T12">
                  <a:pos x="T0" y="T1"/>
                </a:cxn>
                <a:cxn ang="T13">
                  <a:pos x="T2" y="T3"/>
                </a:cxn>
                <a:cxn ang="T14">
                  <a:pos x="T4" y="T5"/>
                </a:cxn>
                <a:cxn ang="T15">
                  <a:pos x="T6" y="T7"/>
                </a:cxn>
                <a:cxn ang="T16">
                  <a:pos x="T8" y="T9"/>
                </a:cxn>
                <a:cxn ang="T17">
                  <a:pos x="T10" y="T11"/>
                </a:cxn>
              </a:cxnLst>
              <a:rect l="T18" t="T19" r="T20" b="T21"/>
              <a:pathLst>
                <a:path w="1967428" h="2282216">
                  <a:moveTo>
                    <a:pt x="983714" y="0"/>
                  </a:moveTo>
                  <a:lnTo>
                    <a:pt x="1967428" y="491857"/>
                  </a:lnTo>
                  <a:lnTo>
                    <a:pt x="1967428" y="1790359"/>
                  </a:lnTo>
                  <a:lnTo>
                    <a:pt x="983714" y="2282216"/>
                  </a:lnTo>
                  <a:lnTo>
                    <a:pt x="0" y="1790359"/>
                  </a:lnTo>
                  <a:lnTo>
                    <a:pt x="0" y="491857"/>
                  </a:lnTo>
                  <a:lnTo>
                    <a:pt x="983714" y="0"/>
                  </a:lnTo>
                  <a:close/>
                </a:path>
              </a:pathLst>
            </a:custGeom>
            <a:solidFill>
              <a:srgbClr val="F36F00"/>
            </a:solidFill>
            <a:ln w="9525">
              <a:noFill/>
              <a:miter lim="800000"/>
            </a:ln>
          </p:spPr>
          <p:txBody>
            <a:bodyPr tIns="252000" anchor="ctr" anchorCtr="1"/>
            <a:lstStyle/>
            <a:p>
              <a:pPr algn="ctr"/>
              <a:r>
                <a:rPr lang="zh-CN" altLang="en-US" sz="2000" b="1" i="0">
                  <a:solidFill>
                    <a:srgbClr val="FFFFFF"/>
                  </a:solidFill>
                  <a:latin typeface="幼圆" panose="02010509060101010101" pitchFamily="49" charset="-122"/>
                  <a:ea typeface="微软雅黑" panose="020B0503020204020204" pitchFamily="34" charset="-122"/>
                </a:rPr>
                <a:t>业务属性</a:t>
              </a:r>
            </a:p>
          </p:txBody>
        </p:sp>
        <p:sp>
          <p:nvSpPr>
            <p:cNvPr id="8" name="文本框 20"/>
            <p:cNvSpPr txBox="1">
              <a:spLocks noChangeArrowheads="1"/>
            </p:cNvSpPr>
            <p:nvPr/>
          </p:nvSpPr>
          <p:spPr bwMode="auto">
            <a:xfrm>
              <a:off x="2554" y="7917"/>
              <a:ext cx="2653" cy="1411"/>
            </a:xfrm>
            <a:prstGeom prst="rect">
              <a:avLst/>
            </a:prstGeom>
            <a:noFill/>
            <a:ln w="9525">
              <a:noFill/>
              <a:miter lim="800000"/>
            </a:ln>
          </p:spPr>
          <p:txBody>
            <a:bodyPr>
              <a:spAutoFit/>
            </a:bodyPr>
            <a:lstStyle/>
            <a:p>
              <a:r>
                <a:rPr lang="zh-CN" altLang="en-US" sz="1400" b="1" i="0" dirty="0">
                  <a:solidFill>
                    <a:srgbClr val="605E5E"/>
                  </a:solidFill>
                  <a:latin typeface="幼圆" panose="02010509060101010101" pitchFamily="49" charset="-122"/>
                  <a:ea typeface="幼圆" panose="02010509060101010101" pitchFamily="49" charset="-122"/>
                </a:rPr>
                <a:t>标准归属责任部门：</a:t>
              </a:r>
              <a:endParaRPr lang="en-US" altLang="zh-CN" sz="1400" b="1" i="0" dirty="0">
                <a:solidFill>
                  <a:srgbClr val="605E5E"/>
                </a:solidFill>
                <a:latin typeface="幼圆" panose="02010509060101010101" pitchFamily="49" charset="-122"/>
                <a:ea typeface="幼圆" panose="02010509060101010101" pitchFamily="49" charset="-122"/>
              </a:endParaRPr>
            </a:p>
            <a:p>
              <a:r>
                <a:rPr lang="zh-CN" altLang="en-US" sz="1400" i="0" dirty="0">
                  <a:solidFill>
                    <a:srgbClr val="605E5E"/>
                  </a:solidFill>
                  <a:latin typeface="幼圆" panose="02010509060101010101" pitchFamily="49" charset="-122"/>
                  <a:ea typeface="幼圆" panose="02010509060101010101" pitchFamily="49" charset="-122"/>
                </a:rPr>
                <a:t>零售业务部 </a:t>
              </a:r>
              <a:endParaRPr lang="en-US" altLang="zh-CN" sz="1400" i="0" dirty="0">
                <a:solidFill>
                  <a:srgbClr val="605E5E"/>
                </a:solidFill>
                <a:latin typeface="幼圆" panose="02010509060101010101" pitchFamily="49" charset="-122"/>
                <a:ea typeface="幼圆" panose="02010509060101010101" pitchFamily="49" charset="-122"/>
              </a:endParaRPr>
            </a:p>
            <a:p>
              <a:r>
                <a:rPr lang="zh-CN" altLang="en-US" sz="1400" b="1" i="0" dirty="0">
                  <a:solidFill>
                    <a:srgbClr val="605E5E"/>
                  </a:solidFill>
                  <a:latin typeface="幼圆" panose="02010509060101010101" pitchFamily="49" charset="-122"/>
                  <a:ea typeface="幼圆" panose="02010509060101010101" pitchFamily="49" charset="-122"/>
                </a:rPr>
                <a:t>标准归属系统：</a:t>
              </a:r>
              <a:r>
                <a:rPr lang="en-US" sz="1400" i="0" dirty="0"/>
                <a:t> </a:t>
              </a:r>
              <a:r>
                <a:rPr lang="en-US" altLang="en-US" sz="1400" i="0" dirty="0">
                  <a:solidFill>
                    <a:srgbClr val="605E5E"/>
                  </a:solidFill>
                  <a:latin typeface="幼圆" panose="02010509060101010101" pitchFamily="49" charset="-122"/>
                  <a:ea typeface="幼圆" panose="02010509060101010101" pitchFamily="49" charset="-122"/>
                </a:rPr>
                <a:t>ECIF</a:t>
              </a:r>
              <a:r>
                <a:rPr lang="zh-CN" altLang="en-US" sz="1400" i="0" dirty="0">
                  <a:solidFill>
                    <a:srgbClr val="605E5E"/>
                  </a:solidFill>
                  <a:latin typeface="幼圆" panose="02010509060101010101" pitchFamily="49" charset="-122"/>
                  <a:ea typeface="幼圆" panose="02010509060101010101" pitchFamily="49" charset="-122"/>
                </a:rPr>
                <a:t>系统 </a:t>
              </a:r>
              <a:endParaRPr lang="en-US" altLang="zh-CN" sz="1400" i="0" dirty="0">
                <a:solidFill>
                  <a:srgbClr val="605E5E"/>
                </a:solidFill>
                <a:latin typeface="幼圆" panose="02010509060101010101" pitchFamily="49" charset="-122"/>
                <a:ea typeface="幼圆" panose="02010509060101010101" pitchFamily="49" charset="-122"/>
              </a:endParaRPr>
            </a:p>
          </p:txBody>
        </p:sp>
        <p:sp>
          <p:nvSpPr>
            <p:cNvPr id="9" name="任意多边形 21"/>
            <p:cNvSpPr>
              <a:spLocks noChangeAspect="1"/>
            </p:cNvSpPr>
            <p:nvPr/>
          </p:nvSpPr>
          <p:spPr bwMode="auto">
            <a:xfrm rot="-5400000">
              <a:off x="9282" y="5153"/>
              <a:ext cx="775" cy="3097"/>
            </a:xfrm>
            <a:custGeom>
              <a:avLst/>
              <a:gdLst>
                <a:gd name="T0" fmla="*/ 492125 w 623528"/>
                <a:gd name="T1" fmla="*/ 983456 h 2490148"/>
                <a:gd name="T2" fmla="*/ 782 w 623528"/>
                <a:gd name="T3" fmla="*/ 1966912 h 2490148"/>
                <a:gd name="T4" fmla="*/ 0 w 623528"/>
                <a:gd name="T5" fmla="*/ 1966912 h 2490148"/>
                <a:gd name="T6" fmla="*/ 0 w 623528"/>
                <a:gd name="T7" fmla="*/ 0 h 2490148"/>
                <a:gd name="T8" fmla="*/ 782 w 623528"/>
                <a:gd name="T9" fmla="*/ 0 h 2490148"/>
                <a:gd name="T10" fmla="*/ 492125 w 623528"/>
                <a:gd name="T11" fmla="*/ 983456 h 2490148"/>
                <a:gd name="T12" fmla="*/ 0 60000 65536"/>
                <a:gd name="T13" fmla="*/ 0 60000 65536"/>
                <a:gd name="T14" fmla="*/ 0 60000 65536"/>
                <a:gd name="T15" fmla="*/ 0 60000 65536"/>
                <a:gd name="T16" fmla="*/ 0 60000 65536"/>
                <a:gd name="T17" fmla="*/ 0 60000 65536"/>
                <a:gd name="T18" fmla="*/ 0 w 623528"/>
                <a:gd name="T19" fmla="*/ 0 h 2490148"/>
                <a:gd name="T20" fmla="*/ 623528 w 623528"/>
                <a:gd name="T21" fmla="*/ 2490148 h 2490148"/>
              </a:gdLst>
              <a:ahLst/>
              <a:cxnLst>
                <a:cxn ang="T12">
                  <a:pos x="T0" y="T1"/>
                </a:cxn>
                <a:cxn ang="T13">
                  <a:pos x="T2" y="T3"/>
                </a:cxn>
                <a:cxn ang="T14">
                  <a:pos x="T4" y="T5"/>
                </a:cxn>
                <a:cxn ang="T15">
                  <a:pos x="T6" y="T7"/>
                </a:cxn>
                <a:cxn ang="T16">
                  <a:pos x="T8" y="T9"/>
                </a:cxn>
                <a:cxn ang="T17">
                  <a:pos x="T10" y="T11"/>
                </a:cxn>
              </a:cxnLst>
              <a:rect l="T18" t="T19" r="T20" b="T21"/>
              <a:pathLst>
                <a:path w="623528" h="2490148">
                  <a:moveTo>
                    <a:pt x="623528" y="1245074"/>
                  </a:moveTo>
                  <a:lnTo>
                    <a:pt x="991" y="2490148"/>
                  </a:lnTo>
                  <a:lnTo>
                    <a:pt x="0" y="2490148"/>
                  </a:lnTo>
                  <a:lnTo>
                    <a:pt x="0" y="0"/>
                  </a:lnTo>
                  <a:lnTo>
                    <a:pt x="991" y="0"/>
                  </a:lnTo>
                  <a:lnTo>
                    <a:pt x="623528" y="1245074"/>
                  </a:lnTo>
                  <a:close/>
                </a:path>
              </a:pathLst>
            </a:custGeom>
            <a:solidFill>
              <a:srgbClr val="0D0D0D">
                <a:alpha val="20000"/>
              </a:srgbClr>
            </a:solidFill>
            <a:ln w="9525">
              <a:noFill/>
              <a:round/>
            </a:ln>
          </p:spPr>
          <p:txBody>
            <a:bodyPr/>
            <a:lstStyle/>
            <a:p>
              <a:endParaRPr lang="zh-CN" altLang="en-US" i="0"/>
            </a:p>
          </p:txBody>
        </p:sp>
        <p:sp>
          <p:nvSpPr>
            <p:cNvPr id="10" name="任意多边形 22"/>
            <p:cNvSpPr/>
            <p:nvPr/>
          </p:nvSpPr>
          <p:spPr bwMode="auto">
            <a:xfrm rot="-5400000">
              <a:off x="6184" y="5152"/>
              <a:ext cx="775" cy="3100"/>
            </a:xfrm>
            <a:custGeom>
              <a:avLst/>
              <a:gdLst>
                <a:gd name="T0" fmla="*/ 492125 w 623528"/>
                <a:gd name="T1" fmla="*/ 984250 h 2490148"/>
                <a:gd name="T2" fmla="*/ 782 w 623528"/>
                <a:gd name="T3" fmla="*/ 1968500 h 2490148"/>
                <a:gd name="T4" fmla="*/ 0 w 623528"/>
                <a:gd name="T5" fmla="*/ 1968500 h 2490148"/>
                <a:gd name="T6" fmla="*/ 0 w 623528"/>
                <a:gd name="T7" fmla="*/ 0 h 2490148"/>
                <a:gd name="T8" fmla="*/ 782 w 623528"/>
                <a:gd name="T9" fmla="*/ 0 h 2490148"/>
                <a:gd name="T10" fmla="*/ 492125 w 623528"/>
                <a:gd name="T11" fmla="*/ 984250 h 2490148"/>
                <a:gd name="T12" fmla="*/ 0 60000 65536"/>
                <a:gd name="T13" fmla="*/ 0 60000 65536"/>
                <a:gd name="T14" fmla="*/ 0 60000 65536"/>
                <a:gd name="T15" fmla="*/ 0 60000 65536"/>
                <a:gd name="T16" fmla="*/ 0 60000 65536"/>
                <a:gd name="T17" fmla="*/ 0 60000 65536"/>
                <a:gd name="T18" fmla="*/ 0 w 623528"/>
                <a:gd name="T19" fmla="*/ 0 h 2490148"/>
                <a:gd name="T20" fmla="*/ 623528 w 623528"/>
                <a:gd name="T21" fmla="*/ 2490148 h 2490148"/>
              </a:gdLst>
              <a:ahLst/>
              <a:cxnLst>
                <a:cxn ang="T12">
                  <a:pos x="T0" y="T1"/>
                </a:cxn>
                <a:cxn ang="T13">
                  <a:pos x="T2" y="T3"/>
                </a:cxn>
                <a:cxn ang="T14">
                  <a:pos x="T4" y="T5"/>
                </a:cxn>
                <a:cxn ang="T15">
                  <a:pos x="T6" y="T7"/>
                </a:cxn>
                <a:cxn ang="T16">
                  <a:pos x="T8" y="T9"/>
                </a:cxn>
                <a:cxn ang="T17">
                  <a:pos x="T10" y="T11"/>
                </a:cxn>
              </a:cxnLst>
              <a:rect l="T18" t="T19" r="T20" b="T21"/>
              <a:pathLst>
                <a:path w="623528" h="2490148">
                  <a:moveTo>
                    <a:pt x="623528" y="1245074"/>
                  </a:moveTo>
                  <a:lnTo>
                    <a:pt x="991" y="2490148"/>
                  </a:lnTo>
                  <a:lnTo>
                    <a:pt x="0" y="2490148"/>
                  </a:lnTo>
                  <a:lnTo>
                    <a:pt x="0" y="0"/>
                  </a:lnTo>
                  <a:lnTo>
                    <a:pt x="991" y="0"/>
                  </a:lnTo>
                  <a:lnTo>
                    <a:pt x="623528" y="1245074"/>
                  </a:lnTo>
                  <a:close/>
                </a:path>
              </a:pathLst>
            </a:custGeom>
            <a:solidFill>
              <a:srgbClr val="0D0D0D">
                <a:alpha val="20000"/>
              </a:srgbClr>
            </a:solidFill>
            <a:ln w="9525">
              <a:noFill/>
              <a:round/>
            </a:ln>
          </p:spPr>
          <p:txBody>
            <a:bodyPr/>
            <a:lstStyle/>
            <a:p>
              <a:endParaRPr lang="zh-CN" altLang="en-US" i="0"/>
            </a:p>
          </p:txBody>
        </p:sp>
        <p:sp>
          <p:nvSpPr>
            <p:cNvPr id="11" name="任意多边形 23"/>
            <p:cNvSpPr>
              <a:spLocks noChangeAspect="1"/>
            </p:cNvSpPr>
            <p:nvPr/>
          </p:nvSpPr>
          <p:spPr bwMode="auto">
            <a:xfrm rot="5400000" flipV="1">
              <a:off x="7732" y="5161"/>
              <a:ext cx="775" cy="3097"/>
            </a:xfrm>
            <a:custGeom>
              <a:avLst/>
              <a:gdLst>
                <a:gd name="T0" fmla="*/ 492125 w 623528"/>
                <a:gd name="T1" fmla="*/ 983456 h 2490148"/>
                <a:gd name="T2" fmla="*/ 782 w 623528"/>
                <a:gd name="T3" fmla="*/ 1966912 h 2490148"/>
                <a:gd name="T4" fmla="*/ 0 w 623528"/>
                <a:gd name="T5" fmla="*/ 1966912 h 2490148"/>
                <a:gd name="T6" fmla="*/ 0 w 623528"/>
                <a:gd name="T7" fmla="*/ 0 h 2490148"/>
                <a:gd name="T8" fmla="*/ 782 w 623528"/>
                <a:gd name="T9" fmla="*/ 0 h 2490148"/>
                <a:gd name="T10" fmla="*/ 492125 w 623528"/>
                <a:gd name="T11" fmla="*/ 983456 h 2490148"/>
                <a:gd name="T12" fmla="*/ 0 60000 65536"/>
                <a:gd name="T13" fmla="*/ 0 60000 65536"/>
                <a:gd name="T14" fmla="*/ 0 60000 65536"/>
                <a:gd name="T15" fmla="*/ 0 60000 65536"/>
                <a:gd name="T16" fmla="*/ 0 60000 65536"/>
                <a:gd name="T17" fmla="*/ 0 60000 65536"/>
                <a:gd name="T18" fmla="*/ 0 w 623528"/>
                <a:gd name="T19" fmla="*/ 0 h 2490148"/>
                <a:gd name="T20" fmla="*/ 623528 w 623528"/>
                <a:gd name="T21" fmla="*/ 2490148 h 2490148"/>
              </a:gdLst>
              <a:ahLst/>
              <a:cxnLst>
                <a:cxn ang="T12">
                  <a:pos x="T0" y="T1"/>
                </a:cxn>
                <a:cxn ang="T13">
                  <a:pos x="T2" y="T3"/>
                </a:cxn>
                <a:cxn ang="T14">
                  <a:pos x="T4" y="T5"/>
                </a:cxn>
                <a:cxn ang="T15">
                  <a:pos x="T6" y="T7"/>
                </a:cxn>
                <a:cxn ang="T16">
                  <a:pos x="T8" y="T9"/>
                </a:cxn>
                <a:cxn ang="T17">
                  <a:pos x="T10" y="T11"/>
                </a:cxn>
              </a:cxnLst>
              <a:rect l="T18" t="T19" r="T20" b="T21"/>
              <a:pathLst>
                <a:path w="623528" h="2490148">
                  <a:moveTo>
                    <a:pt x="623528" y="1245074"/>
                  </a:moveTo>
                  <a:lnTo>
                    <a:pt x="991" y="2490148"/>
                  </a:lnTo>
                  <a:lnTo>
                    <a:pt x="0" y="2490148"/>
                  </a:lnTo>
                  <a:lnTo>
                    <a:pt x="0" y="0"/>
                  </a:lnTo>
                  <a:lnTo>
                    <a:pt x="991" y="0"/>
                  </a:lnTo>
                  <a:lnTo>
                    <a:pt x="623528" y="1245074"/>
                  </a:lnTo>
                  <a:close/>
                </a:path>
              </a:pathLst>
            </a:custGeom>
            <a:solidFill>
              <a:srgbClr val="0D0D0D">
                <a:alpha val="20000"/>
              </a:srgbClr>
            </a:solidFill>
            <a:ln w="9525">
              <a:noFill/>
              <a:round/>
            </a:ln>
          </p:spPr>
          <p:txBody>
            <a:bodyPr/>
            <a:lstStyle/>
            <a:p>
              <a:endParaRPr lang="zh-CN" altLang="en-US" i="0"/>
            </a:p>
          </p:txBody>
        </p:sp>
        <p:sp>
          <p:nvSpPr>
            <p:cNvPr id="12" name="文本框 24"/>
            <p:cNvSpPr txBox="1">
              <a:spLocks noChangeArrowheads="1"/>
            </p:cNvSpPr>
            <p:nvPr/>
          </p:nvSpPr>
          <p:spPr bwMode="auto">
            <a:xfrm>
              <a:off x="7656" y="3547"/>
              <a:ext cx="955" cy="955"/>
            </a:xfrm>
            <a:prstGeom prst="rect">
              <a:avLst/>
            </a:prstGeom>
            <a:noFill/>
            <a:ln w="9525">
              <a:noFill/>
              <a:miter lim="800000"/>
            </a:ln>
          </p:spPr>
          <p:txBody>
            <a:bodyPr wrap="square">
              <a:spAutoFit/>
            </a:bodyPr>
            <a:lstStyle/>
            <a:p>
              <a:pPr algn="ctr"/>
              <a:r>
                <a:rPr lang="en-US" altLang="zh-CN" sz="3600" i="0">
                  <a:solidFill>
                    <a:srgbClr val="FFFFFF"/>
                  </a:solidFill>
                  <a:latin typeface="Impact" panose="020B0806030902050204" pitchFamily="34" charset="0"/>
                </a:rPr>
                <a:t>01</a:t>
              </a:r>
              <a:endParaRPr lang="zh-CN" altLang="en-US" sz="3600" i="0">
                <a:solidFill>
                  <a:srgbClr val="FFFFFF"/>
                </a:solidFill>
                <a:latin typeface="Impact" panose="020B0806030902050204" pitchFamily="34" charset="0"/>
              </a:endParaRPr>
            </a:p>
          </p:txBody>
        </p:sp>
        <p:sp>
          <p:nvSpPr>
            <p:cNvPr id="13" name="文本框 25"/>
            <p:cNvSpPr txBox="1">
              <a:spLocks noChangeArrowheads="1"/>
            </p:cNvSpPr>
            <p:nvPr/>
          </p:nvSpPr>
          <p:spPr bwMode="auto">
            <a:xfrm>
              <a:off x="9136" y="8862"/>
              <a:ext cx="1065" cy="955"/>
            </a:xfrm>
            <a:prstGeom prst="rect">
              <a:avLst/>
            </a:prstGeom>
            <a:noFill/>
            <a:ln w="9525">
              <a:noFill/>
              <a:miter lim="800000"/>
            </a:ln>
          </p:spPr>
          <p:txBody>
            <a:bodyPr wrap="square">
              <a:spAutoFit/>
            </a:bodyPr>
            <a:lstStyle/>
            <a:p>
              <a:pPr algn="ctr"/>
              <a:r>
                <a:rPr lang="en-US" altLang="zh-CN" sz="3600" i="0">
                  <a:solidFill>
                    <a:srgbClr val="FFFFFF"/>
                  </a:solidFill>
                  <a:latin typeface="Impact" panose="020B0806030902050204" pitchFamily="34" charset="0"/>
                </a:rPr>
                <a:t>03</a:t>
              </a:r>
              <a:endParaRPr lang="zh-CN" altLang="en-US" sz="3600" i="0">
                <a:solidFill>
                  <a:srgbClr val="FFFFFF"/>
                </a:solidFill>
                <a:latin typeface="Impact" panose="020B0806030902050204" pitchFamily="34" charset="0"/>
              </a:endParaRPr>
            </a:p>
          </p:txBody>
        </p:sp>
        <p:sp>
          <p:nvSpPr>
            <p:cNvPr id="14" name="文本框 26"/>
            <p:cNvSpPr txBox="1">
              <a:spLocks noChangeArrowheads="1"/>
            </p:cNvSpPr>
            <p:nvPr/>
          </p:nvSpPr>
          <p:spPr bwMode="auto">
            <a:xfrm>
              <a:off x="6061" y="8862"/>
              <a:ext cx="1045" cy="955"/>
            </a:xfrm>
            <a:prstGeom prst="rect">
              <a:avLst/>
            </a:prstGeom>
            <a:noFill/>
            <a:ln w="9525">
              <a:noFill/>
              <a:miter lim="800000"/>
            </a:ln>
          </p:spPr>
          <p:txBody>
            <a:bodyPr wrap="square">
              <a:spAutoFit/>
            </a:bodyPr>
            <a:lstStyle/>
            <a:p>
              <a:pPr algn="ctr"/>
              <a:r>
                <a:rPr lang="en-US" altLang="zh-CN" sz="3600" i="0">
                  <a:solidFill>
                    <a:srgbClr val="FFFFFF"/>
                  </a:solidFill>
                  <a:latin typeface="Impact" panose="020B0806030902050204" pitchFamily="34" charset="0"/>
                </a:rPr>
                <a:t>02</a:t>
              </a:r>
              <a:endParaRPr lang="zh-CN" altLang="en-US" sz="3600" i="0">
                <a:solidFill>
                  <a:srgbClr val="FFFFFF"/>
                </a:solidFill>
                <a:latin typeface="Impact" panose="020B0806030902050204" pitchFamily="34" charset="0"/>
              </a:endParaRPr>
            </a:p>
          </p:txBody>
        </p:sp>
        <p:sp>
          <p:nvSpPr>
            <p:cNvPr id="15" name="文本框 35"/>
            <p:cNvSpPr txBox="1">
              <a:spLocks noChangeArrowheads="1"/>
            </p:cNvSpPr>
            <p:nvPr/>
          </p:nvSpPr>
          <p:spPr bwMode="auto">
            <a:xfrm>
              <a:off x="9964" y="3124"/>
              <a:ext cx="4850" cy="3643"/>
            </a:xfrm>
            <a:prstGeom prst="rect">
              <a:avLst/>
            </a:prstGeom>
            <a:noFill/>
            <a:ln w="9525">
              <a:noFill/>
              <a:miter lim="800000"/>
            </a:ln>
          </p:spPr>
          <p:txBody>
            <a:bodyPr>
              <a:spAutoFit/>
            </a:bodyPr>
            <a:lstStyle/>
            <a:p>
              <a:r>
                <a:rPr lang="zh-CN" altLang="en-US" sz="1400" b="1" i="0" dirty="0">
                  <a:solidFill>
                    <a:srgbClr val="605E5E"/>
                  </a:solidFill>
                  <a:latin typeface="幼圆" panose="02010509060101010101" pitchFamily="49" charset="-122"/>
                  <a:ea typeface="幼圆" panose="02010509060101010101" pitchFamily="49" charset="-122"/>
                </a:rPr>
                <a:t>标准中文名称</a:t>
              </a:r>
              <a:r>
                <a:rPr lang="zh-CN" altLang="en-US" sz="1400" i="0" dirty="0">
                  <a:solidFill>
                    <a:srgbClr val="605E5E"/>
                  </a:solidFill>
                  <a:latin typeface="幼圆" panose="02010509060101010101" pitchFamily="49" charset="-122"/>
                  <a:ea typeface="幼圆" panose="02010509060101010101" pitchFamily="49" charset="-122"/>
                </a:rPr>
                <a:t>：企业规模</a:t>
              </a:r>
            </a:p>
            <a:p>
              <a:r>
                <a:rPr lang="zh-CN" altLang="en-US" sz="1400" b="1" i="0" dirty="0">
                  <a:solidFill>
                    <a:srgbClr val="605E5E"/>
                  </a:solidFill>
                  <a:latin typeface="幼圆" panose="02010509060101010101" pitchFamily="49" charset="-122"/>
                  <a:ea typeface="幼圆" panose="02010509060101010101" pitchFamily="49" charset="-122"/>
                </a:rPr>
                <a:t>标准别名</a:t>
              </a:r>
              <a:r>
                <a:rPr lang="zh-CN" altLang="en-US" sz="1400" i="0" dirty="0">
                  <a:solidFill>
                    <a:srgbClr val="605E5E"/>
                  </a:solidFill>
                  <a:latin typeface="幼圆" panose="02010509060101010101" pitchFamily="49" charset="-122"/>
                  <a:ea typeface="幼圆" panose="02010509060101010101" pitchFamily="49" charset="-122"/>
                </a:rPr>
                <a:t>：</a:t>
              </a:r>
            </a:p>
            <a:p>
              <a:r>
                <a:rPr lang="zh-CN" altLang="en-US" sz="1400" b="1" i="0" dirty="0">
                  <a:solidFill>
                    <a:srgbClr val="605E5E"/>
                  </a:solidFill>
                  <a:latin typeface="幼圆" panose="02010509060101010101" pitchFamily="49" charset="-122"/>
                  <a:ea typeface="幼圆" panose="02010509060101010101" pitchFamily="49" charset="-122"/>
                </a:rPr>
                <a:t>业务定义</a:t>
              </a:r>
              <a:r>
                <a:rPr lang="zh-CN" altLang="en-US" sz="1400" i="0" dirty="0">
                  <a:solidFill>
                    <a:srgbClr val="605E5E"/>
                  </a:solidFill>
                  <a:latin typeface="幼圆" panose="02010509060101010101" pitchFamily="49" charset="-122"/>
                  <a:ea typeface="幼圆" panose="02010509060101010101" pitchFamily="49" charset="-122"/>
                </a:rPr>
                <a:t>：描述根据公信部规定进行的企业规模划分情况 </a:t>
              </a:r>
            </a:p>
            <a:p>
              <a:r>
                <a:rPr lang="zh-CN" altLang="en-US" sz="1400" b="1" i="0" dirty="0">
                  <a:solidFill>
                    <a:srgbClr val="605E5E"/>
                  </a:solidFill>
                  <a:latin typeface="幼圆" panose="02010509060101010101" pitchFamily="49" charset="-122"/>
                  <a:ea typeface="幼圆" panose="02010509060101010101" pitchFamily="49" charset="-122"/>
                </a:rPr>
                <a:t>标准编号</a:t>
              </a:r>
              <a:r>
                <a:rPr lang="zh-CN" altLang="en-US" sz="1400" i="0" dirty="0">
                  <a:solidFill>
                    <a:srgbClr val="605E5E"/>
                  </a:solidFill>
                  <a:latin typeface="幼圆" panose="02010509060101010101" pitchFamily="49" charset="-122"/>
                  <a:ea typeface="幼圆" panose="02010509060101010101" pitchFamily="49" charset="-122"/>
                </a:rPr>
                <a:t>：</a:t>
              </a:r>
              <a:r>
                <a:rPr lang="en-US" altLang="en-US" sz="1400" i="0" dirty="0">
                  <a:solidFill>
                    <a:srgbClr val="605E5E"/>
                  </a:solidFill>
                  <a:latin typeface="幼圆" panose="02010509060101010101" pitchFamily="49" charset="-122"/>
                  <a:ea typeface="幼圆" panose="02010509060101010101" pitchFamily="49" charset="-122"/>
                </a:rPr>
                <a:t> A02A003 </a:t>
              </a:r>
              <a:endParaRPr lang="en-US" altLang="zh-CN" sz="1400" i="0" dirty="0">
                <a:solidFill>
                  <a:srgbClr val="605E5E"/>
                </a:solidFill>
                <a:latin typeface="幼圆" panose="02010509060101010101" pitchFamily="49" charset="-122"/>
                <a:ea typeface="幼圆" panose="02010509060101010101" pitchFamily="49" charset="-122"/>
              </a:endParaRPr>
            </a:p>
            <a:p>
              <a:r>
                <a:rPr lang="zh-CN" altLang="en-US" sz="1400" b="1" i="0" dirty="0">
                  <a:solidFill>
                    <a:srgbClr val="605E5E"/>
                  </a:solidFill>
                  <a:latin typeface="幼圆" panose="02010509060101010101" pitchFamily="49" charset="-122"/>
                  <a:ea typeface="幼圆" panose="02010509060101010101" pitchFamily="49" charset="-122"/>
                </a:rPr>
                <a:t>标准来源</a:t>
              </a:r>
              <a:r>
                <a:rPr lang="zh-CN" altLang="en-US" sz="1400" i="0" dirty="0">
                  <a:solidFill>
                    <a:srgbClr val="605E5E"/>
                  </a:solidFill>
                  <a:latin typeface="幼圆" panose="02010509060101010101" pitchFamily="49" charset="-122"/>
                  <a:ea typeface="幼圆" panose="02010509060101010101" pitchFamily="49" charset="-122"/>
                </a:rPr>
                <a:t>：国家标准</a:t>
              </a:r>
              <a:endParaRPr lang="en-US" altLang="zh-CN" sz="1400" i="0" dirty="0">
                <a:solidFill>
                  <a:srgbClr val="605E5E"/>
                </a:solidFill>
                <a:latin typeface="幼圆" panose="02010509060101010101" pitchFamily="49" charset="-122"/>
                <a:ea typeface="幼圆" panose="02010509060101010101" pitchFamily="49" charset="-122"/>
              </a:endParaRPr>
            </a:p>
            <a:p>
              <a:r>
                <a:rPr lang="zh-CN" altLang="en-US" sz="1400" b="1" i="0" dirty="0">
                  <a:solidFill>
                    <a:srgbClr val="605E5E"/>
                  </a:solidFill>
                  <a:latin typeface="幼圆" panose="02010509060101010101" pitchFamily="49" charset="-122"/>
                  <a:ea typeface="幼圆" panose="02010509060101010101" pitchFamily="49" charset="-122"/>
                </a:rPr>
                <a:t>标准来源依据</a:t>
              </a:r>
              <a:r>
                <a:rPr lang="zh-CN" altLang="en-US" sz="1400" i="0" dirty="0">
                  <a:solidFill>
                    <a:srgbClr val="605E5E"/>
                  </a:solidFill>
                  <a:latin typeface="幼圆" panose="02010509060101010101" pitchFamily="49" charset="-122"/>
                  <a:ea typeface="幼圆" panose="02010509060101010101" pitchFamily="49" charset="-122"/>
                </a:rPr>
                <a:t>：</a:t>
              </a:r>
              <a:r>
                <a:rPr lang="en-US" altLang="zh-CN" sz="1400" i="0" dirty="0">
                  <a:solidFill>
                    <a:srgbClr val="605E5E"/>
                  </a:solidFill>
                  <a:latin typeface="幼圆" panose="02010509060101010101" pitchFamily="49" charset="-122"/>
                  <a:ea typeface="幼圆" panose="02010509060101010101" pitchFamily="49" charset="-122"/>
                </a:rPr>
                <a:t>《</a:t>
              </a:r>
              <a:r>
                <a:rPr lang="zh-CN" altLang="en-US" sz="1400" i="0" dirty="0">
                  <a:solidFill>
                    <a:srgbClr val="605E5E"/>
                  </a:solidFill>
                  <a:latin typeface="幼圆" panose="02010509060101010101" pitchFamily="49" charset="-122"/>
                  <a:ea typeface="幼圆" panose="02010509060101010101" pitchFamily="49" charset="-122"/>
                </a:rPr>
                <a:t>关于印发中小企业划分标准规定的通知</a:t>
              </a:r>
              <a:r>
                <a:rPr lang="en-US" altLang="zh-CN" sz="1400" i="0" dirty="0">
                  <a:solidFill>
                    <a:srgbClr val="605E5E"/>
                  </a:solidFill>
                  <a:latin typeface="幼圆" panose="02010509060101010101" pitchFamily="49" charset="-122"/>
                  <a:ea typeface="幼圆" panose="02010509060101010101" pitchFamily="49" charset="-122"/>
                </a:rPr>
                <a:t>》</a:t>
              </a:r>
              <a:r>
                <a:rPr lang="zh-CN" altLang="en-US" sz="1400" i="0" dirty="0">
                  <a:solidFill>
                    <a:srgbClr val="605E5E"/>
                  </a:solidFill>
                  <a:latin typeface="幼圆" panose="02010509060101010101" pitchFamily="49" charset="-122"/>
                  <a:ea typeface="幼圆" panose="02010509060101010101" pitchFamily="49" charset="-122"/>
                </a:rPr>
                <a:t>（工信部联企业）（</a:t>
              </a:r>
              <a:r>
                <a:rPr lang="en-US" altLang="zh-CN" sz="1400" i="0" dirty="0">
                  <a:solidFill>
                    <a:srgbClr val="605E5E"/>
                  </a:solidFill>
                  <a:latin typeface="幼圆" panose="02010509060101010101" pitchFamily="49" charset="-122"/>
                  <a:ea typeface="幼圆" panose="02010509060101010101" pitchFamily="49" charset="-122"/>
                </a:rPr>
                <a:t>2011</a:t>
              </a:r>
              <a:r>
                <a:rPr lang="zh-CN" altLang="en-US" sz="1400" i="0" dirty="0">
                  <a:solidFill>
                    <a:srgbClr val="605E5E"/>
                  </a:solidFill>
                  <a:latin typeface="幼圆" panose="02010509060101010101" pitchFamily="49" charset="-122"/>
                  <a:ea typeface="幼圆" panose="02010509060101010101" pitchFamily="49" charset="-122"/>
                </a:rPr>
                <a:t>）</a:t>
              </a:r>
              <a:r>
                <a:rPr lang="en-US" altLang="zh-CN" sz="1400" i="0" dirty="0">
                  <a:solidFill>
                    <a:srgbClr val="605E5E"/>
                  </a:solidFill>
                  <a:latin typeface="幼圆" panose="02010509060101010101" pitchFamily="49" charset="-122"/>
                  <a:ea typeface="幼圆" panose="02010509060101010101" pitchFamily="49" charset="-122"/>
                </a:rPr>
                <a:t>300</a:t>
              </a:r>
              <a:r>
                <a:rPr lang="zh-CN" altLang="en-US" sz="1400" i="0" dirty="0">
                  <a:solidFill>
                    <a:srgbClr val="605E5E"/>
                  </a:solidFill>
                  <a:latin typeface="幼圆" panose="02010509060101010101" pitchFamily="49" charset="-122"/>
                  <a:ea typeface="幼圆" panose="02010509060101010101" pitchFamily="49" charset="-122"/>
                </a:rPr>
                <a:t>号） </a:t>
              </a:r>
            </a:p>
            <a:p>
              <a:r>
                <a:rPr lang="zh-CN" altLang="en-US" sz="1400" i="0" dirty="0">
                  <a:solidFill>
                    <a:srgbClr val="605E5E"/>
                  </a:solidFill>
                  <a:latin typeface="幼圆" panose="02010509060101010101" pitchFamily="49" charset="-122"/>
                  <a:ea typeface="幼圆" panose="02010509060101010101" pitchFamily="49" charset="-122"/>
                </a:rPr>
                <a:t>业务质量规则：</a:t>
              </a:r>
            </a:p>
            <a:p>
              <a:r>
                <a:rPr lang="zh-CN" altLang="en-US" sz="1400" i="0" dirty="0">
                  <a:solidFill>
                    <a:srgbClr val="605E5E"/>
                  </a:solidFill>
                  <a:latin typeface="幼圆" panose="02010509060101010101" pitchFamily="49" charset="-122"/>
                  <a:ea typeface="幼圆" panose="02010509060101010101" pitchFamily="49" charset="-122"/>
                </a:rPr>
                <a:t>业务数据类型：</a:t>
              </a:r>
            </a:p>
          </p:txBody>
        </p:sp>
        <p:sp>
          <p:nvSpPr>
            <p:cNvPr id="16" name="文本框 36"/>
            <p:cNvSpPr txBox="1">
              <a:spLocks noChangeArrowheads="1"/>
            </p:cNvSpPr>
            <p:nvPr/>
          </p:nvSpPr>
          <p:spPr bwMode="auto">
            <a:xfrm>
              <a:off x="11301" y="7017"/>
              <a:ext cx="3468" cy="3007"/>
            </a:xfrm>
            <a:prstGeom prst="rect">
              <a:avLst/>
            </a:prstGeom>
            <a:noFill/>
            <a:ln w="9525">
              <a:noFill/>
              <a:miter lim="800000"/>
            </a:ln>
          </p:spPr>
          <p:txBody>
            <a:bodyPr>
              <a:spAutoFit/>
            </a:bodyPr>
            <a:lstStyle/>
            <a:p>
              <a:r>
                <a:rPr lang="zh-CN" altLang="en-US" sz="1400" b="1" i="0" dirty="0">
                  <a:solidFill>
                    <a:srgbClr val="605E5E"/>
                  </a:solidFill>
                  <a:latin typeface="幼圆" panose="02010509060101010101" pitchFamily="49" charset="-122"/>
                  <a:ea typeface="幼圆" panose="02010509060101010101" pitchFamily="49" charset="-122"/>
                </a:rPr>
                <a:t>数据标准英文名：</a:t>
              </a:r>
              <a:r>
                <a:rPr lang="en-US" altLang="en-US" sz="1400" dirty="0">
                  <a:solidFill>
                    <a:srgbClr val="605E5E"/>
                  </a:solidFill>
                  <a:latin typeface="幼圆" panose="02010509060101010101" pitchFamily="49" charset="-122"/>
                  <a:ea typeface="幼圆" panose="02010509060101010101" pitchFamily="49" charset="-122"/>
                </a:rPr>
                <a:t>CORP_SCALE </a:t>
              </a:r>
              <a:endParaRPr lang="zh-CN" altLang="en-US" sz="1400" b="1" i="0" dirty="0">
                <a:solidFill>
                  <a:srgbClr val="605E5E"/>
                </a:solidFill>
                <a:latin typeface="幼圆" panose="02010509060101010101" pitchFamily="49" charset="-122"/>
                <a:ea typeface="幼圆" panose="02010509060101010101" pitchFamily="49" charset="-122"/>
              </a:endParaRPr>
            </a:p>
            <a:p>
              <a:r>
                <a:rPr lang="zh-CN" altLang="en-US" sz="1400" b="1" i="0" dirty="0">
                  <a:solidFill>
                    <a:srgbClr val="605E5E"/>
                  </a:solidFill>
                  <a:latin typeface="幼圆" panose="02010509060101010101" pitchFamily="49" charset="-122"/>
                  <a:ea typeface="幼圆" panose="02010509060101010101" pitchFamily="49" charset="-122"/>
                </a:rPr>
                <a:t>数据长度</a:t>
              </a:r>
              <a:r>
                <a:rPr lang="zh-CN" altLang="en-US" sz="1400" i="0" dirty="0">
                  <a:solidFill>
                    <a:srgbClr val="605E5E"/>
                  </a:solidFill>
                  <a:latin typeface="幼圆" panose="02010509060101010101" pitchFamily="49" charset="-122"/>
                  <a:ea typeface="幼圆" panose="02010509060101010101" pitchFamily="49" charset="-122"/>
                </a:rPr>
                <a:t>：</a:t>
              </a:r>
              <a:r>
                <a:rPr lang="zh-CN" altLang="en-US" sz="1400" i="0" dirty="0"/>
                <a:t> </a:t>
              </a:r>
              <a:r>
                <a:rPr lang="en-US" altLang="zh-CN" sz="1400" i="0" dirty="0">
                  <a:solidFill>
                    <a:srgbClr val="605E5E"/>
                  </a:solidFill>
                  <a:latin typeface="幼圆" panose="02010509060101010101" pitchFamily="49" charset="-122"/>
                  <a:ea typeface="幼圆" panose="02010509060101010101" pitchFamily="49" charset="-122"/>
                </a:rPr>
                <a:t>[</a:t>
              </a:r>
              <a:r>
                <a:rPr lang="zh-CN" altLang="en-US" sz="1400" i="0" dirty="0">
                  <a:solidFill>
                    <a:srgbClr val="605E5E"/>
                  </a:solidFill>
                  <a:latin typeface="幼圆" panose="02010509060101010101" pitchFamily="49" charset="-122"/>
                  <a:ea typeface="幼圆" panose="02010509060101010101" pitchFamily="49" charset="-122"/>
                </a:rPr>
                <a:t>代码</a:t>
              </a:r>
              <a:r>
                <a:rPr lang="en-US" altLang="zh-CN" sz="1400" i="0" dirty="0">
                  <a:solidFill>
                    <a:srgbClr val="605E5E"/>
                  </a:solidFill>
                  <a:latin typeface="幼圆" panose="02010509060101010101" pitchFamily="49" charset="-122"/>
                  <a:ea typeface="幼圆" panose="02010509060101010101" pitchFamily="49" charset="-122"/>
                </a:rPr>
                <a:t>.</a:t>
              </a:r>
              <a:r>
                <a:rPr lang="zh-CN" altLang="en-US" sz="1400" i="0" dirty="0">
                  <a:solidFill>
                    <a:srgbClr val="605E5E"/>
                  </a:solidFill>
                  <a:latin typeface="幼圆" panose="02010509060101010101" pitchFamily="49" charset="-122"/>
                  <a:ea typeface="幼圆" panose="02010509060101010101" pitchFamily="49" charset="-122"/>
                </a:rPr>
                <a:t>长度</a:t>
              </a:r>
              <a:r>
                <a:rPr lang="en-US" altLang="zh-CN" sz="1400" i="0" dirty="0">
                  <a:solidFill>
                    <a:srgbClr val="605E5E"/>
                  </a:solidFill>
                  <a:latin typeface="幼圆" panose="02010509060101010101" pitchFamily="49" charset="-122"/>
                  <a:ea typeface="幼圆" panose="02010509060101010101" pitchFamily="49" charset="-122"/>
                </a:rPr>
                <a:t>]</a:t>
              </a:r>
              <a:r>
                <a:rPr lang="zh-CN" altLang="en-US" sz="1400" i="0" dirty="0">
                  <a:solidFill>
                    <a:srgbClr val="605E5E"/>
                  </a:solidFill>
                  <a:latin typeface="幼圆" panose="02010509060101010101" pitchFamily="49" charset="-122"/>
                  <a:ea typeface="幼圆" panose="02010509060101010101" pitchFamily="49" charset="-122"/>
                </a:rPr>
                <a:t> </a:t>
              </a:r>
              <a:endParaRPr lang="en-US" altLang="zh-CN" sz="1400" i="0" dirty="0">
                <a:solidFill>
                  <a:srgbClr val="605E5E"/>
                </a:solidFill>
                <a:latin typeface="幼圆" panose="02010509060101010101" pitchFamily="49" charset="-122"/>
                <a:ea typeface="幼圆" panose="02010509060101010101" pitchFamily="49" charset="-122"/>
              </a:endParaRPr>
            </a:p>
            <a:p>
              <a:r>
                <a:rPr lang="zh-CN" altLang="en-US" sz="1400" b="1" i="0" dirty="0">
                  <a:solidFill>
                    <a:srgbClr val="605E5E"/>
                  </a:solidFill>
                  <a:latin typeface="幼圆" panose="02010509060101010101" pitchFamily="49" charset="-122"/>
                  <a:ea typeface="幼圆" panose="02010509060101010101" pitchFamily="49" charset="-122"/>
                </a:rPr>
                <a:t>标准类型</a:t>
              </a:r>
              <a:r>
                <a:rPr lang="zh-CN" altLang="en-US" sz="1400" i="0" dirty="0">
                  <a:solidFill>
                    <a:srgbClr val="605E5E"/>
                  </a:solidFill>
                  <a:latin typeface="幼圆" panose="02010509060101010101" pitchFamily="49" charset="-122"/>
                  <a:ea typeface="幼圆" panose="02010509060101010101" pitchFamily="49" charset="-122"/>
                </a:rPr>
                <a:t>：代码标准 </a:t>
              </a:r>
            </a:p>
            <a:p>
              <a:r>
                <a:rPr lang="zh-CN" altLang="en-US" sz="1400" b="1" i="0" dirty="0">
                  <a:solidFill>
                    <a:srgbClr val="605E5E"/>
                  </a:solidFill>
                  <a:latin typeface="幼圆" panose="02010509060101010101" pitchFamily="49" charset="-122"/>
                  <a:ea typeface="幼圆" panose="02010509060101010101" pitchFamily="49" charset="-122"/>
                </a:rPr>
                <a:t>码值表</a:t>
              </a:r>
              <a:r>
                <a:rPr lang="zh-CN" altLang="en-US" sz="1400" i="0" dirty="0">
                  <a:solidFill>
                    <a:srgbClr val="605E5E"/>
                  </a:solidFill>
                  <a:latin typeface="幼圆" panose="02010509060101010101" pitchFamily="49" charset="-122"/>
                  <a:ea typeface="幼圆" panose="02010509060101010101" pitchFamily="49" charset="-122"/>
                </a:rPr>
                <a:t>：</a:t>
              </a:r>
            </a:p>
            <a:p>
              <a:r>
                <a:rPr lang="zh-CN" altLang="en-US" sz="1400" i="0" dirty="0">
                  <a:solidFill>
                    <a:srgbClr val="605E5E"/>
                  </a:solidFill>
                  <a:latin typeface="幼圆" panose="02010509060101010101" pitchFamily="49" charset="-122"/>
                  <a:ea typeface="幼圆" panose="02010509060101010101" pitchFamily="49" charset="-122"/>
                </a:rPr>
                <a:t>1-大型企业</a:t>
              </a:r>
              <a:endParaRPr lang="zh-CN" altLang="en-US" sz="1200" i="0" dirty="0">
                <a:solidFill>
                  <a:srgbClr val="605E5E"/>
                </a:solidFill>
                <a:latin typeface="幼圆" panose="02010509060101010101" pitchFamily="49" charset="-122"/>
                <a:ea typeface="幼圆" panose="02010509060101010101" pitchFamily="49" charset="-122"/>
              </a:endParaRPr>
            </a:p>
            <a:p>
              <a:r>
                <a:rPr lang="zh-CN" altLang="en-US" sz="1400" i="0" dirty="0">
                  <a:solidFill>
                    <a:srgbClr val="605E5E"/>
                  </a:solidFill>
                  <a:latin typeface="幼圆" panose="02010509060101010101" pitchFamily="49" charset="-122"/>
                  <a:ea typeface="幼圆" panose="02010509060101010101" pitchFamily="49" charset="-122"/>
                </a:rPr>
                <a:t>2-中型企业</a:t>
              </a:r>
              <a:endParaRPr lang="zh-CN" altLang="en-US" sz="1200" i="0" dirty="0">
                <a:solidFill>
                  <a:srgbClr val="605E5E"/>
                </a:solidFill>
                <a:latin typeface="幼圆" panose="02010509060101010101" pitchFamily="49" charset="-122"/>
                <a:ea typeface="幼圆" panose="02010509060101010101" pitchFamily="49" charset="-122"/>
              </a:endParaRPr>
            </a:p>
            <a:p>
              <a:r>
                <a:rPr lang="zh-CN" altLang="en-US" sz="1400" i="0" dirty="0">
                  <a:solidFill>
                    <a:srgbClr val="605E5E"/>
                  </a:solidFill>
                  <a:latin typeface="幼圆" panose="02010509060101010101" pitchFamily="49" charset="-122"/>
                  <a:ea typeface="幼圆" panose="02010509060101010101" pitchFamily="49" charset="-122"/>
                </a:rPr>
                <a:t>3-小型企业</a:t>
              </a:r>
              <a:endParaRPr lang="zh-CN" altLang="en-US" sz="1200" i="0" dirty="0">
                <a:solidFill>
                  <a:srgbClr val="605E5E"/>
                </a:solidFill>
                <a:latin typeface="幼圆" panose="02010509060101010101" pitchFamily="49" charset="-122"/>
                <a:ea typeface="幼圆" panose="02010509060101010101" pitchFamily="49" charset="-122"/>
              </a:endParaRPr>
            </a:p>
            <a:p>
              <a:r>
                <a:rPr lang="zh-CN" altLang="en-US" sz="1400" i="0" dirty="0">
                  <a:solidFill>
                    <a:srgbClr val="605E5E"/>
                  </a:solidFill>
                  <a:latin typeface="幼圆" panose="02010509060101010101" pitchFamily="49" charset="-122"/>
                  <a:ea typeface="幼圆" panose="02010509060101010101" pitchFamily="49" charset="-122"/>
                </a:rPr>
                <a:t>4-微型企业</a:t>
              </a:r>
              <a:endParaRPr lang="zh-CN" altLang="en-US" sz="1200" i="0" dirty="0">
                <a:solidFill>
                  <a:srgbClr val="605E5E"/>
                </a:solidFill>
                <a:latin typeface="幼圆" panose="02010509060101010101" pitchFamily="49" charset="-122"/>
                <a:ea typeface="幼圆" panose="02010509060101010101" pitchFamily="49" charset="-122"/>
              </a:endParaRPr>
            </a:p>
            <a:p>
              <a:r>
                <a:rPr lang="zh-CN" altLang="en-US" sz="1400" i="0" dirty="0">
                  <a:solidFill>
                    <a:srgbClr val="605E5E"/>
                  </a:solidFill>
                  <a:latin typeface="幼圆" panose="02010509060101010101" pitchFamily="49" charset="-122"/>
                  <a:ea typeface="幼圆" panose="02010509060101010101" pitchFamily="49" charset="-122"/>
                </a:rPr>
                <a:t>9-其他</a:t>
              </a:r>
            </a:p>
          </p:txBody>
        </p:sp>
      </p:grpSp>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哪些可作为数据标准</a:t>
            </a:r>
          </a:p>
        </p:txBody>
      </p:sp>
      <p:sp>
        <p:nvSpPr>
          <p:cNvPr id="156" name="TextBox 3"/>
          <p:cNvSpPr txBox="1"/>
          <p:nvPr/>
        </p:nvSpPr>
        <p:spPr>
          <a:xfrm>
            <a:off x="642620" y="1071245"/>
            <a:ext cx="11174095" cy="829945"/>
          </a:xfrm>
          <a:prstGeom prst="rect">
            <a:avLst/>
          </a:prstGeom>
          <a:noFill/>
        </p:spPr>
        <p:txBody>
          <a:bodyPr wrap="square" rtlCol="0">
            <a:spAutoFit/>
          </a:bodyPr>
          <a:lstStyle/>
          <a:p>
            <a:pPr>
              <a:lnSpc>
                <a:spcPct val="150000"/>
              </a:lnSpc>
            </a:pPr>
            <a:r>
              <a:rPr lang="zh-CN" altLang="en-US" sz="1600" i="0" dirty="0">
                <a:latin typeface="微软雅黑" panose="020B0503020204020204" pitchFamily="34" charset="-122"/>
                <a:ea typeface="微软雅黑" panose="020B0503020204020204" pitchFamily="34" charset="-122"/>
              </a:rPr>
              <a:t>数据标准非常丰富，对于数据标准来说，将所有的数据纳入数据标准是没有必要的。因此，从数据标准对业务和</a:t>
            </a:r>
            <a:r>
              <a:rPr lang="en-US" altLang="zh-CN" sz="1600" i="0" dirty="0">
                <a:latin typeface="微软雅黑" panose="020B0503020204020204" pitchFamily="34" charset="-122"/>
                <a:ea typeface="微软雅黑" panose="020B0503020204020204" pitchFamily="34" charset="-122"/>
              </a:rPr>
              <a:t>IT</a:t>
            </a:r>
            <a:r>
              <a:rPr lang="zh-CN" altLang="en-US" sz="1600" i="0" dirty="0">
                <a:latin typeface="微软雅黑" panose="020B0503020204020204" pitchFamily="34" charset="-122"/>
                <a:ea typeface="微软雅黑" panose="020B0503020204020204" pitchFamily="34" charset="-122"/>
              </a:rPr>
              <a:t>的指导作用出发，设立如下的数据标准准入原则。</a:t>
            </a:r>
          </a:p>
        </p:txBody>
      </p:sp>
      <p:sp>
        <p:nvSpPr>
          <p:cNvPr id="157" name="AutoShape 3"/>
          <p:cNvSpPr>
            <a:spLocks noChangeArrowheads="1"/>
          </p:cNvSpPr>
          <p:nvPr/>
        </p:nvSpPr>
        <p:spPr bwMode="gray">
          <a:xfrm>
            <a:off x="3213735" y="2223791"/>
            <a:ext cx="4818063" cy="989013"/>
          </a:xfrm>
          <a:prstGeom prst="roundRect">
            <a:avLst>
              <a:gd name="adj" fmla="val 12727"/>
            </a:avLst>
          </a:prstGeom>
          <a:solidFill>
            <a:srgbClr val="5EB4B4"/>
          </a:solidFill>
          <a:ln w="9525">
            <a:no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58" name="Text Box 4"/>
          <p:cNvSpPr txBox="1">
            <a:spLocks noChangeArrowheads="1"/>
          </p:cNvSpPr>
          <p:nvPr/>
        </p:nvSpPr>
        <p:spPr bwMode="white">
          <a:xfrm>
            <a:off x="3628058" y="2450804"/>
            <a:ext cx="4370402" cy="523220"/>
          </a:xfrm>
          <a:prstGeom prst="rect">
            <a:avLst/>
          </a:prstGeom>
          <a:noFill/>
          <a:ln w="9525" algn="ctr">
            <a:noFill/>
            <a:miter lim="800000"/>
          </a:ln>
        </p:spPr>
        <p:txBody>
          <a:bodyPr wrap="square">
            <a:spAutoFit/>
          </a:bodyPr>
          <a:lstStyle/>
          <a:p>
            <a:pPr eaLnBrk="0" hangingPunct="0">
              <a:buFont typeface="Arial" panose="020B0604020202020204" pitchFamily="34" charset="0"/>
              <a:buChar char="•"/>
            </a:pPr>
            <a:r>
              <a:rPr lang="zh-CN" altLang="en-US" sz="1400" i="0" dirty="0">
                <a:solidFill>
                  <a:srgbClr val="F8F8F8"/>
                </a:solidFill>
                <a:latin typeface="Calibri" panose="020F0502020204030204" pitchFamily="34" charset="0"/>
                <a:cs typeface="Arial" panose="020B0604020202020204" pitchFamily="34" charset="0"/>
              </a:rPr>
              <a:t>经国际、国家或行业正式发布的数据标准；</a:t>
            </a:r>
            <a:endParaRPr lang="en-US" altLang="zh-CN" sz="1400" i="0" dirty="0">
              <a:solidFill>
                <a:srgbClr val="F8F8F8"/>
              </a:solidFill>
              <a:latin typeface="Calibri" panose="020F0502020204030204" pitchFamily="34" charset="0"/>
              <a:cs typeface="Arial" panose="020B0604020202020204" pitchFamily="34" charset="0"/>
            </a:endParaRPr>
          </a:p>
          <a:p>
            <a:pPr eaLnBrk="0" hangingPunct="0">
              <a:buFont typeface="Arial" panose="020B0604020202020204" pitchFamily="34" charset="0"/>
              <a:buChar char="•"/>
            </a:pPr>
            <a:r>
              <a:rPr lang="zh-CN" altLang="en-US" sz="1400" i="0" dirty="0">
                <a:solidFill>
                  <a:srgbClr val="F8F8F8"/>
                </a:solidFill>
                <a:latin typeface="Calibri" panose="020F0502020204030204" pitchFamily="34" charset="0"/>
                <a:cs typeface="Arial" panose="020B0604020202020204" pitchFamily="34" charset="0"/>
              </a:rPr>
              <a:t>监管部门管理指引、监管统计明确要求的数据规范。</a:t>
            </a:r>
            <a:endParaRPr lang="en-US" altLang="zh-CN" sz="1400" i="0" dirty="0">
              <a:solidFill>
                <a:srgbClr val="F8F8F8"/>
              </a:solidFill>
              <a:latin typeface="Calibri" panose="020F0502020204030204" pitchFamily="34" charset="0"/>
              <a:cs typeface="Arial" panose="020B0604020202020204" pitchFamily="34" charset="0"/>
            </a:endParaRPr>
          </a:p>
        </p:txBody>
      </p:sp>
      <p:grpSp>
        <p:nvGrpSpPr>
          <p:cNvPr id="159" name="Group 5"/>
          <p:cNvGrpSpPr/>
          <p:nvPr/>
        </p:nvGrpSpPr>
        <p:grpSpPr bwMode="auto">
          <a:xfrm>
            <a:off x="2304098" y="2093616"/>
            <a:ext cx="1238250" cy="1236663"/>
            <a:chOff x="802" y="845"/>
            <a:chExt cx="827" cy="826"/>
          </a:xfrm>
        </p:grpSpPr>
        <p:sp>
          <p:nvSpPr>
            <p:cNvPr id="160" name="Oval 6"/>
            <p:cNvSpPr>
              <a:spLocks noChangeArrowheads="1"/>
            </p:cNvSpPr>
            <p:nvPr/>
          </p:nvSpPr>
          <p:spPr bwMode="gray">
            <a:xfrm>
              <a:off x="802" y="845"/>
              <a:ext cx="827" cy="826"/>
            </a:xfrm>
            <a:prstGeom prst="ellipse">
              <a:avLst/>
            </a:prstGeom>
            <a:solidFill>
              <a:srgbClr val="F8F8F8"/>
            </a:solidFill>
            <a:ln w="38100">
              <a:solidFill>
                <a:srgbClr val="5EB4B4"/>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61" name="Oval 7"/>
            <p:cNvSpPr>
              <a:spLocks noChangeArrowheads="1"/>
            </p:cNvSpPr>
            <p:nvPr/>
          </p:nvSpPr>
          <p:spPr bwMode="gray">
            <a:xfrm>
              <a:off x="836" y="879"/>
              <a:ext cx="758" cy="758"/>
            </a:xfrm>
            <a:prstGeom prst="ellipse">
              <a:avLst/>
            </a:prstGeom>
            <a:noFill/>
            <a:ln w="38100">
              <a:solidFill>
                <a:srgbClr val="5EB4B4">
                  <a:alpha val="70195"/>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62" name="Oval 8"/>
            <p:cNvSpPr>
              <a:spLocks noChangeArrowheads="1"/>
            </p:cNvSpPr>
            <p:nvPr/>
          </p:nvSpPr>
          <p:spPr bwMode="gray">
            <a:xfrm>
              <a:off x="870" y="915"/>
              <a:ext cx="690" cy="690"/>
            </a:xfrm>
            <a:prstGeom prst="ellipse">
              <a:avLst/>
            </a:prstGeom>
            <a:noFill/>
            <a:ln w="38100">
              <a:solidFill>
                <a:srgbClr val="5EB4B4">
                  <a:alpha val="30196"/>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grpSp>
      <p:sp>
        <p:nvSpPr>
          <p:cNvPr id="163" name="Text Box 9"/>
          <p:cNvSpPr txBox="1">
            <a:spLocks noChangeArrowheads="1"/>
          </p:cNvSpPr>
          <p:nvPr/>
        </p:nvSpPr>
        <p:spPr bwMode="gray">
          <a:xfrm>
            <a:off x="2375535" y="2441279"/>
            <a:ext cx="1082675" cy="646331"/>
          </a:xfrm>
          <a:prstGeom prst="rect">
            <a:avLst/>
          </a:prstGeom>
          <a:noFill/>
          <a:ln w="9525" algn="ctr">
            <a:noFill/>
            <a:miter lim="800000"/>
          </a:ln>
        </p:spPr>
        <p:txBody>
          <a:bodyPr>
            <a:spAutoFit/>
          </a:bodyPr>
          <a:lstStyle/>
          <a:p>
            <a:pPr algn="ctr">
              <a:spcBef>
                <a:spcPct val="50000"/>
              </a:spcBef>
            </a:pPr>
            <a:r>
              <a:rPr lang="zh-CN" altLang="en-US" sz="1800" b="1" i="0" dirty="0">
                <a:latin typeface="宋体" panose="02010600030101010101" pitchFamily="2" charset="-122"/>
                <a:ea typeface="宋体" panose="02010600030101010101" pitchFamily="2" charset="-122"/>
                <a:cs typeface="Arial" panose="020B0604020202020204" pitchFamily="34" charset="0"/>
              </a:rPr>
              <a:t>外部要求</a:t>
            </a:r>
            <a:endParaRPr lang="en-US" altLang="zh-CN" sz="1800" b="1" i="0" dirty="0">
              <a:latin typeface="宋体" panose="02010600030101010101" pitchFamily="2" charset="-122"/>
              <a:ea typeface="宋体" panose="02010600030101010101" pitchFamily="2" charset="-122"/>
              <a:cs typeface="Arial" panose="020B0604020202020204" pitchFamily="34" charset="0"/>
            </a:endParaRPr>
          </a:p>
        </p:txBody>
      </p:sp>
      <p:sp>
        <p:nvSpPr>
          <p:cNvPr id="164" name="AutoShape 10"/>
          <p:cNvSpPr>
            <a:spLocks noChangeArrowheads="1"/>
          </p:cNvSpPr>
          <p:nvPr/>
        </p:nvSpPr>
        <p:spPr bwMode="gray">
          <a:xfrm>
            <a:off x="5267960" y="3298211"/>
            <a:ext cx="4818063" cy="989013"/>
          </a:xfrm>
          <a:prstGeom prst="roundRect">
            <a:avLst>
              <a:gd name="adj" fmla="val 12727"/>
            </a:avLst>
          </a:prstGeom>
          <a:solidFill>
            <a:srgbClr val="E49514"/>
          </a:solidFill>
          <a:ln w="9525">
            <a:no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65" name="Text Box 11"/>
          <p:cNvSpPr txBox="1">
            <a:spLocks noChangeArrowheads="1"/>
          </p:cNvSpPr>
          <p:nvPr/>
        </p:nvSpPr>
        <p:spPr bwMode="white">
          <a:xfrm>
            <a:off x="5371132" y="3514111"/>
            <a:ext cx="4527565" cy="523220"/>
          </a:xfrm>
          <a:prstGeom prst="rect">
            <a:avLst/>
          </a:prstGeom>
          <a:noFill/>
          <a:ln w="9525" algn="ctr">
            <a:noFill/>
            <a:miter lim="800000"/>
          </a:ln>
        </p:spPr>
        <p:txBody>
          <a:bodyPr wrap="square">
            <a:spAutoFit/>
          </a:bodyPr>
          <a:lstStyle/>
          <a:p>
            <a:pPr eaLnBrk="0" hangingPunct="0"/>
            <a:r>
              <a:rPr lang="zh-CN" altLang="en-US" sz="1400" i="0" dirty="0">
                <a:solidFill>
                  <a:srgbClr val="F8F8F8"/>
                </a:solidFill>
                <a:latin typeface="Calibri" panose="020F0502020204030204" pitchFamily="34" charset="0"/>
                <a:cs typeface="Arial" panose="020B0604020202020204" pitchFamily="34" charset="0"/>
              </a:rPr>
              <a:t>针对在现有</a:t>
            </a:r>
            <a:r>
              <a:rPr lang="en-US" altLang="zh-CN" sz="1400" i="0" dirty="0">
                <a:solidFill>
                  <a:srgbClr val="F8F8F8"/>
                </a:solidFill>
                <a:latin typeface="Calibri" panose="020F0502020204030204" pitchFamily="34" charset="0"/>
                <a:cs typeface="Arial" panose="020B0604020202020204" pitchFamily="34" charset="0"/>
              </a:rPr>
              <a:t>IT</a:t>
            </a:r>
            <a:r>
              <a:rPr lang="zh-CN" altLang="en-US" sz="1400" i="0" dirty="0">
                <a:solidFill>
                  <a:srgbClr val="F8F8F8"/>
                </a:solidFill>
                <a:latin typeface="Calibri" panose="020F0502020204030204" pitchFamily="34" charset="0"/>
                <a:cs typeface="Arial" panose="020B0604020202020204" pitchFamily="34" charset="0"/>
              </a:rPr>
              <a:t>系统中多次使用，以及依据行内</a:t>
            </a:r>
            <a:r>
              <a:rPr lang="en-US" altLang="zh-CN" sz="1400" i="0" dirty="0">
                <a:solidFill>
                  <a:srgbClr val="F8F8F8"/>
                </a:solidFill>
                <a:latin typeface="Calibri" panose="020F0502020204030204" pitchFamily="34" charset="0"/>
                <a:cs typeface="Arial" panose="020B0604020202020204" pitchFamily="34" charset="0"/>
              </a:rPr>
              <a:t>IT</a:t>
            </a:r>
            <a:r>
              <a:rPr lang="zh-CN" altLang="en-US" sz="1400" i="0" dirty="0">
                <a:solidFill>
                  <a:srgbClr val="F8F8F8"/>
                </a:solidFill>
                <a:latin typeface="Calibri" panose="020F0502020204030204" pitchFamily="34" charset="0"/>
                <a:cs typeface="Arial" panose="020B0604020202020204" pitchFamily="34" charset="0"/>
              </a:rPr>
              <a:t>规划或相关经验在未来的</a:t>
            </a:r>
            <a:r>
              <a:rPr lang="en-US" altLang="zh-CN" sz="1400" i="0" dirty="0">
                <a:solidFill>
                  <a:srgbClr val="F8F8F8"/>
                </a:solidFill>
                <a:latin typeface="Calibri" panose="020F0502020204030204" pitchFamily="34" charset="0"/>
                <a:cs typeface="Arial" panose="020B0604020202020204" pitchFamily="34" charset="0"/>
              </a:rPr>
              <a:t>IT</a:t>
            </a:r>
            <a:r>
              <a:rPr lang="zh-CN" altLang="en-US" sz="1400" i="0" dirty="0">
                <a:solidFill>
                  <a:srgbClr val="F8F8F8"/>
                </a:solidFill>
                <a:latin typeface="Calibri" panose="020F0502020204030204" pitchFamily="34" charset="0"/>
                <a:cs typeface="Arial" panose="020B0604020202020204" pitchFamily="34" charset="0"/>
              </a:rPr>
              <a:t>系统中会多次使用的数据和代码</a:t>
            </a:r>
            <a:endParaRPr lang="en-US" altLang="zh-CN" sz="1400" i="0" dirty="0">
              <a:solidFill>
                <a:srgbClr val="F8F8F8"/>
              </a:solidFill>
              <a:latin typeface="Calibri" panose="020F0502020204030204" pitchFamily="34" charset="0"/>
              <a:cs typeface="Arial" panose="020B0604020202020204" pitchFamily="34" charset="0"/>
            </a:endParaRPr>
          </a:p>
        </p:txBody>
      </p:sp>
      <p:grpSp>
        <p:nvGrpSpPr>
          <p:cNvPr id="166" name="Group 12"/>
          <p:cNvGrpSpPr/>
          <p:nvPr/>
        </p:nvGrpSpPr>
        <p:grpSpPr bwMode="auto">
          <a:xfrm>
            <a:off x="9771698" y="3168036"/>
            <a:ext cx="1238250" cy="1236663"/>
            <a:chOff x="802" y="845"/>
            <a:chExt cx="827" cy="826"/>
          </a:xfrm>
        </p:grpSpPr>
        <p:sp>
          <p:nvSpPr>
            <p:cNvPr id="167" name="Oval 13"/>
            <p:cNvSpPr>
              <a:spLocks noChangeArrowheads="1"/>
            </p:cNvSpPr>
            <p:nvPr/>
          </p:nvSpPr>
          <p:spPr bwMode="gray">
            <a:xfrm>
              <a:off x="802" y="845"/>
              <a:ext cx="827" cy="826"/>
            </a:xfrm>
            <a:prstGeom prst="ellipse">
              <a:avLst/>
            </a:prstGeom>
            <a:solidFill>
              <a:srgbClr val="F8F8F8"/>
            </a:solidFill>
            <a:ln w="38100">
              <a:solidFill>
                <a:srgbClr val="E49514"/>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68" name="Oval 14"/>
            <p:cNvSpPr>
              <a:spLocks noChangeArrowheads="1"/>
            </p:cNvSpPr>
            <p:nvPr/>
          </p:nvSpPr>
          <p:spPr bwMode="gray">
            <a:xfrm>
              <a:off x="836" y="879"/>
              <a:ext cx="758" cy="758"/>
            </a:xfrm>
            <a:prstGeom prst="ellipse">
              <a:avLst/>
            </a:prstGeom>
            <a:noFill/>
            <a:ln w="38100">
              <a:solidFill>
                <a:srgbClr val="E49514">
                  <a:alpha val="70195"/>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69" name="Oval 15"/>
            <p:cNvSpPr>
              <a:spLocks noChangeArrowheads="1"/>
            </p:cNvSpPr>
            <p:nvPr/>
          </p:nvSpPr>
          <p:spPr bwMode="gray">
            <a:xfrm>
              <a:off x="870" y="915"/>
              <a:ext cx="690" cy="690"/>
            </a:xfrm>
            <a:prstGeom prst="ellipse">
              <a:avLst/>
            </a:prstGeom>
            <a:noFill/>
            <a:ln w="38100">
              <a:solidFill>
                <a:srgbClr val="E49514">
                  <a:alpha val="30196"/>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grpSp>
      <p:sp>
        <p:nvSpPr>
          <p:cNvPr id="170" name="Text Box 16"/>
          <p:cNvSpPr txBox="1">
            <a:spLocks noChangeArrowheads="1"/>
          </p:cNvSpPr>
          <p:nvPr/>
        </p:nvSpPr>
        <p:spPr bwMode="gray">
          <a:xfrm>
            <a:off x="9843135" y="3515699"/>
            <a:ext cx="1081088" cy="646331"/>
          </a:xfrm>
          <a:prstGeom prst="rect">
            <a:avLst/>
          </a:prstGeom>
          <a:noFill/>
          <a:ln w="9525" algn="ctr">
            <a:noFill/>
            <a:miter lim="800000"/>
          </a:ln>
        </p:spPr>
        <p:txBody>
          <a:bodyPr>
            <a:spAutoFit/>
          </a:bodyPr>
          <a:lstStyle/>
          <a:p>
            <a:pPr algn="ctr">
              <a:spcBef>
                <a:spcPct val="50000"/>
              </a:spcBef>
            </a:pPr>
            <a:r>
              <a:rPr lang="zh-CN" altLang="en-US" sz="1800" b="1" i="0" dirty="0">
                <a:latin typeface="Calibri" panose="020F0502020204030204" pitchFamily="34" charset="0"/>
                <a:cs typeface="Arial" panose="020B0604020202020204" pitchFamily="34" charset="0"/>
              </a:rPr>
              <a:t>多系统共用</a:t>
            </a:r>
            <a:endParaRPr lang="en-US" altLang="zh-CN" sz="1800" b="1" i="0" dirty="0">
              <a:latin typeface="Calibri" panose="020F0502020204030204" pitchFamily="34" charset="0"/>
              <a:cs typeface="Arial" panose="020B0604020202020204" pitchFamily="34" charset="0"/>
            </a:endParaRPr>
          </a:p>
        </p:txBody>
      </p:sp>
      <p:sp>
        <p:nvSpPr>
          <p:cNvPr id="171" name="AutoShape 17"/>
          <p:cNvSpPr>
            <a:spLocks noChangeArrowheads="1"/>
          </p:cNvSpPr>
          <p:nvPr/>
        </p:nvSpPr>
        <p:spPr bwMode="gray">
          <a:xfrm>
            <a:off x="3285490" y="4418034"/>
            <a:ext cx="4818063" cy="989012"/>
          </a:xfrm>
          <a:prstGeom prst="roundRect">
            <a:avLst>
              <a:gd name="adj" fmla="val 12727"/>
            </a:avLst>
          </a:prstGeom>
          <a:solidFill>
            <a:srgbClr val="6E9349"/>
          </a:solidFill>
          <a:ln w="9525">
            <a:no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72" name="Text Box 18"/>
          <p:cNvSpPr txBox="1">
            <a:spLocks noChangeArrowheads="1"/>
          </p:cNvSpPr>
          <p:nvPr/>
        </p:nvSpPr>
        <p:spPr bwMode="white">
          <a:xfrm>
            <a:off x="3499803" y="4643459"/>
            <a:ext cx="4570412" cy="306705"/>
          </a:xfrm>
          <a:prstGeom prst="rect">
            <a:avLst/>
          </a:prstGeom>
          <a:noFill/>
          <a:ln w="9525" algn="ctr">
            <a:noFill/>
            <a:miter lim="800000"/>
          </a:ln>
        </p:spPr>
        <p:txBody>
          <a:bodyPr>
            <a:spAutoFit/>
          </a:bodyPr>
          <a:lstStyle/>
          <a:p>
            <a:pPr algn="ctr" eaLnBrk="0" hangingPunct="0"/>
            <a:r>
              <a:rPr lang="zh-CN" altLang="en-US" sz="1400" i="0" dirty="0">
                <a:solidFill>
                  <a:srgbClr val="F8F8F8"/>
                </a:solidFill>
                <a:latin typeface="Calibri" panose="020F0502020204030204" pitchFamily="34" charset="0"/>
                <a:cs typeface="Arial" panose="020B0604020202020204" pitchFamily="34" charset="0"/>
              </a:rPr>
              <a:t>公司管理分析类系统进行分析必须用到的源数据和代码</a:t>
            </a:r>
            <a:endParaRPr lang="en-US" altLang="zh-CN" sz="1400" i="0" dirty="0">
              <a:solidFill>
                <a:srgbClr val="F8F8F8"/>
              </a:solidFill>
              <a:latin typeface="Calibri" panose="020F0502020204030204" pitchFamily="34" charset="0"/>
              <a:cs typeface="Arial" panose="020B0604020202020204" pitchFamily="34" charset="0"/>
            </a:endParaRPr>
          </a:p>
        </p:txBody>
      </p:sp>
      <p:grpSp>
        <p:nvGrpSpPr>
          <p:cNvPr id="173" name="Group 19"/>
          <p:cNvGrpSpPr/>
          <p:nvPr/>
        </p:nvGrpSpPr>
        <p:grpSpPr bwMode="auto">
          <a:xfrm>
            <a:off x="2375853" y="4287859"/>
            <a:ext cx="1238250" cy="1236662"/>
            <a:chOff x="802" y="845"/>
            <a:chExt cx="827" cy="826"/>
          </a:xfrm>
        </p:grpSpPr>
        <p:sp>
          <p:nvSpPr>
            <p:cNvPr id="174" name="Oval 20"/>
            <p:cNvSpPr>
              <a:spLocks noChangeArrowheads="1"/>
            </p:cNvSpPr>
            <p:nvPr/>
          </p:nvSpPr>
          <p:spPr bwMode="gray">
            <a:xfrm>
              <a:off x="802" y="845"/>
              <a:ext cx="827" cy="826"/>
            </a:xfrm>
            <a:prstGeom prst="ellipse">
              <a:avLst/>
            </a:prstGeom>
            <a:solidFill>
              <a:srgbClr val="F8F8F8"/>
            </a:solidFill>
            <a:ln w="38100">
              <a:solidFill>
                <a:srgbClr val="6E9349"/>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75" name="Oval 21"/>
            <p:cNvSpPr>
              <a:spLocks noChangeArrowheads="1"/>
            </p:cNvSpPr>
            <p:nvPr/>
          </p:nvSpPr>
          <p:spPr bwMode="gray">
            <a:xfrm>
              <a:off x="836" y="879"/>
              <a:ext cx="758" cy="758"/>
            </a:xfrm>
            <a:prstGeom prst="ellipse">
              <a:avLst/>
            </a:prstGeom>
            <a:noFill/>
            <a:ln w="38100">
              <a:solidFill>
                <a:srgbClr val="6E9349">
                  <a:alpha val="70195"/>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76" name="Oval 22"/>
            <p:cNvSpPr>
              <a:spLocks noChangeArrowheads="1"/>
            </p:cNvSpPr>
            <p:nvPr/>
          </p:nvSpPr>
          <p:spPr bwMode="gray">
            <a:xfrm>
              <a:off x="870" y="915"/>
              <a:ext cx="690" cy="690"/>
            </a:xfrm>
            <a:prstGeom prst="ellipse">
              <a:avLst/>
            </a:prstGeom>
            <a:noFill/>
            <a:ln w="38100">
              <a:solidFill>
                <a:srgbClr val="6E9349">
                  <a:alpha val="30196"/>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grpSp>
      <p:sp>
        <p:nvSpPr>
          <p:cNvPr id="177" name="Text Box 23"/>
          <p:cNvSpPr txBox="1">
            <a:spLocks noChangeArrowheads="1"/>
          </p:cNvSpPr>
          <p:nvPr/>
        </p:nvSpPr>
        <p:spPr bwMode="gray">
          <a:xfrm>
            <a:off x="2447290" y="4635521"/>
            <a:ext cx="1082675" cy="646331"/>
          </a:xfrm>
          <a:prstGeom prst="rect">
            <a:avLst/>
          </a:prstGeom>
          <a:noFill/>
          <a:ln w="9525" algn="ctr">
            <a:noFill/>
            <a:miter lim="800000"/>
          </a:ln>
        </p:spPr>
        <p:txBody>
          <a:bodyPr>
            <a:spAutoFit/>
          </a:bodyPr>
          <a:lstStyle/>
          <a:p>
            <a:pPr algn="ctr">
              <a:spcBef>
                <a:spcPct val="50000"/>
              </a:spcBef>
            </a:pPr>
            <a:r>
              <a:rPr lang="zh-CN" altLang="en-US" sz="1800" b="1" i="0" dirty="0">
                <a:latin typeface="Calibri" panose="020F0502020204030204" pitchFamily="34" charset="0"/>
                <a:cs typeface="Arial" panose="020B0604020202020204" pitchFamily="34" charset="0"/>
              </a:rPr>
              <a:t>分析类源数据</a:t>
            </a:r>
            <a:endParaRPr lang="en-US" altLang="zh-CN" sz="1800" b="1" i="0" dirty="0">
              <a:latin typeface="Calibri" panose="020F0502020204030204" pitchFamily="34" charset="0"/>
              <a:cs typeface="Arial" panose="020B0604020202020204" pitchFamily="34" charset="0"/>
            </a:endParaRPr>
          </a:p>
        </p:txBody>
      </p:sp>
      <p:sp>
        <p:nvSpPr>
          <p:cNvPr id="178" name="AutoShape 24"/>
          <p:cNvSpPr>
            <a:spLocks noChangeArrowheads="1"/>
          </p:cNvSpPr>
          <p:nvPr/>
        </p:nvSpPr>
        <p:spPr bwMode="gray">
          <a:xfrm>
            <a:off x="5267960" y="5538174"/>
            <a:ext cx="4818063" cy="987425"/>
          </a:xfrm>
          <a:prstGeom prst="roundRect">
            <a:avLst>
              <a:gd name="adj" fmla="val 12727"/>
            </a:avLst>
          </a:prstGeom>
          <a:solidFill>
            <a:srgbClr val="90A8B0"/>
          </a:solidFill>
          <a:ln w="9525">
            <a:no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79" name="Text Box 25"/>
          <p:cNvSpPr txBox="1">
            <a:spLocks noChangeArrowheads="1"/>
          </p:cNvSpPr>
          <p:nvPr/>
        </p:nvSpPr>
        <p:spPr bwMode="white">
          <a:xfrm>
            <a:off x="5444190" y="5754074"/>
            <a:ext cx="4570412" cy="306705"/>
          </a:xfrm>
          <a:prstGeom prst="rect">
            <a:avLst/>
          </a:prstGeom>
          <a:noFill/>
          <a:ln w="9525" algn="ctr">
            <a:noFill/>
            <a:miter lim="800000"/>
          </a:ln>
        </p:spPr>
        <p:txBody>
          <a:bodyPr>
            <a:spAutoFit/>
          </a:bodyPr>
          <a:lstStyle/>
          <a:p>
            <a:pPr eaLnBrk="0" hangingPunct="0"/>
            <a:r>
              <a:rPr lang="zh-CN" altLang="en-US" sz="1400" i="0" dirty="0">
                <a:solidFill>
                  <a:srgbClr val="F8F8F8"/>
                </a:solidFill>
                <a:latin typeface="Calibri" panose="020F0502020204030204" pitchFamily="34" charset="0"/>
                <a:cs typeface="Arial" panose="020B0604020202020204" pitchFamily="34" charset="0"/>
              </a:rPr>
              <a:t>公司已经发文进行明确要求的数据规范</a:t>
            </a:r>
            <a:endParaRPr lang="en-US" altLang="zh-CN" sz="1400" i="0" dirty="0">
              <a:solidFill>
                <a:srgbClr val="F8F8F8"/>
              </a:solidFill>
              <a:latin typeface="Calibri" panose="020F0502020204030204" pitchFamily="34" charset="0"/>
              <a:cs typeface="Arial" panose="020B0604020202020204" pitchFamily="34" charset="0"/>
            </a:endParaRPr>
          </a:p>
        </p:txBody>
      </p:sp>
      <p:grpSp>
        <p:nvGrpSpPr>
          <p:cNvPr id="180" name="Group 26"/>
          <p:cNvGrpSpPr/>
          <p:nvPr/>
        </p:nvGrpSpPr>
        <p:grpSpPr bwMode="auto">
          <a:xfrm>
            <a:off x="9771698" y="5407999"/>
            <a:ext cx="1238250" cy="1236662"/>
            <a:chOff x="802" y="845"/>
            <a:chExt cx="827" cy="826"/>
          </a:xfrm>
        </p:grpSpPr>
        <p:sp>
          <p:nvSpPr>
            <p:cNvPr id="181" name="Oval 27"/>
            <p:cNvSpPr>
              <a:spLocks noChangeArrowheads="1"/>
            </p:cNvSpPr>
            <p:nvPr/>
          </p:nvSpPr>
          <p:spPr bwMode="gray">
            <a:xfrm>
              <a:off x="802" y="845"/>
              <a:ext cx="827" cy="826"/>
            </a:xfrm>
            <a:prstGeom prst="ellipse">
              <a:avLst/>
            </a:prstGeom>
            <a:solidFill>
              <a:srgbClr val="F8F8F8"/>
            </a:solidFill>
            <a:ln w="38100">
              <a:solidFill>
                <a:srgbClr val="90A8B0"/>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82" name="Oval 28"/>
            <p:cNvSpPr>
              <a:spLocks noChangeArrowheads="1"/>
            </p:cNvSpPr>
            <p:nvPr/>
          </p:nvSpPr>
          <p:spPr bwMode="gray">
            <a:xfrm>
              <a:off x="836" y="879"/>
              <a:ext cx="758" cy="758"/>
            </a:xfrm>
            <a:prstGeom prst="ellipse">
              <a:avLst/>
            </a:prstGeom>
            <a:noFill/>
            <a:ln w="38100">
              <a:solidFill>
                <a:srgbClr val="90A8B0">
                  <a:alpha val="70195"/>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sp>
          <p:nvSpPr>
            <p:cNvPr id="183" name="Oval 29"/>
            <p:cNvSpPr>
              <a:spLocks noChangeArrowheads="1"/>
            </p:cNvSpPr>
            <p:nvPr/>
          </p:nvSpPr>
          <p:spPr bwMode="gray">
            <a:xfrm>
              <a:off x="870" y="915"/>
              <a:ext cx="690" cy="690"/>
            </a:xfrm>
            <a:prstGeom prst="ellipse">
              <a:avLst/>
            </a:prstGeom>
            <a:noFill/>
            <a:ln w="38100">
              <a:solidFill>
                <a:srgbClr val="90A8B0">
                  <a:alpha val="30196"/>
                </a:srgbClr>
              </a:solidFill>
              <a:rou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latin typeface="Calibri" panose="020F0502020204030204" pitchFamily="34" charset="0"/>
                <a:cs typeface="Arial" panose="020B0604020202020204" pitchFamily="34" charset="0"/>
              </a:endParaRPr>
            </a:p>
          </p:txBody>
        </p:sp>
      </p:grpSp>
      <p:sp>
        <p:nvSpPr>
          <p:cNvPr id="184" name="Text Box 30"/>
          <p:cNvSpPr txBox="1">
            <a:spLocks noChangeArrowheads="1"/>
          </p:cNvSpPr>
          <p:nvPr/>
        </p:nvSpPr>
        <p:spPr bwMode="gray">
          <a:xfrm>
            <a:off x="9843135" y="5754074"/>
            <a:ext cx="1081088" cy="645160"/>
          </a:xfrm>
          <a:prstGeom prst="rect">
            <a:avLst/>
          </a:prstGeom>
          <a:noFill/>
          <a:ln w="9525" algn="ctr">
            <a:noFill/>
            <a:miter lim="800000"/>
          </a:ln>
        </p:spPr>
        <p:txBody>
          <a:bodyPr>
            <a:spAutoFit/>
          </a:bodyPr>
          <a:lstStyle/>
          <a:p>
            <a:pPr algn="ctr">
              <a:spcBef>
                <a:spcPct val="50000"/>
              </a:spcBef>
            </a:pPr>
            <a:r>
              <a:rPr lang="zh-CN" altLang="en-US" sz="1800" b="1" i="0" dirty="0">
                <a:latin typeface="Calibri" panose="020F0502020204030204" pitchFamily="34" charset="0"/>
                <a:cs typeface="Arial" panose="020B0604020202020204" pitchFamily="34" charset="0"/>
              </a:rPr>
              <a:t>公司发文</a:t>
            </a:r>
            <a:endParaRPr lang="en-US" altLang="zh-CN" sz="1800" b="1" i="0" dirty="0">
              <a:latin typeface="Calibri" panose="020F0502020204030204" pitchFamily="34" charset="0"/>
              <a:cs typeface="Arial" panose="020B0604020202020204" pitchFamily="34" charset="0"/>
            </a:endParaRPr>
          </a:p>
        </p:txBody>
      </p:sp>
      <p:sp>
        <p:nvSpPr>
          <p:cNvPr id="185" name="TextBox 60"/>
          <p:cNvSpPr txBox="1"/>
          <p:nvPr/>
        </p:nvSpPr>
        <p:spPr>
          <a:xfrm>
            <a:off x="995045" y="2277110"/>
            <a:ext cx="673735" cy="3643630"/>
          </a:xfrm>
          <a:prstGeom prst="rect">
            <a:avLst/>
          </a:prstGeom>
          <a:solidFill>
            <a:schemeClr val="tx2">
              <a:lumMod val="50000"/>
              <a:lumOff val="50000"/>
            </a:schemeClr>
          </a:solidFill>
        </p:spPr>
        <p:txBody>
          <a:bodyPr vert="eaVert" wrap="square" rtlCol="0" anchor="ctr" anchorCtr="0">
            <a:noAutofit/>
          </a:bodyPr>
          <a:lstStyle/>
          <a:p>
            <a:pPr algn="ctr"/>
            <a:r>
              <a:rPr lang="zh-CN" altLang="en-US" b="1" i="0" dirty="0">
                <a:solidFill>
                  <a:schemeClr val="bg1"/>
                </a:solidFill>
                <a:latin typeface="微软雅黑" panose="020B0503020204020204" pitchFamily="34" charset="-122"/>
                <a:ea typeface="微软雅黑" panose="020B0503020204020204" pitchFamily="34" charset="-122"/>
              </a:rPr>
              <a:t>数据标准准入原则</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8"/>
                                        </p:tgtEl>
                                        <p:attrNameLst>
                                          <p:attrName>style.visibility</p:attrName>
                                        </p:attrNameLst>
                                      </p:cBhvr>
                                      <p:to>
                                        <p:strVal val="visible"/>
                                      </p:to>
                                    </p:set>
                                    <p:anim calcmode="lin" valueType="num">
                                      <p:cBhvr additive="base">
                                        <p:cTn id="7" dur="500" fill="hold"/>
                                        <p:tgtEl>
                                          <p:spTgt spid="158"/>
                                        </p:tgtEl>
                                        <p:attrNameLst>
                                          <p:attrName>ppt_x</p:attrName>
                                        </p:attrNameLst>
                                      </p:cBhvr>
                                      <p:tavLst>
                                        <p:tav tm="0">
                                          <p:val>
                                            <p:strVal val="1+#ppt_w/2"/>
                                          </p:val>
                                        </p:tav>
                                        <p:tav tm="100000">
                                          <p:val>
                                            <p:strVal val="#ppt_x"/>
                                          </p:val>
                                        </p:tav>
                                      </p:tavLst>
                                    </p:anim>
                                    <p:anim calcmode="lin" valueType="num">
                                      <p:cBhvr additive="base">
                                        <p:cTn id="8" dur="500" fill="hold"/>
                                        <p:tgtEl>
                                          <p:spTgt spid="15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9"/>
                                        </p:tgtEl>
                                        <p:attrNameLst>
                                          <p:attrName>style.visibility</p:attrName>
                                        </p:attrNameLst>
                                      </p:cBhvr>
                                      <p:to>
                                        <p:strVal val="visible"/>
                                      </p:to>
                                    </p:set>
                                    <p:anim calcmode="lin" valueType="num">
                                      <p:cBhvr additive="base">
                                        <p:cTn id="11" dur="500" fill="hold"/>
                                        <p:tgtEl>
                                          <p:spTgt spid="159"/>
                                        </p:tgtEl>
                                        <p:attrNameLst>
                                          <p:attrName>ppt_x</p:attrName>
                                        </p:attrNameLst>
                                      </p:cBhvr>
                                      <p:tavLst>
                                        <p:tav tm="0">
                                          <p:val>
                                            <p:strVal val="1+#ppt_w/2"/>
                                          </p:val>
                                        </p:tav>
                                        <p:tav tm="100000">
                                          <p:val>
                                            <p:strVal val="#ppt_x"/>
                                          </p:val>
                                        </p:tav>
                                      </p:tavLst>
                                    </p:anim>
                                    <p:anim calcmode="lin" valueType="num">
                                      <p:cBhvr additive="base">
                                        <p:cTn id="12" dur="500" fill="hold"/>
                                        <p:tgtEl>
                                          <p:spTgt spid="159"/>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63"/>
                                        </p:tgtEl>
                                        <p:attrNameLst>
                                          <p:attrName>style.visibility</p:attrName>
                                        </p:attrNameLst>
                                      </p:cBhvr>
                                      <p:to>
                                        <p:strVal val="visible"/>
                                      </p:to>
                                    </p:set>
                                    <p:anim calcmode="lin" valueType="num">
                                      <p:cBhvr additive="base">
                                        <p:cTn id="15" dur="500" fill="hold"/>
                                        <p:tgtEl>
                                          <p:spTgt spid="163"/>
                                        </p:tgtEl>
                                        <p:attrNameLst>
                                          <p:attrName>ppt_x</p:attrName>
                                        </p:attrNameLst>
                                      </p:cBhvr>
                                      <p:tavLst>
                                        <p:tav tm="0">
                                          <p:val>
                                            <p:strVal val="1+#ppt_w/2"/>
                                          </p:val>
                                        </p:tav>
                                        <p:tav tm="100000">
                                          <p:val>
                                            <p:strVal val="#ppt_x"/>
                                          </p:val>
                                        </p:tav>
                                      </p:tavLst>
                                    </p:anim>
                                    <p:anim calcmode="lin" valueType="num">
                                      <p:cBhvr additive="base">
                                        <p:cTn id="16" dur="500" fill="hold"/>
                                        <p:tgtEl>
                                          <p:spTgt spid="16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57"/>
                                        </p:tgtEl>
                                        <p:attrNameLst>
                                          <p:attrName>style.visibility</p:attrName>
                                        </p:attrNameLst>
                                      </p:cBhvr>
                                      <p:to>
                                        <p:strVal val="visible"/>
                                      </p:to>
                                    </p:set>
                                    <p:anim calcmode="lin" valueType="num">
                                      <p:cBhvr additive="base">
                                        <p:cTn id="19" dur="500" fill="hold"/>
                                        <p:tgtEl>
                                          <p:spTgt spid="157"/>
                                        </p:tgtEl>
                                        <p:attrNameLst>
                                          <p:attrName>ppt_x</p:attrName>
                                        </p:attrNameLst>
                                      </p:cBhvr>
                                      <p:tavLst>
                                        <p:tav tm="0">
                                          <p:val>
                                            <p:strVal val="1+#ppt_w/2"/>
                                          </p:val>
                                        </p:tav>
                                        <p:tav tm="100000">
                                          <p:val>
                                            <p:strVal val="#ppt_x"/>
                                          </p:val>
                                        </p:tav>
                                      </p:tavLst>
                                    </p:anim>
                                    <p:anim calcmode="lin" valueType="num">
                                      <p:cBhvr additive="base">
                                        <p:cTn id="20" dur="500" fill="hold"/>
                                        <p:tgtEl>
                                          <p:spTgt spid="15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4"/>
                                        </p:tgtEl>
                                        <p:attrNameLst>
                                          <p:attrName>style.visibility</p:attrName>
                                        </p:attrNameLst>
                                      </p:cBhvr>
                                      <p:to>
                                        <p:strVal val="visible"/>
                                      </p:to>
                                    </p:set>
                                    <p:anim calcmode="lin" valueType="num">
                                      <p:cBhvr additive="base">
                                        <p:cTn id="25" dur="500" fill="hold"/>
                                        <p:tgtEl>
                                          <p:spTgt spid="164"/>
                                        </p:tgtEl>
                                        <p:attrNameLst>
                                          <p:attrName>ppt_x</p:attrName>
                                        </p:attrNameLst>
                                      </p:cBhvr>
                                      <p:tavLst>
                                        <p:tav tm="0">
                                          <p:val>
                                            <p:strVal val="0-#ppt_w/2"/>
                                          </p:val>
                                        </p:tav>
                                        <p:tav tm="100000">
                                          <p:val>
                                            <p:strVal val="#ppt_x"/>
                                          </p:val>
                                        </p:tav>
                                      </p:tavLst>
                                    </p:anim>
                                    <p:anim calcmode="lin" valueType="num">
                                      <p:cBhvr additive="base">
                                        <p:cTn id="26" dur="500" fill="hold"/>
                                        <p:tgtEl>
                                          <p:spTgt spid="164"/>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65"/>
                                        </p:tgtEl>
                                        <p:attrNameLst>
                                          <p:attrName>style.visibility</p:attrName>
                                        </p:attrNameLst>
                                      </p:cBhvr>
                                      <p:to>
                                        <p:strVal val="visible"/>
                                      </p:to>
                                    </p:set>
                                    <p:anim calcmode="lin" valueType="num">
                                      <p:cBhvr additive="base">
                                        <p:cTn id="29" dur="500" fill="hold"/>
                                        <p:tgtEl>
                                          <p:spTgt spid="165"/>
                                        </p:tgtEl>
                                        <p:attrNameLst>
                                          <p:attrName>ppt_x</p:attrName>
                                        </p:attrNameLst>
                                      </p:cBhvr>
                                      <p:tavLst>
                                        <p:tav tm="0">
                                          <p:val>
                                            <p:strVal val="0-#ppt_w/2"/>
                                          </p:val>
                                        </p:tav>
                                        <p:tav tm="100000">
                                          <p:val>
                                            <p:strVal val="#ppt_x"/>
                                          </p:val>
                                        </p:tav>
                                      </p:tavLst>
                                    </p:anim>
                                    <p:anim calcmode="lin" valueType="num">
                                      <p:cBhvr additive="base">
                                        <p:cTn id="30" dur="500" fill="hold"/>
                                        <p:tgtEl>
                                          <p:spTgt spid="165"/>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66"/>
                                        </p:tgtEl>
                                        <p:attrNameLst>
                                          <p:attrName>style.visibility</p:attrName>
                                        </p:attrNameLst>
                                      </p:cBhvr>
                                      <p:to>
                                        <p:strVal val="visible"/>
                                      </p:to>
                                    </p:set>
                                    <p:anim calcmode="lin" valueType="num">
                                      <p:cBhvr additive="base">
                                        <p:cTn id="33" dur="500" fill="hold"/>
                                        <p:tgtEl>
                                          <p:spTgt spid="166"/>
                                        </p:tgtEl>
                                        <p:attrNameLst>
                                          <p:attrName>ppt_x</p:attrName>
                                        </p:attrNameLst>
                                      </p:cBhvr>
                                      <p:tavLst>
                                        <p:tav tm="0">
                                          <p:val>
                                            <p:strVal val="0-#ppt_w/2"/>
                                          </p:val>
                                        </p:tav>
                                        <p:tav tm="100000">
                                          <p:val>
                                            <p:strVal val="#ppt_x"/>
                                          </p:val>
                                        </p:tav>
                                      </p:tavLst>
                                    </p:anim>
                                    <p:anim calcmode="lin" valueType="num">
                                      <p:cBhvr additive="base">
                                        <p:cTn id="34" dur="500" fill="hold"/>
                                        <p:tgtEl>
                                          <p:spTgt spid="166"/>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70"/>
                                        </p:tgtEl>
                                        <p:attrNameLst>
                                          <p:attrName>style.visibility</p:attrName>
                                        </p:attrNameLst>
                                      </p:cBhvr>
                                      <p:to>
                                        <p:strVal val="visible"/>
                                      </p:to>
                                    </p:set>
                                    <p:anim calcmode="lin" valueType="num">
                                      <p:cBhvr additive="base">
                                        <p:cTn id="37" dur="500" fill="hold"/>
                                        <p:tgtEl>
                                          <p:spTgt spid="170"/>
                                        </p:tgtEl>
                                        <p:attrNameLst>
                                          <p:attrName>ppt_x</p:attrName>
                                        </p:attrNameLst>
                                      </p:cBhvr>
                                      <p:tavLst>
                                        <p:tav tm="0">
                                          <p:val>
                                            <p:strVal val="0-#ppt_w/2"/>
                                          </p:val>
                                        </p:tav>
                                        <p:tav tm="100000">
                                          <p:val>
                                            <p:strVal val="#ppt_x"/>
                                          </p:val>
                                        </p:tav>
                                      </p:tavLst>
                                    </p:anim>
                                    <p:anim calcmode="lin" valueType="num">
                                      <p:cBhvr additive="base">
                                        <p:cTn id="38" dur="500" fill="hold"/>
                                        <p:tgtEl>
                                          <p:spTgt spid="17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1"/>
                                        </p:tgtEl>
                                        <p:attrNameLst>
                                          <p:attrName>style.visibility</p:attrName>
                                        </p:attrNameLst>
                                      </p:cBhvr>
                                      <p:to>
                                        <p:strVal val="visible"/>
                                      </p:to>
                                    </p:set>
                                    <p:anim calcmode="lin" valueType="num">
                                      <p:cBhvr additive="base">
                                        <p:cTn id="43" dur="500" fill="hold"/>
                                        <p:tgtEl>
                                          <p:spTgt spid="171"/>
                                        </p:tgtEl>
                                        <p:attrNameLst>
                                          <p:attrName>ppt_x</p:attrName>
                                        </p:attrNameLst>
                                      </p:cBhvr>
                                      <p:tavLst>
                                        <p:tav tm="0">
                                          <p:val>
                                            <p:strVal val="1+#ppt_w/2"/>
                                          </p:val>
                                        </p:tav>
                                        <p:tav tm="100000">
                                          <p:val>
                                            <p:strVal val="#ppt_x"/>
                                          </p:val>
                                        </p:tav>
                                      </p:tavLst>
                                    </p:anim>
                                    <p:anim calcmode="lin" valueType="num">
                                      <p:cBhvr additive="base">
                                        <p:cTn id="44" dur="500" fill="hold"/>
                                        <p:tgtEl>
                                          <p:spTgt spid="171"/>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172"/>
                                        </p:tgtEl>
                                        <p:attrNameLst>
                                          <p:attrName>style.visibility</p:attrName>
                                        </p:attrNameLst>
                                      </p:cBhvr>
                                      <p:to>
                                        <p:strVal val="visible"/>
                                      </p:to>
                                    </p:set>
                                    <p:anim calcmode="lin" valueType="num">
                                      <p:cBhvr additive="base">
                                        <p:cTn id="47" dur="500" fill="hold"/>
                                        <p:tgtEl>
                                          <p:spTgt spid="172"/>
                                        </p:tgtEl>
                                        <p:attrNameLst>
                                          <p:attrName>ppt_x</p:attrName>
                                        </p:attrNameLst>
                                      </p:cBhvr>
                                      <p:tavLst>
                                        <p:tav tm="0">
                                          <p:val>
                                            <p:strVal val="1+#ppt_w/2"/>
                                          </p:val>
                                        </p:tav>
                                        <p:tav tm="100000">
                                          <p:val>
                                            <p:strVal val="#ppt_x"/>
                                          </p:val>
                                        </p:tav>
                                      </p:tavLst>
                                    </p:anim>
                                    <p:anim calcmode="lin" valueType="num">
                                      <p:cBhvr additive="base">
                                        <p:cTn id="48" dur="500" fill="hold"/>
                                        <p:tgtEl>
                                          <p:spTgt spid="172"/>
                                        </p:tgtEl>
                                        <p:attrNameLst>
                                          <p:attrName>ppt_y</p:attrName>
                                        </p:attrNameLst>
                                      </p:cBhvr>
                                      <p:tavLst>
                                        <p:tav tm="0">
                                          <p:val>
                                            <p:strVal val="#ppt_y"/>
                                          </p:val>
                                        </p:tav>
                                        <p:tav tm="100000">
                                          <p:val>
                                            <p:strVal val="#ppt_y"/>
                                          </p:val>
                                        </p:tav>
                                      </p:tavLst>
                                    </p:anim>
                                  </p:childTnLst>
                                </p:cTn>
                              </p:par>
                              <p:par>
                                <p:cTn id="49" presetID="2" presetClass="entr" presetSubtype="2" fill="hold" nodeType="withEffect">
                                  <p:stCondLst>
                                    <p:cond delay="0"/>
                                  </p:stCondLst>
                                  <p:childTnLst>
                                    <p:set>
                                      <p:cBhvr>
                                        <p:cTn id="50" dur="1" fill="hold">
                                          <p:stCondLst>
                                            <p:cond delay="0"/>
                                          </p:stCondLst>
                                        </p:cTn>
                                        <p:tgtEl>
                                          <p:spTgt spid="173"/>
                                        </p:tgtEl>
                                        <p:attrNameLst>
                                          <p:attrName>style.visibility</p:attrName>
                                        </p:attrNameLst>
                                      </p:cBhvr>
                                      <p:to>
                                        <p:strVal val="visible"/>
                                      </p:to>
                                    </p:set>
                                    <p:anim calcmode="lin" valueType="num">
                                      <p:cBhvr additive="base">
                                        <p:cTn id="51" dur="500" fill="hold"/>
                                        <p:tgtEl>
                                          <p:spTgt spid="173"/>
                                        </p:tgtEl>
                                        <p:attrNameLst>
                                          <p:attrName>ppt_x</p:attrName>
                                        </p:attrNameLst>
                                      </p:cBhvr>
                                      <p:tavLst>
                                        <p:tav tm="0">
                                          <p:val>
                                            <p:strVal val="1+#ppt_w/2"/>
                                          </p:val>
                                        </p:tav>
                                        <p:tav tm="100000">
                                          <p:val>
                                            <p:strVal val="#ppt_x"/>
                                          </p:val>
                                        </p:tav>
                                      </p:tavLst>
                                    </p:anim>
                                    <p:anim calcmode="lin" valueType="num">
                                      <p:cBhvr additive="base">
                                        <p:cTn id="52" dur="500" fill="hold"/>
                                        <p:tgtEl>
                                          <p:spTgt spid="173"/>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177"/>
                                        </p:tgtEl>
                                        <p:attrNameLst>
                                          <p:attrName>style.visibility</p:attrName>
                                        </p:attrNameLst>
                                      </p:cBhvr>
                                      <p:to>
                                        <p:strVal val="visible"/>
                                      </p:to>
                                    </p:set>
                                    <p:anim calcmode="lin" valueType="num">
                                      <p:cBhvr additive="base">
                                        <p:cTn id="55" dur="500" fill="hold"/>
                                        <p:tgtEl>
                                          <p:spTgt spid="177"/>
                                        </p:tgtEl>
                                        <p:attrNameLst>
                                          <p:attrName>ppt_x</p:attrName>
                                        </p:attrNameLst>
                                      </p:cBhvr>
                                      <p:tavLst>
                                        <p:tav tm="0">
                                          <p:val>
                                            <p:strVal val="1+#ppt_w/2"/>
                                          </p:val>
                                        </p:tav>
                                        <p:tav tm="100000">
                                          <p:val>
                                            <p:strVal val="#ppt_x"/>
                                          </p:val>
                                        </p:tav>
                                      </p:tavLst>
                                    </p:anim>
                                    <p:anim calcmode="lin" valueType="num">
                                      <p:cBhvr additive="base">
                                        <p:cTn id="56" dur="500" fill="hold"/>
                                        <p:tgtEl>
                                          <p:spTgt spid="17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78"/>
                                        </p:tgtEl>
                                        <p:attrNameLst>
                                          <p:attrName>style.visibility</p:attrName>
                                        </p:attrNameLst>
                                      </p:cBhvr>
                                      <p:to>
                                        <p:strVal val="visible"/>
                                      </p:to>
                                    </p:set>
                                    <p:anim calcmode="lin" valueType="num">
                                      <p:cBhvr additive="base">
                                        <p:cTn id="61" dur="500" fill="hold"/>
                                        <p:tgtEl>
                                          <p:spTgt spid="178"/>
                                        </p:tgtEl>
                                        <p:attrNameLst>
                                          <p:attrName>ppt_x</p:attrName>
                                        </p:attrNameLst>
                                      </p:cBhvr>
                                      <p:tavLst>
                                        <p:tav tm="0">
                                          <p:val>
                                            <p:strVal val="0-#ppt_w/2"/>
                                          </p:val>
                                        </p:tav>
                                        <p:tav tm="100000">
                                          <p:val>
                                            <p:strVal val="#ppt_x"/>
                                          </p:val>
                                        </p:tav>
                                      </p:tavLst>
                                    </p:anim>
                                    <p:anim calcmode="lin" valueType="num">
                                      <p:cBhvr additive="base">
                                        <p:cTn id="62" dur="500" fill="hold"/>
                                        <p:tgtEl>
                                          <p:spTgt spid="178"/>
                                        </p:tgtEl>
                                        <p:attrNameLst>
                                          <p:attrName>ppt_y</p:attrName>
                                        </p:attrNameLst>
                                      </p:cBhvr>
                                      <p:tavLst>
                                        <p:tav tm="0">
                                          <p:val>
                                            <p:strVal val="#ppt_y"/>
                                          </p:val>
                                        </p:tav>
                                        <p:tav tm="100000">
                                          <p:val>
                                            <p:strVal val="#ppt_y"/>
                                          </p:val>
                                        </p:tav>
                                      </p:tavLst>
                                    </p:anim>
                                  </p:childTnLst>
                                </p:cTn>
                              </p:par>
                              <p:par>
                                <p:cTn id="63" presetID="2" presetClass="entr" presetSubtype="8" fill="hold" grpId="0" nodeType="withEffect">
                                  <p:stCondLst>
                                    <p:cond delay="0"/>
                                  </p:stCondLst>
                                  <p:childTnLst>
                                    <p:set>
                                      <p:cBhvr>
                                        <p:cTn id="64" dur="1" fill="hold">
                                          <p:stCondLst>
                                            <p:cond delay="0"/>
                                          </p:stCondLst>
                                        </p:cTn>
                                        <p:tgtEl>
                                          <p:spTgt spid="179"/>
                                        </p:tgtEl>
                                        <p:attrNameLst>
                                          <p:attrName>style.visibility</p:attrName>
                                        </p:attrNameLst>
                                      </p:cBhvr>
                                      <p:to>
                                        <p:strVal val="visible"/>
                                      </p:to>
                                    </p:set>
                                    <p:anim calcmode="lin" valueType="num">
                                      <p:cBhvr additive="base">
                                        <p:cTn id="65" dur="500" fill="hold"/>
                                        <p:tgtEl>
                                          <p:spTgt spid="179"/>
                                        </p:tgtEl>
                                        <p:attrNameLst>
                                          <p:attrName>ppt_x</p:attrName>
                                        </p:attrNameLst>
                                      </p:cBhvr>
                                      <p:tavLst>
                                        <p:tav tm="0">
                                          <p:val>
                                            <p:strVal val="0-#ppt_w/2"/>
                                          </p:val>
                                        </p:tav>
                                        <p:tav tm="100000">
                                          <p:val>
                                            <p:strVal val="#ppt_x"/>
                                          </p:val>
                                        </p:tav>
                                      </p:tavLst>
                                    </p:anim>
                                    <p:anim calcmode="lin" valueType="num">
                                      <p:cBhvr additive="base">
                                        <p:cTn id="66" dur="500" fill="hold"/>
                                        <p:tgtEl>
                                          <p:spTgt spid="179"/>
                                        </p:tgtEl>
                                        <p:attrNameLst>
                                          <p:attrName>ppt_y</p:attrName>
                                        </p:attrNameLst>
                                      </p:cBhvr>
                                      <p:tavLst>
                                        <p:tav tm="0">
                                          <p:val>
                                            <p:strVal val="#ppt_y"/>
                                          </p:val>
                                        </p:tav>
                                        <p:tav tm="100000">
                                          <p:val>
                                            <p:strVal val="#ppt_y"/>
                                          </p:val>
                                        </p:tav>
                                      </p:tavLst>
                                    </p:anim>
                                  </p:childTnLst>
                                </p:cTn>
                              </p:par>
                              <p:par>
                                <p:cTn id="67" presetID="2" presetClass="entr" presetSubtype="8" fill="hold" nodeType="withEffect">
                                  <p:stCondLst>
                                    <p:cond delay="0"/>
                                  </p:stCondLst>
                                  <p:childTnLst>
                                    <p:set>
                                      <p:cBhvr>
                                        <p:cTn id="68" dur="1" fill="hold">
                                          <p:stCondLst>
                                            <p:cond delay="0"/>
                                          </p:stCondLst>
                                        </p:cTn>
                                        <p:tgtEl>
                                          <p:spTgt spid="180"/>
                                        </p:tgtEl>
                                        <p:attrNameLst>
                                          <p:attrName>style.visibility</p:attrName>
                                        </p:attrNameLst>
                                      </p:cBhvr>
                                      <p:to>
                                        <p:strVal val="visible"/>
                                      </p:to>
                                    </p:set>
                                    <p:anim calcmode="lin" valueType="num">
                                      <p:cBhvr additive="base">
                                        <p:cTn id="69" dur="500" fill="hold"/>
                                        <p:tgtEl>
                                          <p:spTgt spid="180"/>
                                        </p:tgtEl>
                                        <p:attrNameLst>
                                          <p:attrName>ppt_x</p:attrName>
                                        </p:attrNameLst>
                                      </p:cBhvr>
                                      <p:tavLst>
                                        <p:tav tm="0">
                                          <p:val>
                                            <p:strVal val="0-#ppt_w/2"/>
                                          </p:val>
                                        </p:tav>
                                        <p:tav tm="100000">
                                          <p:val>
                                            <p:strVal val="#ppt_x"/>
                                          </p:val>
                                        </p:tav>
                                      </p:tavLst>
                                    </p:anim>
                                    <p:anim calcmode="lin" valueType="num">
                                      <p:cBhvr additive="base">
                                        <p:cTn id="70" dur="500" fill="hold"/>
                                        <p:tgtEl>
                                          <p:spTgt spid="180"/>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184"/>
                                        </p:tgtEl>
                                        <p:attrNameLst>
                                          <p:attrName>style.visibility</p:attrName>
                                        </p:attrNameLst>
                                      </p:cBhvr>
                                      <p:to>
                                        <p:strVal val="visible"/>
                                      </p:to>
                                    </p:set>
                                    <p:anim calcmode="lin" valueType="num">
                                      <p:cBhvr additive="base">
                                        <p:cTn id="73" dur="500" fill="hold"/>
                                        <p:tgtEl>
                                          <p:spTgt spid="184"/>
                                        </p:tgtEl>
                                        <p:attrNameLst>
                                          <p:attrName>ppt_x</p:attrName>
                                        </p:attrNameLst>
                                      </p:cBhvr>
                                      <p:tavLst>
                                        <p:tav tm="0">
                                          <p:val>
                                            <p:strVal val="0-#ppt_w/2"/>
                                          </p:val>
                                        </p:tav>
                                        <p:tav tm="100000">
                                          <p:val>
                                            <p:strVal val="#ppt_x"/>
                                          </p:val>
                                        </p:tav>
                                      </p:tavLst>
                                    </p:anim>
                                    <p:anim calcmode="lin" valueType="num">
                                      <p:cBhvr additive="base">
                                        <p:cTn id="74" dur="500" fill="hold"/>
                                        <p:tgtEl>
                                          <p:spTgt spid="1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bldLvl="0" animBg="1"/>
      <p:bldP spid="158" grpId="0"/>
      <p:bldP spid="163" grpId="0"/>
      <p:bldP spid="164" grpId="0" bldLvl="0" animBg="1"/>
      <p:bldP spid="165" grpId="0"/>
      <p:bldP spid="170" grpId="0"/>
      <p:bldP spid="171" grpId="0" bldLvl="0" animBg="1"/>
      <p:bldP spid="172" grpId="0"/>
      <p:bldP spid="177" grpId="0"/>
      <p:bldP spid="178" grpId="0" bldLvl="0" animBg="1"/>
      <p:bldP spid="179" grpId="0"/>
      <p:bldP spid="18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怎么做数据标准</a:t>
            </a:r>
            <a:r>
              <a:rPr lang="en-US" altLang="zh-CN">
                <a:sym typeface="+mn-ea"/>
              </a:rPr>
              <a:t>——</a:t>
            </a:r>
            <a:r>
              <a:rPr lang="zh-CN" altLang="en-US">
                <a:sym typeface="+mn-ea"/>
              </a:rPr>
              <a:t>数据标准化工作原则</a:t>
            </a:r>
          </a:p>
        </p:txBody>
      </p:sp>
      <p:pic>
        <p:nvPicPr>
          <p:cNvPr id="22" name="Picture 2"/>
          <p:cNvPicPr>
            <a:picLocks noChangeAspect="1" noChangeArrowheads="1"/>
          </p:cNvPicPr>
          <p:nvPr/>
        </p:nvPicPr>
        <p:blipFill>
          <a:blip r:embed="rId5"/>
          <a:srcRect/>
          <a:stretch>
            <a:fillRect/>
          </a:stretch>
        </p:blipFill>
        <p:spPr bwMode="auto">
          <a:xfrm>
            <a:off x="1199515" y="1268730"/>
            <a:ext cx="9392285" cy="4656455"/>
          </a:xfrm>
          <a:prstGeom prst="rect">
            <a:avLst/>
          </a:prstGeom>
          <a:noFill/>
          <a:ln w="9525">
            <a:noFill/>
            <a:miter lim="800000"/>
            <a:headEnd/>
            <a:tailEnd/>
          </a:ln>
        </p:spPr>
      </p:pic>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标题 17"/>
          <p:cNvSpPr>
            <a:spLocks noGrp="1"/>
          </p:cNvSpPr>
          <p:nvPr>
            <p:ph type="title"/>
            <p:custDataLst>
              <p:tags r:id="rId2"/>
            </p:custDataLst>
          </p:nvPr>
        </p:nvSpPr>
        <p:spPr/>
        <p:txBody>
          <a:bodyPr vert="horz" lIns="91440" tIns="45720" rIns="91440" bIns="45720" rtlCol="0" anchor="ctr">
            <a:normAutofit fontScale="90000"/>
          </a:bodyPr>
          <a:lstStyle/>
          <a:p>
            <a:pPr lvl="0" algn="l">
              <a:buClrTx/>
              <a:buSzTx/>
              <a:buFontTx/>
            </a:pPr>
            <a:r>
              <a:rPr lang="zh-CN" altLang="en-US">
                <a:sym typeface="+mn-ea"/>
              </a:rPr>
              <a:t>怎么做数据标准</a:t>
            </a:r>
            <a:r>
              <a:rPr lang="en-US" altLang="zh-CN">
                <a:sym typeface="+mn-ea"/>
              </a:rPr>
              <a:t>——</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mn-ea"/>
              </a:rPr>
              <a:t>精细化设计基础数据标准管理流程，明确步骤、工作方法以及依据，明确流程中各部门职责</a:t>
            </a:r>
            <a:endParaRPr lang="en-US" altLang="zh-CN">
              <a:sym typeface="+mn-ea"/>
            </a:endParaRPr>
          </a:p>
        </p:txBody>
      </p:sp>
      <p:sp>
        <p:nvSpPr>
          <p:cNvPr id="172" name="Rectangle 1"/>
          <p:cNvSpPr/>
          <p:nvPr/>
        </p:nvSpPr>
        <p:spPr>
          <a:xfrm>
            <a:off x="447040" y="1264926"/>
            <a:ext cx="11198091" cy="2842889"/>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nvGrpSpPr>
          <p:cNvPr id="173" name="Group 5"/>
          <p:cNvGrpSpPr/>
          <p:nvPr/>
        </p:nvGrpSpPr>
        <p:grpSpPr>
          <a:xfrm>
            <a:off x="802640" y="4218241"/>
            <a:ext cx="10810240" cy="639846"/>
            <a:chOff x="802640" y="3818826"/>
            <a:chExt cx="10810240" cy="639846"/>
          </a:xfrm>
        </p:grpSpPr>
        <p:graphicFrame>
          <p:nvGraphicFramePr>
            <p:cNvPr id="174" name="Diagram 102"/>
            <p:cNvGraphicFramePr/>
            <p:nvPr/>
          </p:nvGraphicFramePr>
          <p:xfrm>
            <a:off x="802640" y="3939020"/>
            <a:ext cx="10810240" cy="51965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75" name="Oval 103"/>
            <p:cNvSpPr/>
            <p:nvPr/>
          </p:nvSpPr>
          <p:spPr>
            <a:xfrm>
              <a:off x="817166" y="3818826"/>
              <a:ext cx="362141" cy="362141"/>
            </a:xfrm>
            <a:prstGeom prst="ellipse">
              <a:avLst/>
            </a:prstGeom>
            <a:solidFill>
              <a:srgbClr val="00B0F0"/>
            </a:solidFill>
            <a:ln w="28575" cap="flat" cmpd="sng" algn="ctr">
              <a:solidFill>
                <a:srgbClr val="FFFFFF"/>
              </a:solidFill>
              <a:prstDash val="solid"/>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p>
          </p:txBody>
        </p:sp>
        <p:sp>
          <p:nvSpPr>
            <p:cNvPr id="176" name="Oval 104"/>
            <p:cNvSpPr/>
            <p:nvPr/>
          </p:nvSpPr>
          <p:spPr>
            <a:xfrm>
              <a:off x="2270589" y="3818826"/>
              <a:ext cx="362141" cy="362141"/>
            </a:xfrm>
            <a:prstGeom prst="ellipse">
              <a:avLst/>
            </a:prstGeom>
            <a:solidFill>
              <a:srgbClr val="00B0F0"/>
            </a:solidFill>
            <a:ln w="28575" cap="flat" cmpd="sng" algn="ctr">
              <a:solidFill>
                <a:srgbClr val="FFFFFF"/>
              </a:solidFill>
              <a:prstDash val="solid"/>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2</a:t>
              </a:r>
            </a:p>
          </p:txBody>
        </p:sp>
        <p:sp>
          <p:nvSpPr>
            <p:cNvPr id="177" name="Oval 109"/>
            <p:cNvSpPr/>
            <p:nvPr/>
          </p:nvSpPr>
          <p:spPr>
            <a:xfrm>
              <a:off x="3798018" y="3818826"/>
              <a:ext cx="362141" cy="362141"/>
            </a:xfrm>
            <a:prstGeom prst="ellipse">
              <a:avLst/>
            </a:prstGeom>
            <a:solidFill>
              <a:srgbClr val="00B0F0"/>
            </a:solidFill>
            <a:ln w="28575" cap="flat" cmpd="sng" algn="ctr">
              <a:solidFill>
                <a:srgbClr val="FFFFFF"/>
              </a:solidFill>
              <a:prstDash val="solid"/>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3</a:t>
              </a:r>
            </a:p>
          </p:txBody>
        </p:sp>
        <p:sp>
          <p:nvSpPr>
            <p:cNvPr id="178" name="Oval 112"/>
            <p:cNvSpPr/>
            <p:nvPr/>
          </p:nvSpPr>
          <p:spPr>
            <a:xfrm>
              <a:off x="5252443" y="3818826"/>
              <a:ext cx="362141" cy="362141"/>
            </a:xfrm>
            <a:prstGeom prst="ellipse">
              <a:avLst/>
            </a:prstGeom>
            <a:solidFill>
              <a:srgbClr val="003756">
                <a:lumMod val="75000"/>
                <a:lumOff val="25000"/>
              </a:srgbClr>
            </a:solidFill>
            <a:ln w="28575" cap="flat" cmpd="sng" algn="ctr">
              <a:solidFill>
                <a:srgbClr val="FFFFFF"/>
              </a:solidFill>
              <a:prstDash val="solid"/>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GB"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p>
          </p:txBody>
        </p:sp>
        <p:sp>
          <p:nvSpPr>
            <p:cNvPr id="179" name="Oval 119"/>
            <p:cNvSpPr/>
            <p:nvPr/>
          </p:nvSpPr>
          <p:spPr>
            <a:xfrm>
              <a:off x="6674101" y="3818826"/>
              <a:ext cx="362141" cy="362141"/>
            </a:xfrm>
            <a:prstGeom prst="ellipse">
              <a:avLst/>
            </a:prstGeom>
            <a:solidFill>
              <a:srgbClr val="AAD5F7">
                <a:lumMod val="25000"/>
              </a:srgbClr>
            </a:solidFill>
            <a:ln w="28575" cap="flat" cmpd="sng" algn="ctr">
              <a:solidFill>
                <a:srgbClr val="FFFFFF"/>
              </a:solidFill>
              <a:prstDash val="solid"/>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5</a:t>
              </a:r>
              <a:endParaRPr kumimoji="0" lang="en-GB"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80" name="Oval 120"/>
            <p:cNvSpPr/>
            <p:nvPr/>
          </p:nvSpPr>
          <p:spPr>
            <a:xfrm>
              <a:off x="8288960" y="3818826"/>
              <a:ext cx="362141" cy="362141"/>
            </a:xfrm>
            <a:prstGeom prst="ellipse">
              <a:avLst/>
            </a:prstGeom>
            <a:solidFill>
              <a:srgbClr val="AAD5F7">
                <a:lumMod val="25000"/>
              </a:srgbClr>
            </a:solidFill>
            <a:ln w="28575" cap="flat" cmpd="sng" algn="ctr">
              <a:solidFill>
                <a:srgbClr val="FFFFFF"/>
              </a:solidFill>
              <a:prstDash val="solid"/>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6</a:t>
              </a:r>
              <a:endParaRPr kumimoji="0" lang="en-GB"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81" name="Oval 121"/>
            <p:cNvSpPr/>
            <p:nvPr/>
          </p:nvSpPr>
          <p:spPr>
            <a:xfrm>
              <a:off x="9898539" y="3818826"/>
              <a:ext cx="362141" cy="362141"/>
            </a:xfrm>
            <a:prstGeom prst="ellipse">
              <a:avLst/>
            </a:prstGeom>
            <a:solidFill>
              <a:srgbClr val="AAD5F7">
                <a:lumMod val="25000"/>
              </a:srgbClr>
            </a:solidFill>
            <a:ln w="28575" cap="flat" cmpd="sng" algn="ctr">
              <a:solidFill>
                <a:srgbClr val="FFFFFF"/>
              </a:solidFill>
              <a:prstDash val="solid"/>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7</a:t>
              </a:r>
              <a:endParaRPr kumimoji="0" lang="en-GB"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182" name="Rectangle 13"/>
          <p:cNvSpPr/>
          <p:nvPr/>
        </p:nvSpPr>
        <p:spPr>
          <a:xfrm>
            <a:off x="817166" y="1377923"/>
            <a:ext cx="1489154" cy="1488597"/>
          </a:xfrm>
          <a:prstGeom prst="rect">
            <a:avLst/>
          </a:prstGeom>
          <a:noFill/>
          <a:ln w="6350" cap="flat" cmpd="sng" algn="ctr">
            <a:solidFill>
              <a:srgbClr val="000000"/>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系统探查</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3" name="Rectangle 14"/>
          <p:cNvSpPr/>
          <p:nvPr/>
        </p:nvSpPr>
        <p:spPr>
          <a:xfrm>
            <a:off x="2419558" y="1377923"/>
            <a:ext cx="1410760" cy="1488597"/>
          </a:xfrm>
          <a:prstGeom prst="rect">
            <a:avLst/>
          </a:prstGeom>
          <a:noFill/>
          <a:ln w="6350" cap="flat" cmpd="sng" algn="ctr">
            <a:solidFill>
              <a:srgbClr val="000000"/>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筛选纳入</a:t>
            </a:r>
            <a:endPar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84" name="Rectangle 15"/>
          <p:cNvSpPr/>
          <p:nvPr/>
        </p:nvSpPr>
        <p:spPr>
          <a:xfrm>
            <a:off x="3921759" y="1377923"/>
            <a:ext cx="1261659" cy="1488597"/>
          </a:xfrm>
          <a:prstGeom prst="rect">
            <a:avLst/>
          </a:prstGeom>
          <a:noFill/>
          <a:ln w="6350" cap="flat" cmpd="sng" algn="ctr">
            <a:solidFill>
              <a:srgbClr val="000000"/>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归类、体系化</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5" name="Rectangle 16"/>
          <p:cNvSpPr/>
          <p:nvPr/>
        </p:nvSpPr>
        <p:spPr>
          <a:xfrm>
            <a:off x="5283265" y="1377923"/>
            <a:ext cx="1365875" cy="1488597"/>
          </a:xfrm>
          <a:prstGeom prst="rect">
            <a:avLst/>
          </a:prstGeom>
          <a:noFill/>
          <a:ln w="6350" cap="flat" cmpd="sng" algn="ctr">
            <a:solidFill>
              <a:srgbClr val="000000"/>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完善属性信息</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6" name="Rectangle 17"/>
          <p:cNvSpPr/>
          <p:nvPr/>
        </p:nvSpPr>
        <p:spPr>
          <a:xfrm>
            <a:off x="6740580" y="1377923"/>
            <a:ext cx="1526830" cy="1488597"/>
          </a:xfrm>
          <a:prstGeom prst="rect">
            <a:avLst/>
          </a:prstGeom>
          <a:noFill/>
          <a:ln w="6350" cap="flat" cmpd="sng" algn="ctr">
            <a:solidFill>
              <a:srgbClr val="000000"/>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框定落标范围</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7" name="Rectangle 18"/>
          <p:cNvSpPr/>
          <p:nvPr/>
        </p:nvSpPr>
        <p:spPr>
          <a:xfrm>
            <a:off x="8358850" y="1377923"/>
            <a:ext cx="1526830" cy="1488597"/>
          </a:xfrm>
          <a:prstGeom prst="rect">
            <a:avLst/>
          </a:prstGeom>
          <a:noFill/>
          <a:ln w="6350" cap="flat" cmpd="sng" algn="ctr">
            <a:solidFill>
              <a:srgbClr val="000000"/>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落标差异分析</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88" name="Rectangle 19"/>
          <p:cNvSpPr/>
          <p:nvPr/>
        </p:nvSpPr>
        <p:spPr>
          <a:xfrm>
            <a:off x="9977120" y="1377923"/>
            <a:ext cx="1574800" cy="1488597"/>
          </a:xfrm>
          <a:prstGeom prst="rect">
            <a:avLst/>
          </a:prstGeom>
          <a:noFill/>
          <a:ln w="6350" cap="flat" cmpd="sng" algn="ctr">
            <a:solidFill>
              <a:srgbClr val="000000"/>
            </a:solidFill>
            <a:prstDash val="solid"/>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业务落标、系统落标</a:t>
            </a:r>
            <a:endPar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0" name="Rectangle 4"/>
          <p:cNvSpPr/>
          <p:nvPr/>
        </p:nvSpPr>
        <p:spPr>
          <a:xfrm>
            <a:off x="548931" y="1354455"/>
            <a:ext cx="190556" cy="1452880"/>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工作方法</a:t>
            </a:r>
          </a:p>
        </p:txBody>
      </p:sp>
      <p:sp>
        <p:nvSpPr>
          <p:cNvPr id="191" name="Rectangle 38"/>
          <p:cNvSpPr/>
          <p:nvPr/>
        </p:nvSpPr>
        <p:spPr>
          <a:xfrm>
            <a:off x="817166" y="2931795"/>
            <a:ext cx="1489154" cy="914400"/>
          </a:xfrm>
          <a:prstGeom prst="rect">
            <a:avLst/>
          </a:prstGeom>
          <a:noFill/>
          <a:ln w="6350" cap="flat" cmpd="sng" algn="ctr">
            <a:solidFill>
              <a:srgbClr val="000000"/>
            </a:solidFill>
            <a:prstDash val="solid"/>
          </a:ln>
          <a:effectLst/>
        </p:spPr>
        <p:txBody>
          <a:bodyPr rtlCol="0" anchor="t" anchorCtr="0"/>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新一代交易核心系统数据字典</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统一客户模型数据字典</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其他数据表设计</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2" name="Rectangle 39"/>
          <p:cNvSpPr/>
          <p:nvPr/>
        </p:nvSpPr>
        <p:spPr>
          <a:xfrm>
            <a:off x="2419558" y="2931795"/>
            <a:ext cx="1410760" cy="914400"/>
          </a:xfrm>
          <a:prstGeom prst="rect">
            <a:avLst/>
          </a:prstGeom>
          <a:noFill/>
          <a:ln w="6350" cap="flat" cmpd="sng" algn="ctr">
            <a:solidFill>
              <a:srgbClr val="000000"/>
            </a:solidFill>
            <a:prstDash val="solid"/>
          </a:ln>
          <a:effectLst/>
        </p:spPr>
        <p:txBody>
          <a:bodyPr rtlCol="0" anchor="t" anchorCtr="0"/>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星环行业实践</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制造业相关标准文件</a:t>
            </a:r>
          </a:p>
        </p:txBody>
      </p:sp>
      <p:sp>
        <p:nvSpPr>
          <p:cNvPr id="193" name="Rectangle 40"/>
          <p:cNvSpPr/>
          <p:nvPr/>
        </p:nvSpPr>
        <p:spPr>
          <a:xfrm>
            <a:off x="3921759" y="2931795"/>
            <a:ext cx="1261659" cy="914400"/>
          </a:xfrm>
          <a:prstGeom prst="rect">
            <a:avLst/>
          </a:prstGeom>
          <a:noFill/>
          <a:ln w="6350" cap="flat" cmpd="sng" algn="ctr">
            <a:solidFill>
              <a:srgbClr val="000000"/>
            </a:solidFill>
            <a:prstDash val="solid"/>
          </a:ln>
          <a:effectLst/>
        </p:spPr>
        <p:txBody>
          <a:bodyPr rtlCol="0" anchor="t" anchorCtr="0"/>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MECE</a:t>
            </a: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原则</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4" name="Rectangle 41"/>
          <p:cNvSpPr/>
          <p:nvPr/>
        </p:nvSpPr>
        <p:spPr>
          <a:xfrm>
            <a:off x="5283265" y="2931795"/>
            <a:ext cx="1365875" cy="914400"/>
          </a:xfrm>
          <a:prstGeom prst="rect">
            <a:avLst/>
          </a:prstGeom>
          <a:noFill/>
          <a:ln w="6350" cap="flat" cmpd="sng" algn="ctr">
            <a:solidFill>
              <a:srgbClr val="000000"/>
            </a:solidFill>
            <a:prstDash val="solid"/>
          </a:ln>
          <a:effectLst/>
        </p:spPr>
        <p:txBody>
          <a:bodyPr rtlCol="0" anchor="t" anchorCtr="0"/>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国际标准、国家标准、行业标准</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公司现存业务规范</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5" name="Rectangle 42"/>
          <p:cNvSpPr/>
          <p:nvPr/>
        </p:nvSpPr>
        <p:spPr>
          <a:xfrm>
            <a:off x="6740580" y="2931795"/>
            <a:ext cx="1526830" cy="914400"/>
          </a:xfrm>
          <a:prstGeom prst="rect">
            <a:avLst/>
          </a:prstGeom>
          <a:noFill/>
          <a:ln w="6350" cap="flat" cmpd="sng" algn="ctr">
            <a:solidFill>
              <a:srgbClr val="000000"/>
            </a:solidFill>
            <a:prstDash val="solid"/>
          </a:ln>
          <a:effectLst/>
        </p:spPr>
        <p:txBody>
          <a:bodyPr rtlCol="0" anchor="t" anchorCtr="0"/>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星环行业实践</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6" name="Rectangle 43"/>
          <p:cNvSpPr/>
          <p:nvPr/>
        </p:nvSpPr>
        <p:spPr>
          <a:xfrm>
            <a:off x="8362857" y="2931795"/>
            <a:ext cx="1526830" cy="914400"/>
          </a:xfrm>
          <a:prstGeom prst="rect">
            <a:avLst/>
          </a:prstGeom>
          <a:noFill/>
          <a:ln w="6350" cap="flat" cmpd="sng" algn="ctr">
            <a:solidFill>
              <a:srgbClr val="000000"/>
            </a:solidFill>
            <a:prstDash val="solid"/>
          </a:ln>
          <a:effectLst/>
        </p:spPr>
        <p:txBody>
          <a:bodyPr rtlCol="0" anchor="t" anchorCtr="0"/>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已定标数据标准</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差异分析工作模板</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7" name="Rectangle 44"/>
          <p:cNvSpPr/>
          <p:nvPr/>
        </p:nvSpPr>
        <p:spPr>
          <a:xfrm>
            <a:off x="9977120" y="2931795"/>
            <a:ext cx="1574800" cy="914400"/>
          </a:xfrm>
          <a:prstGeom prst="rect">
            <a:avLst/>
          </a:prstGeom>
          <a:noFill/>
          <a:ln w="6350" cap="flat" cmpd="sng" algn="ctr">
            <a:solidFill>
              <a:srgbClr val="000000"/>
            </a:solidFill>
            <a:prstDash val="solid"/>
          </a:ln>
          <a:effectLst/>
        </p:spPr>
        <p:txBody>
          <a:bodyPr rtlCol="0" anchor="t" anchorCtr="0"/>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星环行业实践</a:t>
            </a:r>
            <a:endParaRPr kumimoji="0" lang="en-US" altLang="zh-CN" sz="1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8" name="Rectangle 45"/>
          <p:cNvSpPr/>
          <p:nvPr/>
        </p:nvSpPr>
        <p:spPr>
          <a:xfrm>
            <a:off x="548931" y="2654268"/>
            <a:ext cx="190556" cy="1452880"/>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重要参照</a:t>
            </a:r>
          </a:p>
        </p:txBody>
      </p:sp>
      <p:sp>
        <p:nvSpPr>
          <p:cNvPr id="199" name="Rectangle 10"/>
          <p:cNvSpPr>
            <a:spLocks noChangeArrowheads="1"/>
          </p:cNvSpPr>
          <p:nvPr/>
        </p:nvSpPr>
        <p:spPr bwMode="auto">
          <a:xfrm>
            <a:off x="896665" y="1807153"/>
            <a:ext cx="1208235" cy="664648"/>
          </a:xfrm>
          <a:prstGeom prst="rect">
            <a:avLst/>
          </a:prstGeom>
          <a:noFill/>
          <a:ln w="6350" algn="ctr">
            <a:noFill/>
            <a:miter lim="800000"/>
          </a:ln>
          <a:effectLst/>
        </p:spPr>
        <p:txBody>
          <a:bodyPr lIns="36000" tIns="91440" rIns="36000" bIns="91440" anchor="t" anchorCtr="0"/>
          <a:lstStyle/>
          <a:p>
            <a:pPr marL="12700" indent="-12700"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系统</a:t>
            </a:r>
            <a:endParaRPr lang="en-US" altLang="zh-CN"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a:p>
            <a:pPr marL="12700" indent="-12700"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数据表</a:t>
            </a:r>
            <a:endParaRPr lang="en-US" altLang="zh-CN"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a:p>
            <a:pPr marL="12700" indent="-12700"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字段</a:t>
            </a:r>
            <a:endParaRPr lang="en-GB" altLang="ja-JP"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00" name="Rectangle 10"/>
          <p:cNvSpPr>
            <a:spLocks noChangeArrowheads="1"/>
          </p:cNvSpPr>
          <p:nvPr/>
        </p:nvSpPr>
        <p:spPr bwMode="auto">
          <a:xfrm>
            <a:off x="3954051" y="1818035"/>
            <a:ext cx="1208235" cy="664648"/>
          </a:xfrm>
          <a:prstGeom prst="rect">
            <a:avLst/>
          </a:prstGeom>
          <a:noFill/>
          <a:ln w="6350" algn="ctr">
            <a:noFill/>
            <a:miter lim="800000"/>
          </a:ln>
          <a:effectLst/>
        </p:spPr>
        <p:txBody>
          <a:bodyPr lIns="36000" tIns="91440" rIns="36000" bIns="91440" anchor="t" anchorCtr="0"/>
          <a:lstStyle/>
          <a:p>
            <a:pPr marL="12700" indent="-12700" algn="ctr"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九大主题</a:t>
            </a:r>
            <a:endParaRPr lang="en-GB" altLang="ja-JP"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01" name="Rectangle 10"/>
          <p:cNvSpPr>
            <a:spLocks noChangeArrowheads="1"/>
          </p:cNvSpPr>
          <p:nvPr/>
        </p:nvSpPr>
        <p:spPr bwMode="auto">
          <a:xfrm>
            <a:off x="5354560" y="1882206"/>
            <a:ext cx="1168160" cy="242592"/>
          </a:xfrm>
          <a:prstGeom prst="rect">
            <a:avLst/>
          </a:prstGeom>
          <a:noFill/>
          <a:ln w="6350" algn="ctr">
            <a:noFill/>
            <a:miter lim="800000"/>
          </a:ln>
          <a:effectLst/>
        </p:spPr>
        <p:txBody>
          <a:bodyPr lIns="36000" tIns="91440" rIns="36000" bIns="91440" anchor="ctr"/>
          <a:lstStyle/>
          <a:p>
            <a:pPr marL="12700" indent="-12700" algn="ctr"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业务属性</a:t>
            </a:r>
            <a:endParaRPr lang="en-GB" altLang="ja-JP"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02" name="Rectangle 10"/>
          <p:cNvSpPr>
            <a:spLocks noChangeArrowheads="1"/>
          </p:cNvSpPr>
          <p:nvPr/>
        </p:nvSpPr>
        <p:spPr bwMode="auto">
          <a:xfrm>
            <a:off x="5354560" y="2142661"/>
            <a:ext cx="1168160" cy="242592"/>
          </a:xfrm>
          <a:prstGeom prst="rect">
            <a:avLst/>
          </a:prstGeom>
          <a:noFill/>
          <a:ln w="6350" algn="ctr">
            <a:noFill/>
            <a:miter lim="800000"/>
          </a:ln>
          <a:effectLst/>
        </p:spPr>
        <p:txBody>
          <a:bodyPr lIns="36000" tIns="91440" rIns="36000" bIns="91440" anchor="ctr"/>
          <a:lstStyle/>
          <a:p>
            <a:pPr marL="12700" indent="-12700" algn="ctr"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技术属性</a:t>
            </a:r>
            <a:endParaRPr lang="en-GB" altLang="ja-JP"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03" name="Rectangle 10"/>
          <p:cNvSpPr>
            <a:spLocks noChangeArrowheads="1"/>
          </p:cNvSpPr>
          <p:nvPr/>
        </p:nvSpPr>
        <p:spPr bwMode="auto">
          <a:xfrm>
            <a:off x="5354560" y="2392956"/>
            <a:ext cx="1168160" cy="242592"/>
          </a:xfrm>
          <a:prstGeom prst="rect">
            <a:avLst/>
          </a:prstGeom>
          <a:noFill/>
          <a:ln w="6350" algn="ctr">
            <a:noFill/>
            <a:miter lim="800000"/>
          </a:ln>
          <a:effectLst/>
        </p:spPr>
        <p:txBody>
          <a:bodyPr lIns="36000" tIns="91440" rIns="36000" bIns="91440" anchor="ctr"/>
          <a:lstStyle/>
          <a:p>
            <a:pPr marL="12700" indent="-12700" algn="ctr"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管理属性</a:t>
            </a:r>
            <a:endParaRPr lang="en-GB" altLang="ja-JP"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04" name="Rectangle 10"/>
          <p:cNvSpPr>
            <a:spLocks noChangeArrowheads="1"/>
          </p:cNvSpPr>
          <p:nvPr/>
        </p:nvSpPr>
        <p:spPr bwMode="auto">
          <a:xfrm>
            <a:off x="2663060" y="1796263"/>
            <a:ext cx="1208235" cy="664648"/>
          </a:xfrm>
          <a:prstGeom prst="rect">
            <a:avLst/>
          </a:prstGeom>
          <a:noFill/>
          <a:ln w="6350" algn="ctr">
            <a:noFill/>
            <a:miter lim="800000"/>
          </a:ln>
          <a:effectLst/>
        </p:spPr>
        <p:txBody>
          <a:bodyPr lIns="36000" tIns="91440" rIns="36000" bIns="91440" anchor="t" anchorCtr="0"/>
          <a:lstStyle/>
          <a:p>
            <a:pPr marL="12700" indent="-12700"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跨业务、跨系统先核心，后外围</a:t>
            </a:r>
            <a:endParaRPr lang="en-US" altLang="zh-CN"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a:p>
            <a:pPr marL="12700" indent="-12700" defTabSz="914400">
              <a:lnSpc>
                <a:spcPct val="110000"/>
              </a:lnSpc>
              <a:spcAft>
                <a:spcPct val="0"/>
              </a:spcAft>
              <a:buFont typeface="Wingdings" panose="05000000000000000000" pitchFamily="2" charset="2"/>
              <a:buNone/>
              <a:defRPr/>
            </a:pPr>
            <a:r>
              <a:rPr lang="zh-CN" altLang="en-US"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rPr>
              <a:t>急用先行</a:t>
            </a:r>
            <a:endParaRPr lang="en-GB" altLang="ja-JP" sz="1200" b="1" kern="0" dirty="0">
              <a:solidFill>
                <a:srgbClr val="000000"/>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05" name="Star: 5 Points 2"/>
          <p:cNvSpPr/>
          <p:nvPr/>
        </p:nvSpPr>
        <p:spPr>
          <a:xfrm>
            <a:off x="2428240" y="1888259"/>
            <a:ext cx="254000" cy="227004"/>
          </a:xfrm>
          <a:prstGeom prst="star5">
            <a:avLst/>
          </a:prstGeom>
          <a:solidFill>
            <a:srgbClr val="FF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6" name="Star: 5 Points 46"/>
          <p:cNvSpPr/>
          <p:nvPr/>
        </p:nvSpPr>
        <p:spPr>
          <a:xfrm>
            <a:off x="2428240" y="2055899"/>
            <a:ext cx="254000" cy="227004"/>
          </a:xfrm>
          <a:prstGeom prst="star5">
            <a:avLst/>
          </a:prstGeom>
          <a:solidFill>
            <a:srgbClr val="FF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7" name="Star: 5 Points 53"/>
          <p:cNvSpPr/>
          <p:nvPr/>
        </p:nvSpPr>
        <p:spPr>
          <a:xfrm>
            <a:off x="2428240" y="2238779"/>
            <a:ext cx="254000" cy="227004"/>
          </a:xfrm>
          <a:prstGeom prst="star5">
            <a:avLst/>
          </a:prstGeom>
          <a:solidFill>
            <a:srgbClr val="FF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08" name="Rectangle 57"/>
          <p:cNvSpPr/>
          <p:nvPr/>
        </p:nvSpPr>
        <p:spPr>
          <a:xfrm>
            <a:off x="548931" y="5152699"/>
            <a:ext cx="190556" cy="1452880"/>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职责分工</a:t>
            </a:r>
          </a:p>
        </p:txBody>
      </p:sp>
      <p:sp>
        <p:nvSpPr>
          <p:cNvPr id="209" name="Rectangle 3"/>
          <p:cNvSpPr/>
          <p:nvPr/>
        </p:nvSpPr>
        <p:spPr>
          <a:xfrm>
            <a:off x="962691" y="5387975"/>
            <a:ext cx="1196324" cy="23256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数据管理部</a:t>
            </a:r>
          </a:p>
        </p:txBody>
      </p:sp>
      <p:sp>
        <p:nvSpPr>
          <p:cNvPr id="210" name="Rectangle 58"/>
          <p:cNvSpPr/>
          <p:nvPr/>
        </p:nvSpPr>
        <p:spPr>
          <a:xfrm>
            <a:off x="962691" y="5775615"/>
            <a:ext cx="1196324" cy="23256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业务部门</a:t>
            </a:r>
          </a:p>
        </p:txBody>
      </p:sp>
      <p:sp>
        <p:nvSpPr>
          <p:cNvPr id="211" name="Rectangle 59"/>
          <p:cNvSpPr/>
          <p:nvPr/>
        </p:nvSpPr>
        <p:spPr>
          <a:xfrm>
            <a:off x="964471" y="6163701"/>
            <a:ext cx="1196324" cy="23256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信息技术中心</a:t>
            </a:r>
          </a:p>
        </p:txBody>
      </p:sp>
      <p:sp>
        <p:nvSpPr>
          <p:cNvPr id="212" name="Rectangle 67"/>
          <p:cNvSpPr/>
          <p:nvPr/>
        </p:nvSpPr>
        <p:spPr>
          <a:xfrm>
            <a:off x="2525886" y="5387975"/>
            <a:ext cx="1196324" cy="23256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数据管理部</a:t>
            </a:r>
          </a:p>
        </p:txBody>
      </p:sp>
      <p:sp>
        <p:nvSpPr>
          <p:cNvPr id="213" name="Rectangle 68"/>
          <p:cNvSpPr/>
          <p:nvPr/>
        </p:nvSpPr>
        <p:spPr>
          <a:xfrm>
            <a:off x="2525886" y="5775615"/>
            <a:ext cx="1196324" cy="232566"/>
          </a:xfrm>
          <a:prstGeom prst="rect">
            <a:avLst/>
          </a:prstGeom>
          <a:solidFill>
            <a:srgbClr val="00B050"/>
          </a:solidFill>
          <a:ln w="25400" cap="flat" cmpd="sng" algn="ctr">
            <a:noFill/>
            <a:prstDash val="solid"/>
          </a:ln>
          <a:effectLst/>
        </p:spPr>
        <p:txBody>
          <a:bodyPr rtlCol="0" anchor="ctr">
            <a:noAutofit/>
          </a:bodyPr>
          <a:lstStyle/>
          <a:p>
            <a:pPr lvl="0" algn="ctr">
              <a:spcBef>
                <a:spcPts val="0"/>
              </a:spcBef>
              <a:spcAft>
                <a:spcPts val="0"/>
              </a:spcAft>
              <a:buClrTx/>
              <a:buSzTx/>
              <a:buFontTx/>
              <a:defRPr/>
            </a:pPr>
            <a:r>
              <a:rPr lang="zh-CN" altLang="en-US" sz="1200" b="1" kern="0" noProof="0" dirty="0">
                <a:ln>
                  <a:noFill/>
                </a:ln>
                <a:solidFill>
                  <a:srgbClr val="FFFFFF"/>
                </a:solidFill>
                <a:effectLst/>
                <a:uLnTx/>
                <a:uFillTx/>
                <a:latin typeface="Arial" panose="020B0604020202020204"/>
                <a:sym typeface="+mn-ea"/>
              </a:rPr>
              <a:t>业务部门</a:t>
            </a:r>
          </a:p>
        </p:txBody>
      </p:sp>
      <p:sp>
        <p:nvSpPr>
          <p:cNvPr id="214" name="Rectangle 69"/>
          <p:cNvSpPr/>
          <p:nvPr/>
        </p:nvSpPr>
        <p:spPr>
          <a:xfrm>
            <a:off x="2527666" y="6163701"/>
            <a:ext cx="1196324" cy="232566"/>
          </a:xfrm>
          <a:prstGeom prst="rect">
            <a:avLst/>
          </a:prstGeom>
          <a:solidFill>
            <a:srgbClr val="00B050"/>
          </a:solidFill>
          <a:ln w="25400" cap="flat" cmpd="sng" algn="ctr">
            <a:noFill/>
            <a:prstDash val="solid"/>
          </a:ln>
          <a:effectLst/>
        </p:spPr>
        <p:txBody>
          <a:bodyPr rtlCol="0" anchor="ctr">
            <a:noAutofit/>
          </a:bodyPr>
          <a:lstStyle/>
          <a:p>
            <a:pPr lvl="0" algn="ctr">
              <a:spcBef>
                <a:spcPts val="0"/>
              </a:spcBef>
              <a:spcAft>
                <a:spcPts val="0"/>
              </a:spcAft>
              <a:buClrTx/>
              <a:buSzTx/>
              <a:buFontTx/>
              <a:defRPr/>
            </a:pPr>
            <a:r>
              <a:rPr lang="zh-CN" altLang="en-US" sz="1200" b="1" kern="0" noProof="0" dirty="0">
                <a:ln>
                  <a:noFill/>
                </a:ln>
                <a:solidFill>
                  <a:srgbClr val="FFFFFF"/>
                </a:solidFill>
                <a:effectLst/>
                <a:uLnTx/>
                <a:uFillTx/>
                <a:latin typeface="Arial" panose="020B0604020202020204"/>
                <a:sym typeface="+mn-ea"/>
              </a:rPr>
              <a:t>信息技术中心</a:t>
            </a:r>
          </a:p>
        </p:txBody>
      </p:sp>
      <p:sp>
        <p:nvSpPr>
          <p:cNvPr id="215" name="Rectangle 71"/>
          <p:cNvSpPr/>
          <p:nvPr/>
        </p:nvSpPr>
        <p:spPr>
          <a:xfrm>
            <a:off x="3963385" y="5387975"/>
            <a:ext cx="1196324" cy="23256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数据管理部</a:t>
            </a:r>
          </a:p>
        </p:txBody>
      </p:sp>
      <p:sp>
        <p:nvSpPr>
          <p:cNvPr id="216" name="Rectangle 72"/>
          <p:cNvSpPr/>
          <p:nvPr/>
        </p:nvSpPr>
        <p:spPr>
          <a:xfrm>
            <a:off x="3963385" y="5775615"/>
            <a:ext cx="1196324" cy="232566"/>
          </a:xfrm>
          <a:prstGeom prst="rect">
            <a:avLst/>
          </a:prstGeom>
          <a:solidFill>
            <a:srgbClr val="00B05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业务部门</a:t>
            </a:r>
          </a:p>
        </p:txBody>
      </p:sp>
      <p:sp>
        <p:nvSpPr>
          <p:cNvPr id="217" name="Rectangle 73"/>
          <p:cNvSpPr/>
          <p:nvPr/>
        </p:nvSpPr>
        <p:spPr>
          <a:xfrm>
            <a:off x="3965165" y="6163701"/>
            <a:ext cx="1196324" cy="232566"/>
          </a:xfrm>
          <a:prstGeom prst="rect">
            <a:avLst/>
          </a:prstGeom>
          <a:solidFill>
            <a:srgbClr val="00B050"/>
          </a:solidFill>
          <a:ln w="25400" cap="flat" cmpd="sng" algn="ctr">
            <a:noFill/>
            <a:prstDash val="solid"/>
          </a:ln>
          <a:effectLst/>
        </p:spPr>
        <p:txBody>
          <a:bodyPr rtlCol="0" anchor="ctr">
            <a:noAutofit/>
          </a:bodyPr>
          <a:lstStyle/>
          <a:p>
            <a:pPr lvl="0" algn="ctr">
              <a:spcBef>
                <a:spcPts val="0"/>
              </a:spcBef>
              <a:spcAft>
                <a:spcPts val="0"/>
              </a:spcAft>
              <a:buClrTx/>
              <a:buSzTx/>
              <a:buFontTx/>
              <a:defRPr/>
            </a:pPr>
            <a:r>
              <a:rPr lang="zh-CN" altLang="en-US" sz="1200" b="1" kern="0" noProof="0" dirty="0">
                <a:ln>
                  <a:noFill/>
                </a:ln>
                <a:solidFill>
                  <a:srgbClr val="FFFFFF"/>
                </a:solidFill>
                <a:effectLst/>
                <a:uLnTx/>
                <a:uFillTx/>
                <a:latin typeface="Arial" panose="020B0604020202020204"/>
                <a:sym typeface="+mn-ea"/>
              </a:rPr>
              <a:t>信息技术中心</a:t>
            </a:r>
          </a:p>
        </p:txBody>
      </p:sp>
      <p:sp>
        <p:nvSpPr>
          <p:cNvPr id="218" name="Rectangle 75"/>
          <p:cNvSpPr/>
          <p:nvPr/>
        </p:nvSpPr>
        <p:spPr>
          <a:xfrm>
            <a:off x="5367150" y="5387975"/>
            <a:ext cx="1196324" cy="232566"/>
          </a:xfrm>
          <a:prstGeom prst="rect">
            <a:avLst/>
          </a:prstGeom>
          <a:solidFill>
            <a:srgbClr val="003756">
              <a:lumMod val="75000"/>
              <a:lumOff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数据管理部</a:t>
            </a:r>
          </a:p>
        </p:txBody>
      </p:sp>
      <p:sp>
        <p:nvSpPr>
          <p:cNvPr id="219" name="Rectangle 76"/>
          <p:cNvSpPr/>
          <p:nvPr/>
        </p:nvSpPr>
        <p:spPr>
          <a:xfrm>
            <a:off x="5367150" y="5775615"/>
            <a:ext cx="1196324" cy="232566"/>
          </a:xfrm>
          <a:prstGeom prst="rect">
            <a:avLst/>
          </a:prstGeom>
          <a:solidFill>
            <a:srgbClr val="003756">
              <a:lumMod val="75000"/>
              <a:lumOff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业务部门</a:t>
            </a:r>
          </a:p>
        </p:txBody>
      </p:sp>
      <p:sp>
        <p:nvSpPr>
          <p:cNvPr id="220" name="Rectangle 77"/>
          <p:cNvSpPr/>
          <p:nvPr/>
        </p:nvSpPr>
        <p:spPr>
          <a:xfrm>
            <a:off x="5368930" y="6163701"/>
            <a:ext cx="1196324" cy="232566"/>
          </a:xfrm>
          <a:prstGeom prst="rect">
            <a:avLst/>
          </a:prstGeom>
          <a:solidFill>
            <a:srgbClr val="003756">
              <a:lumMod val="75000"/>
              <a:lumOff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信息技术中心</a:t>
            </a:r>
          </a:p>
        </p:txBody>
      </p:sp>
      <p:sp>
        <p:nvSpPr>
          <p:cNvPr id="221" name="Rectangle 79"/>
          <p:cNvSpPr/>
          <p:nvPr/>
        </p:nvSpPr>
        <p:spPr>
          <a:xfrm>
            <a:off x="6904943" y="5387975"/>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数据管理部</a:t>
            </a:r>
          </a:p>
        </p:txBody>
      </p:sp>
      <p:sp>
        <p:nvSpPr>
          <p:cNvPr id="222" name="Rectangle 80"/>
          <p:cNvSpPr/>
          <p:nvPr/>
        </p:nvSpPr>
        <p:spPr>
          <a:xfrm>
            <a:off x="6904943" y="5775615"/>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业务部门</a:t>
            </a:r>
          </a:p>
        </p:txBody>
      </p:sp>
      <p:sp>
        <p:nvSpPr>
          <p:cNvPr id="223" name="Rectangle 81"/>
          <p:cNvSpPr/>
          <p:nvPr/>
        </p:nvSpPr>
        <p:spPr>
          <a:xfrm>
            <a:off x="6906723" y="6163701"/>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信息技术中心</a:t>
            </a:r>
          </a:p>
        </p:txBody>
      </p:sp>
      <p:sp>
        <p:nvSpPr>
          <p:cNvPr id="224" name="Rectangle 83"/>
          <p:cNvSpPr/>
          <p:nvPr/>
        </p:nvSpPr>
        <p:spPr>
          <a:xfrm>
            <a:off x="8527220" y="5387975"/>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数据管理部</a:t>
            </a:r>
          </a:p>
        </p:txBody>
      </p:sp>
      <p:sp>
        <p:nvSpPr>
          <p:cNvPr id="225" name="Rectangle 84"/>
          <p:cNvSpPr/>
          <p:nvPr/>
        </p:nvSpPr>
        <p:spPr>
          <a:xfrm>
            <a:off x="8527220" y="5775615"/>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业务部门</a:t>
            </a:r>
          </a:p>
        </p:txBody>
      </p:sp>
      <p:sp>
        <p:nvSpPr>
          <p:cNvPr id="226" name="Rectangle 85"/>
          <p:cNvSpPr/>
          <p:nvPr/>
        </p:nvSpPr>
        <p:spPr>
          <a:xfrm>
            <a:off x="8529000" y="6163701"/>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信息技术中心</a:t>
            </a:r>
          </a:p>
        </p:txBody>
      </p:sp>
      <p:sp>
        <p:nvSpPr>
          <p:cNvPr id="227" name="Rectangle 87"/>
          <p:cNvSpPr/>
          <p:nvPr/>
        </p:nvSpPr>
        <p:spPr>
          <a:xfrm>
            <a:off x="10165468" y="5387975"/>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数据管理部</a:t>
            </a:r>
          </a:p>
        </p:txBody>
      </p:sp>
      <p:sp>
        <p:nvSpPr>
          <p:cNvPr id="228" name="Rectangle 88"/>
          <p:cNvSpPr/>
          <p:nvPr/>
        </p:nvSpPr>
        <p:spPr>
          <a:xfrm>
            <a:off x="10165468" y="5775615"/>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业务部门</a:t>
            </a:r>
          </a:p>
        </p:txBody>
      </p:sp>
      <p:sp>
        <p:nvSpPr>
          <p:cNvPr id="229" name="Rectangle 89"/>
          <p:cNvSpPr/>
          <p:nvPr/>
        </p:nvSpPr>
        <p:spPr>
          <a:xfrm>
            <a:off x="10167248" y="6163701"/>
            <a:ext cx="1196324" cy="232566"/>
          </a:xfrm>
          <a:prstGeom prst="rect">
            <a:avLst/>
          </a:prstGeom>
          <a:solidFill>
            <a:srgbClr val="AAD5F7">
              <a:lumMod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FFFFFF"/>
                </a:solidFill>
                <a:effectLst/>
                <a:uLnTx/>
                <a:uFillTx/>
                <a:latin typeface="Arial" panose="020B0604020202020204"/>
                <a:ea typeface="+mn-ea"/>
                <a:cs typeface="+mn-cs"/>
              </a:rPr>
              <a:t>信息技术中心</a:t>
            </a:r>
          </a:p>
        </p:txBody>
      </p:sp>
      <p:sp>
        <p:nvSpPr>
          <p:cNvPr id="230" name="Rectangle 10"/>
          <p:cNvSpPr>
            <a:spLocks noChangeArrowheads="1"/>
          </p:cNvSpPr>
          <p:nvPr/>
        </p:nvSpPr>
        <p:spPr bwMode="auto">
          <a:xfrm>
            <a:off x="7303760" y="1776848"/>
            <a:ext cx="417600" cy="453600"/>
          </a:xfrm>
          <a:prstGeom prst="rect">
            <a:avLst/>
          </a:prstGeom>
          <a:noFill/>
          <a:ln w="6350" algn="ctr">
            <a:solidFill>
              <a:srgbClr val="000000"/>
            </a:solidFill>
            <a:miter lim="800000"/>
          </a:ln>
          <a:effectLst/>
        </p:spPr>
        <p:txBody>
          <a:bodyPr lIns="36000" tIns="91440" rIns="36000" bIns="91440" anchor="ctr"/>
          <a:lstStyle/>
          <a:p>
            <a:pPr marL="12700" marR="0" lvl="0" indent="-12700" algn="ctr" defTabSz="914400" eaLnBrk="1" fontAlgn="auto" latinLnBrk="0" hangingPunct="1">
              <a:lnSpc>
                <a:spcPct val="110000"/>
              </a:lnSpc>
              <a:spcBef>
                <a:spcPts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rPr>
              <a:t>应用</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endParaRPr>
          </a:p>
          <a:p>
            <a:pPr marL="12700" marR="0" lvl="0" indent="-12700" algn="ctr" defTabSz="914400" eaLnBrk="1" fontAlgn="auto" latinLnBrk="0" hangingPunct="1">
              <a:lnSpc>
                <a:spcPct val="110000"/>
              </a:lnSpc>
              <a:spcBef>
                <a:spcPts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rPr>
              <a:t>视角</a:t>
            </a:r>
            <a:endParaRPr kumimoji="0" lang="en-GB" altLang="ja-JP"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231" name="Rectangle 10"/>
          <p:cNvSpPr>
            <a:spLocks noChangeArrowheads="1"/>
          </p:cNvSpPr>
          <p:nvPr/>
        </p:nvSpPr>
        <p:spPr bwMode="auto">
          <a:xfrm>
            <a:off x="6918658" y="2312208"/>
            <a:ext cx="417600" cy="453600"/>
          </a:xfrm>
          <a:prstGeom prst="rect">
            <a:avLst/>
          </a:prstGeom>
          <a:noFill/>
          <a:ln w="6350" algn="ctr">
            <a:solidFill>
              <a:srgbClr val="000000"/>
            </a:solidFill>
            <a:miter lim="800000"/>
          </a:ln>
          <a:effectLst/>
        </p:spPr>
        <p:txBody>
          <a:bodyPr lIns="36000" tIns="91440" rIns="36000" bIns="91440" anchor="ctr"/>
          <a:lstStyle/>
          <a:p>
            <a:pPr marL="12700" marR="0" lvl="0" indent="-12700" algn="ctr" defTabSz="914400" eaLnBrk="1" fontAlgn="auto" latinLnBrk="0" hangingPunct="1">
              <a:lnSpc>
                <a:spcPct val="110000"/>
              </a:lnSpc>
              <a:spcBef>
                <a:spcPts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rPr>
              <a:t>技术</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endParaRPr>
          </a:p>
          <a:p>
            <a:pPr marL="12700" marR="0" lvl="0" indent="-12700" algn="ctr" defTabSz="914400" eaLnBrk="1" fontAlgn="auto" latinLnBrk="0" hangingPunct="1">
              <a:lnSpc>
                <a:spcPct val="110000"/>
              </a:lnSpc>
              <a:spcBef>
                <a:spcPts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rPr>
              <a:t>视角</a:t>
            </a:r>
            <a:endParaRPr kumimoji="0" lang="en-GB" altLang="ja-JP"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232" name="Rectangle 10"/>
          <p:cNvSpPr>
            <a:spLocks noChangeArrowheads="1"/>
          </p:cNvSpPr>
          <p:nvPr/>
        </p:nvSpPr>
        <p:spPr bwMode="auto">
          <a:xfrm>
            <a:off x="7694586" y="2315082"/>
            <a:ext cx="417600" cy="453600"/>
          </a:xfrm>
          <a:prstGeom prst="rect">
            <a:avLst/>
          </a:prstGeom>
          <a:noFill/>
          <a:ln w="6350" algn="ctr">
            <a:solidFill>
              <a:srgbClr val="000000"/>
            </a:solidFill>
            <a:miter lim="800000"/>
          </a:ln>
          <a:effectLst/>
        </p:spPr>
        <p:txBody>
          <a:bodyPr lIns="36000" tIns="91440" rIns="36000" bIns="91440" anchor="ctr"/>
          <a:lstStyle/>
          <a:p>
            <a:pPr marL="12700" marR="0" lvl="0" indent="-12700" algn="ctr" defTabSz="914400" eaLnBrk="1" fontAlgn="auto" latinLnBrk="0" hangingPunct="1">
              <a:lnSpc>
                <a:spcPct val="110000"/>
              </a:lnSpc>
              <a:spcBef>
                <a:spcPts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rPr>
              <a:t>管理</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endParaRPr>
          </a:p>
          <a:p>
            <a:pPr marL="12700" marR="0" lvl="0" indent="-12700" algn="ctr" defTabSz="914400" eaLnBrk="1" fontAlgn="auto" latinLnBrk="0" hangingPunct="1">
              <a:lnSpc>
                <a:spcPct val="110000"/>
              </a:lnSpc>
              <a:spcBef>
                <a:spcPts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rPr>
              <a:t>视角</a:t>
            </a:r>
            <a:endParaRPr kumimoji="0" lang="en-GB" altLang="ja-JP"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cxnSp>
        <p:nvCxnSpPr>
          <p:cNvPr id="233" name="Straight Arrow Connector 6"/>
          <p:cNvCxnSpPr/>
          <p:nvPr/>
        </p:nvCxnSpPr>
        <p:spPr>
          <a:xfrm flipH="1">
            <a:off x="7063681" y="2097053"/>
            <a:ext cx="172800" cy="200903"/>
          </a:xfrm>
          <a:prstGeom prst="straightConnector1">
            <a:avLst/>
          </a:prstGeom>
          <a:noFill/>
          <a:ln w="9525" cap="flat" cmpd="sng" algn="ctr">
            <a:solidFill>
              <a:srgbClr val="00B2F2">
                <a:lumMod val="50000"/>
              </a:srgbClr>
            </a:solidFill>
            <a:prstDash val="solid"/>
            <a:headEnd type="triangle"/>
            <a:tailEnd type="triangle"/>
          </a:ln>
          <a:effectLst/>
        </p:spPr>
      </p:cxnSp>
      <p:cxnSp>
        <p:nvCxnSpPr>
          <p:cNvPr id="234" name="Straight Arrow Connector 93"/>
          <p:cNvCxnSpPr/>
          <p:nvPr/>
        </p:nvCxnSpPr>
        <p:spPr>
          <a:xfrm flipH="1">
            <a:off x="7387058" y="2558597"/>
            <a:ext cx="265118" cy="0"/>
          </a:xfrm>
          <a:prstGeom prst="straightConnector1">
            <a:avLst/>
          </a:prstGeom>
          <a:noFill/>
          <a:ln w="9525" cap="flat" cmpd="sng" algn="ctr">
            <a:solidFill>
              <a:srgbClr val="00B2F2">
                <a:lumMod val="50000"/>
              </a:srgbClr>
            </a:solidFill>
            <a:prstDash val="solid"/>
            <a:headEnd type="triangle"/>
            <a:tailEnd type="triangle"/>
          </a:ln>
          <a:effectLst/>
        </p:spPr>
      </p:cxnSp>
      <p:cxnSp>
        <p:nvCxnSpPr>
          <p:cNvPr id="235" name="Straight Arrow Connector 94"/>
          <p:cNvCxnSpPr/>
          <p:nvPr/>
        </p:nvCxnSpPr>
        <p:spPr>
          <a:xfrm flipH="1" flipV="1">
            <a:off x="7790529" y="2097053"/>
            <a:ext cx="172800" cy="200903"/>
          </a:xfrm>
          <a:prstGeom prst="straightConnector1">
            <a:avLst/>
          </a:prstGeom>
          <a:noFill/>
          <a:ln w="9525" cap="flat" cmpd="sng" algn="ctr">
            <a:solidFill>
              <a:srgbClr val="00B2F2">
                <a:lumMod val="50000"/>
              </a:srgbClr>
            </a:solidFill>
            <a:prstDash val="solid"/>
            <a:headEnd type="triangle"/>
            <a:tailEnd type="triangle"/>
          </a:ln>
          <a:effectLst/>
        </p:spPr>
      </p:cxnSp>
      <p:sp>
        <p:nvSpPr>
          <p:cNvPr id="236" name="Rectangle 7"/>
          <p:cNvSpPr/>
          <p:nvPr/>
        </p:nvSpPr>
        <p:spPr>
          <a:xfrm>
            <a:off x="802640" y="4040945"/>
            <a:ext cx="4551919" cy="790037"/>
          </a:xfrm>
          <a:prstGeom prst="rect">
            <a:avLst/>
          </a:prstGeom>
          <a:noFill/>
          <a:ln w="25400" cap="flat" cmpd="sng" algn="ctr">
            <a:solidFill>
              <a:srgbClr val="000000"/>
            </a:solidFill>
            <a:prstDash val="dash"/>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a:ea typeface="+mn-ea"/>
                <a:cs typeface="+mn-cs"/>
              </a:rPr>
              <a:t>纳标</a:t>
            </a:r>
          </a:p>
        </p:txBody>
      </p:sp>
      <p:sp>
        <p:nvSpPr>
          <p:cNvPr id="237" name="Rectangle 70"/>
          <p:cNvSpPr/>
          <p:nvPr/>
        </p:nvSpPr>
        <p:spPr>
          <a:xfrm>
            <a:off x="5354560" y="4040945"/>
            <a:ext cx="1394919" cy="790037"/>
          </a:xfrm>
          <a:prstGeom prst="rect">
            <a:avLst/>
          </a:prstGeom>
          <a:noFill/>
          <a:ln w="25400" cap="flat" cmpd="sng" algn="ctr">
            <a:solidFill>
              <a:srgbClr val="000000"/>
            </a:solidFill>
            <a:prstDash val="dash"/>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a:ea typeface="+mn-ea"/>
                <a:cs typeface="+mn-cs"/>
              </a:rPr>
              <a:t>定标</a:t>
            </a:r>
          </a:p>
        </p:txBody>
      </p:sp>
      <p:sp>
        <p:nvSpPr>
          <p:cNvPr id="238" name="Rectangle 74"/>
          <p:cNvSpPr/>
          <p:nvPr/>
        </p:nvSpPr>
        <p:spPr>
          <a:xfrm>
            <a:off x="6749480" y="4040945"/>
            <a:ext cx="4802440" cy="790037"/>
          </a:xfrm>
          <a:prstGeom prst="rect">
            <a:avLst/>
          </a:prstGeom>
          <a:noFill/>
          <a:ln w="25400" cap="flat" cmpd="sng" algn="ctr">
            <a:solidFill>
              <a:srgbClr val="000000"/>
            </a:solidFill>
            <a:prstDash val="dash"/>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Arial" panose="020B0604020202020204"/>
                <a:ea typeface="+mn-ea"/>
                <a:cs typeface="+mn-cs"/>
              </a:rPr>
              <a:t>落标</a:t>
            </a:r>
          </a:p>
        </p:txBody>
      </p:sp>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sym typeface="+mn-ea"/>
              </a:rPr>
              <a:t>怎么做数据标准</a:t>
            </a:r>
            <a:r>
              <a:rPr lang="en-US" altLang="zh-CN">
                <a:sym typeface="+mn-ea"/>
              </a:rPr>
              <a:t>——</a:t>
            </a:r>
            <a:r>
              <a:rPr lang="zh-CN" altLang="en-US">
                <a:sym typeface="+mn-ea"/>
              </a:rPr>
              <a:t>数据标准执行落地方法</a:t>
            </a:r>
          </a:p>
        </p:txBody>
      </p:sp>
      <p:sp>
        <p:nvSpPr>
          <p:cNvPr id="44" name="AutoShape 44"/>
          <p:cNvSpPr>
            <a:spLocks noChangeArrowheads="1"/>
          </p:cNvSpPr>
          <p:nvPr/>
        </p:nvSpPr>
        <p:spPr bwMode="auto">
          <a:xfrm>
            <a:off x="763213" y="1107290"/>
            <a:ext cx="1801617" cy="441705"/>
          </a:xfrm>
          <a:prstGeom prst="roundRect">
            <a:avLst/>
          </a:prstGeom>
          <a:solidFill>
            <a:srgbClr val="7BA7D3">
              <a:alpha val="78000"/>
            </a:srgbClr>
          </a:solidFill>
          <a:ln w="19050" algn="ctr">
            <a:solidFill>
              <a:srgbClr val="3D7BB9"/>
            </a:solidFill>
            <a:prstDash val="dash"/>
            <a:miter lim="800000"/>
          </a:ln>
          <a:effectLst/>
        </p:spPr>
        <p:txBody>
          <a:bodyPr lIns="0" tIns="0" rIns="0" bIns="0" anchor="ctr" anchorCtr="1"/>
          <a:lstStyle/>
          <a:p>
            <a:pPr algn="ctr" fontAlgn="base">
              <a:spcBef>
                <a:spcPct val="0"/>
              </a:spcBef>
              <a:spcAft>
                <a:spcPct val="0"/>
              </a:spcAft>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定义数据标准</a:t>
            </a:r>
          </a:p>
        </p:txBody>
      </p:sp>
      <p:sp>
        <p:nvSpPr>
          <p:cNvPr id="45" name="AutoShape 44"/>
          <p:cNvSpPr>
            <a:spLocks noChangeArrowheads="1"/>
          </p:cNvSpPr>
          <p:nvPr/>
        </p:nvSpPr>
        <p:spPr bwMode="auto">
          <a:xfrm>
            <a:off x="691077" y="1867334"/>
            <a:ext cx="1709586" cy="564786"/>
          </a:xfrm>
          <a:prstGeom prst="roundRect">
            <a:avLst/>
          </a:prstGeom>
          <a:solidFill>
            <a:srgbClr val="3D7BB9"/>
          </a:solidFill>
          <a:ln w="6350" cap="flat" cmpd="sng" algn="ctr">
            <a:no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noAutofit/>
          </a:bodyPr>
          <a:lstStyle/>
          <a:p>
            <a:pPr marL="93980" indent="-93980" algn="ctr" eaLnBrk="0" fontAlgn="base" hangingPunct="0">
              <a:spcBef>
                <a:spcPct val="0"/>
              </a:spcBef>
              <a:spcAft>
                <a:spcPct val="0"/>
              </a:spcAft>
              <a:buFont typeface="Wingdings" panose="05000000000000000000" pitchFamily="2" charset="2"/>
              <a:buNone/>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确定标准落地范围及策略</a:t>
            </a:r>
          </a:p>
        </p:txBody>
      </p:sp>
      <p:sp>
        <p:nvSpPr>
          <p:cNvPr id="46" name="AutoShape 44"/>
          <p:cNvSpPr>
            <a:spLocks noChangeArrowheads="1"/>
          </p:cNvSpPr>
          <p:nvPr/>
        </p:nvSpPr>
        <p:spPr bwMode="auto">
          <a:xfrm>
            <a:off x="5168879" y="1867334"/>
            <a:ext cx="1709586" cy="564786"/>
          </a:xfrm>
          <a:prstGeom prst="roundRect">
            <a:avLst/>
          </a:prstGeom>
          <a:solidFill>
            <a:srgbClr val="3D7BB9"/>
          </a:solidFill>
          <a:ln w="6350" cap="flat" cmpd="sng" algn="ctr">
            <a:no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noAutofit/>
          </a:bodyPr>
          <a:lstStyle/>
          <a:p>
            <a:pPr marL="93980" indent="-93980" algn="ctr" eaLnBrk="0" fontAlgn="base" hangingPunct="0">
              <a:spcBef>
                <a:spcPct val="0"/>
              </a:spcBef>
              <a:spcAft>
                <a:spcPct val="0"/>
              </a:spcAft>
              <a:buFont typeface="Wingdings" panose="05000000000000000000" pitchFamily="2" charset="2"/>
              <a:buNone/>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制定落地方案</a:t>
            </a:r>
            <a:endParaRPr lang="en-US" altLang="zh-CN"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AutoShape 44"/>
          <p:cNvSpPr>
            <a:spLocks noChangeArrowheads="1"/>
          </p:cNvSpPr>
          <p:nvPr/>
        </p:nvSpPr>
        <p:spPr bwMode="auto">
          <a:xfrm>
            <a:off x="7407781" y="1867334"/>
            <a:ext cx="1709586" cy="564786"/>
          </a:xfrm>
          <a:prstGeom prst="roundRect">
            <a:avLst/>
          </a:prstGeom>
          <a:solidFill>
            <a:srgbClr val="3D7BB9"/>
          </a:solidFill>
          <a:ln w="6350" cap="flat" cmpd="sng" algn="ctr">
            <a:no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noAutofit/>
          </a:bodyPr>
          <a:lstStyle/>
          <a:p>
            <a:pPr marL="93980" indent="-93980" algn="ctr" eaLnBrk="0" fontAlgn="base" hangingPunct="0">
              <a:spcBef>
                <a:spcPct val="0"/>
              </a:spcBef>
              <a:spcAft>
                <a:spcPct val="0"/>
              </a:spcAft>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标准落地实施</a:t>
            </a:r>
            <a:endParaRPr lang="en-US" altLang="zh-CN"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8" name="AutoShape 44"/>
          <p:cNvSpPr>
            <a:spLocks noChangeArrowheads="1"/>
          </p:cNvSpPr>
          <p:nvPr/>
        </p:nvSpPr>
        <p:spPr bwMode="auto">
          <a:xfrm>
            <a:off x="9646683" y="1867334"/>
            <a:ext cx="1709586" cy="564786"/>
          </a:xfrm>
          <a:prstGeom prst="roundRect">
            <a:avLst/>
          </a:prstGeom>
          <a:solidFill>
            <a:srgbClr val="3D7BB9"/>
          </a:solidFill>
          <a:ln w="6350" cap="flat" cmpd="sng" algn="ctr">
            <a:no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noAutofit/>
          </a:bodyPr>
          <a:lstStyle/>
          <a:p>
            <a:pPr marL="93980" indent="-93980" algn="ctr" eaLnBrk="0" fontAlgn="base" hangingPunct="0">
              <a:spcBef>
                <a:spcPct val="0"/>
              </a:spcBef>
              <a:spcAft>
                <a:spcPct val="0"/>
              </a:spcAft>
              <a:buFont typeface="Wingdings" panose="05000000000000000000" pitchFamily="2" charset="2"/>
              <a:buNone/>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落地实施</a:t>
            </a:r>
            <a:endParaRPr lang="en-US" altLang="zh-CN"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a:p>
            <a:pPr marL="93980" indent="-93980" algn="ctr" eaLnBrk="0" fontAlgn="base" hangingPunct="0">
              <a:spcBef>
                <a:spcPct val="0"/>
              </a:spcBef>
              <a:spcAft>
                <a:spcPct val="0"/>
              </a:spcAft>
              <a:buFont typeface="Wingdings" panose="05000000000000000000" pitchFamily="2" charset="2"/>
              <a:buNone/>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跟踪检查</a:t>
            </a:r>
            <a:endParaRPr lang="en-US" altLang="zh-CN"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9" name="Right Arrow 20"/>
          <p:cNvSpPr/>
          <p:nvPr/>
        </p:nvSpPr>
        <p:spPr bwMode="auto">
          <a:xfrm>
            <a:off x="2429774" y="1974666"/>
            <a:ext cx="478521" cy="387320"/>
          </a:xfrm>
          <a:prstGeom prst="rightArrow">
            <a:avLst/>
          </a:prstGeom>
          <a:solidFill>
            <a:schemeClr val="bg1">
              <a:lumMod val="85000"/>
            </a:schemeClr>
          </a:solidFill>
          <a:ln w="6350" cap="flat" cmpd="sng" algn="ctr">
            <a:noFill/>
            <a:prstDash val="solid"/>
            <a:round/>
            <a:headEnd type="none" w="med" len="med"/>
            <a:tailEnd type="none" w="med" len="med"/>
          </a:ln>
          <a:effectLst/>
        </p:spPr>
        <p:txBody>
          <a:bodyPr vert="horz" wrap="none" lIns="91440" tIns="91440" rIns="91440" bIns="91440" numCol="1" rtlCol="0" anchor="ctr" anchorCtr="0" compatLnSpc="1"/>
          <a:lstStyle/>
          <a:p>
            <a:pPr marL="93980" marR="0" lvl="0" indent="-93980" defTabSz="91440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sz="1600" b="0" i="0" u="none" strike="noStrike" kern="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0" name="Right Arrow 21"/>
          <p:cNvSpPr/>
          <p:nvPr/>
        </p:nvSpPr>
        <p:spPr bwMode="auto">
          <a:xfrm>
            <a:off x="9146944" y="1965233"/>
            <a:ext cx="478521" cy="387320"/>
          </a:xfrm>
          <a:prstGeom prst="rightArrow">
            <a:avLst/>
          </a:prstGeom>
          <a:solidFill>
            <a:schemeClr val="bg1">
              <a:lumMod val="85000"/>
            </a:schemeClr>
          </a:solidFill>
          <a:ln w="6350" cap="flat" cmpd="sng" algn="ctr">
            <a:noFill/>
            <a:prstDash val="solid"/>
            <a:round/>
            <a:headEnd type="none" w="med" len="med"/>
            <a:tailEnd type="none" w="med" len="med"/>
          </a:ln>
          <a:effectLst/>
        </p:spPr>
        <p:txBody>
          <a:bodyPr vert="horz" wrap="none" lIns="91440" tIns="91440" rIns="91440" bIns="91440" numCol="1" rtlCol="0" anchor="ctr" anchorCtr="0" compatLnSpc="1"/>
          <a:lstStyle/>
          <a:p>
            <a:pPr marL="93980" marR="0" lvl="0" indent="-93980" defTabSz="91440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sz="1600" b="0" i="0" u="none" strike="noStrike" kern="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Right Arrow 22"/>
          <p:cNvSpPr/>
          <p:nvPr/>
        </p:nvSpPr>
        <p:spPr bwMode="auto">
          <a:xfrm>
            <a:off x="6929260" y="1971697"/>
            <a:ext cx="478521" cy="387320"/>
          </a:xfrm>
          <a:prstGeom prst="rightArrow">
            <a:avLst/>
          </a:prstGeom>
          <a:solidFill>
            <a:schemeClr val="bg1">
              <a:lumMod val="85000"/>
            </a:schemeClr>
          </a:solidFill>
          <a:ln w="6350" cap="flat" cmpd="sng" algn="ctr">
            <a:noFill/>
            <a:prstDash val="solid"/>
            <a:round/>
            <a:headEnd type="none" w="med" len="med"/>
            <a:tailEnd type="none" w="med" len="med"/>
          </a:ln>
          <a:effectLst/>
        </p:spPr>
        <p:txBody>
          <a:bodyPr vert="horz" wrap="none" lIns="91440" tIns="91440" rIns="91440" bIns="91440" numCol="1" rtlCol="0" anchor="ctr" anchorCtr="0" compatLnSpc="1"/>
          <a:lstStyle/>
          <a:p>
            <a:pPr marL="93980" marR="0" lvl="0" indent="-93980" defTabSz="91440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sz="1600" b="0" i="0" u="none" strike="noStrike" kern="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2" name="Right Arrow 23"/>
          <p:cNvSpPr/>
          <p:nvPr/>
        </p:nvSpPr>
        <p:spPr bwMode="auto">
          <a:xfrm>
            <a:off x="4685877" y="1971698"/>
            <a:ext cx="478521" cy="387320"/>
          </a:xfrm>
          <a:prstGeom prst="rightArrow">
            <a:avLst/>
          </a:prstGeom>
          <a:solidFill>
            <a:schemeClr val="bg1">
              <a:lumMod val="85000"/>
            </a:schemeClr>
          </a:solidFill>
          <a:ln w="6350" cap="flat" cmpd="sng" algn="ctr">
            <a:noFill/>
            <a:prstDash val="solid"/>
            <a:round/>
            <a:headEnd type="none" w="med" len="med"/>
            <a:tailEnd type="none" w="med" len="med"/>
          </a:ln>
          <a:effectLst/>
        </p:spPr>
        <p:txBody>
          <a:bodyPr vert="horz" wrap="none" lIns="91440" tIns="91440" rIns="91440" bIns="91440" numCol="1" rtlCol="0" anchor="ctr" anchorCtr="0" compatLnSpc="1"/>
          <a:lstStyle/>
          <a:p>
            <a:pPr marL="93980" marR="0" lvl="0" indent="-93980" defTabSz="914400" eaLnBrk="0" fontAlgn="base" latinLnBrk="0" hangingPunct="0">
              <a:lnSpc>
                <a:spcPct val="100000"/>
              </a:lnSpc>
              <a:spcBef>
                <a:spcPct val="0"/>
              </a:spcBef>
              <a:spcAft>
                <a:spcPct val="0"/>
              </a:spcAft>
              <a:buClrTx/>
              <a:buSzTx/>
              <a:buFont typeface="Wingdings" panose="05000000000000000000" pitchFamily="2" charset="2"/>
              <a:buNone/>
              <a:defRPr/>
            </a:pPr>
            <a:endParaRPr kumimoji="0" lang="en-US" sz="1600" b="0" i="0" u="none" strike="noStrike" kern="0" cap="none" spc="0" normalizeH="0" baseline="0" noProof="0">
              <a:ln>
                <a:noFill/>
              </a:ln>
              <a:solidFill>
                <a:srgbClr val="FF33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3" name="Rectangle 24"/>
          <p:cNvSpPr/>
          <p:nvPr/>
        </p:nvSpPr>
        <p:spPr bwMode="auto">
          <a:xfrm>
            <a:off x="645202" y="2471357"/>
            <a:ext cx="1943674" cy="3640685"/>
          </a:xfrm>
          <a:prstGeom prst="rect">
            <a:avLst/>
          </a:prstGeom>
          <a:noFill/>
          <a:ln w="6350" cap="flat" cmpd="sng" algn="ctr">
            <a:solidFill>
              <a:srgbClr val="000000"/>
            </a:solidFill>
            <a:prstDash val="solid"/>
            <a:round/>
            <a:headEnd type="none" w="med" len="med"/>
            <a:tailEnd type="none" w="med" len="med"/>
          </a:ln>
          <a:effectLst/>
        </p:spPr>
        <p:txBody>
          <a:bodyPr wrap="square" tIns="91440" bIns="91440" anchor="t"/>
          <a:lstStyle/>
          <a:p>
            <a:pPr marL="0" marR="0" lvl="0" indent="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在应用系统标准落地的主题：</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产品</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客户</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协议</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p>
          <a:p>
            <a:pPr marL="0" marR="0" lvl="0" indent="0" defTabSz="914400" eaLnBrk="0" fontAlgn="base" latinLnBrk="0" hangingPunct="0">
              <a:lnSpc>
                <a:spcPct val="150000"/>
              </a:lnSpc>
              <a:spcBef>
                <a:spcPct val="0"/>
              </a:spcBef>
              <a:spcAft>
                <a:spcPct val="0"/>
              </a:spcAft>
              <a:buClrTx/>
              <a:buSzTx/>
              <a:buFontTx/>
              <a:buNone/>
              <a:defRPr/>
            </a:pP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在应用系统标准落地的内容：</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信息项</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代码</a:t>
            </a: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引用国标、行标、公司标准</a:t>
            </a:r>
          </a:p>
        </p:txBody>
      </p:sp>
      <p:sp>
        <p:nvSpPr>
          <p:cNvPr id="54" name="Rectangle 25"/>
          <p:cNvSpPr/>
          <p:nvPr/>
        </p:nvSpPr>
        <p:spPr bwMode="auto">
          <a:xfrm>
            <a:off x="2888663" y="2471357"/>
            <a:ext cx="1943674" cy="3640685"/>
          </a:xfrm>
          <a:prstGeom prst="rect">
            <a:avLst/>
          </a:prstGeom>
          <a:noFill/>
          <a:ln w="6350" cap="flat" cmpd="sng" algn="ctr">
            <a:solidFill>
              <a:srgbClr val="000000"/>
            </a:solidFill>
            <a:prstDash val="solid"/>
            <a:round/>
            <a:headEnd type="none" w="med" len="med"/>
            <a:tailEnd type="none" w="med" len="med"/>
          </a:ln>
          <a:effectLst/>
        </p:spPr>
        <p:txBody>
          <a:bodyPr wrap="square" tIns="91440" bIns="91440" anchor="t"/>
          <a:lstStyle/>
          <a:p>
            <a:pPr marL="0" marR="0" lvl="0" indent="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分析对象：</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应用系统的数据模型、码表与数据标准的信息项、代码进行差异分析</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endParaRPr kumimoji="0" lang="zh-CN" altLang="en-US"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分析方式：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针对信息项以及代码，将标准与现状进行映射</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endParaRPr kumimoji="0" lang="en-US" altLang="zh-CN"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工作方式：</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标准组与应用项目组分析并多次交流沟通</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endParaRPr kumimoji="0" lang="en-US" altLang="zh-CN" sz="105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收益预测：</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对数据标准落地的收益进行分析</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对现有系统由数据引起的问题进行分析</a:t>
            </a:r>
          </a:p>
        </p:txBody>
      </p:sp>
      <p:sp>
        <p:nvSpPr>
          <p:cNvPr id="55" name="Rectangle 26"/>
          <p:cNvSpPr/>
          <p:nvPr/>
        </p:nvSpPr>
        <p:spPr bwMode="auto">
          <a:xfrm>
            <a:off x="5051564" y="2471357"/>
            <a:ext cx="1943674" cy="3640685"/>
          </a:xfrm>
          <a:prstGeom prst="rect">
            <a:avLst/>
          </a:prstGeom>
          <a:noFill/>
          <a:ln w="6350" cap="flat" cmpd="sng" algn="ctr">
            <a:solidFill>
              <a:srgbClr val="000000"/>
            </a:solidFill>
            <a:prstDash val="solid"/>
            <a:round/>
            <a:headEnd type="none" w="med" len="med"/>
            <a:tailEnd type="none" w="med" len="med"/>
          </a:ln>
          <a:effectLst/>
        </p:spPr>
        <p:txBody>
          <a:bodyPr wrap="square" tIns="91440" bIns="91440" anchor="t"/>
          <a:lstStyle/>
          <a:p>
            <a:pPr marL="0" marR="0" lvl="0" indent="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对应用系统落地建议：</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从信息项、代码等各方面对历史数据及现有系统的数据集及代码等提出落地建议</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50000"/>
              </a:lnSpc>
              <a:spcBef>
                <a:spcPct val="0"/>
              </a:spcBef>
              <a:spcAft>
                <a:spcPct val="0"/>
              </a:spcAft>
              <a:buClrTx/>
              <a:buSzTx/>
              <a:buFont typeface="Wingdings" panose="05000000000000000000" pitchFamily="2" charset="2"/>
              <a:buChar char="§"/>
              <a:defRPr/>
            </a:pPr>
            <a:endPar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 typeface="Wingdings" panose="05000000000000000000" pitchFamily="2" charset="2"/>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对数据标准的建议：</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根据实际应用情况，对数据标准组提出修订建议</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方案制定</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7800" marR="0" lvl="0" indent="-17780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业务方案</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7800" marR="0" lvl="0" indent="-17780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系统建设</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改造方案（需求、设计）</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defRPr/>
            </a:pP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6" name="Rectangle 27"/>
          <p:cNvSpPr/>
          <p:nvPr/>
        </p:nvSpPr>
        <p:spPr bwMode="auto">
          <a:xfrm>
            <a:off x="7290736" y="2471357"/>
            <a:ext cx="1943674" cy="3640685"/>
          </a:xfrm>
          <a:prstGeom prst="rect">
            <a:avLst/>
          </a:prstGeom>
          <a:noFill/>
          <a:ln w="6350" cap="flat" cmpd="sng" algn="ctr">
            <a:solidFill>
              <a:srgbClr val="000000"/>
            </a:solidFill>
            <a:prstDash val="solid"/>
            <a:round/>
            <a:headEnd type="none" w="med" len="med"/>
            <a:tailEnd type="none" w="med" len="med"/>
          </a:ln>
          <a:effectLst/>
        </p:spPr>
        <p:txBody>
          <a:bodyPr wrap="square" tIns="91440" bIns="91440" anchor="t"/>
          <a:lstStyle/>
          <a:p>
            <a:pPr marL="0" marR="0" lvl="0" indent="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系统建设</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改造</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新建系统调整（模型、界面、功能、接口）</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已有系统短期兼容方案</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已有系统长期改造方案（模型、</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界面、功能、接口）</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建设</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改造同步方案</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85725" marR="0" lvl="0" indent="-85725" defTabSz="914400" eaLnBrk="0" fontAlgn="base" latinLnBrk="0" hangingPunct="0">
              <a:lnSpc>
                <a:spcPct val="150000"/>
              </a:lnSpc>
              <a:spcBef>
                <a:spcPct val="0"/>
              </a:spcBef>
              <a:spcAft>
                <a:spcPct val="0"/>
              </a:spcAft>
              <a:buClrTx/>
              <a:buSzTx/>
              <a:buFont typeface="Wingdings" panose="05000000000000000000" pitchFamily="2" charset="2"/>
              <a:buChar char="§"/>
              <a:defRPr/>
            </a:pP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93980" marR="0" lvl="0" indent="-9398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历史数据清洗</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85725" marR="0" lvl="0" indent="-85725"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辅助数据补录</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85725" marR="0" lvl="0" indent="-85725"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历史数据转换</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85725" marR="0" lvl="0" indent="-85725" defTabSz="914400" eaLnBrk="0" fontAlgn="base" latinLnBrk="0" hangingPunct="0">
              <a:lnSpc>
                <a:spcPct val="15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问题数据手工调整</a:t>
            </a:r>
            <a:endParaRPr kumimoji="0" 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85725" marR="0" lvl="0" indent="-85725" defTabSz="914400" eaLnBrk="0" fontAlgn="base" latinLnBrk="0" hangingPunct="0">
              <a:lnSpc>
                <a:spcPct val="150000"/>
              </a:lnSpc>
              <a:spcBef>
                <a:spcPct val="0"/>
              </a:spcBef>
              <a:spcAft>
                <a:spcPct val="0"/>
              </a:spcAft>
              <a:buClrTx/>
              <a:buSzTx/>
              <a:buFont typeface="Wingdings" panose="05000000000000000000" pitchFamily="2" charset="2"/>
              <a:buChar char="§"/>
              <a:defRPr/>
            </a:pPr>
            <a:endParaRPr kumimoji="0" lang="en-US" altLang="zh-CN" sz="8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7" name="Rectangle 28"/>
          <p:cNvSpPr/>
          <p:nvPr/>
        </p:nvSpPr>
        <p:spPr bwMode="auto">
          <a:xfrm>
            <a:off x="9529639" y="2471357"/>
            <a:ext cx="1943674" cy="3640685"/>
          </a:xfrm>
          <a:prstGeom prst="rect">
            <a:avLst/>
          </a:prstGeom>
          <a:noFill/>
          <a:ln w="6350" cap="flat" cmpd="sng" algn="ctr">
            <a:solidFill>
              <a:srgbClr val="000000"/>
            </a:solidFill>
            <a:prstDash val="solid"/>
            <a:round/>
            <a:headEnd type="none" w="med" len="med"/>
            <a:tailEnd type="none" w="med" len="med"/>
          </a:ln>
          <a:effectLst/>
        </p:spPr>
        <p:txBody>
          <a:bodyPr wrap="square" tIns="91440" bIns="91440" anchor="t"/>
          <a:lstStyle/>
          <a:p>
            <a:pPr marL="0" marR="0" lvl="0" indent="0" defTabSz="91440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各系统建设改造过程中的跟踪检查</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对落地的应用系统落地情况进行检查，包括数据库模型、文档、界面等</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914400" eaLnBrk="0" fontAlgn="base" latinLnBrk="0" hangingPunct="0">
              <a:lnSpc>
                <a:spcPct val="100000"/>
              </a:lnSpc>
              <a:spcBef>
                <a:spcPct val="0"/>
              </a:spcBef>
              <a:spcAft>
                <a:spcPct val="0"/>
              </a:spcAft>
              <a:buClrTx/>
              <a:buSzTx/>
              <a:buFont typeface="Wingdings" panose="05000000000000000000" pitchFamily="2" charset="2"/>
              <a:buChar char="§"/>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对与落地应用系统相连的周边系统的改造情况进行跟踪检查，主要包括数据库模型、文档、界面等</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8" name="Elbow Connector 29"/>
          <p:cNvCxnSpPr>
            <a:stCxn id="46" idx="0"/>
            <a:endCxn id="44" idx="3"/>
          </p:cNvCxnSpPr>
          <p:nvPr/>
        </p:nvCxnSpPr>
        <p:spPr bwMode="auto">
          <a:xfrm rot="16200000" flipV="1">
            <a:off x="4024656" y="-131682"/>
            <a:ext cx="539191" cy="3458842"/>
          </a:xfrm>
          <a:prstGeom prst="bentConnector2">
            <a:avLst/>
          </a:prstGeom>
          <a:solidFill>
            <a:srgbClr val="FFFF66"/>
          </a:solidFill>
          <a:ln w="6350" cap="flat" cmpd="sng" algn="ctr">
            <a:solidFill>
              <a:srgbClr val="000000"/>
            </a:solidFill>
            <a:prstDash val="solid"/>
            <a:round/>
            <a:headEnd type="none" w="med" len="med"/>
            <a:tailEnd type="triangle"/>
          </a:ln>
          <a:effectLst/>
        </p:spPr>
      </p:cxnSp>
      <p:cxnSp>
        <p:nvCxnSpPr>
          <p:cNvPr id="17" name="Elbow Connector 30"/>
          <p:cNvCxnSpPr>
            <a:stCxn id="47" idx="0"/>
            <a:endCxn id="44" idx="3"/>
          </p:cNvCxnSpPr>
          <p:nvPr/>
        </p:nvCxnSpPr>
        <p:spPr bwMode="auto">
          <a:xfrm rot="16200000" flipV="1">
            <a:off x="5144107" y="-1251133"/>
            <a:ext cx="539191" cy="5697743"/>
          </a:xfrm>
          <a:prstGeom prst="bentConnector2">
            <a:avLst/>
          </a:prstGeom>
          <a:solidFill>
            <a:srgbClr val="FFFF66"/>
          </a:solidFill>
          <a:ln w="6350" cap="flat" cmpd="sng" algn="ctr">
            <a:solidFill>
              <a:srgbClr val="000000"/>
            </a:solidFill>
            <a:prstDash val="solid"/>
            <a:round/>
            <a:headEnd type="none" w="med" len="med"/>
            <a:tailEnd type="triangle"/>
          </a:ln>
          <a:effectLst/>
        </p:spPr>
      </p:cxnSp>
      <p:sp>
        <p:nvSpPr>
          <p:cNvPr id="60" name="TextBox 31"/>
          <p:cNvSpPr txBox="1"/>
          <p:nvPr/>
        </p:nvSpPr>
        <p:spPr>
          <a:xfrm>
            <a:off x="5413702" y="1189643"/>
            <a:ext cx="1300831" cy="276999"/>
          </a:xfrm>
          <a:prstGeom prst="rect">
            <a:avLst/>
          </a:prstGeom>
          <a:solidFill>
            <a:srgbClr val="FFFFFF"/>
          </a:solid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数据标准调整</a:t>
            </a:r>
            <a:endParaRPr kumimoji="0" 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61" name="Group 32"/>
          <p:cNvGrpSpPr/>
          <p:nvPr/>
        </p:nvGrpSpPr>
        <p:grpSpPr>
          <a:xfrm>
            <a:off x="2921136" y="1846730"/>
            <a:ext cx="1718427" cy="593964"/>
            <a:chOff x="2260884" y="1690600"/>
            <a:chExt cx="1519820" cy="593964"/>
          </a:xfrm>
        </p:grpSpPr>
        <p:sp>
          <p:nvSpPr>
            <p:cNvPr id="62" name="AutoShape 44"/>
            <p:cNvSpPr>
              <a:spLocks noChangeArrowheads="1"/>
            </p:cNvSpPr>
            <p:nvPr/>
          </p:nvSpPr>
          <p:spPr bwMode="auto">
            <a:xfrm>
              <a:off x="2268704" y="1996564"/>
              <a:ext cx="1512000" cy="288000"/>
            </a:xfrm>
            <a:prstGeom prst="roundRect">
              <a:avLst/>
            </a:prstGeom>
            <a:solidFill>
              <a:srgbClr val="3D7BB9"/>
            </a:solidFill>
            <a:ln w="6350" cap="flat" cmpd="sng" algn="ctr">
              <a:no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noAutofit/>
            </a:bodyPr>
            <a:lstStyle/>
            <a:p>
              <a:pPr marL="93980" indent="-93980" algn="ctr" eaLnBrk="0" fontAlgn="base" hangingPunct="0">
                <a:spcBef>
                  <a:spcPct val="0"/>
                </a:spcBef>
                <a:spcAft>
                  <a:spcPct val="0"/>
                </a:spcAft>
                <a:buFont typeface="Wingdings" panose="05000000000000000000" pitchFamily="2" charset="2"/>
                <a:buNone/>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标准落地分析</a:t>
              </a:r>
            </a:p>
          </p:txBody>
        </p:sp>
        <p:sp>
          <p:nvSpPr>
            <p:cNvPr id="63" name="AutoShape 44"/>
            <p:cNvSpPr>
              <a:spLocks noChangeArrowheads="1"/>
            </p:cNvSpPr>
            <p:nvPr/>
          </p:nvSpPr>
          <p:spPr bwMode="auto">
            <a:xfrm>
              <a:off x="2260884" y="1690600"/>
              <a:ext cx="1512000" cy="288000"/>
            </a:xfrm>
            <a:prstGeom prst="roundRect">
              <a:avLst/>
            </a:prstGeom>
            <a:solidFill>
              <a:srgbClr val="3D7BB9"/>
            </a:solidFill>
            <a:ln w="6350" cap="flat" cmpd="sng" algn="ctr">
              <a:noFill/>
              <a:prstDash val="solid"/>
              <a:round/>
              <a:headEnd type="none" w="med" len="med"/>
              <a:tailEnd type="none" w="med" len="med"/>
            </a:ln>
            <a:effectLst/>
          </p:spPr>
          <p:txBody>
            <a:bodyPr rot="0" spcFirstLastPara="0" vertOverflow="overflow" horzOverflow="overflow" vert="horz" wrap="square" lIns="91440" tIns="91440" rIns="91440" bIns="91440" numCol="1" spcCol="0" rtlCol="0" fromWordArt="0" anchor="ctr" anchorCtr="0" forceAA="0" compatLnSpc="1">
              <a:noAutofit/>
            </a:bodyPr>
            <a:lstStyle/>
            <a:p>
              <a:pPr marL="93980" indent="-93980" algn="ctr" eaLnBrk="0" fontAlgn="base" hangingPunct="0">
                <a:spcBef>
                  <a:spcPct val="0"/>
                </a:spcBef>
                <a:spcAft>
                  <a:spcPct val="0"/>
                </a:spcAft>
                <a:buFont typeface="Wingdings" panose="05000000000000000000" pitchFamily="2" charset="2"/>
                <a:buNone/>
              </a:pPr>
              <a:r>
                <a:rPr lang="zh-CN" altLang="en-US" sz="140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收益预测</a:t>
              </a:r>
            </a:p>
          </p:txBody>
        </p:sp>
        <p:sp>
          <p:nvSpPr>
            <p:cNvPr id="64" name="Rounded Rectangle 35"/>
            <p:cNvSpPr/>
            <p:nvPr/>
          </p:nvSpPr>
          <p:spPr bwMode="auto">
            <a:xfrm>
              <a:off x="2260885" y="1711204"/>
              <a:ext cx="1512000" cy="564786"/>
            </a:xfrm>
            <a:prstGeom prst="roundRect">
              <a:avLst/>
            </a:prstGeom>
            <a:noFill/>
            <a:ln w="6350" cap="flat" cmpd="sng" algn="ctr">
              <a:solidFill>
                <a:srgbClr val="3D7BB9"/>
              </a:solidFill>
              <a:prstDash val="solid"/>
              <a:round/>
              <a:headEnd type="none" w="med" len="med"/>
              <a:tailEnd type="none" w="med" len="med"/>
            </a:ln>
            <a:effectLst/>
          </p:spPr>
          <p:txBody>
            <a:bodyPr vert="horz" wrap="none" lIns="91440" tIns="91440" rIns="91440" bIns="91440" numCol="1" rtlCol="0" anchor="ctr" anchorCtr="0" compatLnSpc="1"/>
            <a:lstStyle/>
            <a:p>
              <a:pPr marL="93980" indent="-93980" eaLnBrk="0" fontAlgn="base" hangingPunct="0">
                <a:spcBef>
                  <a:spcPct val="0"/>
                </a:spcBef>
                <a:spcAft>
                  <a:spcPct val="0"/>
                </a:spcAft>
                <a:buFont typeface="Wingdings" panose="05000000000000000000" pitchFamily="2" charset="2"/>
                <a:buNone/>
              </a:pPr>
              <a:endParaRPr lang="en-US" sz="1600">
                <a:solidFill>
                  <a:srgbClr val="FF3300"/>
                </a:solidFill>
                <a:latin typeface="微软雅黑" panose="020B0503020204020204" pitchFamily="34" charset="-122"/>
                <a:ea typeface="微软雅黑" panose="020B0503020204020204" pitchFamily="34" charset="-122"/>
                <a:cs typeface="Arial" panose="020B0604020202020204" pitchFamily="34" charset="0"/>
              </a:endParaRPr>
            </a:p>
          </p:txBody>
        </p:sp>
      </p:gr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怎么做数据标准</a:t>
            </a:r>
            <a:r>
              <a:rPr lang="en-US" altLang="zh-CN">
                <a:sym typeface="+mn-ea"/>
              </a:rPr>
              <a:t>——</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mn-ea"/>
              </a:rPr>
              <a:t>数据标准落地执行的关键因素与总体策略</a:t>
            </a:r>
            <a:endParaRPr lang="en-US" altLang="zh-CN">
              <a:sym typeface="+mn-ea"/>
            </a:endParaRPr>
          </a:p>
        </p:txBody>
      </p:sp>
      <p:sp>
        <p:nvSpPr>
          <p:cNvPr id="18" name="Rectangle 19"/>
          <p:cNvSpPr/>
          <p:nvPr/>
        </p:nvSpPr>
        <p:spPr bwMode="auto">
          <a:xfrm>
            <a:off x="1083674" y="834775"/>
            <a:ext cx="9918002" cy="761815"/>
          </a:xfrm>
          <a:prstGeom prst="rect">
            <a:avLst/>
          </a:prstGeom>
          <a:noFill/>
          <a:ln w="15875">
            <a:noFill/>
            <a:round/>
            <a:tailEnd type="triangle" w="med" len="med"/>
          </a:ln>
        </p:spPr>
        <p:txBody>
          <a:bodyPr lIns="0" tIns="0" rIns="0" bIns="0" rtlCol="0" anchor="ctr"/>
          <a:lstStyle/>
          <a:p>
            <a:pPr defTabSz="429895" fontAlgn="base">
              <a:spcBef>
                <a:spcPct val="0"/>
              </a:spcBef>
              <a:spcAft>
                <a:spcPct val="0"/>
              </a:spcAft>
            </a:pPr>
            <a:r>
              <a:rPr lang="zh-CN" altLang="en-US" sz="1600"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数据标准落地是一项持续性的工作，其价值毋庸置疑，但同时在落地过程中也会为系统建设带来改造的工作量与复杂度，如何平衡阶段性的投入与产出，</a:t>
            </a:r>
            <a:r>
              <a:rPr lang="zh-CN" altLang="en-US" sz="1600" b="1" dirty="0">
                <a:solidFill>
                  <a:srgbClr val="00338D"/>
                </a:solidFill>
                <a:latin typeface="微软雅黑" panose="020B0503020204020204" pitchFamily="34" charset="-122"/>
                <a:ea typeface="微软雅黑" panose="020B0503020204020204" pitchFamily="34" charset="-122"/>
                <a:cs typeface="Arial" panose="020B0604020202020204" pitchFamily="34" charset="0"/>
              </a:rPr>
              <a:t>保障边际效益最大化</a:t>
            </a:r>
            <a:r>
              <a:rPr lang="zh-CN" altLang="en-US" sz="1600"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是落地执行开展的首要原则，其关键因素包括：</a:t>
            </a:r>
            <a:endParaRPr lang="en-US" sz="1600"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9" name="TextBox 2"/>
          <p:cNvSpPr txBox="1">
            <a:spLocks noChangeArrowheads="1"/>
          </p:cNvSpPr>
          <p:nvPr/>
        </p:nvSpPr>
        <p:spPr bwMode="auto">
          <a:xfrm>
            <a:off x="1083674" y="1994135"/>
            <a:ext cx="5790800" cy="793469"/>
          </a:xfrm>
          <a:prstGeom prst="rect">
            <a:avLst/>
          </a:prstGeom>
          <a:noFill/>
          <a:ln w="9525">
            <a:solidFill>
              <a:srgbClr val="0079A6"/>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marL="177800" indent="-177800" eaLnBrk="0" hangingPunct="0">
              <a:defRPr>
                <a:solidFill>
                  <a:schemeClr val="tx1"/>
                </a:solidFill>
                <a:latin typeface="仿宋_GB2312" pitchFamily="49" charset="-122"/>
                <a:ea typeface="宋体" panose="02010600030101010101" pitchFamily="2" charset="-122"/>
              </a:defRPr>
            </a:lvl1pPr>
            <a:lvl2pPr marL="742950" indent="-285750" eaLnBrk="0" hangingPunct="0">
              <a:defRPr>
                <a:solidFill>
                  <a:schemeClr val="tx1"/>
                </a:solidFill>
                <a:latin typeface="仿宋_GB2312" pitchFamily="49" charset="-122"/>
                <a:ea typeface="宋体" panose="02010600030101010101" pitchFamily="2" charset="-122"/>
              </a:defRPr>
            </a:lvl2pPr>
            <a:lvl3pPr marL="1143000" indent="-228600" eaLnBrk="0" hangingPunct="0">
              <a:defRPr>
                <a:solidFill>
                  <a:schemeClr val="tx1"/>
                </a:solidFill>
                <a:latin typeface="仿宋_GB2312" pitchFamily="49" charset="-122"/>
                <a:ea typeface="宋体" panose="02010600030101010101" pitchFamily="2" charset="-122"/>
              </a:defRPr>
            </a:lvl3pPr>
            <a:lvl4pPr marL="1600200" indent="-228600" eaLnBrk="0" hangingPunct="0">
              <a:defRPr>
                <a:solidFill>
                  <a:schemeClr val="tx1"/>
                </a:solidFill>
                <a:latin typeface="仿宋_GB2312" pitchFamily="49" charset="-122"/>
                <a:ea typeface="宋体" panose="02010600030101010101" pitchFamily="2" charset="-122"/>
              </a:defRPr>
            </a:lvl4pPr>
            <a:lvl5pPr marL="2057400" indent="-228600" eaLnBrk="0" hangingPunct="0">
              <a:defRPr>
                <a:solidFill>
                  <a:schemeClr val="tx1"/>
                </a:solidFill>
                <a:latin typeface="仿宋_GB2312" pitchFamily="49"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9pPr>
          </a:lstStyle>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尽可能</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减少已投产运营系统</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的改造成本与产生额外问题的风险</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需考虑</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外购的成熟软件系统</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改造的可行性</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对于系统实施项目，尽可能在</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不延长项目实施周期</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的情况下进行数据标准的落地</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AutoShape 2"/>
          <p:cNvSpPr>
            <a:spLocks noChangeArrowheads="1"/>
          </p:cNvSpPr>
          <p:nvPr/>
        </p:nvSpPr>
        <p:spPr bwMode="auto">
          <a:xfrm>
            <a:off x="1083674" y="1712817"/>
            <a:ext cx="2968029" cy="281318"/>
          </a:xfrm>
          <a:prstGeom prst="homePlate">
            <a:avLst>
              <a:gd name="adj" fmla="val 0"/>
            </a:avLst>
          </a:prstGeom>
          <a:solidFill>
            <a:srgbClr val="005EB8"/>
          </a:solidFill>
          <a:ln w="6350">
            <a:noFill/>
            <a:miter lim="800000"/>
          </a:ln>
          <a:effectLst/>
        </p:spPr>
        <p:txBody>
          <a:bodyPr lIns="63478" tIns="0" rIns="0" bIns="0" anchor="ctr"/>
          <a:lstStyle/>
          <a:p>
            <a:pPr defTabSz="806450">
              <a:defRPr/>
            </a:pPr>
            <a:r>
              <a:rPr lang="zh-CN" altLang="en-US" sz="1235" b="1" kern="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系统改造难度与风险考量</a:t>
            </a:r>
          </a:p>
        </p:txBody>
      </p:sp>
      <p:sp>
        <p:nvSpPr>
          <p:cNvPr id="21" name="TextBox 2"/>
          <p:cNvSpPr txBox="1">
            <a:spLocks noChangeArrowheads="1"/>
          </p:cNvSpPr>
          <p:nvPr/>
        </p:nvSpPr>
        <p:spPr bwMode="auto">
          <a:xfrm>
            <a:off x="1083674" y="3200343"/>
            <a:ext cx="5790800" cy="793469"/>
          </a:xfrm>
          <a:prstGeom prst="rect">
            <a:avLst/>
          </a:prstGeom>
          <a:noFill/>
          <a:ln w="9525">
            <a:solidFill>
              <a:srgbClr val="0079A6"/>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marL="177800" indent="-177800" eaLnBrk="0" hangingPunct="0">
              <a:defRPr>
                <a:solidFill>
                  <a:schemeClr val="tx1"/>
                </a:solidFill>
                <a:latin typeface="仿宋_GB2312" pitchFamily="49" charset="-122"/>
                <a:ea typeface="宋体" panose="02010600030101010101" pitchFamily="2" charset="-122"/>
              </a:defRPr>
            </a:lvl1pPr>
            <a:lvl2pPr marL="742950" indent="-285750" eaLnBrk="0" hangingPunct="0">
              <a:defRPr>
                <a:solidFill>
                  <a:schemeClr val="tx1"/>
                </a:solidFill>
                <a:latin typeface="仿宋_GB2312" pitchFamily="49" charset="-122"/>
                <a:ea typeface="宋体" panose="02010600030101010101" pitchFamily="2" charset="-122"/>
              </a:defRPr>
            </a:lvl2pPr>
            <a:lvl3pPr marL="1143000" indent="-228600" eaLnBrk="0" hangingPunct="0">
              <a:defRPr>
                <a:solidFill>
                  <a:schemeClr val="tx1"/>
                </a:solidFill>
                <a:latin typeface="仿宋_GB2312" pitchFamily="49" charset="-122"/>
                <a:ea typeface="宋体" panose="02010600030101010101" pitchFamily="2" charset="-122"/>
              </a:defRPr>
            </a:lvl3pPr>
            <a:lvl4pPr marL="1600200" indent="-228600" eaLnBrk="0" hangingPunct="0">
              <a:defRPr>
                <a:solidFill>
                  <a:schemeClr val="tx1"/>
                </a:solidFill>
                <a:latin typeface="仿宋_GB2312" pitchFamily="49" charset="-122"/>
                <a:ea typeface="宋体" panose="02010600030101010101" pitchFamily="2" charset="-122"/>
              </a:defRPr>
            </a:lvl4pPr>
            <a:lvl5pPr marL="2057400" indent="-228600" eaLnBrk="0" hangingPunct="0">
              <a:defRPr>
                <a:solidFill>
                  <a:schemeClr val="tx1"/>
                </a:solidFill>
                <a:latin typeface="仿宋_GB2312" pitchFamily="49"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9pPr>
          </a:lstStyle>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对</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源系统的改造</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是数据标准落地</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最直接</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的方式，有助于控制未来数据录入的质量与准确性</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对</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系统间接口</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的改造也是保障交互一致性的重要工作</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240665" defTabSz="429895" fontAlgn="base">
              <a:spcBef>
                <a:spcPct val="0"/>
              </a:spcBef>
              <a:spcAft>
                <a:spcPct val="0"/>
              </a:spcAft>
              <a:buSzPct val="80000"/>
              <a:buFont typeface="Wingdings" panose="05000000000000000000" pitchFamily="2" charset="2"/>
              <a:buChar char="§"/>
            </a:pP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数据平台入仓</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时将数据按照</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标准转换</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，可保障统计分析的准确性</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 name="AutoShape 2"/>
          <p:cNvSpPr>
            <a:spLocks noChangeArrowheads="1"/>
          </p:cNvSpPr>
          <p:nvPr/>
        </p:nvSpPr>
        <p:spPr bwMode="auto">
          <a:xfrm>
            <a:off x="1083674" y="2919024"/>
            <a:ext cx="2968029" cy="281318"/>
          </a:xfrm>
          <a:prstGeom prst="homePlate">
            <a:avLst>
              <a:gd name="adj" fmla="val 0"/>
            </a:avLst>
          </a:prstGeom>
          <a:solidFill>
            <a:srgbClr val="005EB8"/>
          </a:solidFill>
          <a:ln w="6350">
            <a:noFill/>
            <a:miter lim="800000"/>
          </a:ln>
          <a:effectLst/>
        </p:spPr>
        <p:txBody>
          <a:bodyPr lIns="63478" tIns="0" rIns="0" bIns="0" anchor="ctr"/>
          <a:lstStyle/>
          <a:p>
            <a:pPr defTabSz="806450">
              <a:defRPr/>
            </a:pPr>
            <a:r>
              <a:rPr lang="zh-CN" altLang="en-US" sz="1235" b="1" kern="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落地的方式</a:t>
            </a:r>
          </a:p>
        </p:txBody>
      </p:sp>
      <p:sp>
        <p:nvSpPr>
          <p:cNvPr id="23" name="TextBox 2"/>
          <p:cNvSpPr txBox="1">
            <a:spLocks noChangeArrowheads="1"/>
          </p:cNvSpPr>
          <p:nvPr/>
        </p:nvSpPr>
        <p:spPr bwMode="auto">
          <a:xfrm>
            <a:off x="1083674" y="4406550"/>
            <a:ext cx="5790800" cy="793469"/>
          </a:xfrm>
          <a:prstGeom prst="rect">
            <a:avLst/>
          </a:prstGeom>
          <a:noFill/>
          <a:ln w="9525">
            <a:solidFill>
              <a:srgbClr val="0079A6"/>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marL="177800" indent="-177800" eaLnBrk="0" hangingPunct="0">
              <a:defRPr>
                <a:solidFill>
                  <a:schemeClr val="tx1"/>
                </a:solidFill>
                <a:latin typeface="仿宋_GB2312" pitchFamily="49" charset="-122"/>
                <a:ea typeface="宋体" panose="02010600030101010101" pitchFamily="2" charset="-122"/>
              </a:defRPr>
            </a:lvl1pPr>
            <a:lvl2pPr marL="742950" indent="-285750" eaLnBrk="0" hangingPunct="0">
              <a:defRPr>
                <a:solidFill>
                  <a:schemeClr val="tx1"/>
                </a:solidFill>
                <a:latin typeface="仿宋_GB2312" pitchFamily="49" charset="-122"/>
                <a:ea typeface="宋体" panose="02010600030101010101" pitchFamily="2" charset="-122"/>
              </a:defRPr>
            </a:lvl2pPr>
            <a:lvl3pPr marL="1143000" indent="-228600" eaLnBrk="0" hangingPunct="0">
              <a:defRPr>
                <a:solidFill>
                  <a:schemeClr val="tx1"/>
                </a:solidFill>
                <a:latin typeface="仿宋_GB2312" pitchFamily="49" charset="-122"/>
                <a:ea typeface="宋体" panose="02010600030101010101" pitchFamily="2" charset="-122"/>
              </a:defRPr>
            </a:lvl3pPr>
            <a:lvl4pPr marL="1600200" indent="-228600" eaLnBrk="0" hangingPunct="0">
              <a:defRPr>
                <a:solidFill>
                  <a:schemeClr val="tx1"/>
                </a:solidFill>
                <a:latin typeface="仿宋_GB2312" pitchFamily="49" charset="-122"/>
                <a:ea typeface="宋体" panose="02010600030101010101" pitchFamily="2" charset="-122"/>
              </a:defRPr>
            </a:lvl4pPr>
            <a:lvl5pPr marL="2057400" indent="-228600" eaLnBrk="0" hangingPunct="0">
              <a:defRPr>
                <a:solidFill>
                  <a:schemeClr val="tx1"/>
                </a:solidFill>
                <a:latin typeface="仿宋_GB2312" pitchFamily="49"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9pPr>
          </a:lstStyle>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通过对集团业务运营和管理的</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收益分析</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，排定落地的优先级；</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对于</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相关性较强</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的数据标准内容，建议同时实施落地。</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 name="AutoShape 2"/>
          <p:cNvSpPr>
            <a:spLocks noChangeArrowheads="1"/>
          </p:cNvSpPr>
          <p:nvPr/>
        </p:nvSpPr>
        <p:spPr bwMode="auto">
          <a:xfrm>
            <a:off x="1083674" y="4125232"/>
            <a:ext cx="2968029" cy="281318"/>
          </a:xfrm>
          <a:prstGeom prst="homePlate">
            <a:avLst>
              <a:gd name="adj" fmla="val 0"/>
            </a:avLst>
          </a:prstGeom>
          <a:solidFill>
            <a:srgbClr val="005EB8"/>
          </a:solidFill>
          <a:ln w="6350">
            <a:noFill/>
            <a:miter lim="800000"/>
          </a:ln>
          <a:effectLst/>
        </p:spPr>
        <p:txBody>
          <a:bodyPr lIns="63478" tIns="0" rIns="0" bIns="0" anchor="ctr"/>
          <a:lstStyle/>
          <a:p>
            <a:pPr defTabSz="806450">
              <a:defRPr/>
            </a:pPr>
            <a:r>
              <a:rPr lang="zh-CN" altLang="en-US" sz="1235" b="1" kern="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业务价值实现的优先级</a:t>
            </a:r>
          </a:p>
        </p:txBody>
      </p:sp>
      <p:sp>
        <p:nvSpPr>
          <p:cNvPr id="25" name="TextBox 2"/>
          <p:cNvSpPr txBox="1">
            <a:spLocks noChangeArrowheads="1"/>
          </p:cNvSpPr>
          <p:nvPr/>
        </p:nvSpPr>
        <p:spPr bwMode="auto">
          <a:xfrm>
            <a:off x="1083674" y="5617208"/>
            <a:ext cx="5790800" cy="666654"/>
          </a:xfrm>
          <a:prstGeom prst="rect">
            <a:avLst/>
          </a:prstGeom>
          <a:noFill/>
          <a:ln w="9525">
            <a:solidFill>
              <a:srgbClr val="0079A6"/>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marL="177800" indent="-177800" eaLnBrk="0" hangingPunct="0">
              <a:defRPr>
                <a:solidFill>
                  <a:schemeClr val="tx1"/>
                </a:solidFill>
                <a:latin typeface="仿宋_GB2312" pitchFamily="49" charset="-122"/>
                <a:ea typeface="宋体" panose="02010600030101010101" pitchFamily="2" charset="-122"/>
              </a:defRPr>
            </a:lvl1pPr>
            <a:lvl2pPr marL="742950" indent="-285750" eaLnBrk="0" hangingPunct="0">
              <a:defRPr>
                <a:solidFill>
                  <a:schemeClr val="tx1"/>
                </a:solidFill>
                <a:latin typeface="仿宋_GB2312" pitchFamily="49" charset="-122"/>
                <a:ea typeface="宋体" panose="02010600030101010101" pitchFamily="2" charset="-122"/>
              </a:defRPr>
            </a:lvl2pPr>
            <a:lvl3pPr marL="1143000" indent="-228600" eaLnBrk="0" hangingPunct="0">
              <a:defRPr>
                <a:solidFill>
                  <a:schemeClr val="tx1"/>
                </a:solidFill>
                <a:latin typeface="仿宋_GB2312" pitchFamily="49" charset="-122"/>
                <a:ea typeface="宋体" panose="02010600030101010101" pitchFamily="2" charset="-122"/>
              </a:defRPr>
            </a:lvl3pPr>
            <a:lvl4pPr marL="1600200" indent="-228600" eaLnBrk="0" hangingPunct="0">
              <a:defRPr>
                <a:solidFill>
                  <a:schemeClr val="tx1"/>
                </a:solidFill>
                <a:latin typeface="仿宋_GB2312" pitchFamily="49" charset="-122"/>
                <a:ea typeface="宋体" panose="02010600030101010101" pitchFamily="2" charset="-122"/>
              </a:defRPr>
            </a:lvl4pPr>
            <a:lvl5pPr marL="2057400" indent="-228600" eaLnBrk="0" hangingPunct="0">
              <a:defRPr>
                <a:solidFill>
                  <a:schemeClr val="tx1"/>
                </a:solidFill>
                <a:latin typeface="仿宋_GB2312" pitchFamily="49"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9pPr>
          </a:lstStyle>
          <a:p>
            <a:pPr marL="240665" defTabSz="429895" fontAlgn="base">
              <a:spcBef>
                <a:spcPct val="0"/>
              </a:spcBef>
              <a:spcAft>
                <a:spcPct val="0"/>
              </a:spcAft>
              <a:buSzPct val="80000"/>
              <a:buFont typeface="Wingdings" panose="05000000000000000000" pitchFamily="2" charset="2"/>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按照集团</a:t>
            </a:r>
            <a:r>
              <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IT</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规划的整体安排，未来的系统建设会有节奏、有计划的进行，数据标准的落地实施也需按照</a:t>
            </a:r>
            <a:r>
              <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IT</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规划的建设步骤进行</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 name="AutoShape 2"/>
          <p:cNvSpPr>
            <a:spLocks noChangeArrowheads="1"/>
          </p:cNvSpPr>
          <p:nvPr/>
        </p:nvSpPr>
        <p:spPr bwMode="auto">
          <a:xfrm>
            <a:off x="1083674" y="5335890"/>
            <a:ext cx="2968029" cy="281318"/>
          </a:xfrm>
          <a:prstGeom prst="homePlate">
            <a:avLst>
              <a:gd name="adj" fmla="val 0"/>
            </a:avLst>
          </a:prstGeom>
          <a:solidFill>
            <a:srgbClr val="005EB8"/>
          </a:solidFill>
          <a:ln w="6350">
            <a:noFill/>
            <a:miter lim="800000"/>
          </a:ln>
          <a:effectLst/>
        </p:spPr>
        <p:txBody>
          <a:bodyPr lIns="63478" tIns="0" rIns="0" bIns="0" anchor="ctr"/>
          <a:lstStyle/>
          <a:p>
            <a:pPr defTabSz="806450">
              <a:defRPr/>
            </a:pPr>
            <a:r>
              <a:rPr lang="zh-CN" altLang="en-US" sz="1235" b="1" kern="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整体</a:t>
            </a:r>
            <a:r>
              <a:rPr lang="en-US" altLang="zh-CN" sz="1235" b="1" kern="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IT</a:t>
            </a:r>
            <a:r>
              <a:rPr lang="zh-CN" altLang="en-US" sz="1235" b="1" kern="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规划安排</a:t>
            </a:r>
          </a:p>
        </p:txBody>
      </p:sp>
      <p:sp>
        <p:nvSpPr>
          <p:cNvPr id="27" name="AutoShape 13"/>
          <p:cNvSpPr>
            <a:spLocks noChangeArrowheads="1"/>
          </p:cNvSpPr>
          <p:nvPr/>
        </p:nvSpPr>
        <p:spPr bwMode="auto">
          <a:xfrm rot="5400000">
            <a:off x="6829941" y="2309800"/>
            <a:ext cx="644932" cy="196115"/>
          </a:xfrm>
          <a:prstGeom prst="triangle">
            <a:avLst>
              <a:gd name="adj" fmla="val 53441"/>
            </a:avLst>
          </a:prstGeom>
          <a:solidFill>
            <a:srgbClr val="F0F0F0">
              <a:lumMod val="90000"/>
            </a:srgbClr>
          </a:solidFill>
          <a:ln w="9525" algn="ctr">
            <a:noFill/>
            <a:miter lim="800000"/>
          </a:ln>
        </p:spPr>
        <p:txBody>
          <a:bodyPr lIns="40308" rIns="40308" anchor="ctr"/>
          <a:lstStyle/>
          <a:p>
            <a:pPr marL="0" marR="0" lvl="0" indent="0" defTabSz="429895" eaLnBrk="1" fontAlgn="base" latinLnBrk="0" hangingPunct="1">
              <a:lnSpc>
                <a:spcPct val="80000"/>
              </a:lnSpc>
              <a:spcBef>
                <a:spcPct val="50000"/>
              </a:spcBef>
              <a:spcAft>
                <a:spcPct val="0"/>
              </a:spcAft>
              <a:buClrTx/>
              <a:buSzTx/>
              <a:buFontTx/>
              <a:buChar char="•"/>
              <a:defRPr/>
            </a:pPr>
            <a:endParaRPr kumimoji="0" lang="zh-CN" altLang="en-US" sz="1765" b="0" i="0" u="none" strike="noStrike" kern="0" cap="none" spc="0" normalizeH="0" baseline="0" noProof="0" dirty="0">
              <a:ln>
                <a:noFill/>
              </a:ln>
              <a:solidFill>
                <a:srgbClr val="92D4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8" name="AutoShape 13"/>
          <p:cNvSpPr>
            <a:spLocks noChangeArrowheads="1"/>
          </p:cNvSpPr>
          <p:nvPr/>
        </p:nvSpPr>
        <p:spPr bwMode="auto">
          <a:xfrm rot="5400000">
            <a:off x="6829941" y="3519048"/>
            <a:ext cx="644932" cy="196115"/>
          </a:xfrm>
          <a:prstGeom prst="triangle">
            <a:avLst>
              <a:gd name="adj" fmla="val 53441"/>
            </a:avLst>
          </a:prstGeom>
          <a:solidFill>
            <a:srgbClr val="F0F0F0">
              <a:lumMod val="90000"/>
            </a:srgbClr>
          </a:solidFill>
          <a:ln w="9525" algn="ctr">
            <a:noFill/>
            <a:miter lim="800000"/>
          </a:ln>
        </p:spPr>
        <p:txBody>
          <a:bodyPr lIns="40308" rIns="40308" anchor="ctr"/>
          <a:lstStyle/>
          <a:p>
            <a:pPr marL="0" marR="0" lvl="0" indent="0" defTabSz="429895" eaLnBrk="1" fontAlgn="base" latinLnBrk="0" hangingPunct="1">
              <a:lnSpc>
                <a:spcPct val="80000"/>
              </a:lnSpc>
              <a:spcBef>
                <a:spcPct val="50000"/>
              </a:spcBef>
              <a:spcAft>
                <a:spcPct val="0"/>
              </a:spcAft>
              <a:buClrTx/>
              <a:buSzTx/>
              <a:buFontTx/>
              <a:buChar char="•"/>
              <a:defRPr/>
            </a:pPr>
            <a:endParaRPr kumimoji="0" lang="zh-CN" altLang="en-US" sz="1765" b="0" i="0" u="none" strike="noStrike" kern="0" cap="none" spc="0" normalizeH="0" baseline="0" noProof="0" dirty="0">
              <a:ln>
                <a:noFill/>
              </a:ln>
              <a:solidFill>
                <a:srgbClr val="92D4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AutoShape 13"/>
          <p:cNvSpPr>
            <a:spLocks noChangeArrowheads="1"/>
          </p:cNvSpPr>
          <p:nvPr/>
        </p:nvSpPr>
        <p:spPr bwMode="auto">
          <a:xfrm rot="5400000">
            <a:off x="6829941" y="4728295"/>
            <a:ext cx="644932" cy="196115"/>
          </a:xfrm>
          <a:prstGeom prst="triangle">
            <a:avLst>
              <a:gd name="adj" fmla="val 53441"/>
            </a:avLst>
          </a:prstGeom>
          <a:solidFill>
            <a:srgbClr val="F0F0F0">
              <a:lumMod val="90000"/>
            </a:srgbClr>
          </a:solidFill>
          <a:ln w="9525" algn="ctr">
            <a:noFill/>
            <a:miter lim="800000"/>
          </a:ln>
        </p:spPr>
        <p:txBody>
          <a:bodyPr lIns="40308" rIns="40308" anchor="ctr"/>
          <a:lstStyle/>
          <a:p>
            <a:pPr marL="0" marR="0" lvl="0" indent="0" defTabSz="429895" eaLnBrk="1" fontAlgn="base" latinLnBrk="0" hangingPunct="1">
              <a:lnSpc>
                <a:spcPct val="80000"/>
              </a:lnSpc>
              <a:spcBef>
                <a:spcPct val="50000"/>
              </a:spcBef>
              <a:spcAft>
                <a:spcPct val="0"/>
              </a:spcAft>
              <a:buClrTx/>
              <a:buSzTx/>
              <a:buFontTx/>
              <a:buChar char="•"/>
              <a:defRPr/>
            </a:pPr>
            <a:endParaRPr kumimoji="0" lang="zh-CN" altLang="en-US" sz="1765" b="0" i="0" u="none" strike="noStrike" kern="0" cap="none" spc="0" normalizeH="0" baseline="0" noProof="0" dirty="0">
              <a:ln>
                <a:noFill/>
              </a:ln>
              <a:solidFill>
                <a:srgbClr val="92D4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0" name="AutoShape 13"/>
          <p:cNvSpPr>
            <a:spLocks noChangeArrowheads="1"/>
          </p:cNvSpPr>
          <p:nvPr/>
        </p:nvSpPr>
        <p:spPr bwMode="auto">
          <a:xfrm rot="5400000">
            <a:off x="6829941" y="5870362"/>
            <a:ext cx="644932" cy="196115"/>
          </a:xfrm>
          <a:prstGeom prst="triangle">
            <a:avLst>
              <a:gd name="adj" fmla="val 53441"/>
            </a:avLst>
          </a:prstGeom>
          <a:solidFill>
            <a:srgbClr val="F0F0F0">
              <a:lumMod val="90000"/>
            </a:srgbClr>
          </a:solidFill>
          <a:ln w="9525" algn="ctr">
            <a:noFill/>
            <a:miter lim="800000"/>
          </a:ln>
        </p:spPr>
        <p:txBody>
          <a:bodyPr lIns="40308" rIns="40308" anchor="ctr"/>
          <a:lstStyle/>
          <a:p>
            <a:pPr marL="0" marR="0" lvl="0" indent="0" defTabSz="429895" eaLnBrk="1" fontAlgn="base" latinLnBrk="0" hangingPunct="1">
              <a:lnSpc>
                <a:spcPct val="80000"/>
              </a:lnSpc>
              <a:spcBef>
                <a:spcPct val="50000"/>
              </a:spcBef>
              <a:spcAft>
                <a:spcPct val="0"/>
              </a:spcAft>
              <a:buClrTx/>
              <a:buSzTx/>
              <a:buFontTx/>
              <a:buChar char="•"/>
              <a:defRPr/>
            </a:pPr>
            <a:endParaRPr kumimoji="0" lang="zh-CN" altLang="en-US" sz="1765" b="0" i="0" u="none" strike="noStrike" kern="0" cap="none" spc="0" normalizeH="0" baseline="0" noProof="0" dirty="0">
              <a:ln>
                <a:noFill/>
              </a:ln>
              <a:solidFill>
                <a:srgbClr val="92D4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TextBox 2"/>
          <p:cNvSpPr txBox="1">
            <a:spLocks noChangeArrowheads="1"/>
          </p:cNvSpPr>
          <p:nvPr/>
        </p:nvSpPr>
        <p:spPr bwMode="auto">
          <a:xfrm>
            <a:off x="7397482" y="1994135"/>
            <a:ext cx="3604194" cy="4289726"/>
          </a:xfrm>
          <a:prstGeom prst="rect">
            <a:avLst/>
          </a:prstGeom>
          <a:noFill/>
          <a:ln w="9525">
            <a:solidFill>
              <a:srgbClr val="0079A6"/>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marL="177800" indent="-177800" eaLnBrk="0" hangingPunct="0">
              <a:defRPr>
                <a:solidFill>
                  <a:schemeClr val="tx1"/>
                </a:solidFill>
                <a:latin typeface="仿宋_GB2312" pitchFamily="49" charset="-122"/>
                <a:ea typeface="宋体" panose="02010600030101010101" pitchFamily="2" charset="-122"/>
              </a:defRPr>
            </a:lvl1pPr>
            <a:lvl2pPr marL="742950" indent="-285750" eaLnBrk="0" hangingPunct="0">
              <a:defRPr>
                <a:solidFill>
                  <a:schemeClr val="tx1"/>
                </a:solidFill>
                <a:latin typeface="仿宋_GB2312" pitchFamily="49" charset="-122"/>
                <a:ea typeface="宋体" panose="02010600030101010101" pitchFamily="2" charset="-122"/>
              </a:defRPr>
            </a:lvl2pPr>
            <a:lvl3pPr marL="1143000" indent="-228600" eaLnBrk="0" hangingPunct="0">
              <a:defRPr>
                <a:solidFill>
                  <a:schemeClr val="tx1"/>
                </a:solidFill>
                <a:latin typeface="仿宋_GB2312" pitchFamily="49" charset="-122"/>
                <a:ea typeface="宋体" panose="02010600030101010101" pitchFamily="2" charset="-122"/>
              </a:defRPr>
            </a:lvl3pPr>
            <a:lvl4pPr marL="1600200" indent="-228600" eaLnBrk="0" hangingPunct="0">
              <a:defRPr>
                <a:solidFill>
                  <a:schemeClr val="tx1"/>
                </a:solidFill>
                <a:latin typeface="仿宋_GB2312" pitchFamily="49" charset="-122"/>
                <a:ea typeface="宋体" panose="02010600030101010101" pitchFamily="2" charset="-122"/>
              </a:defRPr>
            </a:lvl4pPr>
            <a:lvl5pPr marL="2057400" indent="-228600" eaLnBrk="0" hangingPunct="0">
              <a:defRPr>
                <a:solidFill>
                  <a:schemeClr val="tx1"/>
                </a:solidFill>
                <a:latin typeface="仿宋_GB2312" pitchFamily="49"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仿宋_GB2312" pitchFamily="49" charset="-122"/>
                <a:ea typeface="宋体" panose="02010600030101010101" pitchFamily="2" charset="-122"/>
              </a:defRPr>
            </a:lvl9pPr>
          </a:lstStyle>
          <a:p>
            <a:pPr marL="240665" defTabSz="429895" fontAlgn="base">
              <a:spcBef>
                <a:spcPct val="0"/>
              </a:spcBef>
              <a:spcAft>
                <a:spcPct val="0"/>
              </a:spcAft>
              <a:buSzPct val="80000"/>
              <a:buFont typeface="Wingdings" panose="05000000000000000000" pitchFamily="2" charset="2"/>
              <a:buChar char="§"/>
            </a:pPr>
            <a:r>
              <a:rPr lang="zh-CN" altLang="en-US" sz="123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以规划内即将新建的重要业务应用系统为契机，落实相关数据标准，并推动周边系统的改造</a:t>
            </a:r>
            <a:endParaRPr lang="en-US" altLang="zh-CN" sz="123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397510" defTabSz="429895" fontAlgn="base">
              <a:spcBef>
                <a:spcPct val="0"/>
              </a:spcBef>
              <a:spcAft>
                <a:spcPct val="0"/>
              </a:spcAft>
              <a:buSzPct val="80000"/>
              <a:buFont typeface="Arial" panose="020B0604020202020204" pitchFamily="34" charset="0"/>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近期而言，即将建设的数据平台将是数据标准落地的重点</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397510" defTabSz="429895" fontAlgn="base">
              <a:spcBef>
                <a:spcPct val="0"/>
              </a:spcBef>
              <a:spcAft>
                <a:spcPct val="0"/>
              </a:spcAft>
              <a:buSzPct val="80000"/>
              <a:buFont typeface="Arial" panose="020B0604020202020204" pitchFamily="34" charset="0"/>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围绕上述系统的</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周边系统改造</a:t>
            </a: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，也需要</a:t>
            </a:r>
            <a:r>
              <a:rPr lang="zh-CN" altLang="en-US"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同步进行</a:t>
            </a:r>
            <a:r>
              <a:rPr lang="en-US" altLang="zh-CN" sz="1235" b="1"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 </a:t>
            </a:r>
          </a:p>
          <a:p>
            <a:pPr marL="240665" defTabSz="429895" fontAlgn="base">
              <a:spcBef>
                <a:spcPct val="0"/>
              </a:spcBef>
              <a:spcAft>
                <a:spcPct val="0"/>
              </a:spcAft>
              <a:buSzPct val="80000"/>
              <a:buFont typeface="Wingdings" panose="05000000000000000000" pitchFamily="2" charset="2"/>
              <a:buChar char="§"/>
            </a:pPr>
            <a:r>
              <a:rPr lang="zh-CN" altLang="en-US" sz="123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综合系统改造成本</a:t>
            </a:r>
            <a:r>
              <a:rPr lang="en-US" altLang="zh-CN" sz="123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235"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收益，安排落地实施的优先级，选择最合适的落地方式</a:t>
            </a:r>
            <a:endParaRPr lang="en-US" altLang="zh-CN" sz="1235" b="1"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397510" defTabSz="429895" fontAlgn="base">
              <a:spcBef>
                <a:spcPct val="0"/>
              </a:spcBef>
              <a:spcAft>
                <a:spcPct val="0"/>
              </a:spcAft>
              <a:buSzPct val="80000"/>
              <a:buFont typeface="Arial" panose="020B0604020202020204" pitchFamily="34" charset="0"/>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对于已建系统，应先比对现有系统与数据标准的差异，制定落地的范围与实施方案</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397510" defTabSz="429895" fontAlgn="base">
              <a:spcBef>
                <a:spcPct val="0"/>
              </a:spcBef>
              <a:spcAft>
                <a:spcPct val="0"/>
              </a:spcAft>
              <a:buSzPct val="80000"/>
              <a:buFont typeface="Arial" panose="020B0604020202020204" pitchFamily="34" charset="0"/>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对于在建的业务应用系统，要求按照相关数据标准要求在建设过程中落地，暂时无法落地的部分，应采取临时的方案或排定远期计划</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397510" defTabSz="429895" fontAlgn="base">
              <a:spcBef>
                <a:spcPct val="0"/>
              </a:spcBef>
              <a:spcAft>
                <a:spcPct val="0"/>
              </a:spcAft>
              <a:buSzPct val="80000"/>
              <a:buFont typeface="Arial" panose="020B0604020202020204" pitchFamily="34" charset="0"/>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在改造代价不大的前提下，尽可能保证源系统的直接落地</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marL="397510" defTabSz="429895" fontAlgn="base">
              <a:spcBef>
                <a:spcPct val="0"/>
              </a:spcBef>
              <a:spcAft>
                <a:spcPct val="0"/>
              </a:spcAft>
              <a:buSzPct val="80000"/>
              <a:buFont typeface="Arial" panose="020B0604020202020204" pitchFamily="34" charset="0"/>
              <a:buChar char="•"/>
            </a:pPr>
            <a:r>
              <a:rPr lang="zh-CN" altLang="en-US"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在计划范围内的标准落地，应至少保障系统接口及数据平台的落地</a:t>
            </a:r>
            <a:endParaRPr lang="en-US" altLang="zh-CN" sz="1235"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AutoShape 2"/>
          <p:cNvSpPr>
            <a:spLocks noChangeArrowheads="1"/>
          </p:cNvSpPr>
          <p:nvPr/>
        </p:nvSpPr>
        <p:spPr bwMode="auto">
          <a:xfrm>
            <a:off x="7397482" y="1712817"/>
            <a:ext cx="3604194" cy="281318"/>
          </a:xfrm>
          <a:prstGeom prst="homePlate">
            <a:avLst>
              <a:gd name="adj" fmla="val 0"/>
            </a:avLst>
          </a:prstGeom>
          <a:solidFill>
            <a:srgbClr val="005EB8"/>
          </a:solidFill>
          <a:ln w="6350">
            <a:noFill/>
            <a:miter lim="800000"/>
          </a:ln>
          <a:effectLst/>
        </p:spPr>
        <p:txBody>
          <a:bodyPr lIns="63478" tIns="0" rIns="0" bIns="0" anchor="ctr"/>
          <a:lstStyle/>
          <a:p>
            <a:pPr algn="ctr" defTabSz="806450">
              <a:defRPr/>
            </a:pPr>
            <a:r>
              <a:rPr lang="zh-CN" altLang="en-US" sz="1400" b="1" kern="0" dirty="0">
                <a:solidFill>
                  <a:prstClr val="white"/>
                </a:solidFill>
                <a:latin typeface="微软雅黑" panose="020B0503020204020204" pitchFamily="34" charset="-122"/>
                <a:ea typeface="微软雅黑" panose="020B0503020204020204" pitchFamily="34" charset="-122"/>
                <a:cs typeface="Arial" panose="020B0604020202020204" pitchFamily="34" charset="0"/>
              </a:rPr>
              <a:t>落地总体策略</a:t>
            </a:r>
          </a:p>
        </p:txBody>
      </p:sp>
    </p:spTree>
    <p:custDataLst>
      <p:tags r:id="rId1"/>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数据标准对民机有什么用</a:t>
            </a:r>
          </a:p>
        </p:txBody>
      </p:sp>
      <p:sp>
        <p:nvSpPr>
          <p:cNvPr id="3" name="TextBox 3"/>
          <p:cNvSpPr txBox="1"/>
          <p:nvPr>
            <p:custDataLst>
              <p:tags r:id="rId3"/>
            </p:custDataLst>
          </p:nvPr>
        </p:nvSpPr>
        <p:spPr>
          <a:xfrm>
            <a:off x="928370" y="1572895"/>
            <a:ext cx="2179320" cy="829945"/>
          </a:xfrm>
          <a:prstGeom prst="rect">
            <a:avLst/>
          </a:prstGeom>
          <a:solidFill>
            <a:schemeClr val="bg2">
              <a:lumMod val="50000"/>
            </a:schemeClr>
          </a:solidFill>
        </p:spPr>
        <p:txBody>
          <a:bodyPr wrap="square" rtlCol="0">
            <a:spAutoFit/>
          </a:bodyPr>
          <a:lstStyle/>
          <a:p>
            <a:pPr algn="ctr">
              <a:lnSpc>
                <a:spcPct val="150000"/>
              </a:lnSpc>
            </a:pPr>
            <a:r>
              <a:rPr lang="zh-CN" altLang="en-US" sz="1600" b="1" i="0" dirty="0">
                <a:solidFill>
                  <a:schemeClr val="bg1"/>
                </a:solidFill>
              </a:rPr>
              <a:t>统一了业务和技术的数据字典</a:t>
            </a:r>
          </a:p>
        </p:txBody>
      </p:sp>
      <p:sp>
        <p:nvSpPr>
          <p:cNvPr id="5" name="TextBox 4"/>
          <p:cNvSpPr txBox="1"/>
          <p:nvPr>
            <p:custDataLst>
              <p:tags r:id="rId4"/>
            </p:custDataLst>
          </p:nvPr>
        </p:nvSpPr>
        <p:spPr>
          <a:xfrm>
            <a:off x="928370" y="2787650"/>
            <a:ext cx="2179320" cy="829945"/>
          </a:xfrm>
          <a:prstGeom prst="rect">
            <a:avLst/>
          </a:prstGeom>
          <a:solidFill>
            <a:schemeClr val="bg2">
              <a:lumMod val="50000"/>
            </a:schemeClr>
          </a:solidFill>
        </p:spPr>
        <p:txBody>
          <a:bodyPr wrap="square" rtlCol="0">
            <a:spAutoFit/>
          </a:bodyPr>
          <a:lstStyle/>
          <a:p>
            <a:pPr algn="ctr">
              <a:lnSpc>
                <a:spcPct val="150000"/>
              </a:lnSpc>
            </a:pPr>
            <a:r>
              <a:rPr lang="zh-CN" altLang="en-US" sz="1600" b="1" i="0" dirty="0">
                <a:solidFill>
                  <a:schemeClr val="bg1"/>
                </a:solidFill>
              </a:rPr>
              <a:t>提高交互效率和数据质量</a:t>
            </a:r>
          </a:p>
        </p:txBody>
      </p:sp>
      <p:sp>
        <p:nvSpPr>
          <p:cNvPr id="6" name="TextBox 5"/>
          <p:cNvSpPr txBox="1"/>
          <p:nvPr>
            <p:custDataLst>
              <p:tags r:id="rId5"/>
            </p:custDataLst>
          </p:nvPr>
        </p:nvSpPr>
        <p:spPr>
          <a:xfrm>
            <a:off x="928370" y="4073525"/>
            <a:ext cx="2179320" cy="829945"/>
          </a:xfrm>
          <a:prstGeom prst="rect">
            <a:avLst/>
          </a:prstGeom>
          <a:solidFill>
            <a:schemeClr val="bg2">
              <a:lumMod val="50000"/>
            </a:schemeClr>
          </a:solidFill>
        </p:spPr>
        <p:txBody>
          <a:bodyPr wrap="square" rtlCol="0">
            <a:spAutoFit/>
          </a:bodyPr>
          <a:lstStyle/>
          <a:p>
            <a:pPr algn="ctr">
              <a:lnSpc>
                <a:spcPct val="150000"/>
              </a:lnSpc>
            </a:pPr>
            <a:r>
              <a:rPr lang="zh-CN" altLang="en-US" sz="1600" b="1" i="0" dirty="0">
                <a:solidFill>
                  <a:schemeClr val="bg1"/>
                </a:solidFill>
              </a:rPr>
              <a:t>形成标准化的有效闭环管理</a:t>
            </a:r>
          </a:p>
        </p:txBody>
      </p:sp>
      <p:sp>
        <p:nvSpPr>
          <p:cNvPr id="7" name="TextBox 6"/>
          <p:cNvSpPr txBox="1"/>
          <p:nvPr>
            <p:custDataLst>
              <p:tags r:id="rId6"/>
            </p:custDataLst>
          </p:nvPr>
        </p:nvSpPr>
        <p:spPr>
          <a:xfrm>
            <a:off x="928370" y="5287645"/>
            <a:ext cx="2179320" cy="829945"/>
          </a:xfrm>
          <a:prstGeom prst="rect">
            <a:avLst/>
          </a:prstGeom>
          <a:solidFill>
            <a:schemeClr val="bg2">
              <a:lumMod val="50000"/>
            </a:schemeClr>
          </a:solidFill>
        </p:spPr>
        <p:txBody>
          <a:bodyPr wrap="square" rtlCol="0">
            <a:spAutoFit/>
          </a:bodyPr>
          <a:lstStyle/>
          <a:p>
            <a:pPr algn="ctr">
              <a:lnSpc>
                <a:spcPct val="150000"/>
              </a:lnSpc>
            </a:pPr>
            <a:r>
              <a:rPr lang="zh-CN" altLang="en-US" sz="1600" b="1" i="0" dirty="0">
                <a:solidFill>
                  <a:schemeClr val="bg1"/>
                </a:solidFill>
              </a:rPr>
              <a:t>大幅提升基层数据价值</a:t>
            </a:r>
          </a:p>
        </p:txBody>
      </p:sp>
      <p:sp>
        <p:nvSpPr>
          <p:cNvPr id="8" name="TextBox 7"/>
          <p:cNvSpPr txBox="1"/>
          <p:nvPr>
            <p:custDataLst>
              <p:tags r:id="rId7"/>
            </p:custDataLst>
          </p:nvPr>
        </p:nvSpPr>
        <p:spPr>
          <a:xfrm>
            <a:off x="3635375" y="1572260"/>
            <a:ext cx="7251700" cy="830580"/>
          </a:xfrm>
          <a:prstGeom prst="rect">
            <a:avLst/>
          </a:prstGeom>
          <a:solidFill>
            <a:schemeClr val="accent2"/>
          </a:solidFill>
          <a:ln>
            <a:solidFill>
              <a:srgbClr val="000000">
                <a:alpha val="0"/>
              </a:srgbClr>
            </a:solidFill>
          </a:ln>
        </p:spPr>
        <p:txBody>
          <a:bodyPr wrap="square" rtlCol="0">
            <a:noAutofit/>
          </a:bodyPr>
          <a:lstStyle/>
          <a:p>
            <a:pPr>
              <a:lnSpc>
                <a:spcPct val="150000"/>
              </a:lnSpc>
            </a:pPr>
            <a:r>
              <a:rPr lang="zh-CN" altLang="en-US" sz="1400" i="0" dirty="0">
                <a:latin typeface="微软雅黑" panose="020B0503020204020204" pitchFamily="34" charset="-122"/>
                <a:ea typeface="微软雅黑" panose="020B0503020204020204" pitchFamily="34" charset="-122"/>
              </a:rPr>
              <a:t>通过制定数据标准，保证了信息定义和口径在业务上的一致性，实现了数据在技术层面的统一，为全行数据大集中打下良好基础。</a:t>
            </a:r>
          </a:p>
        </p:txBody>
      </p:sp>
      <p:sp>
        <p:nvSpPr>
          <p:cNvPr id="9" name="TextBox 8"/>
          <p:cNvSpPr txBox="1"/>
          <p:nvPr>
            <p:custDataLst>
              <p:tags r:id="rId8"/>
            </p:custDataLst>
          </p:nvPr>
        </p:nvSpPr>
        <p:spPr>
          <a:xfrm>
            <a:off x="3635375" y="2782570"/>
            <a:ext cx="7251700" cy="836295"/>
          </a:xfrm>
          <a:prstGeom prst="rect">
            <a:avLst/>
          </a:prstGeom>
          <a:solidFill>
            <a:schemeClr val="accent2"/>
          </a:solidFill>
          <a:ln>
            <a:solidFill>
              <a:srgbClr val="000000">
                <a:alpha val="0"/>
              </a:srgbClr>
            </a:solidFill>
          </a:ln>
        </p:spPr>
        <p:txBody>
          <a:bodyPr wrap="square" rtlCol="0">
            <a:noAutofit/>
          </a:bodyPr>
          <a:lstStyle/>
          <a:p>
            <a:r>
              <a:rPr lang="zh-CN" altLang="en-US" sz="1400" i="0" dirty="0">
                <a:latin typeface="微软雅黑" panose="020B0503020204020204" pitchFamily="34" charset="-122"/>
                <a:ea typeface="微软雅黑" panose="020B0503020204020204" pitchFamily="34" charset="-122"/>
              </a:rPr>
              <a:t>通过在行内系统的标准落地，统一和规范行业、内部机构编码和客户号等重要编码规则和处理逻辑，避免编码的对应和转换，提高系统的交互效率，有效提高数据质量。</a:t>
            </a:r>
          </a:p>
        </p:txBody>
      </p:sp>
      <p:sp>
        <p:nvSpPr>
          <p:cNvPr id="12" name="TextBox 9"/>
          <p:cNvSpPr txBox="1"/>
          <p:nvPr>
            <p:custDataLst>
              <p:tags r:id="rId9"/>
            </p:custDataLst>
          </p:nvPr>
        </p:nvSpPr>
        <p:spPr>
          <a:xfrm>
            <a:off x="3635375" y="4074160"/>
            <a:ext cx="7251700" cy="828675"/>
          </a:xfrm>
          <a:prstGeom prst="rect">
            <a:avLst/>
          </a:prstGeom>
          <a:solidFill>
            <a:schemeClr val="accent2"/>
          </a:solidFill>
          <a:ln>
            <a:solidFill>
              <a:srgbClr val="000000">
                <a:alpha val="0"/>
              </a:srgbClr>
            </a:solidFill>
          </a:ln>
        </p:spPr>
        <p:txBody>
          <a:bodyPr wrap="square" rtlCol="0">
            <a:noAutofit/>
          </a:bodyPr>
          <a:lstStyle/>
          <a:p>
            <a:r>
              <a:rPr lang="zh-CN" altLang="en-US" sz="1400" i="0" dirty="0">
                <a:latin typeface="微软雅黑" panose="020B0503020204020204" pitchFamily="34" charset="-122"/>
                <a:ea typeface="微软雅黑" panose="020B0503020204020204" pitchFamily="34" charset="-122"/>
              </a:rPr>
              <a:t>通过数据标准制定与落地，把对数据的业务约束和技术要求落实到</a:t>
            </a:r>
            <a:r>
              <a:rPr lang="en-US" altLang="zh-CN" sz="1400" i="0" dirty="0">
                <a:latin typeface="微软雅黑" panose="020B0503020204020204" pitchFamily="34" charset="-122"/>
                <a:ea typeface="微软雅黑" panose="020B0503020204020204" pitchFamily="34" charset="-122"/>
              </a:rPr>
              <a:t>IT</a:t>
            </a:r>
            <a:r>
              <a:rPr lang="zh-CN" altLang="en-US" sz="1400" i="0" dirty="0">
                <a:latin typeface="微软雅黑" panose="020B0503020204020204" pitchFamily="34" charset="-122"/>
                <a:ea typeface="微软雅黑" panose="020B0503020204020204" pitchFamily="34" charset="-122"/>
              </a:rPr>
              <a:t>系统中。同时标准落地对标准的合理性进行检验，形成良性互动，达到标准服务业务、标准促进业务的目标。</a:t>
            </a:r>
          </a:p>
        </p:txBody>
      </p:sp>
      <p:sp>
        <p:nvSpPr>
          <p:cNvPr id="13" name="TextBox 10"/>
          <p:cNvSpPr txBox="1"/>
          <p:nvPr>
            <p:custDataLst>
              <p:tags r:id="rId10"/>
            </p:custDataLst>
          </p:nvPr>
        </p:nvSpPr>
        <p:spPr>
          <a:xfrm>
            <a:off x="3635375" y="5287010"/>
            <a:ext cx="7251700" cy="829945"/>
          </a:xfrm>
          <a:prstGeom prst="rect">
            <a:avLst/>
          </a:prstGeom>
          <a:solidFill>
            <a:schemeClr val="accent2"/>
          </a:solidFill>
          <a:ln>
            <a:solidFill>
              <a:srgbClr val="000000">
                <a:alpha val="0"/>
              </a:srgbClr>
            </a:solidFill>
          </a:ln>
        </p:spPr>
        <p:txBody>
          <a:bodyPr wrap="square" rtlCol="0">
            <a:noAutofit/>
          </a:bodyPr>
          <a:lstStyle/>
          <a:p>
            <a:r>
              <a:rPr lang="zh-CN" altLang="en-US" sz="1400" i="0" dirty="0">
                <a:latin typeface="微软雅黑" panose="020B0503020204020204" pitchFamily="34" charset="-122"/>
                <a:ea typeface="微软雅黑" panose="020B0503020204020204" pitchFamily="34" charset="-122"/>
              </a:rPr>
              <a:t>通过标准制定及落地，提高业务一线操作管理标准化程度，提升数据业务价值，减少人工查错、调整和手工作业量，更好的满足监管报送要求，实现数据方面考核达标。</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
                                        </p:tgtEl>
                                        <p:attrNameLst>
                                          <p:attrName>style.visibility</p:attrName>
                                        </p:attrNameLst>
                                      </p:cBhvr>
                                      <p:to>
                                        <p:strVal val="visible"/>
                                      </p:to>
                                    </p:set>
                                    <p:anim calcmode="discrete" valueType="clr">
                                      <p:cBhvr override="childStyle">
                                        <p:cTn id="7" dur="80"/>
                                        <p:tgtEl>
                                          <p:spTgt spid="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gtEl>
                                        <p:attrNameLst>
                                          <p:attrName>fillcolor</p:attrName>
                                        </p:attrNameLst>
                                      </p:cBhvr>
                                      <p:tavLst>
                                        <p:tav tm="0">
                                          <p:val>
                                            <p:clrVal>
                                              <a:schemeClr val="accent2"/>
                                            </p:clrVal>
                                          </p:val>
                                        </p:tav>
                                        <p:tav tm="50000">
                                          <p:val>
                                            <p:clrVal>
                                              <a:schemeClr val="hlink"/>
                                            </p:clrVal>
                                          </p:val>
                                        </p:tav>
                                      </p:tavLst>
                                    </p:anim>
                                    <p:set>
                                      <p:cBhvr>
                                        <p:cTn id="9" dur="80"/>
                                        <p:tgtEl>
                                          <p:spTgt spid="3"/>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8"/>
                                        </p:tgtEl>
                                        <p:attrNameLst>
                                          <p:attrName>style.visibility</p:attrName>
                                        </p:attrNameLst>
                                      </p:cBhvr>
                                      <p:to>
                                        <p:strVal val="visible"/>
                                      </p:to>
                                    </p:set>
                                    <p:anim calcmode="discrete" valueType="clr">
                                      <p:cBhvr override="childStyle">
                                        <p:cTn id="12"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8"/>
                                        </p:tgtEl>
                                        <p:attrNameLst>
                                          <p:attrName>fillcolor</p:attrName>
                                        </p:attrNameLst>
                                      </p:cBhvr>
                                      <p:tavLst>
                                        <p:tav tm="0">
                                          <p:val>
                                            <p:clrVal>
                                              <a:schemeClr val="accent2"/>
                                            </p:clrVal>
                                          </p:val>
                                        </p:tav>
                                        <p:tav tm="50000">
                                          <p:val>
                                            <p:clrVal>
                                              <a:schemeClr val="hlink"/>
                                            </p:clrVal>
                                          </p:val>
                                        </p:tav>
                                      </p:tavLst>
                                    </p:anim>
                                    <p:set>
                                      <p:cBhvr>
                                        <p:cTn id="14" dur="80"/>
                                        <p:tgtEl>
                                          <p:spTgt spid="8"/>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5"/>
                                        </p:tgtEl>
                                        <p:attrNameLst>
                                          <p:attrName>style.visibility</p:attrName>
                                        </p:attrNameLst>
                                      </p:cBhvr>
                                      <p:to>
                                        <p:strVal val="visible"/>
                                      </p:to>
                                    </p:set>
                                    <p:anim calcmode="discrete" valueType="clr">
                                      <p:cBhvr override="childStyle">
                                        <p:cTn id="19"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5"/>
                                        </p:tgtEl>
                                        <p:attrNameLst>
                                          <p:attrName>fillcolor</p:attrName>
                                        </p:attrNameLst>
                                      </p:cBhvr>
                                      <p:tavLst>
                                        <p:tav tm="0">
                                          <p:val>
                                            <p:clrVal>
                                              <a:schemeClr val="accent2"/>
                                            </p:clrVal>
                                          </p:val>
                                        </p:tav>
                                        <p:tav tm="50000">
                                          <p:val>
                                            <p:clrVal>
                                              <a:schemeClr val="hlink"/>
                                            </p:clrVal>
                                          </p:val>
                                        </p:tav>
                                      </p:tavLst>
                                    </p:anim>
                                    <p:set>
                                      <p:cBhvr>
                                        <p:cTn id="21" dur="80"/>
                                        <p:tgtEl>
                                          <p:spTgt spid="5"/>
                                        </p:tgtEl>
                                        <p:attrNameLst>
                                          <p:attrName>fill.type</p:attrName>
                                        </p:attrNameLst>
                                      </p:cBhvr>
                                      <p:to>
                                        <p:strVal val="solid"/>
                                      </p:to>
                                    </p:set>
                                  </p:childTnLst>
                                </p:cTn>
                              </p:par>
                              <p:par>
                                <p:cTn id="22" presetID="27" presetClass="entr" presetSubtype="0" fill="hold" grpId="0" nodeType="withEffect">
                                  <p:stCondLst>
                                    <p:cond delay="0"/>
                                  </p:stCondLst>
                                  <p:iterate type="lt">
                                    <p:tmPct val="50000"/>
                                  </p:iterate>
                                  <p:childTnLst>
                                    <p:set>
                                      <p:cBhvr>
                                        <p:cTn id="23" dur="1" fill="hold">
                                          <p:stCondLst>
                                            <p:cond delay="0"/>
                                          </p:stCondLst>
                                        </p:cTn>
                                        <p:tgtEl>
                                          <p:spTgt spid="9"/>
                                        </p:tgtEl>
                                        <p:attrNameLst>
                                          <p:attrName>style.visibility</p:attrName>
                                        </p:attrNameLst>
                                      </p:cBhvr>
                                      <p:to>
                                        <p:strVal val="visible"/>
                                      </p:to>
                                    </p:set>
                                    <p:anim calcmode="discrete" valueType="clr">
                                      <p:cBhvr override="childStyle">
                                        <p:cTn id="24" dur="80"/>
                                        <p:tgtEl>
                                          <p:spTgt spid="9"/>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9"/>
                                        </p:tgtEl>
                                        <p:attrNameLst>
                                          <p:attrName>fillcolor</p:attrName>
                                        </p:attrNameLst>
                                      </p:cBhvr>
                                      <p:tavLst>
                                        <p:tav tm="0">
                                          <p:val>
                                            <p:clrVal>
                                              <a:schemeClr val="accent2"/>
                                            </p:clrVal>
                                          </p:val>
                                        </p:tav>
                                        <p:tav tm="50000">
                                          <p:val>
                                            <p:clrVal>
                                              <a:schemeClr val="hlink"/>
                                            </p:clrVal>
                                          </p:val>
                                        </p:tav>
                                      </p:tavLst>
                                    </p:anim>
                                    <p:set>
                                      <p:cBhvr>
                                        <p:cTn id="26" dur="80"/>
                                        <p:tgtEl>
                                          <p:spTgt spid="9"/>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grpId="0" nodeType="clickEffect">
                                  <p:stCondLst>
                                    <p:cond delay="0"/>
                                  </p:stCondLst>
                                  <p:iterate type="lt">
                                    <p:tmPct val="50000"/>
                                  </p:iterate>
                                  <p:childTnLst>
                                    <p:set>
                                      <p:cBhvr>
                                        <p:cTn id="30" dur="1" fill="hold">
                                          <p:stCondLst>
                                            <p:cond delay="0"/>
                                          </p:stCondLst>
                                        </p:cTn>
                                        <p:tgtEl>
                                          <p:spTgt spid="6"/>
                                        </p:tgtEl>
                                        <p:attrNameLst>
                                          <p:attrName>style.visibility</p:attrName>
                                        </p:attrNameLst>
                                      </p:cBhvr>
                                      <p:to>
                                        <p:strVal val="visible"/>
                                      </p:to>
                                    </p:set>
                                    <p:anim calcmode="discrete" valueType="clr">
                                      <p:cBhvr override="childStyle">
                                        <p:cTn id="31" dur="80"/>
                                        <p:tgtEl>
                                          <p:spTgt spid="6"/>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6"/>
                                        </p:tgtEl>
                                        <p:attrNameLst>
                                          <p:attrName>fillcolor</p:attrName>
                                        </p:attrNameLst>
                                      </p:cBhvr>
                                      <p:tavLst>
                                        <p:tav tm="0">
                                          <p:val>
                                            <p:clrVal>
                                              <a:schemeClr val="accent2"/>
                                            </p:clrVal>
                                          </p:val>
                                        </p:tav>
                                        <p:tav tm="50000">
                                          <p:val>
                                            <p:clrVal>
                                              <a:schemeClr val="hlink"/>
                                            </p:clrVal>
                                          </p:val>
                                        </p:tav>
                                      </p:tavLst>
                                    </p:anim>
                                    <p:set>
                                      <p:cBhvr>
                                        <p:cTn id="33" dur="80"/>
                                        <p:tgtEl>
                                          <p:spTgt spid="6"/>
                                        </p:tgtEl>
                                        <p:attrNameLst>
                                          <p:attrName>fill.type</p:attrName>
                                        </p:attrNameLst>
                                      </p:cBhvr>
                                      <p:to>
                                        <p:strVal val="solid"/>
                                      </p:to>
                                    </p:set>
                                  </p:childTnLst>
                                </p:cTn>
                              </p:par>
                              <p:par>
                                <p:cTn id="34" presetID="27" presetClass="entr" presetSubtype="0" fill="hold" grpId="0" nodeType="withEffect">
                                  <p:stCondLst>
                                    <p:cond delay="0"/>
                                  </p:stCondLst>
                                  <p:iterate type="lt">
                                    <p:tmPct val="50000"/>
                                  </p:iterate>
                                  <p:childTnLst>
                                    <p:set>
                                      <p:cBhvr>
                                        <p:cTn id="35" dur="1" fill="hold">
                                          <p:stCondLst>
                                            <p:cond delay="0"/>
                                          </p:stCondLst>
                                        </p:cTn>
                                        <p:tgtEl>
                                          <p:spTgt spid="12"/>
                                        </p:tgtEl>
                                        <p:attrNameLst>
                                          <p:attrName>style.visibility</p:attrName>
                                        </p:attrNameLst>
                                      </p:cBhvr>
                                      <p:to>
                                        <p:strVal val="visible"/>
                                      </p:to>
                                    </p:set>
                                    <p:anim calcmode="discrete" valueType="clr">
                                      <p:cBhvr override="childStyle">
                                        <p:cTn id="36" dur="80"/>
                                        <p:tgtEl>
                                          <p:spTgt spid="12"/>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12"/>
                                        </p:tgtEl>
                                        <p:attrNameLst>
                                          <p:attrName>fillcolor</p:attrName>
                                        </p:attrNameLst>
                                      </p:cBhvr>
                                      <p:tavLst>
                                        <p:tav tm="0">
                                          <p:val>
                                            <p:clrVal>
                                              <a:schemeClr val="accent2"/>
                                            </p:clrVal>
                                          </p:val>
                                        </p:tav>
                                        <p:tav tm="50000">
                                          <p:val>
                                            <p:clrVal>
                                              <a:schemeClr val="hlink"/>
                                            </p:clrVal>
                                          </p:val>
                                        </p:tav>
                                      </p:tavLst>
                                    </p:anim>
                                    <p:set>
                                      <p:cBhvr>
                                        <p:cTn id="38" dur="80"/>
                                        <p:tgtEl>
                                          <p:spTgt spid="12"/>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grpId="0" nodeType="clickEffect">
                                  <p:stCondLst>
                                    <p:cond delay="0"/>
                                  </p:stCondLst>
                                  <p:iterate type="lt">
                                    <p:tmPct val="50000"/>
                                  </p:iterate>
                                  <p:childTnLst>
                                    <p:set>
                                      <p:cBhvr>
                                        <p:cTn id="42" dur="1" fill="hold">
                                          <p:stCondLst>
                                            <p:cond delay="0"/>
                                          </p:stCondLst>
                                        </p:cTn>
                                        <p:tgtEl>
                                          <p:spTgt spid="7"/>
                                        </p:tgtEl>
                                        <p:attrNameLst>
                                          <p:attrName>style.visibility</p:attrName>
                                        </p:attrNameLst>
                                      </p:cBhvr>
                                      <p:to>
                                        <p:strVal val="visible"/>
                                      </p:to>
                                    </p:set>
                                    <p:anim calcmode="discrete" valueType="clr">
                                      <p:cBhvr override="childStyle">
                                        <p:cTn id="43"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44" dur="80"/>
                                        <p:tgtEl>
                                          <p:spTgt spid="7"/>
                                        </p:tgtEl>
                                        <p:attrNameLst>
                                          <p:attrName>fillcolor</p:attrName>
                                        </p:attrNameLst>
                                      </p:cBhvr>
                                      <p:tavLst>
                                        <p:tav tm="0">
                                          <p:val>
                                            <p:clrVal>
                                              <a:schemeClr val="accent2"/>
                                            </p:clrVal>
                                          </p:val>
                                        </p:tav>
                                        <p:tav tm="50000">
                                          <p:val>
                                            <p:clrVal>
                                              <a:schemeClr val="hlink"/>
                                            </p:clrVal>
                                          </p:val>
                                        </p:tav>
                                      </p:tavLst>
                                    </p:anim>
                                    <p:set>
                                      <p:cBhvr>
                                        <p:cTn id="45" dur="80"/>
                                        <p:tgtEl>
                                          <p:spTgt spid="7"/>
                                        </p:tgtEl>
                                        <p:attrNameLst>
                                          <p:attrName>fill.type</p:attrName>
                                        </p:attrNameLst>
                                      </p:cBhvr>
                                      <p:to>
                                        <p:strVal val="solid"/>
                                      </p:to>
                                    </p:set>
                                  </p:childTnLst>
                                </p:cTn>
                              </p:par>
                              <p:par>
                                <p:cTn id="46" presetID="27" presetClass="entr" presetSubtype="0" fill="hold" grpId="0" nodeType="withEffect">
                                  <p:stCondLst>
                                    <p:cond delay="0"/>
                                  </p:stCondLst>
                                  <p:iterate type="lt">
                                    <p:tmPct val="50000"/>
                                  </p:iterate>
                                  <p:childTnLst>
                                    <p:set>
                                      <p:cBhvr>
                                        <p:cTn id="47" dur="1" fill="hold">
                                          <p:stCondLst>
                                            <p:cond delay="0"/>
                                          </p:stCondLst>
                                        </p:cTn>
                                        <p:tgtEl>
                                          <p:spTgt spid="13"/>
                                        </p:tgtEl>
                                        <p:attrNameLst>
                                          <p:attrName>style.visibility</p:attrName>
                                        </p:attrNameLst>
                                      </p:cBhvr>
                                      <p:to>
                                        <p:strVal val="visible"/>
                                      </p:to>
                                    </p:set>
                                    <p:anim calcmode="discrete" valueType="clr">
                                      <p:cBhvr override="childStyle">
                                        <p:cTn id="48" dur="80"/>
                                        <p:tgtEl>
                                          <p:spTgt spid="13"/>
                                        </p:tgtEl>
                                        <p:attrNameLst>
                                          <p:attrName>style.color</p:attrName>
                                        </p:attrNameLst>
                                      </p:cBhvr>
                                      <p:tavLst>
                                        <p:tav tm="0">
                                          <p:val>
                                            <p:clrVal>
                                              <a:schemeClr val="accent2"/>
                                            </p:clrVal>
                                          </p:val>
                                        </p:tav>
                                        <p:tav tm="50000">
                                          <p:val>
                                            <p:clrVal>
                                              <a:schemeClr val="hlink"/>
                                            </p:clrVal>
                                          </p:val>
                                        </p:tav>
                                      </p:tavLst>
                                    </p:anim>
                                    <p:anim calcmode="discrete" valueType="clr">
                                      <p:cBhvr>
                                        <p:cTn id="49" dur="80"/>
                                        <p:tgtEl>
                                          <p:spTgt spid="13"/>
                                        </p:tgtEl>
                                        <p:attrNameLst>
                                          <p:attrName>fillcolor</p:attrName>
                                        </p:attrNameLst>
                                      </p:cBhvr>
                                      <p:tavLst>
                                        <p:tav tm="0">
                                          <p:val>
                                            <p:clrVal>
                                              <a:schemeClr val="accent2"/>
                                            </p:clrVal>
                                          </p:val>
                                        </p:tav>
                                        <p:tav tm="50000">
                                          <p:val>
                                            <p:clrVal>
                                              <a:schemeClr val="hlink"/>
                                            </p:clrVal>
                                          </p:val>
                                        </p:tav>
                                      </p:tavLst>
                                    </p:anim>
                                    <p:set>
                                      <p:cBhvr>
                                        <p:cTn id="50" dur="80"/>
                                        <p:tgtEl>
                                          <p:spTgt spid="1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数据标准对民机有什么用</a:t>
            </a:r>
          </a:p>
        </p:txBody>
      </p:sp>
      <p:sp>
        <p:nvSpPr>
          <p:cNvPr id="18" name="TextBox 9"/>
          <p:cNvSpPr txBox="1">
            <a:spLocks noChangeArrowheads="1"/>
          </p:cNvSpPr>
          <p:nvPr/>
        </p:nvSpPr>
        <p:spPr bwMode="auto">
          <a:xfrm>
            <a:off x="428625" y="1142984"/>
            <a:ext cx="5072063" cy="369888"/>
          </a:xfrm>
          <a:prstGeom prst="rect">
            <a:avLst/>
          </a:prstGeom>
          <a:noFill/>
          <a:ln w="9525">
            <a:noFill/>
            <a:miter lim="800000"/>
          </a:ln>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i="0" kern="0" dirty="0">
                <a:solidFill>
                  <a:sysClr val="windowText" lastClr="000000"/>
                </a:solidFill>
              </a:rPr>
              <a:t>应用举例一：</a:t>
            </a:r>
            <a:endParaRPr kumimoji="0" lang="zh-CN" altLang="en-US" sz="1800" b="0" i="0" u="none" strike="noStrike" kern="0" cap="none" spc="0" normalizeH="0" baseline="0" noProof="0" dirty="0">
              <a:ln>
                <a:noFill/>
              </a:ln>
              <a:solidFill>
                <a:sysClr val="windowText" lastClr="000000"/>
              </a:solidFill>
              <a:effectLst/>
              <a:uLnTx/>
              <a:uFillTx/>
            </a:endParaRPr>
          </a:p>
        </p:txBody>
      </p:sp>
      <p:sp>
        <p:nvSpPr>
          <p:cNvPr id="19" name="矩形 1"/>
          <p:cNvSpPr>
            <a:spLocks noChangeArrowheads="1"/>
          </p:cNvSpPr>
          <p:nvPr/>
        </p:nvSpPr>
        <p:spPr bwMode="auto">
          <a:xfrm>
            <a:off x="736600" y="4940300"/>
            <a:ext cx="10408285" cy="829945"/>
          </a:xfrm>
          <a:prstGeom prst="rect">
            <a:avLst/>
          </a:prstGeom>
          <a:noFill/>
          <a:ln w="38100">
            <a:solidFill>
              <a:srgbClr val="FFC000"/>
            </a:solidFill>
            <a:miter lim="800000"/>
          </a:ln>
        </p:spPr>
        <p:txBody>
          <a:bodyPr wrap="square">
            <a:spAutoFit/>
          </a:bodyPr>
          <a:lstStyle/>
          <a:p>
            <a:pPr>
              <a:lnSpc>
                <a:spcPct val="150000"/>
              </a:lnSpc>
            </a:pPr>
            <a:r>
              <a:rPr lang="zh-CN" altLang="en-US" sz="1600" i="0" dirty="0">
                <a:latin typeface="微软雅黑" panose="020B0503020204020204" pitchFamily="34" charset="-122"/>
                <a:ea typeface="微软雅黑" panose="020B0503020204020204" pitchFamily="34" charset="-122"/>
              </a:rPr>
              <a:t>涉农贷款统计报送问题，行内之前对于涉农的含义口径一直不明确，后通过数据标准明确涉农贷款统计范围，通过标准访谈帮助信贷系统规范涉农贷款统计口径，并在信贷系统改造后实现系统取数。</a:t>
            </a:r>
          </a:p>
        </p:txBody>
      </p:sp>
      <p:graphicFrame>
        <p:nvGraphicFramePr>
          <p:cNvPr id="20" name="表格 19"/>
          <p:cNvGraphicFramePr>
            <a:graphicFrameLocks noGrp="1"/>
          </p:cNvGraphicFramePr>
          <p:nvPr>
            <p:custDataLst>
              <p:tags r:id="rId3"/>
            </p:custDataLst>
          </p:nvPr>
        </p:nvGraphicFramePr>
        <p:xfrm>
          <a:off x="4871720" y="1798955"/>
          <a:ext cx="6265545" cy="2854960"/>
        </p:xfrm>
        <a:graphic>
          <a:graphicData uri="http://schemas.openxmlformats.org/drawingml/2006/table">
            <a:tbl>
              <a:tblPr/>
              <a:tblGrid>
                <a:gridCol w="1202690">
                  <a:extLst>
                    <a:ext uri="{9D8B030D-6E8A-4147-A177-3AD203B41FA5}">
                      <a16:colId xmlns:a16="http://schemas.microsoft.com/office/drawing/2014/main" val="20000"/>
                    </a:ext>
                  </a:extLst>
                </a:gridCol>
                <a:gridCol w="2084070">
                  <a:extLst>
                    <a:ext uri="{9D8B030D-6E8A-4147-A177-3AD203B41FA5}">
                      <a16:colId xmlns:a16="http://schemas.microsoft.com/office/drawing/2014/main" val="20001"/>
                    </a:ext>
                  </a:extLst>
                </a:gridCol>
                <a:gridCol w="2978785">
                  <a:extLst>
                    <a:ext uri="{9D8B030D-6E8A-4147-A177-3AD203B41FA5}">
                      <a16:colId xmlns:a16="http://schemas.microsoft.com/office/drawing/2014/main" val="20002"/>
                    </a:ext>
                  </a:extLst>
                </a:gridCol>
              </a:tblGrid>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zh-CN" altLang="en-US" sz="1400" b="1" i="0" u="none" strike="noStrike" dirty="0">
                          <a:solidFill>
                            <a:schemeClr val="tx1"/>
                          </a:solidFill>
                          <a:effectLst/>
                          <a:latin typeface="微软雅黑" panose="020B0503020204020204" pitchFamily="34" charset="-122"/>
                          <a:ea typeface="微软雅黑" panose="020B0503020204020204" pitchFamily="34" charset="-122"/>
                        </a:rPr>
                        <a:t>标准编号</a:t>
                      </a:r>
                      <a:endParaRPr lang="en-US" altLang="zh-CN" sz="1400" b="1"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zh-CN" altLang="en-US" sz="1400" b="1" i="0" u="none" strike="noStrike" dirty="0">
                          <a:solidFill>
                            <a:schemeClr val="tx1"/>
                          </a:solidFill>
                          <a:effectLst/>
                          <a:latin typeface="微软雅黑" panose="020B0503020204020204" pitchFamily="34" charset="-122"/>
                          <a:ea typeface="微软雅黑" panose="020B0503020204020204" pitchFamily="34" charset="-122"/>
                        </a:rPr>
                        <a:t>标准名称</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400" b="1" i="0" u="none" strike="noStrike" dirty="0">
                          <a:solidFill>
                            <a:schemeClr val="tx1"/>
                          </a:solidFill>
                          <a:effectLst/>
                          <a:latin typeface="微软雅黑" panose="020B0503020204020204" pitchFamily="34" charset="-122"/>
                          <a:ea typeface="微软雅黑" panose="020B0503020204020204" pitchFamily="34" charset="-122"/>
                        </a:rPr>
                        <a:t>标准名称</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100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农林牧渔业贷款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200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支农贷款</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210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农田基本建设贷款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220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农产品加工贷款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230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农业生产资料制造贷款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4673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240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农用物资和农副产品流通贷款（不含农产品出口贷款）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241</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其中：农产品出口贷款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250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农业科技贷款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260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农村基础设施建设贷款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238760">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ctr" fontAlgn="ctr"/>
                      <a:r>
                        <a:rPr lang="en-US" altLang="zh-CN" sz="1400" u="none" strike="noStrike" dirty="0">
                          <a:solidFill>
                            <a:schemeClr val="tx1"/>
                          </a:solidFill>
                          <a:effectLst/>
                          <a:latin typeface="微软雅黑" panose="020B0503020204020204" pitchFamily="34" charset="-122"/>
                          <a:ea typeface="微软雅黑" panose="020B0503020204020204" pitchFamily="34" charset="-122"/>
                        </a:rPr>
                        <a:t>300</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a:solidFill>
                            <a:schemeClr val="tx1"/>
                          </a:solidFill>
                          <a:effectLst/>
                          <a:latin typeface="微软雅黑" panose="020B0503020204020204" pitchFamily="34" charset="-122"/>
                          <a:ea typeface="微软雅黑" panose="020B0503020204020204" pitchFamily="34" charset="-122"/>
                        </a:rPr>
                        <a:t>　</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zh-CN"/>
                      </a:defPPr>
                      <a:lvl1pPr marL="0" algn="l" defTabSz="914400" rtl="0" eaLnBrk="1" latinLnBrk="0" hangingPunct="1">
                        <a:defRPr sz="1800" kern="1200">
                          <a:solidFill>
                            <a:schemeClr val="dk1"/>
                          </a:solidFill>
                          <a:latin typeface="Arial" panose="020B0604020202020204"/>
                          <a:ea typeface="宋体" panose="02010600030101010101" pitchFamily="2" charset="-122"/>
                        </a:defRPr>
                      </a:lvl1pPr>
                      <a:lvl2pPr marL="457200" algn="l" defTabSz="914400" rtl="0" eaLnBrk="1" latinLnBrk="0" hangingPunct="1">
                        <a:defRPr sz="1800" kern="1200">
                          <a:solidFill>
                            <a:schemeClr val="dk1"/>
                          </a:solidFill>
                          <a:latin typeface="Arial" panose="020B0604020202020204"/>
                          <a:ea typeface="宋体" panose="02010600030101010101" pitchFamily="2" charset="-122"/>
                        </a:defRPr>
                      </a:lvl2pPr>
                      <a:lvl3pPr marL="914400" algn="l" defTabSz="914400" rtl="0" eaLnBrk="1" latinLnBrk="0" hangingPunct="1">
                        <a:defRPr sz="1800" kern="1200">
                          <a:solidFill>
                            <a:schemeClr val="dk1"/>
                          </a:solidFill>
                          <a:latin typeface="Arial" panose="020B0604020202020204"/>
                          <a:ea typeface="宋体" panose="02010600030101010101" pitchFamily="2" charset="-122"/>
                        </a:defRPr>
                      </a:lvl3pPr>
                      <a:lvl4pPr marL="1371600" algn="l" defTabSz="914400" rtl="0" eaLnBrk="1" latinLnBrk="0" hangingPunct="1">
                        <a:defRPr sz="1800" kern="1200">
                          <a:solidFill>
                            <a:schemeClr val="dk1"/>
                          </a:solidFill>
                          <a:latin typeface="Arial" panose="020B0604020202020204"/>
                          <a:ea typeface="宋体" panose="02010600030101010101" pitchFamily="2" charset="-122"/>
                        </a:defRPr>
                      </a:lvl4pPr>
                      <a:lvl5pPr marL="1828800" algn="l" defTabSz="914400" rtl="0" eaLnBrk="1" latinLnBrk="0" hangingPunct="1">
                        <a:defRPr sz="1800" kern="1200">
                          <a:solidFill>
                            <a:schemeClr val="dk1"/>
                          </a:solidFill>
                          <a:latin typeface="Arial" panose="020B0604020202020204"/>
                          <a:ea typeface="宋体" panose="02010600030101010101" pitchFamily="2" charset="-122"/>
                        </a:defRPr>
                      </a:lvl5pPr>
                      <a:lvl6pPr marL="2286000" algn="l" defTabSz="914400" rtl="0" eaLnBrk="1" latinLnBrk="0" hangingPunct="1">
                        <a:defRPr sz="1800" kern="1200">
                          <a:solidFill>
                            <a:schemeClr val="dk1"/>
                          </a:solidFill>
                          <a:latin typeface="Arial" panose="020B0604020202020204"/>
                          <a:ea typeface="宋体" panose="02010600030101010101" pitchFamily="2" charset="-122"/>
                        </a:defRPr>
                      </a:lvl6pPr>
                      <a:lvl7pPr marL="2743200" algn="l" defTabSz="914400" rtl="0" eaLnBrk="1" latinLnBrk="0" hangingPunct="1">
                        <a:defRPr sz="1800" kern="1200">
                          <a:solidFill>
                            <a:schemeClr val="dk1"/>
                          </a:solidFill>
                          <a:latin typeface="Arial" panose="020B0604020202020204"/>
                          <a:ea typeface="宋体" panose="02010600030101010101" pitchFamily="2" charset="-122"/>
                        </a:defRPr>
                      </a:lvl7pPr>
                      <a:lvl8pPr marL="3200400" algn="l" defTabSz="914400" rtl="0" eaLnBrk="1" latinLnBrk="0" hangingPunct="1">
                        <a:defRPr sz="1800" kern="1200">
                          <a:solidFill>
                            <a:schemeClr val="dk1"/>
                          </a:solidFill>
                          <a:latin typeface="Arial" panose="020B0604020202020204"/>
                          <a:ea typeface="宋体" panose="02010600030101010101" pitchFamily="2" charset="-122"/>
                        </a:defRPr>
                      </a:lvl8pPr>
                      <a:lvl9pPr marL="3657600" algn="l" defTabSz="914400" rtl="0" eaLnBrk="1" latinLnBrk="0" hangingPunct="1">
                        <a:defRPr sz="1800" kern="1200">
                          <a:solidFill>
                            <a:schemeClr val="dk1"/>
                          </a:solidFill>
                          <a:latin typeface="Arial" panose="020B0604020202020204"/>
                          <a:ea typeface="宋体" panose="02010600030101010101" pitchFamily="2" charset="-122"/>
                        </a:defRPr>
                      </a:lvl9pPr>
                    </a:lstStyle>
                    <a:p>
                      <a:pPr algn="just" fontAlgn="ctr"/>
                      <a:r>
                        <a:rPr lang="zh-CN" altLang="en-US" sz="1400" u="none" strike="noStrike" dirty="0">
                          <a:solidFill>
                            <a:schemeClr val="tx1"/>
                          </a:solidFill>
                          <a:effectLst/>
                          <a:latin typeface="微软雅黑" panose="020B0503020204020204" pitchFamily="34" charset="-122"/>
                          <a:ea typeface="微软雅黑" panose="020B0503020204020204" pitchFamily="34" charset="-122"/>
                        </a:rPr>
                        <a:t>农民专业合作社贷款</a:t>
                      </a:r>
                      <a:endParaRPr lang="zh-CN" altLang="en-US"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bl>
          </a:graphicData>
        </a:graphic>
      </p:graphicFrame>
      <p:graphicFrame>
        <p:nvGraphicFramePr>
          <p:cNvPr id="21" name="图示 20"/>
          <p:cNvGraphicFramePr/>
          <p:nvPr/>
        </p:nvGraphicFramePr>
        <p:xfrm>
          <a:off x="1342827" y="1858907"/>
          <a:ext cx="2160240" cy="273630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2" name="右箭头 11"/>
          <p:cNvSpPr>
            <a:spLocks noChangeArrowheads="1"/>
          </p:cNvSpPr>
          <p:nvPr/>
        </p:nvSpPr>
        <p:spPr bwMode="auto">
          <a:xfrm>
            <a:off x="3863023" y="3513127"/>
            <a:ext cx="574675" cy="936625"/>
          </a:xfrm>
          <a:prstGeom prst="rightArrow">
            <a:avLst>
              <a:gd name="adj1" fmla="val 50000"/>
              <a:gd name="adj2" fmla="val 50000"/>
            </a:avLst>
          </a:prstGeom>
          <a:solidFill>
            <a:srgbClr val="FFCC66"/>
          </a:solidFill>
          <a:ln w="9525" algn="ctr">
            <a:noFill/>
            <a:round/>
          </a:ln>
        </p:spPr>
        <p:txBody>
          <a:bodyPr/>
          <a:lstStyle/>
          <a:p>
            <a:endParaRPr lang="zh-CN" altLang="en-US" sz="1200" b="1">
              <a:latin typeface="Times New Roman" panose="02020603050405020304"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数据标准对民机有什么用</a:t>
            </a:r>
            <a:r>
              <a:rPr lang="en-US" altLang="zh-CN">
                <a:sym typeface="+mn-ea"/>
              </a:rPr>
              <a:t>——</a:t>
            </a:r>
            <a:r>
              <a:rPr lang="zh-CN" altLang="en-US">
                <a:sym typeface="+mn-ea"/>
              </a:rPr>
              <a:t>示例</a:t>
            </a:r>
          </a:p>
        </p:txBody>
      </p:sp>
      <p:graphicFrame>
        <p:nvGraphicFramePr>
          <p:cNvPr id="10" name="图表 9"/>
          <p:cNvGraphicFramePr/>
          <p:nvPr/>
        </p:nvGraphicFramePr>
        <p:xfrm>
          <a:off x="6959285" y="1144255"/>
          <a:ext cx="4071935" cy="4803567"/>
        </p:xfrm>
        <a:graphic>
          <a:graphicData uri="http://schemas.openxmlformats.org/drawingml/2006/chart">
            <c:chart xmlns:c="http://schemas.openxmlformats.org/drawingml/2006/chart" xmlns:r="http://schemas.openxmlformats.org/officeDocument/2006/relationships" r:id="rId6"/>
          </a:graphicData>
        </a:graphic>
      </p:graphicFrame>
      <p:sp>
        <p:nvSpPr>
          <p:cNvPr id="11" name="TextBox 10"/>
          <p:cNvSpPr txBox="1"/>
          <p:nvPr/>
        </p:nvSpPr>
        <p:spPr>
          <a:xfrm>
            <a:off x="1396458" y="1052717"/>
            <a:ext cx="3544156" cy="338554"/>
          </a:xfrm>
          <a:prstGeom prst="rect">
            <a:avLst/>
          </a:prstGeom>
          <a:noFill/>
        </p:spPr>
        <p:txBody>
          <a:bodyPr wrap="square" rtlCol="0">
            <a:spAutoFit/>
          </a:bodyPr>
          <a:lstStyle/>
          <a:p>
            <a:r>
              <a:rPr lang="zh-CN" altLang="en-US" sz="1600" b="1" i="0" dirty="0">
                <a:latin typeface="微软雅黑" panose="020B0503020204020204" pitchFamily="34" charset="-122"/>
                <a:ea typeface="微软雅黑" panose="020B0503020204020204" pitchFamily="34" charset="-122"/>
              </a:rPr>
              <a:t>客户信息数据校验错误数</a:t>
            </a:r>
          </a:p>
        </p:txBody>
      </p:sp>
      <p:sp>
        <p:nvSpPr>
          <p:cNvPr id="12" name="TextBox 11"/>
          <p:cNvSpPr txBox="1"/>
          <p:nvPr/>
        </p:nvSpPr>
        <p:spPr>
          <a:xfrm>
            <a:off x="8112240" y="6093381"/>
            <a:ext cx="2848943"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与标准不一致字段占比达</a:t>
            </a:r>
            <a:r>
              <a:rPr kumimoji="0" lang="en-US" altLang="zh-CN" sz="1600" b="1" i="0" u="none" strike="noStrike" kern="0" cap="none" spc="0" normalizeH="0" baseline="0" noProof="0" dirty="0">
                <a:ln>
                  <a:noFill/>
                </a:ln>
                <a:solidFill>
                  <a:srgbClr val="FF0000"/>
                </a:solidFill>
                <a:effectLst/>
                <a:uLnTx/>
                <a:uFillTx/>
              </a:rPr>
              <a:t>30%</a:t>
            </a:r>
            <a:endParaRPr kumimoji="0" lang="zh-CN" altLang="en-US" sz="1600" b="1" i="0" u="none" strike="noStrike" kern="0" cap="none" spc="0" normalizeH="0" baseline="0" noProof="0" dirty="0">
              <a:ln>
                <a:noFill/>
              </a:ln>
              <a:solidFill>
                <a:srgbClr val="FF0000"/>
              </a:solidFill>
              <a:effectLst/>
              <a:uLnTx/>
              <a:uFillTx/>
            </a:endParaRPr>
          </a:p>
        </p:txBody>
      </p:sp>
      <p:graphicFrame>
        <p:nvGraphicFramePr>
          <p:cNvPr id="13" name="表格 12"/>
          <p:cNvGraphicFramePr>
            <a:graphicFrameLocks noGrp="1"/>
          </p:cNvGraphicFramePr>
          <p:nvPr>
            <p:custDataLst>
              <p:tags r:id="rId3"/>
            </p:custDataLst>
          </p:nvPr>
        </p:nvGraphicFramePr>
        <p:xfrm>
          <a:off x="1396365" y="1435735"/>
          <a:ext cx="5340350" cy="4796790"/>
        </p:xfrm>
        <a:graphic>
          <a:graphicData uri="http://schemas.openxmlformats.org/drawingml/2006/table">
            <a:tbl>
              <a:tblPr/>
              <a:tblGrid>
                <a:gridCol w="1614805">
                  <a:extLst>
                    <a:ext uri="{9D8B030D-6E8A-4147-A177-3AD203B41FA5}">
                      <a16:colId xmlns:a16="http://schemas.microsoft.com/office/drawing/2014/main" val="20000"/>
                    </a:ext>
                  </a:extLst>
                </a:gridCol>
                <a:gridCol w="1790065">
                  <a:extLst>
                    <a:ext uri="{9D8B030D-6E8A-4147-A177-3AD203B41FA5}">
                      <a16:colId xmlns:a16="http://schemas.microsoft.com/office/drawing/2014/main" val="20001"/>
                    </a:ext>
                  </a:extLst>
                </a:gridCol>
                <a:gridCol w="902335">
                  <a:extLst>
                    <a:ext uri="{9D8B030D-6E8A-4147-A177-3AD203B41FA5}">
                      <a16:colId xmlns:a16="http://schemas.microsoft.com/office/drawing/2014/main" val="20002"/>
                    </a:ext>
                  </a:extLst>
                </a:gridCol>
                <a:gridCol w="1033145">
                  <a:extLst>
                    <a:ext uri="{9D8B030D-6E8A-4147-A177-3AD203B41FA5}">
                      <a16:colId xmlns:a16="http://schemas.microsoft.com/office/drawing/2014/main" val="20003"/>
                    </a:ext>
                  </a:extLst>
                </a:gridCol>
              </a:tblGrid>
              <a:tr h="27305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ctr" fontAlgn="ctr"/>
                      <a:r>
                        <a:rPr lang="zh-CN" altLang="en-US" sz="1100" b="1" i="0" u="none" strike="noStrike" dirty="0">
                          <a:latin typeface="宋体" panose="02010600030101010101" pitchFamily="2" charset="-122"/>
                        </a:rPr>
                        <a:t>字段名称</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ctr" fontAlgn="ctr"/>
                      <a:r>
                        <a:rPr lang="zh-CN" altLang="en-US" sz="1100" b="1" i="0" u="none" strike="noStrike">
                          <a:latin typeface="宋体" panose="02010600030101010101" pitchFamily="2" charset="-122"/>
                        </a:rPr>
                        <a:t>校验规则</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ctr" fontAlgn="ctr"/>
                      <a:r>
                        <a:rPr lang="zh-CN" altLang="en-US" sz="1100" b="1" i="0" u="none" strike="noStrike" dirty="0">
                          <a:latin typeface="宋体" panose="02010600030101010101" pitchFamily="2" charset="-122"/>
                        </a:rPr>
                        <a:t>出错记录数</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ctr" fontAlgn="ctr"/>
                      <a:r>
                        <a:rPr lang="zh-CN" altLang="en-US" sz="1100" b="1" i="0" u="none" strike="noStrike">
                          <a:latin typeface="宋体" panose="02010600030101010101" pitchFamily="2" charset="-122"/>
                        </a:rPr>
                        <a:t>出错比例</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3990">
                <a:tc rowSpan="2">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客户号</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字段长度校验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18302</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1.34%</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1"/>
                  </a:ext>
                </a:extLst>
              </a:tr>
              <a:tr h="173990">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值必须为数字</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5515</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0.40%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2"/>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客户名称</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值不能仅由数字组成</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80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0.01%</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3"/>
                  </a:ext>
                </a:extLst>
              </a:tr>
              <a:tr h="173990">
                <a:tc rowSpan="2">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客户英文名称</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要求字段值中不能有中文</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2</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0.00%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4"/>
                  </a:ext>
                </a:extLst>
              </a:tr>
              <a:tr h="173990">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字段中必须含有字母</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46753</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3.43%</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5"/>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a:latin typeface="Tahoma" panose="020B0604030504040204"/>
                        </a:rPr>
                        <a:t>证件号码</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身份证号码有效性校验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89269</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6.58%</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6"/>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a:latin typeface="Tahoma" panose="020B0604030504040204"/>
                        </a:rPr>
                        <a:t>公司通讯地址</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456007</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39.12%</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7"/>
                  </a:ext>
                </a:extLst>
              </a:tr>
              <a:tr h="173990">
                <a:tc rowSpan="2">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邮政编码</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1127323</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96.71%</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8"/>
                  </a:ext>
                </a:extLst>
              </a:tr>
              <a:tr h="173990">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字段长度校验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1126490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96.63%</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09"/>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住宅电话</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1147177</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98.41%</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10"/>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a:latin typeface="Tahoma" panose="020B0604030504040204"/>
                        </a:rPr>
                        <a:t>手机号码</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791145</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67.87%</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65ED68">
                        <a:alpha val="49000"/>
                      </a:srgbClr>
                    </a:solidFill>
                  </a:tcPr>
                </a:tc>
                <a:extLst>
                  <a:ext uri="{0D108BD9-81ED-4DB2-BD59-A6C34878D82A}">
                    <a16:rowId xmlns:a16="http://schemas.microsoft.com/office/drawing/2014/main" val="10011"/>
                  </a:ext>
                </a:extLst>
              </a:tr>
              <a:tr h="173990">
                <a:tc rowSpan="2">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客户号</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a:latin typeface="Tahoma" panose="020B0604030504040204"/>
                        </a:rPr>
                        <a:t>字段长度校验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21848</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41.16%</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2"/>
                  </a:ext>
                </a:extLst>
              </a:tr>
              <a:tr h="173990">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a:latin typeface="Tahoma" panose="020B0604030504040204"/>
                        </a:rPr>
                        <a:t>值必须为数字</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4897</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9.23%</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3"/>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机构号</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a:latin typeface="Tahoma" panose="020B0604030504040204"/>
                        </a:rPr>
                        <a:t>字段长度校验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972</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1.83%</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4"/>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客户英文名称</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字段中必须含有字母</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9577</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18.04%</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5"/>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组织机构登记日期</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a:latin typeface="Tahoma" panose="020B0604030504040204"/>
                        </a:rPr>
                        <a:t>15</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0.16%</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6"/>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经营范围</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41</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0.44%</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7"/>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贷款卡编码</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25744</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48.50%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8"/>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登记注册号</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15</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0.16%</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19"/>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成立日期</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8</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0.09%</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20"/>
                  </a:ext>
                </a:extLst>
              </a:tr>
              <a:tr h="173990">
                <a:tc rowSpan="3">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宋体" panose="02010600030101010101" pitchFamily="2" charset="-122"/>
                        </a:rPr>
                        <a:t>居住地邮政编码</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190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0.44%</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21"/>
                  </a:ext>
                </a:extLst>
              </a:tr>
              <a:tr h="173990">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值必须为数字</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38</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0.09%</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22"/>
                  </a:ext>
                </a:extLst>
              </a:tr>
              <a:tr h="173990">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a:latin typeface="Tahoma" panose="020B0604030504040204"/>
                        </a:rPr>
                        <a:t>字段长度校验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302</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0.70%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23"/>
                  </a:ext>
                </a:extLst>
              </a:tr>
              <a:tr h="173990">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住宅电话</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a:latin typeface="Tahoma" panose="020B0604030504040204"/>
                        </a:rPr>
                        <a:t>值不能为空</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6239</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14.55%</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24"/>
                  </a:ext>
                </a:extLst>
              </a:tr>
              <a:tr h="173990">
                <a:tc rowSpan="2">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ctr"/>
                      <a:r>
                        <a:rPr lang="zh-CN" altLang="en-US" sz="1100" b="1" i="0" u="none" strike="noStrike" dirty="0">
                          <a:latin typeface="Tahoma" panose="020B0604030504040204"/>
                        </a:rPr>
                        <a:t>证件号码</a:t>
                      </a:r>
                    </a:p>
                  </a:txBody>
                  <a:tcPr marL="6301" marR="6301" marT="630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a:latin typeface="Tahoma" panose="020B0604030504040204"/>
                        </a:rPr>
                        <a:t>组织机构有效性校验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830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1.56%</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25"/>
                  </a:ext>
                </a:extLst>
              </a:tr>
              <a:tr h="173990">
                <a:tc vMerge="1">
                  <a:txBody>
                    <a:bodyPr/>
                    <a:lstStyle/>
                    <a:p>
                      <a:endParaRPr lang="zh-CN"/>
                    </a:p>
                  </a:txBody>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l" fontAlgn="b"/>
                      <a:r>
                        <a:rPr lang="zh-CN" altLang="en-US" sz="1100" b="1" i="0" u="none" strike="noStrike" dirty="0">
                          <a:latin typeface="Tahoma" panose="020B0604030504040204"/>
                        </a:rPr>
                        <a:t>身份证号码有效性校验</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108</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tc>
                  <a:txBody>
                    <a:bodyPr/>
                    <a:lstStyle>
                      <a:defPPr>
                        <a:defRPr lang="zh-CN"/>
                      </a:defPPr>
                      <a:lvl1pPr marL="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1pPr>
                      <a:lvl2pPr marL="457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2pPr>
                      <a:lvl3pPr marL="914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3pPr>
                      <a:lvl4pPr marL="1371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4pPr>
                      <a:lvl5pPr marL="18288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5pPr>
                      <a:lvl6pPr marL="22860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6pPr>
                      <a:lvl7pPr marL="27432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7pPr>
                      <a:lvl8pPr marL="32004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8pPr>
                      <a:lvl9pPr marL="3657600" algn="l" defTabSz="914400" rtl="0" eaLnBrk="1" latinLnBrk="0" hangingPunct="1">
                        <a:defRPr sz="1800" kern="1200">
                          <a:solidFill>
                            <a:schemeClr val="tx1"/>
                          </a:solidFill>
                          <a:latin typeface="幼圆" panose="02010509060101010101" pitchFamily="49" charset="-122"/>
                          <a:ea typeface="幼圆" panose="02010509060101010101" pitchFamily="49" charset="-122"/>
                        </a:defRPr>
                      </a:lvl9pPr>
                    </a:lstStyle>
                    <a:p>
                      <a:pPr algn="r" fontAlgn="b"/>
                      <a:r>
                        <a:rPr lang="en-US" altLang="zh-CN" sz="1100" b="1" i="0" u="none" strike="noStrike" dirty="0">
                          <a:latin typeface="Tahoma" panose="020B0604030504040204"/>
                        </a:rPr>
                        <a:t>0.20%</a:t>
                      </a:r>
                    </a:p>
                  </a:txBody>
                  <a:tcPr marL="6301" marR="6301" marT="6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000">
                        <a:alpha val="49000"/>
                      </a:srgbClr>
                    </a:solidFill>
                  </a:tcPr>
                </a:tc>
                <a:extLst>
                  <a:ext uri="{0D108BD9-81ED-4DB2-BD59-A6C34878D82A}">
                    <a16:rowId xmlns:a16="http://schemas.microsoft.com/office/drawing/2014/main" val="10026"/>
                  </a:ext>
                </a:extLst>
              </a:tr>
            </a:tbl>
          </a:graphicData>
        </a:graphic>
      </p:graphicFrame>
      <p:sp>
        <p:nvSpPr>
          <p:cNvPr id="15" name="TextBox 14"/>
          <p:cNvSpPr txBox="1"/>
          <p:nvPr/>
        </p:nvSpPr>
        <p:spPr>
          <a:xfrm>
            <a:off x="2783523" y="6357958"/>
            <a:ext cx="857256" cy="276999"/>
          </a:xfrm>
          <a:prstGeom prst="rect">
            <a:avLst/>
          </a:prstGeom>
          <a:solidFill>
            <a:srgbClr val="65ED68"/>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核心</a:t>
            </a:r>
          </a:p>
        </p:txBody>
      </p:sp>
      <p:sp>
        <p:nvSpPr>
          <p:cNvPr id="2" name="TextBox 15"/>
          <p:cNvSpPr txBox="1"/>
          <p:nvPr/>
        </p:nvSpPr>
        <p:spPr>
          <a:xfrm>
            <a:off x="3783655" y="6357958"/>
            <a:ext cx="857256" cy="276999"/>
          </a:xfrm>
          <a:prstGeom prst="rect">
            <a:avLst/>
          </a:prstGeom>
          <a:solidFill>
            <a:srgbClr val="E9B75D">
              <a:alpha val="50000"/>
            </a:srgbClr>
          </a:solidFill>
        </p:spPr>
        <p:txBody>
          <a:bodyPr wrap="square" rtlCol="0">
            <a:spAutoFit/>
          </a:bodyPr>
          <a:lstStyle/>
          <a:p>
            <a:pPr algn="ctr"/>
            <a:r>
              <a:rPr lang="zh-CN" altLang="en-US" sz="1200" b="1" i="0" dirty="0">
                <a:latin typeface="+mj-ea"/>
                <a:ea typeface="+mj-ea"/>
              </a:rPr>
              <a:t>信贷</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P spid="11" grpId="0"/>
      <p:bldP spid="12" grpId="0"/>
      <p:bldP spid="15" grpId="0" bldLvl="0" animBg="1"/>
      <p:bldP spid="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数据标注对民机有什么用</a:t>
            </a:r>
          </a:p>
        </p:txBody>
      </p:sp>
      <p:sp>
        <p:nvSpPr>
          <p:cNvPr id="4" name="圆角矩形 1"/>
          <p:cNvSpPr>
            <a:spLocks noChangeArrowheads="1"/>
          </p:cNvSpPr>
          <p:nvPr/>
        </p:nvSpPr>
        <p:spPr bwMode="auto">
          <a:xfrm>
            <a:off x="642938" y="1772603"/>
            <a:ext cx="1800225" cy="474662"/>
          </a:xfrm>
          <a:prstGeom prst="roundRect">
            <a:avLst>
              <a:gd name="adj" fmla="val 16667"/>
            </a:avLst>
          </a:prstGeom>
          <a:solidFill>
            <a:schemeClr val="bg2">
              <a:lumMod val="50000"/>
            </a:schemeClr>
          </a:solidFill>
          <a:ln w="9525" algn="ctr">
            <a:noFill/>
            <a:round/>
          </a:ln>
        </p:spPr>
        <p:txBody>
          <a:bodyPr anchor="ctr"/>
          <a:lstStyle/>
          <a:p>
            <a:pPr algn="ctr"/>
            <a:r>
              <a:rPr lang="zh-CN" altLang="en-US" sz="1600" b="1" i="0">
                <a:solidFill>
                  <a:schemeClr val="bg1"/>
                </a:solidFill>
                <a:latin typeface="微软雅黑" panose="020B0503020204020204" pitchFamily="34" charset="-122"/>
                <a:ea typeface="微软雅黑" panose="020B0503020204020204" pitchFamily="34" charset="-122"/>
              </a:rPr>
              <a:t>组织机构代码</a:t>
            </a:r>
          </a:p>
        </p:txBody>
      </p:sp>
      <p:sp>
        <p:nvSpPr>
          <p:cNvPr id="5" name="矩形 3"/>
          <p:cNvSpPr>
            <a:spLocks noChangeArrowheads="1"/>
          </p:cNvSpPr>
          <p:nvPr/>
        </p:nvSpPr>
        <p:spPr bwMode="auto">
          <a:xfrm>
            <a:off x="6428740" y="1329055"/>
            <a:ext cx="5067300" cy="5176520"/>
          </a:xfrm>
          <a:prstGeom prst="rect">
            <a:avLst/>
          </a:prstGeom>
          <a:solidFill>
            <a:schemeClr val="accent2"/>
          </a:solidFill>
          <a:ln w="9525">
            <a:noFill/>
            <a:miter lim="800000"/>
          </a:ln>
        </p:spPr>
        <p:txBody>
          <a:bodyPr>
            <a:noAutofit/>
          </a:bodyPr>
          <a:lstStyle/>
          <a:p>
            <a:r>
              <a:rPr lang="en-US" altLang="zh-CN" sz="1400" i="0"/>
              <a:t>BEGIN</a:t>
            </a:r>
          </a:p>
          <a:p>
            <a:r>
              <a:rPr lang="en-US" altLang="zh-CN" sz="1400" i="0"/>
              <a:t>IF Len = 9 THEN</a:t>
            </a:r>
          </a:p>
          <a:p>
            <a:r>
              <a:rPr lang="en-US" altLang="zh-CN" sz="1400" i="0"/>
              <a:t>-- C9 = 11 - MOD ( ∑Ci * Wi </a:t>
            </a:r>
            <a:r>
              <a:rPr lang="zh-CN" altLang="en-US" sz="1400" i="0"/>
              <a:t>，</a:t>
            </a:r>
            <a:r>
              <a:rPr lang="en-US" altLang="zh-CN" sz="1400" i="0"/>
              <a:t>11) … (2)</a:t>
            </a:r>
          </a:p>
          <a:p>
            <a:r>
              <a:rPr lang="en-US" altLang="zh-CN" sz="1400" i="0"/>
              <a:t>FOR i IN 1 .. 8 LOOP</a:t>
            </a:r>
          </a:p>
          <a:p>
            <a:r>
              <a:rPr lang="en-US" altLang="zh-CN" sz="1400" i="0"/>
              <a:t>Tab_w(i) := MOD(Power(2, ((10 - i) - 1)), 11);</a:t>
            </a:r>
          </a:p>
          <a:p>
            <a:r>
              <a:rPr lang="en-US" altLang="zh-CN" sz="1400" i="0"/>
              <a:t>--Tab_w(i) := MOD(Power(2, ((10 - i) - 1)), 11); </a:t>
            </a:r>
            <a:r>
              <a:rPr lang="zh-CN" altLang="en-US" sz="1400" i="0"/>
              <a:t>就是加权算法值</a:t>
            </a:r>
          </a:p>
          <a:p>
            <a:r>
              <a:rPr lang="en-US" altLang="zh-CN" sz="1400" i="0"/>
              <a:t>Tab_a(i) := Substr(Pid, i, 1);</a:t>
            </a:r>
          </a:p>
          <a:p>
            <a:r>
              <a:rPr lang="en-US" altLang="zh-CN" sz="1400" i="0"/>
              <a:t>Sigma := Sigma + Tab_w(i) * Tab_a(i);</a:t>
            </a:r>
          </a:p>
          <a:p>
            <a:r>
              <a:rPr lang="en-US" altLang="zh-CN" sz="1400" i="0"/>
              <a:t>END LOOP;</a:t>
            </a:r>
          </a:p>
          <a:p>
            <a:r>
              <a:rPr lang="en-US" altLang="zh-CN" sz="1400" i="0"/>
              <a:t>IF MOD(Sigma, 11) = 1 THEN  RESULT := Substr(Pid, 1, 8) || 'X';</a:t>
            </a:r>
          </a:p>
          <a:p>
            <a:r>
              <a:rPr lang="en-US" altLang="zh-CN" sz="1400" i="0"/>
              <a:t>ELSE RESULT := Substr(Pid, 1, 8) || To_Char(11 - MOD(Sigma, 11));</a:t>
            </a:r>
          </a:p>
          <a:p>
            <a:r>
              <a:rPr lang="en-US" altLang="zh-CN" sz="1400" i="0"/>
              <a:t>END IF;</a:t>
            </a:r>
          </a:p>
          <a:p>
            <a:r>
              <a:rPr lang="en-US" altLang="zh-CN" sz="1400" i="0"/>
              <a:t>END IF; IF RESULT = Pid THEN</a:t>
            </a:r>
          </a:p>
          <a:p>
            <a:r>
              <a:rPr lang="en-US" altLang="zh-CN" sz="1400" i="0"/>
              <a:t>RETURN('</a:t>
            </a:r>
            <a:r>
              <a:rPr lang="zh-CN" altLang="en-US" sz="1400" i="0"/>
              <a:t>正确</a:t>
            </a:r>
            <a:r>
              <a:rPr lang="en-US" altLang="zh-CN" sz="1400" i="0"/>
              <a:t>');</a:t>
            </a:r>
          </a:p>
          <a:p>
            <a:r>
              <a:rPr lang="en-US" altLang="zh-CN" sz="1400" i="0"/>
              <a:t>ELSE RETURN('</a:t>
            </a:r>
            <a:r>
              <a:rPr lang="zh-CN" altLang="en-US" sz="1400" i="0"/>
              <a:t>错误</a:t>
            </a:r>
            <a:r>
              <a:rPr lang="en-US" altLang="zh-CN" sz="1400" i="0"/>
              <a:t>,</a:t>
            </a:r>
            <a:r>
              <a:rPr lang="zh-CN" altLang="en-US" sz="1400" i="0"/>
              <a:t>应该是：</a:t>
            </a:r>
            <a:r>
              <a:rPr lang="en-US" altLang="zh-CN" sz="1400" i="0"/>
              <a:t>' || RESULT);</a:t>
            </a:r>
          </a:p>
          <a:p>
            <a:r>
              <a:rPr lang="en-US" altLang="zh-CN" sz="1400" i="0"/>
              <a:t>END IF;</a:t>
            </a:r>
          </a:p>
          <a:p>
            <a:r>
              <a:rPr lang="en-US" altLang="zh-CN" sz="1400" i="0"/>
              <a:t>EXCEPTION</a:t>
            </a:r>
          </a:p>
          <a:p>
            <a:r>
              <a:rPr lang="en-US" altLang="zh-CN" sz="1400" i="0"/>
              <a:t>WHEN OTHERS THEN</a:t>
            </a:r>
          </a:p>
          <a:p>
            <a:r>
              <a:rPr lang="en-US" altLang="zh-CN" sz="1400" i="0"/>
              <a:t>BEGIN  RETURN('</a:t>
            </a:r>
            <a:r>
              <a:rPr lang="zh-CN" altLang="en-US" sz="1400" i="0"/>
              <a:t>错误</a:t>
            </a:r>
            <a:r>
              <a:rPr lang="en-US" altLang="zh-CN" sz="1400" i="0"/>
              <a:t>');</a:t>
            </a:r>
          </a:p>
          <a:p>
            <a:r>
              <a:rPr lang="en-US" altLang="zh-CN" sz="1400" i="0"/>
              <a:t>Dbms_Output.Put_Line('</a:t>
            </a:r>
            <a:r>
              <a:rPr lang="zh-CN" altLang="en-US" sz="1400" i="0"/>
              <a:t>发生了异常的错误</a:t>
            </a:r>
            <a:r>
              <a:rPr lang="en-US" altLang="zh-CN" sz="1400" i="0"/>
              <a:t>');</a:t>
            </a:r>
          </a:p>
          <a:p>
            <a:r>
              <a:rPr lang="en-US" altLang="zh-CN" sz="1400" i="0"/>
              <a:t>END;</a:t>
            </a:r>
          </a:p>
          <a:p>
            <a:r>
              <a:rPr lang="en-US" altLang="zh-CN" sz="1400" i="0"/>
              <a:t>END Jgid_Verify;</a:t>
            </a:r>
            <a:endParaRPr lang="zh-CN" altLang="en-US" sz="1400" i="0"/>
          </a:p>
        </p:txBody>
      </p:sp>
      <p:graphicFrame>
        <p:nvGraphicFramePr>
          <p:cNvPr id="6" name="表格 5"/>
          <p:cNvGraphicFramePr>
            <a:graphicFrameLocks noGrp="1"/>
          </p:cNvGraphicFramePr>
          <p:nvPr>
            <p:custDataLst>
              <p:tags r:id="rId3"/>
            </p:custDataLst>
          </p:nvPr>
        </p:nvGraphicFramePr>
        <p:xfrm>
          <a:off x="632460" y="2440940"/>
          <a:ext cx="5213350" cy="3274060"/>
        </p:xfrm>
        <a:graphic>
          <a:graphicData uri="http://schemas.openxmlformats.org/drawingml/2006/table">
            <a:tbl>
              <a:tblPr/>
              <a:tblGrid>
                <a:gridCol w="1116965">
                  <a:extLst>
                    <a:ext uri="{9D8B030D-6E8A-4147-A177-3AD203B41FA5}">
                      <a16:colId xmlns:a16="http://schemas.microsoft.com/office/drawing/2014/main" val="20000"/>
                    </a:ext>
                  </a:extLst>
                </a:gridCol>
                <a:gridCol w="2912110">
                  <a:extLst>
                    <a:ext uri="{9D8B030D-6E8A-4147-A177-3AD203B41FA5}">
                      <a16:colId xmlns:a16="http://schemas.microsoft.com/office/drawing/2014/main" val="20001"/>
                    </a:ext>
                  </a:extLst>
                </a:gridCol>
                <a:gridCol w="1184275">
                  <a:extLst>
                    <a:ext uri="{9D8B030D-6E8A-4147-A177-3AD203B41FA5}">
                      <a16:colId xmlns:a16="http://schemas.microsoft.com/office/drawing/2014/main" val="20002"/>
                    </a:ext>
                  </a:extLst>
                </a:gridCol>
              </a:tblGrid>
              <a:tr h="220345">
                <a:tc>
                  <a:txBody>
                    <a:bodyPr/>
                    <a:lstStyle/>
                    <a:p>
                      <a:pPr algn="l" fontAlgn="b"/>
                      <a:r>
                        <a:rPr lang="zh-CN" altLang="en-US" sz="1200" b="1" i="0" u="none" strike="noStrike" dirty="0">
                          <a:solidFill>
                            <a:srgbClr val="000000"/>
                          </a:solidFill>
                          <a:latin typeface="微软雅黑" panose="020B0503020204020204" pitchFamily="34" charset="-122"/>
                          <a:ea typeface="微软雅黑" panose="020B0503020204020204" pitchFamily="34" charset="-122"/>
                        </a:rPr>
                        <a:t>客户号</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b"/>
                      <a:r>
                        <a:rPr lang="zh-CN" altLang="en-US" sz="1200" b="1" i="0" u="none" strike="noStrike" dirty="0">
                          <a:solidFill>
                            <a:srgbClr val="000000"/>
                          </a:solidFill>
                          <a:latin typeface="微软雅黑" panose="020B0503020204020204" pitchFamily="34" charset="-122"/>
                          <a:ea typeface="微软雅黑" panose="020B0503020204020204" pitchFamily="34" charset="-122"/>
                        </a:rPr>
                        <a:t>客户名称</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a:txBody>
                    <a:bodyPr/>
                    <a:lstStyle/>
                    <a:p>
                      <a:pPr algn="l" fontAlgn="b"/>
                      <a:r>
                        <a:rPr lang="zh-CN" altLang="en-US" sz="1200" b="1" i="0" u="none" strike="noStrike" dirty="0">
                          <a:solidFill>
                            <a:srgbClr val="000000"/>
                          </a:solidFill>
                          <a:latin typeface="微软雅黑" panose="020B0503020204020204" pitchFamily="34" charset="-122"/>
                          <a:ea typeface="微软雅黑" panose="020B0503020204020204" pitchFamily="34" charset="-122"/>
                        </a:rPr>
                        <a:t>证件号码</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433705">
                <a:tc>
                  <a:txBody>
                    <a:bodyPr/>
                    <a:lstStyle/>
                    <a:p>
                      <a:pPr algn="l" fontAlgn="b"/>
                      <a:r>
                        <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rPr>
                        <a:t>20xxxxxxx</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乌鲁木齐市</a:t>
                      </a:r>
                      <a:r>
                        <a:rPr lang="en-US" altLang="zh-CN" sz="1200" b="0" i="0" u="none" strike="noStrike" kern="1200" dirty="0" err="1">
                          <a:solidFill>
                            <a:srgbClr val="000000"/>
                          </a:solidFill>
                          <a:latin typeface="微软雅黑" panose="020B0503020204020204" pitchFamily="34" charset="-122"/>
                          <a:ea typeface="微软雅黑" panose="020B0503020204020204" pitchFamily="34" charset="-122"/>
                          <a:cs typeface="+mn-cs"/>
                        </a:rPr>
                        <a:t>xxxx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中学</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FF0000"/>
                          </a:solidFill>
                          <a:latin typeface="微软雅黑" panose="020B0503020204020204" pitchFamily="34" charset="-122"/>
                          <a:ea typeface="微软雅黑" panose="020B0503020204020204" pitchFamily="34" charset="-122"/>
                          <a:cs typeface="+mn-cs"/>
                        </a:rPr>
                        <a:t>米编委</a:t>
                      </a:r>
                      <a:r>
                        <a:rPr lang="en-US" altLang="zh-CN" sz="1200" b="0" i="0" u="none" strike="noStrike" kern="1200" dirty="0">
                          <a:solidFill>
                            <a:srgbClr val="FF0000"/>
                          </a:solidFill>
                          <a:latin typeface="微软雅黑" panose="020B0503020204020204" pitchFamily="34" charset="-122"/>
                          <a:ea typeface="微软雅黑" panose="020B0503020204020204" pitchFamily="34" charset="-122"/>
                          <a:cs typeface="+mn-cs"/>
                        </a:rPr>
                        <a:t>[2010]25</a:t>
                      </a:r>
                      <a:r>
                        <a:rPr lang="zh-CN" altLang="en-US" sz="1200" b="0" i="0" u="none" strike="noStrike" kern="1200" dirty="0">
                          <a:solidFill>
                            <a:srgbClr val="FF0000"/>
                          </a:solidFill>
                          <a:latin typeface="微软雅黑" panose="020B0503020204020204" pitchFamily="34" charset="-122"/>
                          <a:ea typeface="微软雅黑" panose="020B0503020204020204" pitchFamily="34" charset="-122"/>
                          <a:cs typeface="+mn-cs"/>
                        </a:rPr>
                        <a:t>号</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3070">
                <a:tc>
                  <a:txBody>
                    <a:bodyPr/>
                    <a:lstStyle/>
                    <a:p>
                      <a:pPr algn="l" fontAlgn="b"/>
                      <a:r>
                        <a:rPr lang="en-US" altLang="zh-CN" sz="1200" b="0" i="0" u="none" strike="noStrike" kern="1200">
                          <a:solidFill>
                            <a:srgbClr val="000000"/>
                          </a:solidFill>
                          <a:latin typeface="微软雅黑" panose="020B0503020204020204" pitchFamily="34" charset="-122"/>
                          <a:ea typeface="微软雅黑" panose="020B0503020204020204" pitchFamily="34" charset="-122"/>
                          <a:cs typeface="+mn-cs"/>
                        </a:rPr>
                        <a:t>20xxxxxxx</a:t>
                      </a:r>
                      <a:endPar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新疆维吾尔自治区</a:t>
                      </a:r>
                      <a:r>
                        <a:rPr lang="en-US" altLang="zh-CN" sz="1200" b="0" i="0" u="none" strike="noStrike" kern="1200" dirty="0" err="1">
                          <a:solidFill>
                            <a:srgbClr val="000000"/>
                          </a:solidFill>
                          <a:latin typeface="微软雅黑" panose="020B0503020204020204" pitchFamily="34" charset="-122"/>
                          <a:ea typeface="微软雅黑" panose="020B0503020204020204" pitchFamily="34" charset="-122"/>
                          <a:cs typeface="+mn-cs"/>
                        </a:rPr>
                        <a:t>xxxxx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协会</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altLang="zh-CN" sz="1200" b="0" i="0" u="none" strike="noStrike" kern="1200" dirty="0">
                          <a:solidFill>
                            <a:srgbClr val="FF0000"/>
                          </a:solidFill>
                          <a:latin typeface="微软雅黑" panose="020B0503020204020204" pitchFamily="34" charset="-122"/>
                          <a:ea typeface="微软雅黑" panose="020B0503020204020204" pitchFamily="34" charset="-122"/>
                          <a:cs typeface="+mn-cs"/>
                        </a:rPr>
                        <a:t>100014</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3070">
                <a:tc>
                  <a:txBody>
                    <a:bodyPr/>
                    <a:lstStyle/>
                    <a:p>
                      <a:pPr algn="l" fontAlgn="b"/>
                      <a:r>
                        <a:rPr lang="en-US" altLang="zh-CN" sz="1200" b="0" i="0" u="none" strike="noStrike" kern="1200">
                          <a:solidFill>
                            <a:srgbClr val="000000"/>
                          </a:solidFill>
                          <a:latin typeface="微软雅黑" panose="020B0503020204020204" pitchFamily="34" charset="-122"/>
                          <a:ea typeface="微软雅黑" panose="020B0503020204020204" pitchFamily="34" charset="-122"/>
                          <a:cs typeface="+mn-cs"/>
                        </a:rPr>
                        <a:t>20xxxxxxx</a:t>
                      </a:r>
                      <a:endPar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中共乌鲁木齐市</a:t>
                      </a:r>
                      <a:r>
                        <a:rPr lang="en-US" altLang="zh-CN" sz="1200" b="0" i="0" u="none" strike="noStrike" kern="1200" dirty="0" err="1">
                          <a:solidFill>
                            <a:srgbClr val="000000"/>
                          </a:solidFill>
                          <a:latin typeface="微软雅黑" panose="020B0503020204020204" pitchFamily="34" charset="-122"/>
                          <a:ea typeface="微软雅黑" panose="020B0503020204020204" pitchFamily="34" charset="-122"/>
                          <a:cs typeface="+mn-cs"/>
                        </a:rPr>
                        <a:t>xxxxx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党校</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FF0000"/>
                          </a:solidFill>
                          <a:latin typeface="微软雅黑" panose="020B0503020204020204" pitchFamily="34" charset="-122"/>
                          <a:ea typeface="微软雅黑" panose="020B0503020204020204" pitchFamily="34" charset="-122"/>
                          <a:cs typeface="+mn-cs"/>
                        </a:rPr>
                        <a:t>米东财库</a:t>
                      </a:r>
                      <a:r>
                        <a:rPr lang="en-US" altLang="zh-CN" sz="1200" b="0" i="0" u="none" strike="noStrike" kern="1200" dirty="0">
                          <a:solidFill>
                            <a:srgbClr val="FF0000"/>
                          </a:solidFill>
                          <a:latin typeface="微软雅黑" panose="020B0503020204020204" pitchFamily="34" charset="-122"/>
                          <a:ea typeface="微软雅黑" panose="020B0503020204020204" pitchFamily="34" charset="-122"/>
                          <a:cs typeface="+mn-cs"/>
                        </a:rPr>
                        <a:t>(2011)2</a:t>
                      </a:r>
                      <a:r>
                        <a:rPr lang="zh-CN" altLang="en-US" sz="1200" b="0" i="0" u="none" strike="noStrike" kern="1200" dirty="0">
                          <a:solidFill>
                            <a:srgbClr val="FF0000"/>
                          </a:solidFill>
                          <a:latin typeface="微软雅黑" panose="020B0503020204020204" pitchFamily="34" charset="-122"/>
                          <a:ea typeface="微软雅黑" panose="020B0503020204020204" pitchFamily="34" charset="-122"/>
                          <a:cs typeface="+mn-cs"/>
                        </a:rPr>
                        <a:t>号</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070">
                <a:tc>
                  <a:txBody>
                    <a:bodyPr/>
                    <a:lstStyle/>
                    <a:p>
                      <a:pPr algn="l" fontAlgn="b"/>
                      <a:r>
                        <a:rPr lang="en-US" altLang="zh-CN" sz="1200" b="0" i="0" u="none" strike="noStrike" kern="1200">
                          <a:solidFill>
                            <a:srgbClr val="000000"/>
                          </a:solidFill>
                          <a:latin typeface="微软雅黑" panose="020B0503020204020204" pitchFamily="34" charset="-122"/>
                          <a:ea typeface="微软雅黑" panose="020B0503020204020204" pitchFamily="34" charset="-122"/>
                          <a:cs typeface="+mn-cs"/>
                        </a:rPr>
                        <a:t>20xxxxxxx</a:t>
                      </a:r>
                      <a:endPar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乌鲁木齐市</a:t>
                      </a:r>
                      <a:r>
                        <a:rPr lang="en-US" altLang="zh-CN" sz="1200" b="0" i="0" u="none" strike="noStrike" kern="1200" dirty="0" err="1">
                          <a:solidFill>
                            <a:srgbClr val="000000"/>
                          </a:solidFill>
                          <a:latin typeface="微软雅黑" panose="020B0503020204020204" pitchFamily="34" charset="-122"/>
                          <a:ea typeface="微软雅黑" panose="020B0503020204020204" pitchFamily="34" charset="-122"/>
                          <a:cs typeface="+mn-cs"/>
                        </a:rPr>
                        <a:t>xxxx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市政市容管理局</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FF0000"/>
                          </a:solidFill>
                          <a:latin typeface="微软雅黑" panose="020B0503020204020204" pitchFamily="34" charset="-122"/>
                          <a:ea typeface="微软雅黑" panose="020B0503020204020204" pitchFamily="34" charset="-122"/>
                          <a:cs typeface="+mn-cs"/>
                        </a:rPr>
                        <a:t>天编委</a:t>
                      </a:r>
                      <a:r>
                        <a:rPr lang="en-US" altLang="zh-CN" sz="1200" b="0" i="0" u="none" strike="noStrike" kern="1200" dirty="0">
                          <a:solidFill>
                            <a:srgbClr val="FF0000"/>
                          </a:solidFill>
                          <a:latin typeface="微软雅黑" panose="020B0503020204020204" pitchFamily="34" charset="-122"/>
                          <a:ea typeface="微软雅黑" panose="020B0503020204020204" pitchFamily="34" charset="-122"/>
                          <a:cs typeface="+mn-cs"/>
                        </a:rPr>
                        <a:t>[2011]14</a:t>
                      </a:r>
                      <a:r>
                        <a:rPr lang="zh-CN" altLang="en-US" sz="1200" b="0" i="0" u="none" strike="noStrike" kern="1200" dirty="0">
                          <a:solidFill>
                            <a:srgbClr val="FF0000"/>
                          </a:solidFill>
                          <a:latin typeface="微软雅黑" panose="020B0503020204020204" pitchFamily="34" charset="-122"/>
                          <a:ea typeface="微软雅黑" panose="020B0503020204020204" pitchFamily="34" charset="-122"/>
                          <a:cs typeface="+mn-cs"/>
                        </a:rPr>
                        <a:t>号</a:t>
                      </a:r>
                    </a:p>
                  </a:txBody>
                  <a:tcPr marL="6794" marR="6794" marT="67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24155">
                <a:tc>
                  <a:txBody>
                    <a:bodyPr/>
                    <a:lstStyle/>
                    <a:p>
                      <a:pPr algn="l" fontAlgn="b"/>
                      <a:r>
                        <a:rPr lang="en-US" altLang="zh-CN" sz="1200" b="0" i="0" u="none" strike="noStrike" kern="1200">
                          <a:solidFill>
                            <a:srgbClr val="000000"/>
                          </a:solidFill>
                          <a:latin typeface="微软雅黑" panose="020B0503020204020204" pitchFamily="34" charset="-122"/>
                          <a:ea typeface="微软雅黑" panose="020B0503020204020204" pitchFamily="34" charset="-122"/>
                          <a:cs typeface="+mn-cs"/>
                        </a:rPr>
                        <a:t>20xxxxxxx</a:t>
                      </a:r>
                      <a:endPar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喀什</a:t>
                      </a:r>
                      <a:r>
                        <a:rPr lang="en-US" altLang="zh-CN" sz="1200" b="0" i="0" u="none" strike="noStrike" kern="1200" dirty="0" err="1">
                          <a:solidFill>
                            <a:srgbClr val="000000"/>
                          </a:solidFill>
                          <a:latin typeface="微软雅黑" panose="020B0503020204020204" pitchFamily="34" charset="-122"/>
                          <a:ea typeface="微软雅黑" panose="020B0503020204020204" pitchFamily="34" charset="-122"/>
                          <a:cs typeface="+mn-cs"/>
                        </a:rPr>
                        <a:t>xxxxx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投资有限公司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altLang="zh-CN" sz="1200" b="0" i="0" u="none" strike="noStrike" kern="1200" dirty="0">
                          <a:solidFill>
                            <a:srgbClr val="FF0000"/>
                          </a:solidFill>
                          <a:latin typeface="微软雅黑" panose="020B0503020204020204" pitchFamily="34" charset="-122"/>
                          <a:ea typeface="微软雅黑" panose="020B0503020204020204" pitchFamily="34" charset="-122"/>
                          <a:cs typeface="+mn-cs"/>
                        </a:rPr>
                        <a:t>008889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24155">
                <a:tc>
                  <a:txBody>
                    <a:bodyPr/>
                    <a:lstStyle/>
                    <a:p>
                      <a:pPr algn="l" fontAlgn="b"/>
                      <a:r>
                        <a:rPr lang="en-US" altLang="zh-CN" sz="1200" b="0" i="0" u="none" strike="noStrike" kern="1200">
                          <a:solidFill>
                            <a:srgbClr val="000000"/>
                          </a:solidFill>
                          <a:latin typeface="微软雅黑" panose="020B0503020204020204" pitchFamily="34" charset="-122"/>
                          <a:ea typeface="微软雅黑" panose="020B0503020204020204" pitchFamily="34" charset="-122"/>
                          <a:cs typeface="+mn-cs"/>
                        </a:rPr>
                        <a:t>20xxxxxxx</a:t>
                      </a:r>
                      <a:endPar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乌鲁木齐</a:t>
                      </a:r>
                      <a:r>
                        <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rPr>
                        <a:t>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商贸有限公司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altLang="zh-CN" sz="1200" b="0" i="0" u="none" strike="noStrike" kern="1200" dirty="0">
                          <a:solidFill>
                            <a:srgbClr val="FF0000"/>
                          </a:solidFill>
                          <a:latin typeface="微软雅黑" panose="020B0503020204020204" pitchFamily="34" charset="-122"/>
                          <a:ea typeface="微软雅黑" panose="020B0503020204020204" pitchFamily="34" charset="-122"/>
                          <a:cs typeface="+mn-cs"/>
                        </a:rPr>
                        <a:t>75766128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35610">
                <a:tc>
                  <a:txBody>
                    <a:bodyPr/>
                    <a:lstStyle/>
                    <a:p>
                      <a:pPr algn="l" fontAlgn="b"/>
                      <a:r>
                        <a:rPr lang="en-US" altLang="zh-CN" sz="1200" b="0" i="0" u="none" strike="noStrike" kern="1200">
                          <a:solidFill>
                            <a:srgbClr val="000000"/>
                          </a:solidFill>
                          <a:latin typeface="微软雅黑" panose="020B0503020204020204" pitchFamily="34" charset="-122"/>
                          <a:ea typeface="微软雅黑" panose="020B0503020204020204" pitchFamily="34" charset="-122"/>
                          <a:cs typeface="+mn-cs"/>
                        </a:rPr>
                        <a:t>20xxxxxxx</a:t>
                      </a:r>
                      <a:endPar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新疆</a:t>
                      </a:r>
                      <a:r>
                        <a:rPr lang="en-US" altLang="zh-CN" sz="1200" b="0" i="0" u="none" strike="noStrike" kern="1200" dirty="0" err="1">
                          <a:solidFill>
                            <a:srgbClr val="000000"/>
                          </a:solidFill>
                          <a:latin typeface="微软雅黑" panose="020B0503020204020204" pitchFamily="34" charset="-122"/>
                          <a:ea typeface="微软雅黑" panose="020B0503020204020204" pitchFamily="34" charset="-122"/>
                          <a:cs typeface="+mn-cs"/>
                        </a:rPr>
                        <a:t>xxxx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商贸有限公司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altLang="zh-CN" sz="1200" b="0" i="0" u="none" strike="noStrike" kern="1200" dirty="0">
                          <a:solidFill>
                            <a:srgbClr val="FF0000"/>
                          </a:solidFill>
                          <a:latin typeface="微软雅黑" panose="020B0503020204020204" pitchFamily="34" charset="-122"/>
                          <a:ea typeface="微软雅黑" panose="020B0503020204020204" pitchFamily="34" charset="-122"/>
                          <a:cs typeface="+mn-cs"/>
                        </a:rPr>
                        <a:t>2007-015369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36880">
                <a:tc>
                  <a:txBody>
                    <a:bodyPr/>
                    <a:lstStyle/>
                    <a:p>
                      <a:pPr algn="l" fontAlgn="b"/>
                      <a:r>
                        <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rPr>
                        <a:t>20xxxxxxx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新市区</a:t>
                      </a:r>
                      <a:r>
                        <a:rPr lang="en-US" altLang="zh-CN" sz="1200" b="0" i="0" u="none" strike="noStrike" kern="1200" dirty="0" err="1">
                          <a:solidFill>
                            <a:srgbClr val="000000"/>
                          </a:solidFill>
                          <a:latin typeface="微软雅黑" panose="020B0503020204020204" pitchFamily="34" charset="-122"/>
                          <a:ea typeface="微软雅黑" panose="020B0503020204020204" pitchFamily="34" charset="-122"/>
                          <a:cs typeface="+mn-cs"/>
                        </a:rPr>
                        <a:t>xxxxx</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村民委员会</a:t>
                      </a:r>
                      <a:r>
                        <a:rPr lang="en-US" altLang="zh-CN" sz="1200" b="0" i="0" u="none" strike="noStrike" kern="1200" dirty="0">
                          <a:solidFill>
                            <a:srgbClr val="000000"/>
                          </a:solidFill>
                          <a:latin typeface="微软雅黑" panose="020B0503020204020204" pitchFamily="34" charset="-122"/>
                          <a:ea typeface="微软雅黑" panose="020B0503020204020204" pitchFamily="34" charset="-122"/>
                          <a:cs typeface="+mn-cs"/>
                        </a:rPr>
                        <a:t>--</a:t>
                      </a:r>
                      <a:r>
                        <a:rPr lang="zh-CN" altLang="en-US" sz="1200" b="0" i="0" u="none" strike="noStrike" kern="1200" dirty="0">
                          <a:solidFill>
                            <a:srgbClr val="000000"/>
                          </a:solidFill>
                          <a:latin typeface="微软雅黑" panose="020B0503020204020204" pitchFamily="34" charset="-122"/>
                          <a:ea typeface="微软雅黑" panose="020B0503020204020204" pitchFamily="34" charset="-122"/>
                          <a:cs typeface="+mn-cs"/>
                        </a:rPr>
                        <a:t>五队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kern="1200" dirty="0">
                          <a:solidFill>
                            <a:srgbClr val="FF0000"/>
                          </a:solidFill>
                          <a:latin typeface="微软雅黑" panose="020B0503020204020204" pitchFamily="34" charset="-122"/>
                          <a:ea typeface="微软雅黑" panose="020B0503020204020204" pitchFamily="34" charset="-122"/>
                          <a:cs typeface="+mn-cs"/>
                        </a:rPr>
                        <a:t>K4554130-8-2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Box 9"/>
          <p:cNvSpPr txBox="1">
            <a:spLocks noChangeArrowheads="1"/>
          </p:cNvSpPr>
          <p:nvPr/>
        </p:nvSpPr>
        <p:spPr bwMode="auto">
          <a:xfrm>
            <a:off x="428625" y="1142984"/>
            <a:ext cx="5072063" cy="369888"/>
          </a:xfrm>
          <a:prstGeom prst="rect">
            <a:avLst/>
          </a:prstGeom>
          <a:noFill/>
          <a:ln w="9525">
            <a:noFill/>
            <a:miter lim="800000"/>
          </a:ln>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i="0" kern="0" dirty="0">
                <a:solidFill>
                  <a:sysClr val="windowText" lastClr="000000"/>
                </a:solidFill>
              </a:rPr>
              <a:t>应用举例三：</a:t>
            </a:r>
            <a:endParaRPr kumimoji="0" lang="zh-CN" altLang="en-US" sz="1800" b="0" i="0" u="none" strike="noStrike" kern="0" cap="none" spc="0" normalizeH="0" baseline="0" noProof="0" dirty="0">
              <a:ln>
                <a:noFill/>
              </a:ln>
              <a:solidFill>
                <a:sysClr val="windowText" lastClr="000000"/>
              </a:solidFill>
              <a:effectLst/>
              <a:uLnTx/>
              <a:uFillTx/>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数据标注对民机有什么用</a:t>
            </a:r>
            <a:r>
              <a:rPr lang="en-US" altLang="zh-CN">
                <a:sym typeface="+mn-ea"/>
              </a:rPr>
              <a:t>——</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mn-ea"/>
              </a:rPr>
              <a:t>对于在建系统的落地执行要求</a:t>
            </a:r>
            <a:endParaRPr lang="en-US" altLang="zh-CN">
              <a:sym typeface="+mn-ea"/>
            </a:endParaRPr>
          </a:p>
        </p:txBody>
      </p:sp>
      <p:sp>
        <p:nvSpPr>
          <p:cNvPr id="58" name="Rectangle 19"/>
          <p:cNvSpPr/>
          <p:nvPr/>
        </p:nvSpPr>
        <p:spPr bwMode="auto">
          <a:xfrm>
            <a:off x="1231284" y="834887"/>
            <a:ext cx="9510510" cy="755539"/>
          </a:xfrm>
          <a:prstGeom prst="rect">
            <a:avLst/>
          </a:prstGeom>
          <a:noFill/>
          <a:ln w="15875">
            <a:noFill/>
            <a:round/>
            <a:tailEnd type="triangle" w="med" len="med"/>
          </a:ln>
        </p:spPr>
        <p:txBody>
          <a:bodyPr lIns="0" tIns="0" rIns="0" bIns="0" rtlCol="0" anchor="ctr"/>
          <a:lstStyle/>
          <a:p>
            <a:pPr marL="71755" defTabSz="429895" fontAlgn="base">
              <a:spcBef>
                <a:spcPct val="0"/>
              </a:spcBef>
              <a:spcAft>
                <a:spcPct val="0"/>
              </a:spcAft>
            </a:pPr>
            <a:r>
              <a:rPr lang="zh-CN" altLang="en-US" sz="1410" dirty="0">
                <a:solidFill>
                  <a:srgbClr val="002060"/>
                </a:solidFill>
                <a:latin typeface="微软雅黑" panose="020B0503020204020204" pitchFamily="34" charset="-122"/>
                <a:ea typeface="微软雅黑" panose="020B0503020204020204" pitchFamily="34" charset="-122"/>
                <a:cs typeface="Arial" panose="020B0604020202020204" pitchFamily="34" charset="0"/>
              </a:rPr>
              <a:t>在建系统应充分考虑数据标准，按照数据标准的定义和要求对已经形成的文档和开发的系统进行梳理，确定改造内容，评估改造工作量，将正在建设的系统文档、数据库设计、应用逻辑、界面等修正为遵循数据标准</a:t>
            </a:r>
            <a:endParaRPr lang="en-US" sz="1410" dirty="0">
              <a:solidFill>
                <a:srgbClr val="002060"/>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 name="组合 1"/>
          <p:cNvGrpSpPr/>
          <p:nvPr/>
        </p:nvGrpSpPr>
        <p:grpSpPr>
          <a:xfrm>
            <a:off x="695325" y="1732915"/>
            <a:ext cx="10800715" cy="4808855"/>
            <a:chOff x="1789" y="2729"/>
            <a:chExt cx="15126" cy="7008"/>
          </a:xfrm>
        </p:grpSpPr>
        <p:sp>
          <p:nvSpPr>
            <p:cNvPr id="52" name="AutoShape 4"/>
            <p:cNvSpPr>
              <a:spLocks noChangeArrowheads="1"/>
            </p:cNvSpPr>
            <p:nvPr/>
          </p:nvSpPr>
          <p:spPr bwMode="auto">
            <a:xfrm>
              <a:off x="1789" y="2729"/>
              <a:ext cx="3939" cy="750"/>
            </a:xfrm>
            <a:prstGeom prst="chevron">
              <a:avLst/>
            </a:prstGeom>
            <a:solidFill>
              <a:srgbClr val="00338D"/>
            </a:solidFill>
            <a:ln w="12700">
              <a:solidFill>
                <a:srgbClr val="FFFFFF"/>
              </a:solidFill>
              <a:miter lim="800000"/>
            </a:ln>
            <a:effectLst/>
          </p:spPr>
          <p:txBody>
            <a:bodyPr wrap="none" anchor="ctr"/>
            <a:lstStyle/>
            <a:p>
              <a:pPr algn="ctr" defTabSz="806450" fontAlgn="base">
                <a:spcBef>
                  <a:spcPct val="0"/>
                </a:spcBef>
                <a:spcAft>
                  <a:spcPct val="0"/>
                </a:spcAft>
                <a:defRPr/>
              </a:pPr>
              <a:r>
                <a:rPr lang="zh-CN" altLang="en-US"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需求分析</a:t>
              </a:r>
            </a:p>
          </p:txBody>
        </p:sp>
        <p:sp>
          <p:nvSpPr>
            <p:cNvPr id="53" name="Rectangle 5"/>
            <p:cNvSpPr>
              <a:spLocks noChangeArrowheads="1"/>
            </p:cNvSpPr>
            <p:nvPr/>
          </p:nvSpPr>
          <p:spPr bwMode="auto">
            <a:xfrm>
              <a:off x="1789" y="3639"/>
              <a:ext cx="3479" cy="6099"/>
            </a:xfrm>
            <a:prstGeom prst="rect">
              <a:avLst/>
            </a:prstGeom>
            <a:solidFill>
              <a:srgbClr val="FFFFFF"/>
            </a:solidFill>
            <a:ln w="19050" cap="rnd">
              <a:solidFill>
                <a:sysClr val="window" lastClr="FFFFFF">
                  <a:lumMod val="50000"/>
                </a:sysClr>
              </a:solidFill>
              <a:miter lim="800000"/>
            </a:ln>
            <a:effectLst/>
          </p:spPr>
          <p:txBody>
            <a:bodyPr anchor="t"/>
            <a:lstStyle/>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IT</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责任部门、各相关业务部门与第三方</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IT</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项目组共同分析已形成的业务需求，确定数据标准落地范围与落地方案；</a:t>
              </a:r>
              <a:endPar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需求分析人员结合数据标准内容，对已产生的需求分析文档进行差异分析，遵循数据标准结合业务实际进行修订；</a:t>
              </a:r>
            </a:p>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对尚未开展分析的业务需求内容，需求分析人员则需根据业务实际情况，在业务流程和数据输入、输出环节遵循数据标准的定义，制定详细业务需求文档；</a:t>
              </a:r>
            </a:p>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IT</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责任部门部对业务需求文档进行检查，对涉及数据标准的内容进行跟踪检查，给出评审建议，提出修改建议</a:t>
              </a:r>
              <a:r>
                <a:rPr lang="zh-CN" altLang="en-US" sz="12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4" name="AutoShape 4"/>
            <p:cNvSpPr>
              <a:spLocks noChangeArrowheads="1"/>
            </p:cNvSpPr>
            <p:nvPr/>
          </p:nvSpPr>
          <p:spPr bwMode="auto">
            <a:xfrm>
              <a:off x="5520" y="2729"/>
              <a:ext cx="4405" cy="750"/>
            </a:xfrm>
            <a:prstGeom prst="chevron">
              <a:avLst/>
            </a:prstGeom>
            <a:solidFill>
              <a:srgbClr val="00338D"/>
            </a:solidFill>
            <a:ln w="12700">
              <a:solidFill>
                <a:srgbClr val="FFFFFF"/>
              </a:solidFill>
              <a:miter lim="800000"/>
            </a:ln>
            <a:effectLst/>
          </p:spPr>
          <p:txBody>
            <a:bodyPr wrap="none" anchor="ctr"/>
            <a:lstStyle/>
            <a:p>
              <a:pPr algn="ctr" defTabSz="806450" fontAlgn="base">
                <a:spcBef>
                  <a:spcPct val="0"/>
                </a:spcBef>
                <a:spcAft>
                  <a:spcPct val="0"/>
                </a:spcAft>
                <a:defRPr/>
              </a:pPr>
              <a:r>
                <a:rPr lang="zh-CN" altLang="en-US"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系统设计</a:t>
              </a:r>
            </a:p>
          </p:txBody>
        </p:sp>
        <p:sp>
          <p:nvSpPr>
            <p:cNvPr id="55" name="AutoShape 4"/>
            <p:cNvSpPr>
              <a:spLocks noChangeArrowheads="1"/>
            </p:cNvSpPr>
            <p:nvPr/>
          </p:nvSpPr>
          <p:spPr bwMode="auto">
            <a:xfrm>
              <a:off x="9685" y="2729"/>
              <a:ext cx="3971" cy="750"/>
            </a:xfrm>
            <a:prstGeom prst="chevron">
              <a:avLst/>
            </a:prstGeom>
            <a:solidFill>
              <a:srgbClr val="00338D"/>
            </a:solidFill>
            <a:ln w="12700">
              <a:solidFill>
                <a:srgbClr val="FFFFFF"/>
              </a:solidFill>
              <a:miter lim="800000"/>
            </a:ln>
            <a:effectLst/>
          </p:spPr>
          <p:txBody>
            <a:bodyPr wrap="none" anchor="ctr"/>
            <a:lstStyle/>
            <a:p>
              <a:pPr algn="ctr" defTabSz="806450" fontAlgn="base">
                <a:spcBef>
                  <a:spcPct val="0"/>
                </a:spcBef>
                <a:spcAft>
                  <a:spcPct val="0"/>
                </a:spcAft>
                <a:defRPr/>
              </a:pPr>
              <a:r>
                <a:rPr lang="zh-CN" altLang="en-US"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开发</a:t>
              </a:r>
              <a:r>
                <a:rPr lang="en-US" altLang="zh-CN"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测试</a:t>
              </a:r>
            </a:p>
          </p:txBody>
        </p:sp>
        <p:sp>
          <p:nvSpPr>
            <p:cNvPr id="56" name="AutoShape 4"/>
            <p:cNvSpPr>
              <a:spLocks noChangeArrowheads="1"/>
            </p:cNvSpPr>
            <p:nvPr/>
          </p:nvSpPr>
          <p:spPr bwMode="auto">
            <a:xfrm>
              <a:off x="13365" y="2729"/>
              <a:ext cx="3551" cy="750"/>
            </a:xfrm>
            <a:prstGeom prst="chevron">
              <a:avLst/>
            </a:prstGeom>
            <a:solidFill>
              <a:srgbClr val="00338D"/>
            </a:solidFill>
            <a:ln w="12700">
              <a:solidFill>
                <a:srgbClr val="FFFFFF"/>
              </a:solidFill>
              <a:miter lim="800000"/>
            </a:ln>
            <a:effectLst/>
          </p:spPr>
          <p:txBody>
            <a:bodyPr wrap="none" anchor="ctr"/>
            <a:lstStyle/>
            <a:p>
              <a:pPr algn="ctr" defTabSz="806450" fontAlgn="base">
                <a:spcBef>
                  <a:spcPct val="0"/>
                </a:spcBef>
                <a:spcAft>
                  <a:spcPct val="0"/>
                </a:spcAft>
                <a:defRPr/>
              </a:pPr>
              <a:r>
                <a:rPr lang="zh-CN" altLang="en-US"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验收</a:t>
              </a:r>
              <a:r>
                <a:rPr lang="en-US" altLang="zh-CN"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410" b="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试运行</a:t>
              </a:r>
            </a:p>
          </p:txBody>
        </p:sp>
        <p:sp>
          <p:nvSpPr>
            <p:cNvPr id="57" name="Rectangle 5"/>
            <p:cNvSpPr>
              <a:spLocks noChangeArrowheads="1"/>
            </p:cNvSpPr>
            <p:nvPr/>
          </p:nvSpPr>
          <p:spPr bwMode="auto">
            <a:xfrm>
              <a:off x="13437" y="3639"/>
              <a:ext cx="3479" cy="6099"/>
            </a:xfrm>
            <a:prstGeom prst="rect">
              <a:avLst/>
            </a:prstGeom>
            <a:solidFill>
              <a:srgbClr val="FFFFFF"/>
            </a:solidFill>
            <a:ln w="19050" cap="rnd">
              <a:solidFill>
                <a:sysClr val="window" lastClr="FFFFFF">
                  <a:lumMod val="50000"/>
                </a:sysClr>
              </a:solidFill>
              <a:miter lim="800000"/>
            </a:ln>
            <a:effectLst/>
          </p:spPr>
          <p:txBody>
            <a:bodyPr anchor="t"/>
            <a:lstStyle/>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参考新建系统的相关要求</a:t>
              </a:r>
            </a:p>
          </p:txBody>
        </p:sp>
        <p:sp>
          <p:nvSpPr>
            <p:cNvPr id="59" name="Rectangle 5"/>
            <p:cNvSpPr>
              <a:spLocks noChangeArrowheads="1"/>
            </p:cNvSpPr>
            <p:nvPr/>
          </p:nvSpPr>
          <p:spPr bwMode="auto">
            <a:xfrm>
              <a:off x="5520" y="3639"/>
              <a:ext cx="3952" cy="6099"/>
            </a:xfrm>
            <a:prstGeom prst="rect">
              <a:avLst/>
            </a:prstGeom>
            <a:solidFill>
              <a:srgbClr val="FFFFFF"/>
            </a:solidFill>
            <a:ln w="19050" cap="rnd">
              <a:solidFill>
                <a:sysClr val="window" lastClr="FFFFFF">
                  <a:lumMod val="50000"/>
                </a:sysClr>
              </a:solidFill>
              <a:miter lim="800000"/>
            </a:ln>
            <a:effectLst/>
          </p:spPr>
          <p:txBody>
            <a:bodyPr anchor="t"/>
            <a:lstStyle/>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数据管理部门、</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IT</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责任部门、各相关业务部门协助需求分析人员基于已编写的业务需求，明确数据标准落地范围、完成差异及影响性分析，制定落地解决方案，并对业务需求书进行调整，重新提交系统设计人员；</a:t>
              </a:r>
            </a:p>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系统设计人员对已经完成设计，且由于数据标准落地产生了需求变动的部分，重新按照修订后的业务需求进行修改；对于还未进行的设计，则严格按照新的遵循数据标准落地要求的业务需求书进行系统设计，并在系统设计文档中注明数据标准的遵循情况；</a:t>
              </a:r>
            </a:p>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数据管理部门、IT责任部门对系统设计文档进行检查，对涉及的数据标准遵循情况进行核对，给出评审建议，提出修改建议。</a:t>
              </a:r>
            </a:p>
          </p:txBody>
        </p:sp>
        <p:sp>
          <p:nvSpPr>
            <p:cNvPr id="60" name="Rectangle 5"/>
            <p:cNvSpPr>
              <a:spLocks noChangeArrowheads="1"/>
            </p:cNvSpPr>
            <p:nvPr/>
          </p:nvSpPr>
          <p:spPr bwMode="auto">
            <a:xfrm>
              <a:off x="9685" y="3639"/>
              <a:ext cx="3479" cy="6099"/>
            </a:xfrm>
            <a:prstGeom prst="rect">
              <a:avLst/>
            </a:prstGeom>
            <a:solidFill>
              <a:srgbClr val="FFFFFF"/>
            </a:solidFill>
            <a:ln w="19050" cap="rnd">
              <a:solidFill>
                <a:sysClr val="window" lastClr="FFFFFF">
                  <a:lumMod val="50000"/>
                </a:sysClr>
              </a:solidFill>
              <a:miter lim="800000"/>
            </a:ln>
            <a:effectLst/>
          </p:spPr>
          <p:txBody>
            <a:bodyPr anchor="t"/>
            <a:lstStyle/>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此阶段进行数据标准落地对系统的正式上线会造成一定影响，需在该阶段进行综合衡量，结合业务需求的紧迫度合理制定数据标准落地的时间安排；</a:t>
              </a:r>
            </a:p>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为减少数据标准落地对系统上线的影响，可以先从系统接口的标准化入手，结合后续的系统改造，逐步推进；</a:t>
              </a:r>
            </a:p>
            <a:p>
              <a:pPr marL="171450" marR="0" lvl="0" indent="-171450" defTabSz="806450" eaLnBrk="1" fontAlgn="base" latinLnBrk="0" hangingPunct="1">
                <a:lnSpc>
                  <a:spcPct val="100000"/>
                </a:lnSpc>
                <a:spcBef>
                  <a:spcPts val="530"/>
                </a:spcBef>
                <a:spcAft>
                  <a:spcPct val="0"/>
                </a:spcAft>
                <a:buClr>
                  <a:srgbClr val="091D5B"/>
                </a:buClr>
                <a:buSzTx/>
                <a:buFont typeface="Wingdings" panose="05000000000000000000" pitchFamily="2" charset="2"/>
                <a:buChar char="§"/>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数据管理部门、IT责任部门与系统开发组共同确定数据标准的落地策略、落地范围以及落地计划，由数据管理部门、IT责任部门监督执行</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数据标注对民机有什么用</a:t>
            </a:r>
            <a:r>
              <a:rPr lang="en-US" altLang="zh-CN">
                <a:sym typeface="+mn-ea"/>
              </a:rPr>
              <a:t>——</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mn-ea"/>
              </a:rPr>
              <a:t>对于周边系统项目组的配合要求</a:t>
            </a:r>
            <a:endParaRPr lang="zh-CN" altLang="en-US">
              <a:sym typeface="+mn-ea"/>
            </a:endParaRPr>
          </a:p>
        </p:txBody>
      </p:sp>
      <p:sp>
        <p:nvSpPr>
          <p:cNvPr id="12" name="Rectangle 22"/>
          <p:cNvSpPr/>
          <p:nvPr/>
        </p:nvSpPr>
        <p:spPr bwMode="auto">
          <a:xfrm>
            <a:off x="1189419" y="1080263"/>
            <a:ext cx="9542748" cy="755539"/>
          </a:xfrm>
          <a:prstGeom prst="rect">
            <a:avLst/>
          </a:prstGeom>
          <a:noFill/>
          <a:ln w="15875">
            <a:noFill/>
            <a:round/>
            <a:tailEnd type="triangle" w="med" len="med"/>
          </a:ln>
        </p:spPr>
        <p:txBody>
          <a:bodyPr lIns="0" tIns="0" rIns="0" bIns="0" rtlCol="0" anchor="ctr"/>
          <a:lstStyle/>
          <a:p>
            <a:pPr fontAlgn="base">
              <a:spcBef>
                <a:spcPct val="0"/>
              </a:spcBef>
              <a:spcAft>
                <a:spcPct val="0"/>
              </a:spcAft>
            </a:pPr>
            <a:r>
              <a:rPr lang="zh-CN" altLang="en-US" sz="1410" dirty="0">
                <a:solidFill>
                  <a:srgbClr val="002060"/>
                </a:solidFill>
                <a:latin typeface="微软雅黑" panose="020B0503020204020204" pitchFamily="34" charset="-122"/>
                <a:ea typeface="微软雅黑" panose="020B0503020204020204" pitchFamily="34" charset="-122"/>
                <a:cs typeface="Times New Roman" panose="02020603050405020304" charset="0"/>
              </a:rPr>
              <a:t>在</a:t>
            </a:r>
            <a:r>
              <a:rPr lang="en-US" altLang="zh-CN" sz="1410" dirty="0">
                <a:solidFill>
                  <a:srgbClr val="002060"/>
                </a:solidFill>
                <a:latin typeface="微软雅黑" panose="020B0503020204020204" pitchFamily="34" charset="-122"/>
                <a:ea typeface="微软雅黑" panose="020B0503020204020204" pitchFamily="34" charset="-122"/>
                <a:cs typeface="Times New Roman" panose="02020603050405020304" charset="0"/>
              </a:rPr>
              <a:t>IT</a:t>
            </a:r>
            <a:r>
              <a:rPr lang="zh-CN" altLang="en-US" sz="1410" dirty="0">
                <a:solidFill>
                  <a:srgbClr val="002060"/>
                </a:solidFill>
                <a:latin typeface="微软雅黑" panose="020B0503020204020204" pitchFamily="34" charset="-122"/>
                <a:ea typeface="微软雅黑" panose="020B0503020204020204" pitchFamily="34" charset="-122"/>
                <a:cs typeface="Times New Roman" panose="02020603050405020304" charset="0"/>
              </a:rPr>
              <a:t>系统实施数据标准落地时，要相应考虑与其相连的周边系统的同步落地，确保落地工作顺利实施。周边系统的数据标准落地方案依据主系统的数据标准落地方案制定，主要工作包括：</a:t>
            </a:r>
            <a:endParaRPr lang="en-US" sz="1410" dirty="0">
              <a:solidFill>
                <a:srgbClr val="002060"/>
              </a:solidFill>
              <a:latin typeface="微软雅黑" panose="020B0503020204020204" pitchFamily="34" charset="-122"/>
              <a:ea typeface="微软雅黑" panose="020B0503020204020204" pitchFamily="34" charset="-122"/>
              <a:cs typeface="Times New Roman" panose="02020603050405020304" charset="0"/>
            </a:endParaRPr>
          </a:p>
        </p:txBody>
      </p:sp>
      <p:grpSp>
        <p:nvGrpSpPr>
          <p:cNvPr id="2" name="组合 1"/>
          <p:cNvGrpSpPr/>
          <p:nvPr/>
        </p:nvGrpSpPr>
        <p:grpSpPr>
          <a:xfrm>
            <a:off x="1189355" y="1799590"/>
            <a:ext cx="9542145" cy="4726940"/>
            <a:chOff x="1873" y="2496"/>
            <a:chExt cx="15027" cy="6550"/>
          </a:xfrm>
        </p:grpSpPr>
        <p:sp>
          <p:nvSpPr>
            <p:cNvPr id="25" name="Rectangle 5"/>
            <p:cNvSpPr>
              <a:spLocks noChangeArrowheads="1"/>
            </p:cNvSpPr>
            <p:nvPr/>
          </p:nvSpPr>
          <p:spPr bwMode="auto">
            <a:xfrm>
              <a:off x="2176" y="2697"/>
              <a:ext cx="14725" cy="850"/>
            </a:xfrm>
            <a:prstGeom prst="rect">
              <a:avLst/>
            </a:prstGeom>
            <a:solidFill>
              <a:sysClr val="window" lastClr="FFFFFF"/>
            </a:solidFill>
            <a:ln w="19050" cap="rnd">
              <a:solidFill>
                <a:sysClr val="window" lastClr="FFFFFF">
                  <a:lumMod val="50000"/>
                </a:sysClr>
              </a:solidFill>
              <a:miter lim="800000"/>
            </a:ln>
            <a:effectLst/>
          </p:spPr>
          <p:txBody>
            <a:bodyPr anchor="ctr"/>
            <a:lstStyle/>
            <a:p>
              <a:pPr marL="0" marR="0" lvl="0" indent="0" defTabSz="806450" eaLnBrk="1" fontAlgn="base" latinLnBrk="0" hangingPunct="1">
                <a:lnSpc>
                  <a:spcPct val="100000"/>
                </a:lnSpc>
                <a:spcBef>
                  <a:spcPts val="530"/>
                </a:spcBef>
                <a:spcAft>
                  <a:spcPct val="0"/>
                </a:spcAft>
                <a:buClr>
                  <a:srgbClr val="091D5B"/>
                </a:buClr>
                <a:buSzTx/>
                <a:buFontTx/>
                <a:buNone/>
                <a:defRPr/>
              </a:pPr>
              <a:r>
                <a:rPr kumimoji="0" lang="zh-CN" alt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数据管理部门、IT责任部门向周边系统项目组人员宣介相关数据标准的内容；主系统项目组向周边系统项目组宣介数据标准落地方案</a:t>
              </a:r>
              <a:r>
                <a:rPr lang="zh-CN" altLang="en-US" sz="1400" kern="0" dirty="0">
                  <a:solidFill>
                    <a:srgbClr val="00338D">
                      <a:lumMod val="50000"/>
                    </a:srgbClr>
                  </a:solidFill>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6" name="Rectangle 5"/>
            <p:cNvSpPr>
              <a:spLocks noChangeArrowheads="1"/>
            </p:cNvSpPr>
            <p:nvPr/>
          </p:nvSpPr>
          <p:spPr bwMode="auto">
            <a:xfrm>
              <a:off x="2176" y="3797"/>
              <a:ext cx="14725" cy="850"/>
            </a:xfrm>
            <a:prstGeom prst="rect">
              <a:avLst/>
            </a:prstGeom>
            <a:solidFill>
              <a:sysClr val="window" lastClr="FFFFFF"/>
            </a:solidFill>
            <a:ln w="19050" cap="rnd">
              <a:solidFill>
                <a:sysClr val="window" lastClr="FFFFFF">
                  <a:lumMod val="50000"/>
                </a:sysClr>
              </a:solidFill>
              <a:miter lim="800000"/>
            </a:ln>
            <a:effectLst/>
          </p:spPr>
          <p:txBody>
            <a:bodyPr anchor="ctr"/>
            <a:lstStyle/>
            <a:p>
              <a:pPr marL="0" marR="0" lvl="0" indent="0" defTabSz="806450" eaLnBrk="1" fontAlgn="base" latinLnBrk="0" hangingPunct="1">
                <a:lnSpc>
                  <a:spcPct val="100000"/>
                </a:lnSpc>
                <a:spcBef>
                  <a:spcPts val="530"/>
                </a:spcBef>
                <a:spcAft>
                  <a:spcPct val="0"/>
                </a:spcAft>
                <a:buClr>
                  <a:srgbClr val="091D5B"/>
                </a:buClr>
                <a:buSzTx/>
                <a:buFontTx/>
                <a:buNone/>
                <a:defRPr/>
              </a:pPr>
              <a:r>
                <a:rPr kumimoji="0" lang="zh-CN" alt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周边系统项目组根据主系统数据标准落地方案及数据标准定义，确定落地改造的范围。</a:t>
              </a:r>
            </a:p>
          </p:txBody>
        </p:sp>
        <p:sp>
          <p:nvSpPr>
            <p:cNvPr id="27" name="Rectangle 5"/>
            <p:cNvSpPr>
              <a:spLocks noChangeArrowheads="1"/>
            </p:cNvSpPr>
            <p:nvPr/>
          </p:nvSpPr>
          <p:spPr bwMode="auto">
            <a:xfrm>
              <a:off x="2176" y="4897"/>
              <a:ext cx="14725" cy="850"/>
            </a:xfrm>
            <a:prstGeom prst="rect">
              <a:avLst/>
            </a:prstGeom>
            <a:solidFill>
              <a:sysClr val="window" lastClr="FFFFFF"/>
            </a:solidFill>
            <a:ln w="19050" cap="rnd">
              <a:solidFill>
                <a:sysClr val="window" lastClr="FFFFFF">
                  <a:lumMod val="50000"/>
                </a:sysClr>
              </a:solidFill>
              <a:miter lim="800000"/>
            </a:ln>
            <a:effectLst/>
          </p:spPr>
          <p:txBody>
            <a:bodyPr anchor="ctr"/>
            <a:lstStyle/>
            <a:p>
              <a:pPr marL="0" marR="0" lvl="0" indent="0" defTabSz="806450" eaLnBrk="1" fontAlgn="base" latinLnBrk="0" hangingPunct="1">
                <a:lnSpc>
                  <a:spcPct val="100000"/>
                </a:lnSpc>
                <a:spcBef>
                  <a:spcPts val="530"/>
                </a:spcBef>
                <a:spcAft>
                  <a:spcPct val="0"/>
                </a:spcAft>
                <a:buClr>
                  <a:srgbClr val="091D5B"/>
                </a:buClr>
                <a:buSzTx/>
                <a:buFontTx/>
                <a:buNone/>
                <a:defRPr/>
              </a:pPr>
              <a:r>
                <a:rPr kumimoji="0" lang="zh-CN" alt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周边系统项目组分析主系统与周边系统的相关接口文档，确认需要在系统交互中传输数据的主系统落地内容。</a:t>
              </a:r>
            </a:p>
          </p:txBody>
        </p:sp>
        <p:sp>
          <p:nvSpPr>
            <p:cNvPr id="28" name="Rectangle 5"/>
            <p:cNvSpPr>
              <a:spLocks noChangeArrowheads="1"/>
            </p:cNvSpPr>
            <p:nvPr/>
          </p:nvSpPr>
          <p:spPr bwMode="auto">
            <a:xfrm>
              <a:off x="2176" y="5997"/>
              <a:ext cx="14725" cy="850"/>
            </a:xfrm>
            <a:prstGeom prst="rect">
              <a:avLst/>
            </a:prstGeom>
            <a:solidFill>
              <a:sysClr val="window" lastClr="FFFFFF"/>
            </a:solidFill>
            <a:ln w="19050" cap="rnd">
              <a:solidFill>
                <a:sysClr val="window" lastClr="FFFFFF">
                  <a:lumMod val="50000"/>
                </a:sysClr>
              </a:solidFill>
              <a:miter lim="800000"/>
            </a:ln>
            <a:effectLst/>
          </p:spPr>
          <p:txBody>
            <a:bodyPr anchor="ctr"/>
            <a:lstStyle/>
            <a:p>
              <a:pPr marL="0" marR="0" lvl="0" indent="0" defTabSz="806450" eaLnBrk="1" fontAlgn="base" latinLnBrk="0" hangingPunct="1">
                <a:lnSpc>
                  <a:spcPct val="100000"/>
                </a:lnSpc>
                <a:spcBef>
                  <a:spcPts val="530"/>
                </a:spcBef>
                <a:spcAft>
                  <a:spcPct val="0"/>
                </a:spcAft>
                <a:buClr>
                  <a:srgbClr val="091D5B"/>
                </a:buClr>
                <a:buSzTx/>
                <a:buFontTx/>
                <a:buNone/>
                <a:defRPr/>
              </a:pPr>
              <a:r>
                <a:rPr kumimoji="0" lang="zh-CN" alt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周边系统项目组对接口中的落地内容在周边系统落地进行差异分析和影响性分析。</a:t>
              </a:r>
            </a:p>
          </p:txBody>
        </p:sp>
        <p:sp>
          <p:nvSpPr>
            <p:cNvPr id="29" name="Rectangle 5"/>
            <p:cNvSpPr>
              <a:spLocks noChangeArrowheads="1"/>
            </p:cNvSpPr>
            <p:nvPr/>
          </p:nvSpPr>
          <p:spPr bwMode="auto">
            <a:xfrm>
              <a:off x="2176" y="7096"/>
              <a:ext cx="14725" cy="850"/>
            </a:xfrm>
            <a:prstGeom prst="rect">
              <a:avLst/>
            </a:prstGeom>
            <a:solidFill>
              <a:sysClr val="window" lastClr="FFFFFF"/>
            </a:solidFill>
            <a:ln w="19050" cap="rnd">
              <a:solidFill>
                <a:sysClr val="window" lastClr="FFFFFF">
                  <a:lumMod val="50000"/>
                </a:sysClr>
              </a:solidFill>
              <a:miter lim="800000"/>
            </a:ln>
            <a:effectLst/>
          </p:spPr>
          <p:txBody>
            <a:bodyPr anchor="ctr"/>
            <a:lstStyle/>
            <a:p>
              <a:pPr marL="0" marR="0" lvl="0" indent="0" defTabSz="806450" eaLnBrk="1" fontAlgn="base" latinLnBrk="0" hangingPunct="1">
                <a:lnSpc>
                  <a:spcPct val="100000"/>
                </a:lnSpc>
                <a:spcBef>
                  <a:spcPts val="530"/>
                </a:spcBef>
                <a:spcAft>
                  <a:spcPct val="0"/>
                </a:spcAft>
                <a:buClr>
                  <a:srgbClr val="091D5B"/>
                </a:buClr>
                <a:buSzTx/>
                <a:buFontTx/>
                <a:buNone/>
                <a:defRPr/>
              </a:pPr>
              <a:r>
                <a:rPr kumimoji="0" lang="zh-CN" alt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周边系统项目组根据分析结果，制定周边系统落地实施方案并进行实施。</a:t>
              </a:r>
              <a:endParaRPr kumimoji="0" 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30" name="Rectangle 5"/>
            <p:cNvSpPr>
              <a:spLocks noChangeArrowheads="1"/>
            </p:cNvSpPr>
            <p:nvPr/>
          </p:nvSpPr>
          <p:spPr bwMode="auto">
            <a:xfrm>
              <a:off x="2176" y="8196"/>
              <a:ext cx="14725" cy="850"/>
            </a:xfrm>
            <a:prstGeom prst="rect">
              <a:avLst/>
            </a:prstGeom>
            <a:solidFill>
              <a:sysClr val="window" lastClr="FFFFFF"/>
            </a:solidFill>
            <a:ln w="19050" cap="rnd">
              <a:solidFill>
                <a:sysClr val="window" lastClr="FFFFFF">
                  <a:lumMod val="50000"/>
                </a:sysClr>
              </a:solidFill>
              <a:miter lim="800000"/>
            </a:ln>
            <a:effectLst/>
          </p:spPr>
          <p:txBody>
            <a:bodyPr anchor="ctr"/>
            <a:lstStyle/>
            <a:p>
              <a:pPr marL="0" marR="0" lvl="0" indent="0" defTabSz="806450" eaLnBrk="1" fontAlgn="base" latinLnBrk="0" hangingPunct="1">
                <a:lnSpc>
                  <a:spcPct val="100000"/>
                </a:lnSpc>
                <a:spcBef>
                  <a:spcPts val="530"/>
                </a:spcBef>
                <a:spcAft>
                  <a:spcPct val="0"/>
                </a:spcAft>
                <a:buClr>
                  <a:srgbClr val="091D5B"/>
                </a:buClr>
                <a:buSzTx/>
                <a:buFontTx/>
                <a:buNone/>
                <a:defRPr/>
              </a:pPr>
              <a:r>
                <a:rPr kumimoji="0" lang="zh-CN" altLang="en-US" sz="1400" b="0" i="0" u="none" strike="noStrike" kern="0" cap="none" spc="0" normalizeH="0" baseline="0" noProof="0" dirty="0">
                  <a:ln>
                    <a:noFill/>
                  </a:ln>
                  <a:solidFill>
                    <a:srgbClr val="00338D">
                      <a:lumMod val="50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数据管理部门、IT责任部门及主系统项目组对落地情况进行跟踪检查。</a:t>
              </a:r>
            </a:p>
          </p:txBody>
        </p:sp>
        <p:sp>
          <p:nvSpPr>
            <p:cNvPr id="31" name="Rectangle 21"/>
            <p:cNvSpPr>
              <a:spLocks noChangeArrowheads="1"/>
            </p:cNvSpPr>
            <p:nvPr/>
          </p:nvSpPr>
          <p:spPr bwMode="auto">
            <a:xfrm>
              <a:off x="1873" y="2496"/>
              <a:ext cx="402" cy="505"/>
            </a:xfrm>
            <a:prstGeom prst="round2DiagRect">
              <a:avLst>
                <a:gd name="adj1" fmla="val 22497"/>
                <a:gd name="adj2" fmla="val 0"/>
              </a:avLst>
            </a:prstGeom>
            <a:solidFill>
              <a:srgbClr val="92D050"/>
            </a:solidFill>
            <a:ln w="19050">
              <a:noFill/>
              <a:miter lim="800000"/>
            </a:ln>
            <a:effectLst/>
          </p:spPr>
          <p:txBody>
            <a:bodyPr wrap="square" lIns="45720" rIns="45720" anchor="ctr"/>
            <a:lstStyle/>
            <a:p>
              <a:pPr algn="ctr" eaLnBrk="0" hangingPunct="0">
                <a:spcBef>
                  <a:spcPts val="100"/>
                </a:spcBef>
                <a:spcAft>
                  <a:spcPts val="100"/>
                </a:spcAft>
              </a:pPr>
              <a:r>
                <a:rPr lang="en-US" altLang="zh-CN" sz="1200" b="1" kern="0" dirty="0">
                  <a:solidFill>
                    <a:prstClr val="white"/>
                  </a:solidFill>
                  <a:latin typeface="微软雅黑" panose="020B0503020204020204" pitchFamily="34" charset="-122"/>
                  <a:ea typeface="微软雅黑" panose="020B0503020204020204" pitchFamily="34" charset="-122"/>
                </a:rPr>
                <a:t>1</a:t>
              </a:r>
              <a:endParaRPr lang="zh-CN" altLang="en-US" sz="1200" b="1" kern="0" dirty="0">
                <a:solidFill>
                  <a:prstClr val="white"/>
                </a:solidFill>
                <a:latin typeface="微软雅黑" panose="020B0503020204020204" pitchFamily="34" charset="-122"/>
                <a:ea typeface="微软雅黑" panose="020B0503020204020204" pitchFamily="34" charset="-122"/>
              </a:endParaRPr>
            </a:p>
          </p:txBody>
        </p:sp>
        <p:sp>
          <p:nvSpPr>
            <p:cNvPr id="32" name="Rectangle 21"/>
            <p:cNvSpPr>
              <a:spLocks noChangeArrowheads="1"/>
            </p:cNvSpPr>
            <p:nvPr/>
          </p:nvSpPr>
          <p:spPr bwMode="auto">
            <a:xfrm>
              <a:off x="1873" y="3597"/>
              <a:ext cx="402" cy="505"/>
            </a:xfrm>
            <a:prstGeom prst="round2DiagRect">
              <a:avLst>
                <a:gd name="adj1" fmla="val 22497"/>
                <a:gd name="adj2" fmla="val 0"/>
              </a:avLst>
            </a:prstGeom>
            <a:solidFill>
              <a:srgbClr val="92D050"/>
            </a:solidFill>
            <a:ln w="19050">
              <a:noFill/>
              <a:miter lim="800000"/>
            </a:ln>
            <a:effectLst/>
          </p:spPr>
          <p:txBody>
            <a:bodyPr wrap="square" lIns="45720" rIns="45720" anchor="ctr"/>
            <a:lstStyle/>
            <a:p>
              <a:pPr algn="ctr" eaLnBrk="0" hangingPunct="0">
                <a:spcBef>
                  <a:spcPts val="100"/>
                </a:spcBef>
                <a:spcAft>
                  <a:spcPts val="100"/>
                </a:spcAft>
              </a:pPr>
              <a:r>
                <a:rPr lang="en-US" altLang="zh-CN" sz="1200" b="1" kern="0" dirty="0">
                  <a:solidFill>
                    <a:prstClr val="white"/>
                  </a:solidFill>
                  <a:latin typeface="微软雅黑" panose="020B0503020204020204" pitchFamily="34" charset="-122"/>
                  <a:ea typeface="微软雅黑" panose="020B0503020204020204" pitchFamily="34" charset="-122"/>
                </a:rPr>
                <a:t>2</a:t>
              </a:r>
              <a:endParaRPr lang="zh-CN" altLang="en-US" sz="1200" b="1" kern="0" dirty="0">
                <a:solidFill>
                  <a:prstClr val="white"/>
                </a:solidFill>
                <a:latin typeface="微软雅黑" panose="020B0503020204020204" pitchFamily="34" charset="-122"/>
                <a:ea typeface="微软雅黑" panose="020B0503020204020204" pitchFamily="34" charset="-122"/>
              </a:endParaRPr>
            </a:p>
          </p:txBody>
        </p:sp>
        <p:sp>
          <p:nvSpPr>
            <p:cNvPr id="33" name="Rectangle 21"/>
            <p:cNvSpPr>
              <a:spLocks noChangeArrowheads="1"/>
            </p:cNvSpPr>
            <p:nvPr/>
          </p:nvSpPr>
          <p:spPr bwMode="auto">
            <a:xfrm>
              <a:off x="1873" y="4698"/>
              <a:ext cx="402" cy="505"/>
            </a:xfrm>
            <a:prstGeom prst="round2DiagRect">
              <a:avLst>
                <a:gd name="adj1" fmla="val 22497"/>
                <a:gd name="adj2" fmla="val 0"/>
              </a:avLst>
            </a:prstGeom>
            <a:solidFill>
              <a:srgbClr val="92D050"/>
            </a:solidFill>
            <a:ln w="19050">
              <a:noFill/>
              <a:miter lim="800000"/>
            </a:ln>
            <a:effectLst/>
          </p:spPr>
          <p:txBody>
            <a:bodyPr wrap="square" lIns="45720" rIns="45720" anchor="ctr"/>
            <a:lstStyle/>
            <a:p>
              <a:pPr algn="ctr" eaLnBrk="0" hangingPunct="0">
                <a:spcBef>
                  <a:spcPts val="100"/>
                </a:spcBef>
                <a:spcAft>
                  <a:spcPts val="100"/>
                </a:spcAft>
              </a:pPr>
              <a:r>
                <a:rPr lang="en-US" altLang="zh-CN" sz="1200" b="1" kern="0" dirty="0">
                  <a:solidFill>
                    <a:prstClr val="white"/>
                  </a:solidFill>
                  <a:latin typeface="微软雅黑" panose="020B0503020204020204" pitchFamily="34" charset="-122"/>
                  <a:ea typeface="微软雅黑" panose="020B0503020204020204" pitchFamily="34" charset="-122"/>
                </a:rPr>
                <a:t>3</a:t>
              </a:r>
              <a:endParaRPr lang="zh-CN" altLang="en-US" sz="1200" b="1" kern="0" dirty="0">
                <a:solidFill>
                  <a:prstClr val="white"/>
                </a:solidFill>
                <a:latin typeface="微软雅黑" panose="020B0503020204020204" pitchFamily="34" charset="-122"/>
                <a:ea typeface="微软雅黑" panose="020B0503020204020204" pitchFamily="34" charset="-122"/>
              </a:endParaRPr>
            </a:p>
          </p:txBody>
        </p:sp>
        <p:sp>
          <p:nvSpPr>
            <p:cNvPr id="34" name="Rectangle 21"/>
            <p:cNvSpPr>
              <a:spLocks noChangeArrowheads="1"/>
            </p:cNvSpPr>
            <p:nvPr/>
          </p:nvSpPr>
          <p:spPr bwMode="auto">
            <a:xfrm>
              <a:off x="1873" y="5799"/>
              <a:ext cx="402" cy="505"/>
            </a:xfrm>
            <a:prstGeom prst="round2DiagRect">
              <a:avLst>
                <a:gd name="adj1" fmla="val 22497"/>
                <a:gd name="adj2" fmla="val 0"/>
              </a:avLst>
            </a:prstGeom>
            <a:solidFill>
              <a:srgbClr val="92D050"/>
            </a:solidFill>
            <a:ln w="19050">
              <a:noFill/>
              <a:miter lim="800000"/>
            </a:ln>
            <a:effectLst/>
          </p:spPr>
          <p:txBody>
            <a:bodyPr wrap="square" lIns="45720" rIns="45720" anchor="ctr"/>
            <a:lstStyle/>
            <a:p>
              <a:pPr algn="ctr" eaLnBrk="0" hangingPunct="0">
                <a:spcBef>
                  <a:spcPts val="100"/>
                </a:spcBef>
                <a:spcAft>
                  <a:spcPts val="100"/>
                </a:spcAft>
              </a:pPr>
              <a:r>
                <a:rPr lang="en-US" altLang="zh-CN" sz="1200" b="1" kern="0" dirty="0">
                  <a:solidFill>
                    <a:prstClr val="white"/>
                  </a:solidFill>
                  <a:latin typeface="微软雅黑" panose="020B0503020204020204" pitchFamily="34" charset="-122"/>
                  <a:ea typeface="微软雅黑" panose="020B0503020204020204" pitchFamily="34" charset="-122"/>
                </a:rPr>
                <a:t>4</a:t>
              </a:r>
              <a:endParaRPr lang="zh-CN" altLang="en-US" sz="1200" b="1" kern="0" dirty="0">
                <a:solidFill>
                  <a:prstClr val="white"/>
                </a:solidFill>
                <a:latin typeface="微软雅黑" panose="020B0503020204020204" pitchFamily="34" charset="-122"/>
                <a:ea typeface="微软雅黑" panose="020B0503020204020204" pitchFamily="34" charset="-122"/>
              </a:endParaRPr>
            </a:p>
          </p:txBody>
        </p:sp>
        <p:sp>
          <p:nvSpPr>
            <p:cNvPr id="35" name="Rectangle 21"/>
            <p:cNvSpPr>
              <a:spLocks noChangeArrowheads="1"/>
            </p:cNvSpPr>
            <p:nvPr/>
          </p:nvSpPr>
          <p:spPr bwMode="auto">
            <a:xfrm>
              <a:off x="1873" y="6900"/>
              <a:ext cx="402" cy="505"/>
            </a:xfrm>
            <a:prstGeom prst="round2DiagRect">
              <a:avLst>
                <a:gd name="adj1" fmla="val 22497"/>
                <a:gd name="adj2" fmla="val 0"/>
              </a:avLst>
            </a:prstGeom>
            <a:solidFill>
              <a:srgbClr val="92D050"/>
            </a:solidFill>
            <a:ln w="19050">
              <a:noFill/>
              <a:miter lim="800000"/>
            </a:ln>
            <a:effectLst/>
          </p:spPr>
          <p:txBody>
            <a:bodyPr wrap="square" lIns="45720" rIns="45720" anchor="ctr"/>
            <a:lstStyle/>
            <a:p>
              <a:pPr algn="ctr" eaLnBrk="0" hangingPunct="0">
                <a:spcBef>
                  <a:spcPts val="100"/>
                </a:spcBef>
                <a:spcAft>
                  <a:spcPts val="100"/>
                </a:spcAft>
              </a:pPr>
              <a:r>
                <a:rPr lang="en-US" altLang="zh-CN" sz="1200" b="1" kern="0" dirty="0">
                  <a:solidFill>
                    <a:prstClr val="white"/>
                  </a:solidFill>
                  <a:latin typeface="微软雅黑" panose="020B0503020204020204" pitchFamily="34" charset="-122"/>
                  <a:ea typeface="微软雅黑" panose="020B0503020204020204" pitchFamily="34" charset="-122"/>
                </a:rPr>
                <a:t>5</a:t>
              </a:r>
              <a:endParaRPr lang="zh-CN" altLang="en-US" sz="1200" b="1" kern="0" dirty="0">
                <a:solidFill>
                  <a:prstClr val="white"/>
                </a:solidFill>
                <a:latin typeface="微软雅黑" panose="020B0503020204020204" pitchFamily="34" charset="-122"/>
                <a:ea typeface="微软雅黑" panose="020B0503020204020204" pitchFamily="34" charset="-122"/>
              </a:endParaRPr>
            </a:p>
          </p:txBody>
        </p:sp>
        <p:sp>
          <p:nvSpPr>
            <p:cNvPr id="36" name="Rectangle 21"/>
            <p:cNvSpPr>
              <a:spLocks noChangeArrowheads="1"/>
            </p:cNvSpPr>
            <p:nvPr/>
          </p:nvSpPr>
          <p:spPr bwMode="auto">
            <a:xfrm>
              <a:off x="1873" y="8001"/>
              <a:ext cx="402" cy="505"/>
            </a:xfrm>
            <a:prstGeom prst="round2DiagRect">
              <a:avLst>
                <a:gd name="adj1" fmla="val 22497"/>
                <a:gd name="adj2" fmla="val 0"/>
              </a:avLst>
            </a:prstGeom>
            <a:solidFill>
              <a:srgbClr val="92D050"/>
            </a:solidFill>
            <a:ln w="19050">
              <a:noFill/>
              <a:miter lim="800000"/>
            </a:ln>
            <a:effectLst/>
          </p:spPr>
          <p:txBody>
            <a:bodyPr wrap="square" lIns="45720" rIns="45720" anchor="ctr"/>
            <a:lstStyle/>
            <a:p>
              <a:pPr algn="ctr" eaLnBrk="0" hangingPunct="0">
                <a:spcBef>
                  <a:spcPts val="100"/>
                </a:spcBef>
                <a:spcAft>
                  <a:spcPts val="100"/>
                </a:spcAft>
              </a:pPr>
              <a:r>
                <a:rPr lang="en-US" altLang="zh-CN" sz="1200" b="1" kern="0" dirty="0">
                  <a:solidFill>
                    <a:prstClr val="white"/>
                  </a:solidFill>
                  <a:latin typeface="微软雅黑" panose="020B0503020204020204" pitchFamily="34" charset="-122"/>
                  <a:ea typeface="微软雅黑" panose="020B0503020204020204" pitchFamily="34" charset="-122"/>
                </a:rPr>
                <a:t>6</a:t>
              </a:r>
              <a:endParaRPr lang="zh-CN" altLang="en-US" sz="1200" b="1" kern="0" dirty="0">
                <a:solidFill>
                  <a:prstClr val="white"/>
                </a:solidFill>
                <a:latin typeface="微软雅黑" panose="020B0503020204020204" pitchFamily="34" charset="-122"/>
                <a:ea typeface="微软雅黑" panose="020B0503020204020204" pitchFamily="34" charset="-122"/>
              </a:endParaRPr>
            </a:p>
          </p:txBody>
        </p:sp>
      </p:gr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custDataLst>
              <p:tags r:id="rId2"/>
            </p:custDataLst>
          </p:nvPr>
        </p:nvSpPr>
        <p:spPr/>
        <p:txBody>
          <a:bodyPr vert="horz" lIns="91440" tIns="45720" rIns="91440" bIns="45720" rtlCol="0" anchor="ctr">
            <a:normAutofit/>
          </a:bodyPr>
          <a:lstStyle/>
          <a:p>
            <a:pPr lvl="0" algn="l">
              <a:buClrTx/>
              <a:buSzTx/>
              <a:buFontTx/>
            </a:pPr>
            <a:r>
              <a:rPr lang="zh-CN" altLang="en-US">
                <a:sym typeface="+mn-ea"/>
              </a:rPr>
              <a:t>数据标准后续如何改进</a:t>
            </a:r>
          </a:p>
        </p:txBody>
      </p:sp>
      <p:sp>
        <p:nvSpPr>
          <p:cNvPr id="26" name="Freeform 5"/>
          <p:cNvSpPr/>
          <p:nvPr/>
        </p:nvSpPr>
        <p:spPr bwMode="auto">
          <a:xfrm>
            <a:off x="4551740" y="2905848"/>
            <a:ext cx="3227211" cy="3234111"/>
          </a:xfrm>
          <a:custGeom>
            <a:avLst/>
            <a:gdLst/>
            <a:ahLst/>
            <a:cxnLst>
              <a:cxn ang="0">
                <a:pos x="2880" y="366"/>
              </a:cxn>
              <a:cxn ang="0">
                <a:pos x="2537" y="1873"/>
              </a:cxn>
              <a:cxn ang="0">
                <a:pos x="1824" y="603"/>
              </a:cxn>
              <a:cxn ang="0">
                <a:pos x="1753" y="670"/>
              </a:cxn>
              <a:cxn ang="0">
                <a:pos x="2538" y="2541"/>
              </a:cxn>
              <a:cxn ang="0">
                <a:pos x="2222" y="2790"/>
              </a:cxn>
              <a:cxn ang="0">
                <a:pos x="535" y="1885"/>
              </a:cxn>
              <a:cxn ang="0">
                <a:pos x="376" y="1956"/>
              </a:cxn>
              <a:cxn ang="0">
                <a:pos x="1565" y="2480"/>
              </a:cxn>
              <a:cxn ang="0">
                <a:pos x="2389" y="3537"/>
              </a:cxn>
              <a:cxn ang="0">
                <a:pos x="2135" y="4240"/>
              </a:cxn>
              <a:cxn ang="0">
                <a:pos x="12" y="3875"/>
              </a:cxn>
              <a:cxn ang="0">
                <a:pos x="0" y="4054"/>
              </a:cxn>
              <a:cxn ang="0">
                <a:pos x="2184" y="4580"/>
              </a:cxn>
              <a:cxn ang="0">
                <a:pos x="2243" y="6033"/>
              </a:cxn>
              <a:cxn ang="0">
                <a:pos x="1565" y="6635"/>
              </a:cxn>
              <a:cxn ang="0">
                <a:pos x="908" y="6761"/>
              </a:cxn>
              <a:cxn ang="0">
                <a:pos x="3978" y="6888"/>
              </a:cxn>
              <a:cxn ang="0">
                <a:pos x="4444" y="6786"/>
              </a:cxn>
              <a:cxn ang="0">
                <a:pos x="3990" y="6677"/>
              </a:cxn>
              <a:cxn ang="0">
                <a:pos x="3121" y="6098"/>
              </a:cxn>
              <a:cxn ang="0">
                <a:pos x="3103" y="4773"/>
              </a:cxn>
              <a:cxn ang="0">
                <a:pos x="4614" y="4157"/>
              </a:cxn>
              <a:cxn ang="0">
                <a:pos x="5977" y="4030"/>
              </a:cxn>
              <a:cxn ang="0">
                <a:pos x="5970" y="3829"/>
              </a:cxn>
              <a:cxn ang="0">
                <a:pos x="5710" y="3898"/>
              </a:cxn>
              <a:cxn ang="0">
                <a:pos x="3071" y="4243"/>
              </a:cxn>
              <a:cxn ang="0">
                <a:pos x="3308" y="2959"/>
              </a:cxn>
              <a:cxn ang="0">
                <a:pos x="5462" y="2202"/>
              </a:cxn>
              <a:cxn ang="0">
                <a:pos x="5391" y="2119"/>
              </a:cxn>
              <a:cxn ang="0">
                <a:pos x="3824" y="2471"/>
              </a:cxn>
              <a:cxn ang="0">
                <a:pos x="2916" y="2840"/>
              </a:cxn>
              <a:cxn ang="0">
                <a:pos x="3083" y="2377"/>
              </a:cxn>
              <a:cxn ang="0">
                <a:pos x="4059" y="1013"/>
              </a:cxn>
              <a:cxn ang="0">
                <a:pos x="3418" y="1832"/>
              </a:cxn>
              <a:cxn ang="0">
                <a:pos x="2806" y="2127"/>
              </a:cxn>
              <a:cxn ang="0">
                <a:pos x="2979" y="540"/>
              </a:cxn>
              <a:cxn ang="0">
                <a:pos x="2932" y="1"/>
              </a:cxn>
              <a:cxn ang="0">
                <a:pos x="2785" y="0"/>
              </a:cxn>
            </a:cxnLst>
            <a:rect l="0" t="0" r="r" b="b"/>
            <a:pathLst>
              <a:path w="5977" h="6949">
                <a:moveTo>
                  <a:pt x="2785" y="0"/>
                </a:moveTo>
                <a:cubicBezTo>
                  <a:pt x="2841" y="42"/>
                  <a:pt x="2858" y="134"/>
                  <a:pt x="2880" y="366"/>
                </a:cubicBezTo>
                <a:cubicBezTo>
                  <a:pt x="2910" y="674"/>
                  <a:pt x="2891" y="857"/>
                  <a:pt x="2760" y="1513"/>
                </a:cubicBezTo>
                <a:cubicBezTo>
                  <a:pt x="2638" y="2133"/>
                  <a:pt x="2639" y="2130"/>
                  <a:pt x="2537" y="1873"/>
                </a:cubicBezTo>
                <a:cubicBezTo>
                  <a:pt x="2413" y="1562"/>
                  <a:pt x="2149" y="1060"/>
                  <a:pt x="1997" y="847"/>
                </a:cubicBezTo>
                <a:cubicBezTo>
                  <a:pt x="1912" y="730"/>
                  <a:pt x="1834" y="619"/>
                  <a:pt x="1824" y="603"/>
                </a:cubicBezTo>
                <a:cubicBezTo>
                  <a:pt x="1821" y="599"/>
                  <a:pt x="1822" y="588"/>
                  <a:pt x="1825" y="573"/>
                </a:cubicBezTo>
                <a:cubicBezTo>
                  <a:pt x="1802" y="607"/>
                  <a:pt x="1779" y="639"/>
                  <a:pt x="1753" y="670"/>
                </a:cubicBezTo>
                <a:cubicBezTo>
                  <a:pt x="1818" y="723"/>
                  <a:pt x="2054" y="1118"/>
                  <a:pt x="2190" y="1400"/>
                </a:cubicBezTo>
                <a:cubicBezTo>
                  <a:pt x="2346" y="1724"/>
                  <a:pt x="2539" y="2359"/>
                  <a:pt x="2538" y="2541"/>
                </a:cubicBezTo>
                <a:cubicBezTo>
                  <a:pt x="2537" y="2685"/>
                  <a:pt x="2494" y="2855"/>
                  <a:pt x="2446" y="2903"/>
                </a:cubicBezTo>
                <a:cubicBezTo>
                  <a:pt x="2409" y="2940"/>
                  <a:pt x="2382" y="2926"/>
                  <a:pt x="2222" y="2790"/>
                </a:cubicBezTo>
                <a:cubicBezTo>
                  <a:pt x="1978" y="2584"/>
                  <a:pt x="1756" y="2436"/>
                  <a:pt x="1436" y="2266"/>
                </a:cubicBezTo>
                <a:cubicBezTo>
                  <a:pt x="1187" y="2133"/>
                  <a:pt x="694" y="1925"/>
                  <a:pt x="535" y="1885"/>
                </a:cubicBezTo>
                <a:cubicBezTo>
                  <a:pt x="470" y="1868"/>
                  <a:pt x="435" y="1856"/>
                  <a:pt x="420" y="1823"/>
                </a:cubicBezTo>
                <a:cubicBezTo>
                  <a:pt x="408" y="1868"/>
                  <a:pt x="393" y="1913"/>
                  <a:pt x="376" y="1956"/>
                </a:cubicBezTo>
                <a:cubicBezTo>
                  <a:pt x="383" y="1953"/>
                  <a:pt x="389" y="1951"/>
                  <a:pt x="395" y="1951"/>
                </a:cubicBezTo>
                <a:cubicBezTo>
                  <a:pt x="549" y="1951"/>
                  <a:pt x="1204" y="2247"/>
                  <a:pt x="1565" y="2480"/>
                </a:cubicBezTo>
                <a:cubicBezTo>
                  <a:pt x="1801" y="2632"/>
                  <a:pt x="2168" y="2981"/>
                  <a:pt x="2287" y="3167"/>
                </a:cubicBezTo>
                <a:cubicBezTo>
                  <a:pt x="2358" y="3279"/>
                  <a:pt x="2375" y="3338"/>
                  <a:pt x="2389" y="3537"/>
                </a:cubicBezTo>
                <a:cubicBezTo>
                  <a:pt x="2407" y="3784"/>
                  <a:pt x="2356" y="4253"/>
                  <a:pt x="2309" y="4282"/>
                </a:cubicBezTo>
                <a:cubicBezTo>
                  <a:pt x="2294" y="4291"/>
                  <a:pt x="2216" y="4272"/>
                  <a:pt x="2135" y="4240"/>
                </a:cubicBezTo>
                <a:cubicBezTo>
                  <a:pt x="1771" y="4095"/>
                  <a:pt x="1129" y="3975"/>
                  <a:pt x="401" y="3915"/>
                </a:cubicBezTo>
                <a:cubicBezTo>
                  <a:pt x="234" y="3901"/>
                  <a:pt x="89" y="3886"/>
                  <a:pt x="12" y="3875"/>
                </a:cubicBezTo>
                <a:cubicBezTo>
                  <a:pt x="12" y="3877"/>
                  <a:pt x="12" y="3878"/>
                  <a:pt x="12" y="3880"/>
                </a:cubicBezTo>
                <a:cubicBezTo>
                  <a:pt x="12" y="3939"/>
                  <a:pt x="8" y="3997"/>
                  <a:pt x="0" y="4054"/>
                </a:cubicBezTo>
                <a:lnTo>
                  <a:pt x="229" y="4057"/>
                </a:lnTo>
                <a:cubicBezTo>
                  <a:pt x="1035" y="4066"/>
                  <a:pt x="1849" y="4284"/>
                  <a:pt x="2184" y="4580"/>
                </a:cubicBezTo>
                <a:cubicBezTo>
                  <a:pt x="2296" y="4678"/>
                  <a:pt x="2311" y="4707"/>
                  <a:pt x="2329" y="4848"/>
                </a:cubicBezTo>
                <a:cubicBezTo>
                  <a:pt x="2353" y="5035"/>
                  <a:pt x="2303" y="5720"/>
                  <a:pt x="2243" y="6033"/>
                </a:cubicBezTo>
                <a:cubicBezTo>
                  <a:pt x="2219" y="6155"/>
                  <a:pt x="2177" y="6286"/>
                  <a:pt x="2148" y="6324"/>
                </a:cubicBezTo>
                <a:cubicBezTo>
                  <a:pt x="2078" y="6419"/>
                  <a:pt x="1739" y="6599"/>
                  <a:pt x="1565" y="6635"/>
                </a:cubicBezTo>
                <a:cubicBezTo>
                  <a:pt x="1488" y="6651"/>
                  <a:pt x="1312" y="6682"/>
                  <a:pt x="1175" y="6704"/>
                </a:cubicBezTo>
                <a:cubicBezTo>
                  <a:pt x="1037" y="6727"/>
                  <a:pt x="917" y="6752"/>
                  <a:pt x="908" y="6761"/>
                </a:cubicBezTo>
                <a:cubicBezTo>
                  <a:pt x="846" y="6823"/>
                  <a:pt x="1154" y="6882"/>
                  <a:pt x="1733" y="6919"/>
                </a:cubicBezTo>
                <a:cubicBezTo>
                  <a:pt x="2214" y="6949"/>
                  <a:pt x="3600" y="6930"/>
                  <a:pt x="3978" y="6888"/>
                </a:cubicBezTo>
                <a:cubicBezTo>
                  <a:pt x="4141" y="6870"/>
                  <a:pt x="4313" y="6840"/>
                  <a:pt x="4359" y="6821"/>
                </a:cubicBezTo>
                <a:lnTo>
                  <a:pt x="4444" y="6786"/>
                </a:lnTo>
                <a:lnTo>
                  <a:pt x="4380" y="6752"/>
                </a:lnTo>
                <a:cubicBezTo>
                  <a:pt x="4344" y="6733"/>
                  <a:pt x="4169" y="6699"/>
                  <a:pt x="3990" y="6677"/>
                </a:cubicBezTo>
                <a:cubicBezTo>
                  <a:pt x="3636" y="6633"/>
                  <a:pt x="3384" y="6538"/>
                  <a:pt x="3223" y="6387"/>
                </a:cubicBezTo>
                <a:cubicBezTo>
                  <a:pt x="3147" y="6317"/>
                  <a:pt x="3136" y="6284"/>
                  <a:pt x="3121" y="6098"/>
                </a:cubicBezTo>
                <a:cubicBezTo>
                  <a:pt x="3098" y="5808"/>
                  <a:pt x="3092" y="5584"/>
                  <a:pt x="3098" y="5147"/>
                </a:cubicBezTo>
                <a:lnTo>
                  <a:pt x="3103" y="4773"/>
                </a:lnTo>
                <a:lnTo>
                  <a:pt x="3201" y="4665"/>
                </a:lnTo>
                <a:cubicBezTo>
                  <a:pt x="3389" y="4458"/>
                  <a:pt x="3879" y="4281"/>
                  <a:pt x="4614" y="4157"/>
                </a:cubicBezTo>
                <a:cubicBezTo>
                  <a:pt x="4997" y="4092"/>
                  <a:pt x="5912" y="4000"/>
                  <a:pt x="5966" y="4021"/>
                </a:cubicBezTo>
                <a:cubicBezTo>
                  <a:pt x="5969" y="4022"/>
                  <a:pt x="5973" y="4026"/>
                  <a:pt x="5977" y="4030"/>
                </a:cubicBezTo>
                <a:cubicBezTo>
                  <a:pt x="5971" y="3983"/>
                  <a:pt x="5968" y="3935"/>
                  <a:pt x="5968" y="3887"/>
                </a:cubicBezTo>
                <a:cubicBezTo>
                  <a:pt x="5968" y="3867"/>
                  <a:pt x="5969" y="3848"/>
                  <a:pt x="5970" y="3829"/>
                </a:cubicBezTo>
                <a:cubicBezTo>
                  <a:pt x="5961" y="3854"/>
                  <a:pt x="5951" y="3871"/>
                  <a:pt x="5942" y="3877"/>
                </a:cubicBezTo>
                <a:cubicBezTo>
                  <a:pt x="5925" y="3888"/>
                  <a:pt x="5821" y="3898"/>
                  <a:pt x="5710" y="3898"/>
                </a:cubicBezTo>
                <a:cubicBezTo>
                  <a:pt x="5247" y="3899"/>
                  <a:pt x="4355" y="4013"/>
                  <a:pt x="3586" y="4169"/>
                </a:cubicBezTo>
                <a:cubicBezTo>
                  <a:pt x="3302" y="4226"/>
                  <a:pt x="3085" y="4257"/>
                  <a:pt x="3071" y="4243"/>
                </a:cubicBezTo>
                <a:cubicBezTo>
                  <a:pt x="3043" y="4215"/>
                  <a:pt x="2962" y="3612"/>
                  <a:pt x="2962" y="3431"/>
                </a:cubicBezTo>
                <a:cubicBezTo>
                  <a:pt x="2962" y="3287"/>
                  <a:pt x="3037" y="3185"/>
                  <a:pt x="3308" y="2959"/>
                </a:cubicBezTo>
                <a:cubicBezTo>
                  <a:pt x="3708" y="2626"/>
                  <a:pt x="4264" y="2412"/>
                  <a:pt x="5130" y="2260"/>
                </a:cubicBezTo>
                <a:lnTo>
                  <a:pt x="5462" y="2202"/>
                </a:lnTo>
                <a:cubicBezTo>
                  <a:pt x="5441" y="2169"/>
                  <a:pt x="5420" y="2136"/>
                  <a:pt x="5403" y="2101"/>
                </a:cubicBezTo>
                <a:cubicBezTo>
                  <a:pt x="5400" y="2110"/>
                  <a:pt x="5397" y="2116"/>
                  <a:pt x="5391" y="2119"/>
                </a:cubicBezTo>
                <a:cubicBezTo>
                  <a:pt x="5374" y="2130"/>
                  <a:pt x="5204" y="2161"/>
                  <a:pt x="5015" y="2189"/>
                </a:cubicBezTo>
                <a:cubicBezTo>
                  <a:pt x="4603" y="2249"/>
                  <a:pt x="4090" y="2371"/>
                  <a:pt x="3824" y="2471"/>
                </a:cubicBezTo>
                <a:cubicBezTo>
                  <a:pt x="3718" y="2511"/>
                  <a:pt x="3480" y="2623"/>
                  <a:pt x="3296" y="2720"/>
                </a:cubicBezTo>
                <a:cubicBezTo>
                  <a:pt x="2967" y="2892"/>
                  <a:pt x="2959" y="2895"/>
                  <a:pt x="2916" y="2840"/>
                </a:cubicBezTo>
                <a:cubicBezTo>
                  <a:pt x="2888" y="2802"/>
                  <a:pt x="2878" y="2747"/>
                  <a:pt x="2887" y="2673"/>
                </a:cubicBezTo>
                <a:cubicBezTo>
                  <a:pt x="2899" y="2585"/>
                  <a:pt x="2938" y="2526"/>
                  <a:pt x="3083" y="2377"/>
                </a:cubicBezTo>
                <a:cubicBezTo>
                  <a:pt x="3474" y="1976"/>
                  <a:pt x="3779" y="1561"/>
                  <a:pt x="3990" y="1139"/>
                </a:cubicBezTo>
                <a:cubicBezTo>
                  <a:pt x="4014" y="1091"/>
                  <a:pt x="4038" y="1048"/>
                  <a:pt x="4059" y="1013"/>
                </a:cubicBezTo>
                <a:cubicBezTo>
                  <a:pt x="4029" y="994"/>
                  <a:pt x="4001" y="975"/>
                  <a:pt x="3973" y="953"/>
                </a:cubicBezTo>
                <a:cubicBezTo>
                  <a:pt x="3895" y="1157"/>
                  <a:pt x="3635" y="1579"/>
                  <a:pt x="3418" y="1832"/>
                </a:cubicBezTo>
                <a:cubicBezTo>
                  <a:pt x="3264" y="2012"/>
                  <a:pt x="2893" y="2318"/>
                  <a:pt x="2830" y="2318"/>
                </a:cubicBezTo>
                <a:cubicBezTo>
                  <a:pt x="2793" y="2318"/>
                  <a:pt x="2789" y="2289"/>
                  <a:pt x="2806" y="2127"/>
                </a:cubicBezTo>
                <a:cubicBezTo>
                  <a:pt x="2817" y="2022"/>
                  <a:pt x="2845" y="1835"/>
                  <a:pt x="2867" y="1711"/>
                </a:cubicBezTo>
                <a:cubicBezTo>
                  <a:pt x="2974" y="1120"/>
                  <a:pt x="2996" y="891"/>
                  <a:pt x="2979" y="540"/>
                </a:cubicBezTo>
                <a:cubicBezTo>
                  <a:pt x="2970" y="346"/>
                  <a:pt x="2955" y="140"/>
                  <a:pt x="2946" y="84"/>
                </a:cubicBezTo>
                <a:lnTo>
                  <a:pt x="2932" y="1"/>
                </a:lnTo>
                <a:cubicBezTo>
                  <a:pt x="2909" y="2"/>
                  <a:pt x="2886" y="3"/>
                  <a:pt x="2863" y="3"/>
                </a:cubicBezTo>
                <a:cubicBezTo>
                  <a:pt x="2836" y="3"/>
                  <a:pt x="2811" y="2"/>
                  <a:pt x="2785" y="0"/>
                </a:cubicBezTo>
                <a:close/>
              </a:path>
            </a:pathLst>
          </a:custGeom>
          <a:solidFill>
            <a:srgbClr val="828282"/>
          </a:solid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7" name="橢圓 3"/>
          <p:cNvSpPr>
            <a:spLocks noChangeArrowheads="1"/>
          </p:cNvSpPr>
          <p:nvPr/>
        </p:nvSpPr>
        <p:spPr bwMode="auto">
          <a:xfrm>
            <a:off x="4204792" y="4242523"/>
            <a:ext cx="876237" cy="757098"/>
          </a:xfrm>
          <a:prstGeom prst="ellipse">
            <a:avLst/>
          </a:prstGeom>
          <a:solidFill>
            <a:srgbClr val="00B050"/>
          </a:solidFill>
          <a:ln w="9525">
            <a:noFill/>
            <a:round/>
          </a:ln>
        </p:spPr>
        <p:txBody>
          <a:bodyPr/>
          <a:lstStyle/>
          <a:p>
            <a:pPr marL="233680" marR="0" lvl="0" indent="-233680" defTabSz="914400" eaLnBrk="1" fontAlgn="auto" latinLnBrk="0" hangingPunct="1">
              <a:lnSpc>
                <a:spcPct val="95000"/>
              </a:lnSpc>
              <a:spcBef>
                <a:spcPct val="50000"/>
              </a:spcBef>
              <a:spcAft>
                <a:spcPct val="35000"/>
              </a:spcAft>
              <a:buClr>
                <a:srgbClr val="678BA8"/>
              </a:buClr>
              <a:buSzTx/>
              <a:buFont typeface="Arial" panose="020B0604020202020204" pitchFamily="34" charset="0"/>
              <a:buChar char="•"/>
              <a:defRPr/>
            </a:pPr>
            <a:endParaRPr kumimoji="0" lang="zh-TW" altLang="en-US" sz="4000" b="1" i="0" u="none" strike="noStrike" kern="0" cap="none" spc="0" normalizeH="0" baseline="0" noProof="0">
              <a:ln>
                <a:noFill/>
              </a:ln>
              <a:solidFill>
                <a:srgbClr val="1F497D"/>
              </a:solidFill>
              <a:effectLst/>
              <a:uLnTx/>
              <a:uFillTx/>
              <a:ea typeface="Microsoft JhengHei" panose="020B0604030504040204" pitchFamily="2" charset="-120"/>
            </a:endParaRPr>
          </a:p>
        </p:txBody>
      </p:sp>
      <p:sp>
        <p:nvSpPr>
          <p:cNvPr id="28" name="橢圓 4"/>
          <p:cNvSpPr>
            <a:spLocks noChangeArrowheads="1"/>
          </p:cNvSpPr>
          <p:nvPr/>
        </p:nvSpPr>
        <p:spPr bwMode="auto">
          <a:xfrm>
            <a:off x="4368736" y="3343307"/>
            <a:ext cx="878192" cy="755413"/>
          </a:xfrm>
          <a:prstGeom prst="ellipse">
            <a:avLst/>
          </a:prstGeom>
          <a:solidFill>
            <a:srgbClr val="00B050"/>
          </a:solidFill>
          <a:ln w="9525">
            <a:noFill/>
            <a:round/>
          </a:ln>
        </p:spPr>
        <p:txBody>
          <a:bodyPr/>
          <a:lstStyle/>
          <a:p>
            <a:pPr marL="233680" marR="0" lvl="0" indent="-233680" defTabSz="914400" eaLnBrk="1" fontAlgn="auto" latinLnBrk="0" hangingPunct="1">
              <a:lnSpc>
                <a:spcPct val="95000"/>
              </a:lnSpc>
              <a:spcBef>
                <a:spcPct val="50000"/>
              </a:spcBef>
              <a:spcAft>
                <a:spcPct val="35000"/>
              </a:spcAft>
              <a:buClr>
                <a:srgbClr val="678BA8"/>
              </a:buClr>
              <a:buSzTx/>
              <a:buFont typeface="Arial" panose="020B0604020202020204" pitchFamily="34" charset="0"/>
              <a:buChar char="•"/>
              <a:defRPr/>
            </a:pPr>
            <a:endParaRPr kumimoji="0" lang="zh-TW" altLang="en-US" sz="4000" b="1" i="0" u="none" strike="noStrike" kern="0" cap="none" spc="0" normalizeH="0" baseline="0" noProof="0" dirty="0">
              <a:ln>
                <a:noFill/>
              </a:ln>
              <a:solidFill>
                <a:srgbClr val="1F497D"/>
              </a:solidFill>
              <a:effectLst/>
              <a:uLnTx/>
              <a:uFillTx/>
              <a:ea typeface="Microsoft JhengHei" panose="020B0604030504040204" pitchFamily="2" charset="-120"/>
            </a:endParaRPr>
          </a:p>
        </p:txBody>
      </p:sp>
      <p:sp>
        <p:nvSpPr>
          <p:cNvPr id="29" name="橢圓 5"/>
          <p:cNvSpPr>
            <a:spLocks noChangeArrowheads="1"/>
          </p:cNvSpPr>
          <p:nvPr/>
        </p:nvSpPr>
        <p:spPr bwMode="auto">
          <a:xfrm>
            <a:off x="5020510" y="2750272"/>
            <a:ext cx="878194" cy="755413"/>
          </a:xfrm>
          <a:prstGeom prst="ellipse">
            <a:avLst/>
          </a:prstGeom>
          <a:solidFill>
            <a:srgbClr val="00B050"/>
          </a:solidFill>
          <a:ln w="9525">
            <a:noFill/>
            <a:round/>
          </a:ln>
        </p:spPr>
        <p:txBody>
          <a:bodyPr/>
          <a:lstStyle/>
          <a:p>
            <a:pPr marL="233680" marR="0" lvl="0" indent="-233680" defTabSz="914400" eaLnBrk="1" fontAlgn="auto" latinLnBrk="0" hangingPunct="1">
              <a:lnSpc>
                <a:spcPct val="95000"/>
              </a:lnSpc>
              <a:spcBef>
                <a:spcPct val="50000"/>
              </a:spcBef>
              <a:spcAft>
                <a:spcPct val="35000"/>
              </a:spcAft>
              <a:buClr>
                <a:srgbClr val="678BA8"/>
              </a:buClr>
              <a:buSzTx/>
              <a:buFont typeface="Arial" panose="020B0604020202020204" pitchFamily="34" charset="0"/>
              <a:buChar char="•"/>
              <a:defRPr/>
            </a:pPr>
            <a:endParaRPr kumimoji="0" lang="zh-TW" altLang="en-US" sz="4000" b="1" i="0" u="none" strike="noStrike" kern="0" cap="none" spc="0" normalizeH="0" baseline="0" noProof="0" dirty="0">
              <a:ln>
                <a:noFill/>
              </a:ln>
              <a:solidFill>
                <a:srgbClr val="1F497D"/>
              </a:solidFill>
              <a:effectLst/>
              <a:uLnTx/>
              <a:uFillTx/>
              <a:ea typeface="Microsoft JhengHei" panose="020B0604030504040204" pitchFamily="2" charset="-120"/>
            </a:endParaRPr>
          </a:p>
        </p:txBody>
      </p:sp>
      <p:sp>
        <p:nvSpPr>
          <p:cNvPr id="30" name="橢圓 6"/>
          <p:cNvSpPr>
            <a:spLocks noChangeArrowheads="1"/>
          </p:cNvSpPr>
          <p:nvPr/>
        </p:nvSpPr>
        <p:spPr bwMode="auto">
          <a:xfrm>
            <a:off x="5812675" y="2313710"/>
            <a:ext cx="878192" cy="757100"/>
          </a:xfrm>
          <a:prstGeom prst="ellipse">
            <a:avLst/>
          </a:prstGeom>
          <a:solidFill>
            <a:srgbClr val="0070C0"/>
          </a:solidFill>
          <a:ln w="9525">
            <a:noFill/>
            <a:round/>
          </a:ln>
        </p:spPr>
        <p:txBody>
          <a:bodyPr/>
          <a:lstStyle/>
          <a:p>
            <a:pPr marL="233680" marR="0" lvl="0" indent="-233680" defTabSz="914400" eaLnBrk="1" fontAlgn="auto" latinLnBrk="0" hangingPunct="1">
              <a:lnSpc>
                <a:spcPct val="95000"/>
              </a:lnSpc>
              <a:spcBef>
                <a:spcPct val="50000"/>
              </a:spcBef>
              <a:spcAft>
                <a:spcPct val="35000"/>
              </a:spcAft>
              <a:buClr>
                <a:srgbClr val="678BA8"/>
              </a:buClr>
              <a:buSzTx/>
              <a:buFont typeface="Arial" panose="020B0604020202020204" pitchFamily="34" charset="0"/>
              <a:buChar char="•"/>
              <a:defRPr/>
            </a:pPr>
            <a:endParaRPr kumimoji="0" lang="zh-TW" altLang="en-US" sz="4000" b="1" i="0" u="none" strike="noStrike" kern="0" cap="none" spc="0" normalizeH="0" baseline="0" noProof="0" dirty="0">
              <a:ln>
                <a:noFill/>
              </a:ln>
              <a:solidFill>
                <a:srgbClr val="1F497D"/>
              </a:solidFill>
              <a:effectLst/>
              <a:uLnTx/>
              <a:uFillTx/>
              <a:ea typeface="Microsoft JhengHei" panose="020B0604030504040204" pitchFamily="2" charset="-120"/>
            </a:endParaRPr>
          </a:p>
        </p:txBody>
      </p:sp>
      <p:sp>
        <p:nvSpPr>
          <p:cNvPr id="31" name="橢圓 7"/>
          <p:cNvSpPr>
            <a:spLocks noChangeArrowheads="1"/>
          </p:cNvSpPr>
          <p:nvPr/>
        </p:nvSpPr>
        <p:spPr bwMode="auto">
          <a:xfrm>
            <a:off x="6525460" y="2902673"/>
            <a:ext cx="878194" cy="757098"/>
          </a:xfrm>
          <a:prstGeom prst="ellipse">
            <a:avLst/>
          </a:prstGeom>
          <a:solidFill>
            <a:srgbClr val="00B050"/>
          </a:solidFill>
          <a:ln w="9525">
            <a:noFill/>
            <a:round/>
          </a:ln>
        </p:spPr>
        <p:txBody>
          <a:bodyPr/>
          <a:lstStyle/>
          <a:p>
            <a:pPr marL="233680" marR="0" lvl="0" indent="-233680" defTabSz="914400" eaLnBrk="1" fontAlgn="auto" latinLnBrk="0" hangingPunct="1">
              <a:lnSpc>
                <a:spcPct val="95000"/>
              </a:lnSpc>
              <a:spcBef>
                <a:spcPct val="50000"/>
              </a:spcBef>
              <a:spcAft>
                <a:spcPct val="35000"/>
              </a:spcAft>
              <a:buClr>
                <a:srgbClr val="678BA8"/>
              </a:buClr>
              <a:buSzTx/>
              <a:buFont typeface="Arial" panose="020B0604020202020204" pitchFamily="34" charset="0"/>
              <a:buChar char="•"/>
              <a:defRPr/>
            </a:pPr>
            <a:endParaRPr kumimoji="0" lang="zh-TW" altLang="en-US" sz="4000" b="1" i="0" u="none" strike="noStrike" kern="0" cap="none" spc="0" normalizeH="0" baseline="0" noProof="0">
              <a:ln>
                <a:noFill/>
              </a:ln>
              <a:solidFill>
                <a:srgbClr val="1F497D"/>
              </a:solidFill>
              <a:effectLst/>
              <a:uLnTx/>
              <a:uFillTx/>
              <a:ea typeface="Microsoft JhengHei" panose="020B0604030504040204" pitchFamily="2" charset="-120"/>
            </a:endParaRPr>
          </a:p>
        </p:txBody>
      </p:sp>
      <p:sp>
        <p:nvSpPr>
          <p:cNvPr id="32" name="橢圓 8"/>
          <p:cNvSpPr>
            <a:spLocks noChangeArrowheads="1"/>
          </p:cNvSpPr>
          <p:nvPr/>
        </p:nvSpPr>
        <p:spPr bwMode="auto">
          <a:xfrm>
            <a:off x="7286260" y="3505685"/>
            <a:ext cx="1128123" cy="755413"/>
          </a:xfrm>
          <a:prstGeom prst="ellipse">
            <a:avLst/>
          </a:prstGeom>
          <a:solidFill>
            <a:srgbClr val="00B050"/>
          </a:solidFill>
          <a:ln w="9525">
            <a:noFill/>
            <a:round/>
          </a:ln>
        </p:spPr>
        <p:txBody>
          <a:bodyPr/>
          <a:lstStyle/>
          <a:p>
            <a:pPr marL="233680" marR="0" lvl="0" indent="-233680" defTabSz="914400" eaLnBrk="1" fontAlgn="auto" latinLnBrk="0" hangingPunct="1">
              <a:lnSpc>
                <a:spcPct val="95000"/>
              </a:lnSpc>
              <a:spcBef>
                <a:spcPct val="50000"/>
              </a:spcBef>
              <a:spcAft>
                <a:spcPct val="35000"/>
              </a:spcAft>
              <a:buClr>
                <a:srgbClr val="678BA8"/>
              </a:buClr>
              <a:buSzTx/>
              <a:buFont typeface="Arial" panose="020B0604020202020204" pitchFamily="34" charset="0"/>
              <a:buChar char="•"/>
              <a:defRPr/>
            </a:pPr>
            <a:endParaRPr kumimoji="0" lang="zh-TW" altLang="en-US" sz="4000" b="1" i="0" u="none" strike="noStrike" kern="0" cap="none" spc="0" normalizeH="0" baseline="0" noProof="0">
              <a:ln>
                <a:noFill/>
              </a:ln>
              <a:solidFill>
                <a:srgbClr val="1F497D"/>
              </a:solidFill>
              <a:effectLst/>
              <a:uLnTx/>
              <a:uFillTx/>
              <a:ea typeface="Microsoft JhengHei" panose="020B0604030504040204" pitchFamily="2" charset="-120"/>
            </a:endParaRPr>
          </a:p>
        </p:txBody>
      </p:sp>
      <p:sp>
        <p:nvSpPr>
          <p:cNvPr id="33" name="橢圓 9"/>
          <p:cNvSpPr>
            <a:spLocks noChangeArrowheads="1"/>
          </p:cNvSpPr>
          <p:nvPr/>
        </p:nvSpPr>
        <p:spPr bwMode="auto">
          <a:xfrm>
            <a:off x="7238505" y="4428259"/>
            <a:ext cx="876237" cy="755413"/>
          </a:xfrm>
          <a:prstGeom prst="ellipse">
            <a:avLst/>
          </a:prstGeom>
          <a:solidFill>
            <a:srgbClr val="00B050"/>
          </a:solidFill>
          <a:ln w="9525">
            <a:noFill/>
            <a:round/>
          </a:ln>
        </p:spPr>
        <p:txBody>
          <a:bodyPr/>
          <a:lstStyle/>
          <a:p>
            <a:pPr marL="233680" marR="0" lvl="0" indent="-233680" defTabSz="914400" eaLnBrk="1" fontAlgn="auto" latinLnBrk="0" hangingPunct="1">
              <a:lnSpc>
                <a:spcPct val="95000"/>
              </a:lnSpc>
              <a:spcBef>
                <a:spcPct val="50000"/>
              </a:spcBef>
              <a:spcAft>
                <a:spcPct val="35000"/>
              </a:spcAft>
              <a:buClr>
                <a:srgbClr val="678BA8"/>
              </a:buClr>
              <a:buSzTx/>
              <a:buFont typeface="Arial" panose="020B0604020202020204" pitchFamily="34" charset="0"/>
              <a:buChar char="•"/>
              <a:defRPr/>
            </a:pPr>
            <a:endParaRPr kumimoji="0" lang="zh-TW" altLang="en-US" sz="4000" b="1" i="0" u="none" strike="noStrike" kern="0" cap="none" spc="0" normalizeH="0" baseline="0" noProof="0">
              <a:ln>
                <a:noFill/>
              </a:ln>
              <a:solidFill>
                <a:srgbClr val="1F497D"/>
              </a:solidFill>
              <a:effectLst/>
              <a:uLnTx/>
              <a:uFillTx/>
              <a:ea typeface="Microsoft JhengHei" panose="020B0604030504040204" pitchFamily="2" charset="-120"/>
            </a:endParaRPr>
          </a:p>
        </p:txBody>
      </p:sp>
      <p:sp>
        <p:nvSpPr>
          <p:cNvPr id="34" name="文本框 16"/>
          <p:cNvSpPr txBox="1">
            <a:spLocks noChangeArrowheads="1"/>
          </p:cNvSpPr>
          <p:nvPr/>
        </p:nvSpPr>
        <p:spPr bwMode="auto">
          <a:xfrm>
            <a:off x="7309943" y="4609422"/>
            <a:ext cx="841565" cy="424732"/>
          </a:xfrm>
          <a:prstGeom prst="rect">
            <a:avLst/>
          </a:prstGeom>
          <a:noFill/>
          <a:ln w="9525">
            <a:noFill/>
            <a:miter lim="800000"/>
          </a:ln>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1F497D"/>
                </a:solidFill>
                <a:effectLst/>
                <a:uLnTx/>
                <a:uFillTx/>
                <a:latin typeface="幼圆" panose="02010509060101010101" pitchFamily="49" charset="-122"/>
                <a:ea typeface="幼圆" panose="02010509060101010101" pitchFamily="49" charset="-122"/>
              </a:rPr>
              <a:t>专业</a:t>
            </a:r>
          </a:p>
        </p:txBody>
      </p:sp>
      <p:sp>
        <p:nvSpPr>
          <p:cNvPr id="35" name="文本框 20"/>
          <p:cNvSpPr txBox="1">
            <a:spLocks noChangeArrowheads="1"/>
          </p:cNvSpPr>
          <p:nvPr/>
        </p:nvSpPr>
        <p:spPr bwMode="auto">
          <a:xfrm>
            <a:off x="4259433" y="4421448"/>
            <a:ext cx="800264" cy="424732"/>
          </a:xfrm>
          <a:prstGeom prst="rect">
            <a:avLst/>
          </a:prstGeom>
          <a:noFill/>
          <a:ln w="9525">
            <a:noFill/>
            <a:miter lim="800000"/>
          </a:ln>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1F497D"/>
                </a:solidFill>
                <a:effectLst/>
                <a:uLnTx/>
                <a:uFillTx/>
                <a:latin typeface="幼圆" panose="02010509060101010101" pitchFamily="49" charset="-122"/>
                <a:ea typeface="幼圆" panose="02010509060101010101" pitchFamily="49" charset="-122"/>
              </a:rPr>
              <a:t>全面</a:t>
            </a:r>
          </a:p>
        </p:txBody>
      </p:sp>
      <p:sp>
        <p:nvSpPr>
          <p:cNvPr id="36" name="文本框 24"/>
          <p:cNvSpPr txBox="1">
            <a:spLocks noChangeArrowheads="1"/>
          </p:cNvSpPr>
          <p:nvPr/>
        </p:nvSpPr>
        <p:spPr bwMode="auto">
          <a:xfrm>
            <a:off x="4476312" y="3484436"/>
            <a:ext cx="800264" cy="424732"/>
          </a:xfrm>
          <a:prstGeom prst="rect">
            <a:avLst/>
          </a:prstGeom>
          <a:noFill/>
          <a:ln w="9525">
            <a:noFill/>
            <a:miter lim="800000"/>
          </a:ln>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1F497D"/>
                </a:solidFill>
                <a:effectLst/>
                <a:uLnTx/>
                <a:uFillTx/>
                <a:latin typeface="幼圆" panose="02010509060101010101" pitchFamily="49" charset="-122"/>
                <a:ea typeface="幼圆" panose="02010509060101010101" pitchFamily="49" charset="-122"/>
              </a:rPr>
              <a:t>权威</a:t>
            </a:r>
          </a:p>
        </p:txBody>
      </p:sp>
      <p:sp>
        <p:nvSpPr>
          <p:cNvPr id="37" name="文本框 25"/>
          <p:cNvSpPr txBox="1">
            <a:spLocks noChangeArrowheads="1"/>
          </p:cNvSpPr>
          <p:nvPr/>
        </p:nvSpPr>
        <p:spPr bwMode="auto">
          <a:xfrm>
            <a:off x="6603390" y="3030852"/>
            <a:ext cx="800264" cy="424732"/>
          </a:xfrm>
          <a:prstGeom prst="rect">
            <a:avLst/>
          </a:prstGeom>
          <a:noFill/>
          <a:ln w="9525">
            <a:noFill/>
            <a:miter lim="800000"/>
          </a:ln>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1F497D"/>
                </a:solidFill>
                <a:effectLst/>
                <a:uLnTx/>
                <a:uFillTx/>
                <a:latin typeface="幼圆" panose="02010509060101010101" pitchFamily="49" charset="-122"/>
                <a:ea typeface="幼圆" panose="02010509060101010101" pitchFamily="49" charset="-122"/>
              </a:rPr>
              <a:t>关联</a:t>
            </a:r>
          </a:p>
        </p:txBody>
      </p:sp>
      <p:sp>
        <p:nvSpPr>
          <p:cNvPr id="38" name="文本框 20"/>
          <p:cNvSpPr txBox="1">
            <a:spLocks noChangeArrowheads="1"/>
          </p:cNvSpPr>
          <p:nvPr/>
        </p:nvSpPr>
        <p:spPr bwMode="auto">
          <a:xfrm>
            <a:off x="5093093" y="2911696"/>
            <a:ext cx="800264" cy="424732"/>
          </a:xfrm>
          <a:prstGeom prst="rect">
            <a:avLst/>
          </a:prstGeom>
          <a:noFill/>
          <a:ln w="9525">
            <a:noFill/>
            <a:miter lim="800000"/>
          </a:ln>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1F497D"/>
                </a:solidFill>
                <a:effectLst/>
                <a:uLnTx/>
                <a:uFillTx/>
                <a:latin typeface="幼圆" panose="02010509060101010101" pitchFamily="49" charset="-122"/>
                <a:ea typeface="幼圆" panose="02010509060101010101" pitchFamily="49" charset="-122"/>
              </a:rPr>
              <a:t>准确</a:t>
            </a:r>
          </a:p>
        </p:txBody>
      </p:sp>
      <p:sp>
        <p:nvSpPr>
          <p:cNvPr id="39" name="文本框 25"/>
          <p:cNvSpPr txBox="1">
            <a:spLocks noChangeArrowheads="1"/>
          </p:cNvSpPr>
          <p:nvPr/>
        </p:nvSpPr>
        <p:spPr bwMode="auto">
          <a:xfrm>
            <a:off x="5893357" y="2471991"/>
            <a:ext cx="878192" cy="424732"/>
          </a:xfrm>
          <a:prstGeom prst="rect">
            <a:avLst/>
          </a:prstGeom>
          <a:noFill/>
          <a:ln w="9525">
            <a:noFill/>
            <a:miter lim="800000"/>
          </a:ln>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ysClr val="window" lastClr="FFFFFF"/>
                </a:solidFill>
                <a:effectLst/>
                <a:uLnTx/>
                <a:uFillTx/>
                <a:latin typeface="幼圆" panose="02010509060101010101" pitchFamily="49" charset="-122"/>
                <a:ea typeface="幼圆" panose="02010509060101010101" pitchFamily="49" charset="-122"/>
              </a:rPr>
              <a:t>特色</a:t>
            </a:r>
          </a:p>
        </p:txBody>
      </p:sp>
      <p:sp>
        <p:nvSpPr>
          <p:cNvPr id="40" name="文本框 25"/>
          <p:cNvSpPr txBox="1">
            <a:spLocks noChangeArrowheads="1"/>
          </p:cNvSpPr>
          <p:nvPr/>
        </p:nvSpPr>
        <p:spPr bwMode="auto">
          <a:xfrm>
            <a:off x="7351614" y="3680690"/>
            <a:ext cx="1014208" cy="380553"/>
          </a:xfrm>
          <a:prstGeom prst="rect">
            <a:avLst/>
          </a:prstGeom>
          <a:noFill/>
          <a:ln w="9525">
            <a:noFill/>
            <a:miter lim="800000"/>
          </a:ln>
        </p:spPr>
        <p:txBody>
          <a:bodyPr wrap="square">
            <a:spAutoFit/>
          </a:bodyPr>
          <a:lstStyle/>
          <a:p>
            <a:pPr marL="0" marR="0" lvl="0" indent="0" defTabSz="91440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1F497D"/>
                </a:solidFill>
                <a:effectLst/>
                <a:uLnTx/>
                <a:uFillTx/>
                <a:latin typeface="幼圆" panose="02010509060101010101" pitchFamily="49" charset="-122"/>
                <a:ea typeface="幼圆" panose="02010509060101010101" pitchFamily="49" charset="-122"/>
              </a:rPr>
              <a:t>多维度</a:t>
            </a:r>
          </a:p>
        </p:txBody>
      </p:sp>
      <p:sp>
        <p:nvSpPr>
          <p:cNvPr id="41" name="TextBox 40"/>
          <p:cNvSpPr txBox="1"/>
          <p:nvPr/>
        </p:nvSpPr>
        <p:spPr>
          <a:xfrm>
            <a:off x="2551557" y="4421448"/>
            <a:ext cx="1588598" cy="521970"/>
          </a:xfrm>
          <a:prstGeom prst="rect">
            <a:avLst/>
          </a:prstGeom>
          <a:noFill/>
        </p:spPr>
        <p:txBody>
          <a:bodyPr wrap="square" rtlCol="0">
            <a:spAutoFit/>
          </a:bodyPr>
          <a:lstStyle/>
          <a:p>
            <a:r>
              <a:rPr lang="zh-CN" altLang="en-US" sz="1400" b="1" i="0" dirty="0">
                <a:latin typeface="微软雅黑" panose="020B0503020204020204" pitchFamily="34" charset="-122"/>
                <a:ea typeface="微软雅黑" panose="020B0503020204020204" pitchFamily="34" charset="-122"/>
              </a:rPr>
              <a:t>标准覆盖公司全业务范围</a:t>
            </a:r>
          </a:p>
        </p:txBody>
      </p:sp>
      <p:sp>
        <p:nvSpPr>
          <p:cNvPr id="42" name="TextBox 41"/>
          <p:cNvSpPr txBox="1"/>
          <p:nvPr/>
        </p:nvSpPr>
        <p:spPr>
          <a:xfrm>
            <a:off x="2917072" y="2547590"/>
            <a:ext cx="1883403" cy="523220"/>
          </a:xfrm>
          <a:prstGeom prst="rect">
            <a:avLst/>
          </a:prstGeom>
          <a:noFill/>
        </p:spPr>
        <p:txBody>
          <a:bodyPr wrap="square" rtlCol="0">
            <a:spAutoFit/>
          </a:bodyPr>
          <a:lstStyle/>
          <a:p>
            <a:r>
              <a:rPr lang="zh-CN" altLang="en-US" sz="1400" b="1" i="0" dirty="0">
                <a:latin typeface="微软雅黑" panose="020B0503020204020204" pitchFamily="34" charset="-122"/>
                <a:ea typeface="微软雅黑" panose="020B0503020204020204" pitchFamily="34" charset="-122"/>
              </a:rPr>
              <a:t>标准包含的所有内容都务必准确</a:t>
            </a:r>
          </a:p>
        </p:txBody>
      </p:sp>
      <p:sp>
        <p:nvSpPr>
          <p:cNvPr id="43" name="TextBox 42"/>
          <p:cNvSpPr txBox="1"/>
          <p:nvPr/>
        </p:nvSpPr>
        <p:spPr>
          <a:xfrm>
            <a:off x="7537450" y="2887980"/>
            <a:ext cx="2865755" cy="306705"/>
          </a:xfrm>
          <a:prstGeom prst="rect">
            <a:avLst/>
          </a:prstGeom>
          <a:noFill/>
        </p:spPr>
        <p:txBody>
          <a:bodyPr wrap="square" rtlCol="0">
            <a:spAutoFit/>
          </a:bodyPr>
          <a:lstStyle/>
          <a:p>
            <a:r>
              <a:rPr lang="zh-CN" altLang="en-US" sz="1400" b="1" i="0" dirty="0">
                <a:latin typeface="微软雅黑" panose="020B0503020204020204" pitchFamily="34" charset="-122"/>
                <a:ea typeface="微软雅黑" panose="020B0503020204020204" pitchFamily="34" charset="-122"/>
              </a:rPr>
              <a:t>前台标准语数仓标准的关联</a:t>
            </a:r>
          </a:p>
        </p:txBody>
      </p:sp>
      <p:sp>
        <p:nvSpPr>
          <p:cNvPr id="44" name="TextBox 43"/>
          <p:cNvSpPr txBox="1"/>
          <p:nvPr/>
        </p:nvSpPr>
        <p:spPr>
          <a:xfrm>
            <a:off x="4944745" y="1830705"/>
            <a:ext cx="3392805" cy="306705"/>
          </a:xfrm>
          <a:prstGeom prst="rect">
            <a:avLst/>
          </a:prstGeom>
          <a:noFill/>
        </p:spPr>
        <p:txBody>
          <a:bodyPr wrap="square" rtlCol="0">
            <a:spAutoFit/>
          </a:bodyPr>
          <a:lstStyle/>
          <a:p>
            <a:r>
              <a:rPr lang="zh-CN" altLang="en-US" sz="1400" b="1" i="0" dirty="0">
                <a:latin typeface="微软雅黑" panose="020B0503020204020204" pitchFamily="34" charset="-122"/>
                <a:ea typeface="微软雅黑" panose="020B0503020204020204" pitchFamily="34" charset="-122"/>
              </a:rPr>
              <a:t>体现民机管理特色，形成前后台标准</a:t>
            </a:r>
          </a:p>
        </p:txBody>
      </p:sp>
      <p:sp>
        <p:nvSpPr>
          <p:cNvPr id="45" name="TextBox 44"/>
          <p:cNvSpPr txBox="1"/>
          <p:nvPr/>
        </p:nvSpPr>
        <p:spPr>
          <a:xfrm>
            <a:off x="2134697" y="3488320"/>
            <a:ext cx="2207163" cy="521970"/>
          </a:xfrm>
          <a:prstGeom prst="rect">
            <a:avLst/>
          </a:prstGeom>
          <a:noFill/>
        </p:spPr>
        <p:txBody>
          <a:bodyPr wrap="square" rtlCol="0">
            <a:spAutoFit/>
          </a:bodyPr>
          <a:lstStyle/>
          <a:p>
            <a:r>
              <a:rPr lang="zh-CN" altLang="en-US" sz="1400" b="1" i="0" dirty="0">
                <a:latin typeface="微软雅黑" panose="020B0503020204020204" pitchFamily="34" charset="-122"/>
                <a:ea typeface="微软雅黑" panose="020B0503020204020204" pitchFamily="34" charset="-122"/>
              </a:rPr>
              <a:t>标准的来源出处都明确对应标号</a:t>
            </a:r>
          </a:p>
        </p:txBody>
      </p:sp>
      <p:sp>
        <p:nvSpPr>
          <p:cNvPr id="46" name="TextBox 45"/>
          <p:cNvSpPr txBox="1"/>
          <p:nvPr/>
        </p:nvSpPr>
        <p:spPr>
          <a:xfrm>
            <a:off x="8507627" y="3733818"/>
            <a:ext cx="2098718" cy="523220"/>
          </a:xfrm>
          <a:prstGeom prst="rect">
            <a:avLst/>
          </a:prstGeom>
          <a:noFill/>
        </p:spPr>
        <p:txBody>
          <a:bodyPr wrap="square" rtlCol="0">
            <a:spAutoFit/>
          </a:bodyPr>
          <a:lstStyle/>
          <a:p>
            <a:r>
              <a:rPr lang="zh-CN" altLang="en-US" sz="1400" b="1" i="0" dirty="0">
                <a:latin typeface="微软雅黑" panose="020B0503020204020204" pitchFamily="34" charset="-122"/>
                <a:ea typeface="微软雅黑" panose="020B0503020204020204" pitchFamily="34" charset="-122"/>
              </a:rPr>
              <a:t>从多个维度描述数据标准，便于个性化定制</a:t>
            </a:r>
          </a:p>
        </p:txBody>
      </p:sp>
      <p:sp>
        <p:nvSpPr>
          <p:cNvPr id="47" name="TextBox 46"/>
          <p:cNvSpPr txBox="1"/>
          <p:nvPr/>
        </p:nvSpPr>
        <p:spPr>
          <a:xfrm>
            <a:off x="8403563" y="4651421"/>
            <a:ext cx="2202781" cy="523220"/>
          </a:xfrm>
          <a:prstGeom prst="rect">
            <a:avLst/>
          </a:prstGeom>
          <a:noFill/>
        </p:spPr>
        <p:txBody>
          <a:bodyPr wrap="square" rtlCol="0">
            <a:spAutoFit/>
          </a:bodyPr>
          <a:lstStyle/>
          <a:p>
            <a:r>
              <a:rPr lang="zh-CN" altLang="en-US" sz="1400" b="1" i="0" dirty="0">
                <a:latin typeface="微软雅黑" panose="020B0503020204020204" pitchFamily="34" charset="-122"/>
                <a:ea typeface="微软雅黑" panose="020B0503020204020204" pitchFamily="34" charset="-122"/>
              </a:rPr>
              <a:t>从标准文档的外在形式上充分体现专业性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ppt_x"/>
                                          </p:val>
                                        </p:tav>
                                        <p:tav tm="100000">
                                          <p:val>
                                            <p:strVal val="#ppt_x"/>
                                          </p:val>
                                        </p:tav>
                                      </p:tavLst>
                                    </p:anim>
                                    <p:anim calcmode="lin" valueType="num">
                                      <p:cBhvr additive="base">
                                        <p:cTn id="22" dur="500" fill="hold"/>
                                        <p:tgtEl>
                                          <p:spTgt spid="3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additive="base">
                                        <p:cTn id="29" dur="500" fill="hold"/>
                                        <p:tgtEl>
                                          <p:spTgt spid="45"/>
                                        </p:tgtEl>
                                        <p:attrNameLst>
                                          <p:attrName>ppt_x</p:attrName>
                                        </p:attrNameLst>
                                      </p:cBhvr>
                                      <p:tavLst>
                                        <p:tav tm="0">
                                          <p:val>
                                            <p:strVal val="#ppt_x"/>
                                          </p:val>
                                        </p:tav>
                                        <p:tav tm="100000">
                                          <p:val>
                                            <p:strVal val="#ppt_x"/>
                                          </p:val>
                                        </p:tav>
                                      </p:tavLst>
                                    </p:anim>
                                    <p:anim calcmode="lin" valueType="num">
                                      <p:cBhvr additive="base">
                                        <p:cTn id="30"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 calcmode="lin" valueType="num">
                                      <p:cBhvr additive="base">
                                        <p:cTn id="35" dur="500" fill="hold"/>
                                        <p:tgtEl>
                                          <p:spTgt spid="38"/>
                                        </p:tgtEl>
                                        <p:attrNameLst>
                                          <p:attrName>ppt_x</p:attrName>
                                        </p:attrNameLst>
                                      </p:cBhvr>
                                      <p:tavLst>
                                        <p:tav tm="0">
                                          <p:val>
                                            <p:strVal val="#ppt_x"/>
                                          </p:val>
                                        </p:tav>
                                        <p:tav tm="100000">
                                          <p:val>
                                            <p:strVal val="#ppt_x"/>
                                          </p:val>
                                        </p:tav>
                                      </p:tavLst>
                                    </p:anim>
                                    <p:anim calcmode="lin" valueType="num">
                                      <p:cBhvr additive="base">
                                        <p:cTn id="36" dur="500" fill="hold"/>
                                        <p:tgtEl>
                                          <p:spTgt spid="3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500" fill="hold"/>
                                        <p:tgtEl>
                                          <p:spTgt spid="29"/>
                                        </p:tgtEl>
                                        <p:attrNameLst>
                                          <p:attrName>ppt_x</p:attrName>
                                        </p:attrNameLst>
                                      </p:cBhvr>
                                      <p:tavLst>
                                        <p:tav tm="0">
                                          <p:val>
                                            <p:strVal val="#ppt_x"/>
                                          </p:val>
                                        </p:tav>
                                        <p:tav tm="100000">
                                          <p:val>
                                            <p:strVal val="#ppt_x"/>
                                          </p:val>
                                        </p:tav>
                                      </p:tavLst>
                                    </p:anim>
                                    <p:anim calcmode="lin" valueType="num">
                                      <p:cBhvr additive="base">
                                        <p:cTn id="40" dur="500" fill="hold"/>
                                        <p:tgtEl>
                                          <p:spTgt spid="2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 calcmode="lin" valueType="num">
                                      <p:cBhvr additive="base">
                                        <p:cTn id="43" dur="500" fill="hold"/>
                                        <p:tgtEl>
                                          <p:spTgt spid="42"/>
                                        </p:tgtEl>
                                        <p:attrNameLst>
                                          <p:attrName>ppt_x</p:attrName>
                                        </p:attrNameLst>
                                      </p:cBhvr>
                                      <p:tavLst>
                                        <p:tav tm="0">
                                          <p:val>
                                            <p:strVal val="#ppt_x"/>
                                          </p:val>
                                        </p:tav>
                                        <p:tav tm="100000">
                                          <p:val>
                                            <p:strVal val="#ppt_x"/>
                                          </p:val>
                                        </p:tav>
                                      </p:tavLst>
                                    </p:anim>
                                    <p:anim calcmode="lin" valueType="num">
                                      <p:cBhvr additive="base">
                                        <p:cTn id="4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fill="hold"/>
                                        <p:tgtEl>
                                          <p:spTgt spid="37"/>
                                        </p:tgtEl>
                                        <p:attrNameLst>
                                          <p:attrName>ppt_x</p:attrName>
                                        </p:attrNameLst>
                                      </p:cBhvr>
                                      <p:tavLst>
                                        <p:tav tm="0">
                                          <p:val>
                                            <p:strVal val="#ppt_x"/>
                                          </p:val>
                                        </p:tav>
                                        <p:tav tm="100000">
                                          <p:val>
                                            <p:strVal val="#ppt_x"/>
                                          </p:val>
                                        </p:tav>
                                      </p:tavLst>
                                    </p:anim>
                                    <p:anim calcmode="lin" valueType="num">
                                      <p:cBhvr additive="base">
                                        <p:cTn id="50" dur="500" fill="hold"/>
                                        <p:tgtEl>
                                          <p:spTgt spid="3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 calcmode="lin" valueType="num">
                                      <p:cBhvr additive="base">
                                        <p:cTn id="53" dur="500" fill="hold"/>
                                        <p:tgtEl>
                                          <p:spTgt spid="31"/>
                                        </p:tgtEl>
                                        <p:attrNameLst>
                                          <p:attrName>ppt_x</p:attrName>
                                        </p:attrNameLst>
                                      </p:cBhvr>
                                      <p:tavLst>
                                        <p:tav tm="0">
                                          <p:val>
                                            <p:strVal val="#ppt_x"/>
                                          </p:val>
                                        </p:tav>
                                        <p:tav tm="100000">
                                          <p:val>
                                            <p:strVal val="#ppt_x"/>
                                          </p:val>
                                        </p:tav>
                                      </p:tavLst>
                                    </p:anim>
                                    <p:anim calcmode="lin" valueType="num">
                                      <p:cBhvr additive="base">
                                        <p:cTn id="54" dur="500" fill="hold"/>
                                        <p:tgtEl>
                                          <p:spTgt spid="3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anim calcmode="lin" valueType="num">
                                      <p:cBhvr additive="base">
                                        <p:cTn id="57" dur="500" fill="hold"/>
                                        <p:tgtEl>
                                          <p:spTgt spid="43"/>
                                        </p:tgtEl>
                                        <p:attrNameLst>
                                          <p:attrName>ppt_x</p:attrName>
                                        </p:attrNameLst>
                                      </p:cBhvr>
                                      <p:tavLst>
                                        <p:tav tm="0">
                                          <p:val>
                                            <p:strVal val="#ppt_x"/>
                                          </p:val>
                                        </p:tav>
                                        <p:tav tm="100000">
                                          <p:val>
                                            <p:strVal val="#ppt_x"/>
                                          </p:val>
                                        </p:tav>
                                      </p:tavLst>
                                    </p:anim>
                                    <p:anim calcmode="lin" valueType="num">
                                      <p:cBhvr additive="base">
                                        <p:cTn id="5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anim calcmode="lin" valueType="num">
                                      <p:cBhvr additive="base">
                                        <p:cTn id="63" dur="500" fill="hold"/>
                                        <p:tgtEl>
                                          <p:spTgt spid="40"/>
                                        </p:tgtEl>
                                        <p:attrNameLst>
                                          <p:attrName>ppt_x</p:attrName>
                                        </p:attrNameLst>
                                      </p:cBhvr>
                                      <p:tavLst>
                                        <p:tav tm="0">
                                          <p:val>
                                            <p:strVal val="#ppt_x"/>
                                          </p:val>
                                        </p:tav>
                                        <p:tav tm="100000">
                                          <p:val>
                                            <p:strVal val="#ppt_x"/>
                                          </p:val>
                                        </p:tav>
                                      </p:tavLst>
                                    </p:anim>
                                    <p:anim calcmode="lin" valueType="num">
                                      <p:cBhvr additive="base">
                                        <p:cTn id="64" dur="500" fill="hold"/>
                                        <p:tgtEl>
                                          <p:spTgt spid="40"/>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500" fill="hold"/>
                                        <p:tgtEl>
                                          <p:spTgt spid="32"/>
                                        </p:tgtEl>
                                        <p:attrNameLst>
                                          <p:attrName>ppt_x</p:attrName>
                                        </p:attrNameLst>
                                      </p:cBhvr>
                                      <p:tavLst>
                                        <p:tav tm="0">
                                          <p:val>
                                            <p:strVal val="#ppt_x"/>
                                          </p:val>
                                        </p:tav>
                                        <p:tav tm="100000">
                                          <p:val>
                                            <p:strVal val="#ppt_x"/>
                                          </p:val>
                                        </p:tav>
                                      </p:tavLst>
                                    </p:anim>
                                    <p:anim calcmode="lin" valueType="num">
                                      <p:cBhvr additive="base">
                                        <p:cTn id="68" dur="500" fill="hold"/>
                                        <p:tgtEl>
                                          <p:spTgt spid="32"/>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anim calcmode="lin" valueType="num">
                                      <p:cBhvr additive="base">
                                        <p:cTn id="71" dur="500" fill="hold"/>
                                        <p:tgtEl>
                                          <p:spTgt spid="46"/>
                                        </p:tgtEl>
                                        <p:attrNameLst>
                                          <p:attrName>ppt_x</p:attrName>
                                        </p:attrNameLst>
                                      </p:cBhvr>
                                      <p:tavLst>
                                        <p:tav tm="0">
                                          <p:val>
                                            <p:strVal val="#ppt_x"/>
                                          </p:val>
                                        </p:tav>
                                        <p:tav tm="100000">
                                          <p:val>
                                            <p:strVal val="#ppt_x"/>
                                          </p:val>
                                        </p:tav>
                                      </p:tavLst>
                                    </p:anim>
                                    <p:anim calcmode="lin" valueType="num">
                                      <p:cBhvr additive="base">
                                        <p:cTn id="7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4"/>
                                        </p:tgtEl>
                                        <p:attrNameLst>
                                          <p:attrName>style.visibility</p:attrName>
                                        </p:attrNameLst>
                                      </p:cBhvr>
                                      <p:to>
                                        <p:strVal val="visible"/>
                                      </p:to>
                                    </p:set>
                                    <p:anim calcmode="lin" valueType="num">
                                      <p:cBhvr additive="base">
                                        <p:cTn id="77" dur="500" fill="hold"/>
                                        <p:tgtEl>
                                          <p:spTgt spid="34"/>
                                        </p:tgtEl>
                                        <p:attrNameLst>
                                          <p:attrName>ppt_x</p:attrName>
                                        </p:attrNameLst>
                                      </p:cBhvr>
                                      <p:tavLst>
                                        <p:tav tm="0">
                                          <p:val>
                                            <p:strVal val="#ppt_x"/>
                                          </p:val>
                                        </p:tav>
                                        <p:tav tm="100000">
                                          <p:val>
                                            <p:strVal val="#ppt_x"/>
                                          </p:val>
                                        </p:tav>
                                      </p:tavLst>
                                    </p:anim>
                                    <p:anim calcmode="lin" valueType="num">
                                      <p:cBhvr additive="base">
                                        <p:cTn id="78" dur="500" fill="hold"/>
                                        <p:tgtEl>
                                          <p:spTgt spid="3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500" fill="hold"/>
                                        <p:tgtEl>
                                          <p:spTgt spid="33"/>
                                        </p:tgtEl>
                                        <p:attrNameLst>
                                          <p:attrName>ppt_x</p:attrName>
                                        </p:attrNameLst>
                                      </p:cBhvr>
                                      <p:tavLst>
                                        <p:tav tm="0">
                                          <p:val>
                                            <p:strVal val="#ppt_x"/>
                                          </p:val>
                                        </p:tav>
                                        <p:tav tm="100000">
                                          <p:val>
                                            <p:strVal val="#ppt_x"/>
                                          </p:val>
                                        </p:tav>
                                      </p:tavLst>
                                    </p:anim>
                                    <p:anim calcmode="lin" valueType="num">
                                      <p:cBhvr additive="base">
                                        <p:cTn id="82" dur="500" fill="hold"/>
                                        <p:tgtEl>
                                          <p:spTgt spid="33"/>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anim calcmode="lin" valueType="num">
                                      <p:cBhvr additive="base">
                                        <p:cTn id="85" dur="500" fill="hold"/>
                                        <p:tgtEl>
                                          <p:spTgt spid="47"/>
                                        </p:tgtEl>
                                        <p:attrNameLst>
                                          <p:attrName>ppt_x</p:attrName>
                                        </p:attrNameLst>
                                      </p:cBhvr>
                                      <p:tavLst>
                                        <p:tav tm="0">
                                          <p:val>
                                            <p:strVal val="#ppt_x"/>
                                          </p:val>
                                        </p:tav>
                                        <p:tav tm="100000">
                                          <p:val>
                                            <p:strVal val="#ppt_x"/>
                                          </p:val>
                                        </p:tav>
                                      </p:tavLst>
                                    </p:anim>
                                    <p:anim calcmode="lin" valueType="num">
                                      <p:cBhvr additive="base">
                                        <p:cTn id="8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6" presetClass="entr" presetSubtype="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wipe(down)">
                                      <p:cBhvr>
                                        <p:cTn id="91" dur="580">
                                          <p:stCondLst>
                                            <p:cond delay="0"/>
                                          </p:stCondLst>
                                        </p:cTn>
                                        <p:tgtEl>
                                          <p:spTgt spid="30"/>
                                        </p:tgtEl>
                                      </p:cBhvr>
                                    </p:animEffect>
                                    <p:anim calcmode="lin" valueType="num">
                                      <p:cBhvr>
                                        <p:cTn id="92"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97" dur="26">
                                          <p:stCondLst>
                                            <p:cond delay="650"/>
                                          </p:stCondLst>
                                        </p:cTn>
                                        <p:tgtEl>
                                          <p:spTgt spid="30"/>
                                        </p:tgtEl>
                                      </p:cBhvr>
                                      <p:to x="100000" y="60000"/>
                                    </p:animScale>
                                    <p:animScale>
                                      <p:cBhvr>
                                        <p:cTn id="98" dur="166" decel="50000">
                                          <p:stCondLst>
                                            <p:cond delay="676"/>
                                          </p:stCondLst>
                                        </p:cTn>
                                        <p:tgtEl>
                                          <p:spTgt spid="30"/>
                                        </p:tgtEl>
                                      </p:cBhvr>
                                      <p:to x="100000" y="100000"/>
                                    </p:animScale>
                                    <p:animScale>
                                      <p:cBhvr>
                                        <p:cTn id="99" dur="26">
                                          <p:stCondLst>
                                            <p:cond delay="1312"/>
                                          </p:stCondLst>
                                        </p:cTn>
                                        <p:tgtEl>
                                          <p:spTgt spid="30"/>
                                        </p:tgtEl>
                                      </p:cBhvr>
                                      <p:to x="100000" y="80000"/>
                                    </p:animScale>
                                    <p:animScale>
                                      <p:cBhvr>
                                        <p:cTn id="100" dur="166" decel="50000">
                                          <p:stCondLst>
                                            <p:cond delay="1338"/>
                                          </p:stCondLst>
                                        </p:cTn>
                                        <p:tgtEl>
                                          <p:spTgt spid="30"/>
                                        </p:tgtEl>
                                      </p:cBhvr>
                                      <p:to x="100000" y="100000"/>
                                    </p:animScale>
                                    <p:animScale>
                                      <p:cBhvr>
                                        <p:cTn id="101" dur="26">
                                          <p:stCondLst>
                                            <p:cond delay="1642"/>
                                          </p:stCondLst>
                                        </p:cTn>
                                        <p:tgtEl>
                                          <p:spTgt spid="30"/>
                                        </p:tgtEl>
                                      </p:cBhvr>
                                      <p:to x="100000" y="90000"/>
                                    </p:animScale>
                                    <p:animScale>
                                      <p:cBhvr>
                                        <p:cTn id="102" dur="166" decel="50000">
                                          <p:stCondLst>
                                            <p:cond delay="1668"/>
                                          </p:stCondLst>
                                        </p:cTn>
                                        <p:tgtEl>
                                          <p:spTgt spid="30"/>
                                        </p:tgtEl>
                                      </p:cBhvr>
                                      <p:to x="100000" y="100000"/>
                                    </p:animScale>
                                    <p:animScale>
                                      <p:cBhvr>
                                        <p:cTn id="103" dur="26">
                                          <p:stCondLst>
                                            <p:cond delay="1808"/>
                                          </p:stCondLst>
                                        </p:cTn>
                                        <p:tgtEl>
                                          <p:spTgt spid="30"/>
                                        </p:tgtEl>
                                      </p:cBhvr>
                                      <p:to x="100000" y="95000"/>
                                    </p:animScale>
                                    <p:animScale>
                                      <p:cBhvr>
                                        <p:cTn id="104" dur="166" decel="50000">
                                          <p:stCondLst>
                                            <p:cond delay="1834"/>
                                          </p:stCondLst>
                                        </p:cTn>
                                        <p:tgtEl>
                                          <p:spTgt spid="30"/>
                                        </p:tgtEl>
                                      </p:cBhvr>
                                      <p:to x="100000" y="100000"/>
                                    </p:animScale>
                                  </p:childTnLst>
                                </p:cTn>
                              </p:par>
                              <p:par>
                                <p:cTn id="105" presetID="26"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wipe(down)">
                                      <p:cBhvr>
                                        <p:cTn id="107" dur="580">
                                          <p:stCondLst>
                                            <p:cond delay="0"/>
                                          </p:stCondLst>
                                        </p:cTn>
                                        <p:tgtEl>
                                          <p:spTgt spid="39"/>
                                        </p:tgtEl>
                                      </p:cBhvr>
                                    </p:animEffect>
                                    <p:anim calcmode="lin" valueType="num">
                                      <p:cBhvr>
                                        <p:cTn id="108"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109"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110"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111"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112"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113" dur="26">
                                          <p:stCondLst>
                                            <p:cond delay="650"/>
                                          </p:stCondLst>
                                        </p:cTn>
                                        <p:tgtEl>
                                          <p:spTgt spid="39"/>
                                        </p:tgtEl>
                                      </p:cBhvr>
                                      <p:to x="100000" y="60000"/>
                                    </p:animScale>
                                    <p:animScale>
                                      <p:cBhvr>
                                        <p:cTn id="114" dur="166" decel="50000">
                                          <p:stCondLst>
                                            <p:cond delay="676"/>
                                          </p:stCondLst>
                                        </p:cTn>
                                        <p:tgtEl>
                                          <p:spTgt spid="39"/>
                                        </p:tgtEl>
                                      </p:cBhvr>
                                      <p:to x="100000" y="100000"/>
                                    </p:animScale>
                                    <p:animScale>
                                      <p:cBhvr>
                                        <p:cTn id="115" dur="26">
                                          <p:stCondLst>
                                            <p:cond delay="1312"/>
                                          </p:stCondLst>
                                        </p:cTn>
                                        <p:tgtEl>
                                          <p:spTgt spid="39"/>
                                        </p:tgtEl>
                                      </p:cBhvr>
                                      <p:to x="100000" y="80000"/>
                                    </p:animScale>
                                    <p:animScale>
                                      <p:cBhvr>
                                        <p:cTn id="116" dur="166" decel="50000">
                                          <p:stCondLst>
                                            <p:cond delay="1338"/>
                                          </p:stCondLst>
                                        </p:cTn>
                                        <p:tgtEl>
                                          <p:spTgt spid="39"/>
                                        </p:tgtEl>
                                      </p:cBhvr>
                                      <p:to x="100000" y="100000"/>
                                    </p:animScale>
                                    <p:animScale>
                                      <p:cBhvr>
                                        <p:cTn id="117" dur="26">
                                          <p:stCondLst>
                                            <p:cond delay="1642"/>
                                          </p:stCondLst>
                                        </p:cTn>
                                        <p:tgtEl>
                                          <p:spTgt spid="39"/>
                                        </p:tgtEl>
                                      </p:cBhvr>
                                      <p:to x="100000" y="90000"/>
                                    </p:animScale>
                                    <p:animScale>
                                      <p:cBhvr>
                                        <p:cTn id="118" dur="166" decel="50000">
                                          <p:stCondLst>
                                            <p:cond delay="1668"/>
                                          </p:stCondLst>
                                        </p:cTn>
                                        <p:tgtEl>
                                          <p:spTgt spid="39"/>
                                        </p:tgtEl>
                                      </p:cBhvr>
                                      <p:to x="100000" y="100000"/>
                                    </p:animScale>
                                    <p:animScale>
                                      <p:cBhvr>
                                        <p:cTn id="119" dur="26">
                                          <p:stCondLst>
                                            <p:cond delay="1808"/>
                                          </p:stCondLst>
                                        </p:cTn>
                                        <p:tgtEl>
                                          <p:spTgt spid="39"/>
                                        </p:tgtEl>
                                      </p:cBhvr>
                                      <p:to x="100000" y="95000"/>
                                    </p:animScale>
                                    <p:animScale>
                                      <p:cBhvr>
                                        <p:cTn id="120" dur="166" decel="50000">
                                          <p:stCondLst>
                                            <p:cond delay="1834"/>
                                          </p:stCondLst>
                                        </p:cTn>
                                        <p:tgtEl>
                                          <p:spTgt spid="39"/>
                                        </p:tgtEl>
                                      </p:cBhvr>
                                      <p:to x="100000" y="100000"/>
                                    </p:animScale>
                                  </p:childTnLst>
                                </p:cTn>
                              </p:par>
                              <p:par>
                                <p:cTn id="121" presetID="26"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wipe(down)">
                                      <p:cBhvr>
                                        <p:cTn id="123" dur="580">
                                          <p:stCondLst>
                                            <p:cond delay="0"/>
                                          </p:stCondLst>
                                        </p:cTn>
                                        <p:tgtEl>
                                          <p:spTgt spid="44"/>
                                        </p:tgtEl>
                                      </p:cBhvr>
                                    </p:animEffect>
                                    <p:anim calcmode="lin" valueType="num">
                                      <p:cBhvr>
                                        <p:cTn id="124"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125"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126"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127"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128"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129" dur="26">
                                          <p:stCondLst>
                                            <p:cond delay="650"/>
                                          </p:stCondLst>
                                        </p:cTn>
                                        <p:tgtEl>
                                          <p:spTgt spid="44"/>
                                        </p:tgtEl>
                                      </p:cBhvr>
                                      <p:to x="100000" y="60000"/>
                                    </p:animScale>
                                    <p:animScale>
                                      <p:cBhvr>
                                        <p:cTn id="130" dur="166" decel="50000">
                                          <p:stCondLst>
                                            <p:cond delay="676"/>
                                          </p:stCondLst>
                                        </p:cTn>
                                        <p:tgtEl>
                                          <p:spTgt spid="44"/>
                                        </p:tgtEl>
                                      </p:cBhvr>
                                      <p:to x="100000" y="100000"/>
                                    </p:animScale>
                                    <p:animScale>
                                      <p:cBhvr>
                                        <p:cTn id="131" dur="26">
                                          <p:stCondLst>
                                            <p:cond delay="1312"/>
                                          </p:stCondLst>
                                        </p:cTn>
                                        <p:tgtEl>
                                          <p:spTgt spid="44"/>
                                        </p:tgtEl>
                                      </p:cBhvr>
                                      <p:to x="100000" y="80000"/>
                                    </p:animScale>
                                    <p:animScale>
                                      <p:cBhvr>
                                        <p:cTn id="132" dur="166" decel="50000">
                                          <p:stCondLst>
                                            <p:cond delay="1338"/>
                                          </p:stCondLst>
                                        </p:cTn>
                                        <p:tgtEl>
                                          <p:spTgt spid="44"/>
                                        </p:tgtEl>
                                      </p:cBhvr>
                                      <p:to x="100000" y="100000"/>
                                    </p:animScale>
                                    <p:animScale>
                                      <p:cBhvr>
                                        <p:cTn id="133" dur="26">
                                          <p:stCondLst>
                                            <p:cond delay="1642"/>
                                          </p:stCondLst>
                                        </p:cTn>
                                        <p:tgtEl>
                                          <p:spTgt spid="44"/>
                                        </p:tgtEl>
                                      </p:cBhvr>
                                      <p:to x="100000" y="90000"/>
                                    </p:animScale>
                                    <p:animScale>
                                      <p:cBhvr>
                                        <p:cTn id="134" dur="166" decel="50000">
                                          <p:stCondLst>
                                            <p:cond delay="1668"/>
                                          </p:stCondLst>
                                        </p:cTn>
                                        <p:tgtEl>
                                          <p:spTgt spid="44"/>
                                        </p:tgtEl>
                                      </p:cBhvr>
                                      <p:to x="100000" y="100000"/>
                                    </p:animScale>
                                    <p:animScale>
                                      <p:cBhvr>
                                        <p:cTn id="135" dur="26">
                                          <p:stCondLst>
                                            <p:cond delay="1808"/>
                                          </p:stCondLst>
                                        </p:cTn>
                                        <p:tgtEl>
                                          <p:spTgt spid="44"/>
                                        </p:tgtEl>
                                      </p:cBhvr>
                                      <p:to x="100000" y="95000"/>
                                    </p:animScale>
                                    <p:animScale>
                                      <p:cBhvr>
                                        <p:cTn id="136" dur="166" decel="50000">
                                          <p:stCondLst>
                                            <p:cond delay="1834"/>
                                          </p:stCondLst>
                                        </p:cTn>
                                        <p:tgtEl>
                                          <p:spTgt spid="4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8" grpId="0" bldLvl="0" animBg="1"/>
      <p:bldP spid="29" grpId="0" bldLvl="0" animBg="1"/>
      <p:bldP spid="30" grpId="0" bldLvl="0" animBg="1"/>
      <p:bldP spid="31" grpId="0" bldLvl="0" animBg="1"/>
      <p:bldP spid="32" grpId="0" bldLvl="0" animBg="1"/>
      <p:bldP spid="33" grpId="0" bldLvl="0" animBg="1"/>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custDataLst>
              <p:tags r:id="rId2"/>
            </p:custDataLst>
          </p:nvPr>
        </p:nvSpPr>
        <p:spPr>
          <a:xfrm>
            <a:off x="3215640" y="2493010"/>
            <a:ext cx="5968365" cy="1524635"/>
          </a:xfrm>
        </p:spPr>
        <p:txBody>
          <a:bodyPr>
            <a:normAutofit/>
          </a:bodyPr>
          <a:lstStyle/>
          <a:p>
            <a:pPr marL="0" indent="0" algn="ctr">
              <a:lnSpc>
                <a:spcPct val="100000"/>
              </a:lnSpc>
              <a:spcBef>
                <a:spcPts val="0"/>
              </a:spcBef>
              <a:spcAft>
                <a:spcPts val="0"/>
              </a:spcAft>
              <a:buSzPct val="100000"/>
            </a:pPr>
            <a:r>
              <a:rPr lang="zh-CN" altLang="en-US" sz="7900"/>
              <a:t>谢谢</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07,4364924,20362234,4364903,4695728,19951219,19951220,20042469,20482036],&quot;29&quot;:[50000086,50000077,50000076],&quot;70&quot;:[3321502]}"/>
</p:tagLst>
</file>

<file path=ppt/tags/tag2.xml><?xml version="1.0" encoding="utf-8"?>
<p:tagLst xmlns:a="http://schemas.openxmlformats.org/drawingml/2006/main" xmlns:r="http://schemas.openxmlformats.org/officeDocument/2006/relationships" xmlns:p="http://schemas.openxmlformats.org/presentationml/2006/main">
  <p:tag name="MASTERZORDER" val="4"/>
  <p:tag name="KSO_WM_UNIT_TYPE" val="i"/>
  <p:tag name="KSO_WM_UNIT_INDEX" val="1"/>
  <p:tag name="KSO_WM_UNIT_ID" val="_0*i*1"/>
  <p:tag name="KSO_WM_BEAUTIFY_FLAG" val="#wm#"/>
  <p:tag name="KSO_WM_TAG_VERSION" val="3.0"/>
  <p:tag name="KSO_WM_UNIT_LAYERLEVEL" val="1"/>
  <p:tag name="KSO_WM_TEMPLATE_CATEGORY" val="custom"/>
  <p:tag name="KSO_WM_TEMPLATE_USER_THEME" val="1"/>
</p:tagLst>
</file>

<file path=ppt/tags/tag3.xml><?xml version="1.0" encoding="utf-8"?>
<p:tagLst xmlns:a="http://schemas.openxmlformats.org/drawingml/2006/main" xmlns:r="http://schemas.openxmlformats.org/officeDocument/2006/relationships" xmlns:p="http://schemas.openxmlformats.org/presentationml/2006/main">
  <p:tag name="LAYOUTZORDER" val="1"/>
  <p:tag name="KSO_WM_UNIT_TYPE" val="i"/>
  <p:tag name="KSO_WM_UNIT_INDEX" val="2"/>
  <p:tag name="KSO_WM_UNIT_ID" val="_0*i*2"/>
  <p:tag name="KSO_WM_BEAUTIFY_FLAG" val="#wm#"/>
  <p:tag name="KSO_WM_TAG_VERSION" val="3.0"/>
  <p:tag name="KSO_WM_UNIT_LAYERLEVEL" val="1"/>
  <p:tag name="KSO_WM_TEMPLATE_CATEGORY" val="custom"/>
  <p:tag name="KSO_WM_TEMPLATE_USER_THEME" val="1"/>
</p:tagLst>
</file>

<file path=ppt/tags/tag4.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KSO_WM_UNIT_ID" val="_0*i*3"/>
  <p:tag name="KSO_WM_UNIT_LAYERLEVEL" val="1"/>
  <p:tag name="KSO_WM_TEMPLATE_CATEGORY" val="custom"/>
  <p:tag name="KSO_WM_TEMPLATE_USER_THEME" val="1"/>
</p:tagLst>
</file>

<file path=ppt/tags/tag5.xml><?xml version="1.0" encoding="utf-8"?>
<p:tagLst xmlns:a="http://schemas.openxmlformats.org/drawingml/2006/main" xmlns:r="http://schemas.openxmlformats.org/officeDocument/2006/relationships" xmlns:p="http://schemas.openxmlformats.org/presentationml/2006/main">
  <p:tag name="KSO_WM_UNIT_TYPE" val="i"/>
  <p:tag name="KSO_WM_UNIT_INDEX" val="4"/>
  <p:tag name="KSO_WM_BEAUTIFY_FLAG" val="#wm#"/>
  <p:tag name="KSO_WM_TAG_VERSION" val="3.0"/>
  <p:tag name="KSO_WM_UNIT_ID" val="_0*i*4"/>
  <p:tag name="KSO_WM_UNIT_LAYERLEVEL" val="1"/>
  <p:tag name="KSO_WM_TEMPLATE_CATEGORY" val="custom"/>
  <p:tag name="KSO_WM_TEMPLATE_USER_THEME" val="1"/>
</p:tagLst>
</file>

<file path=ppt/tags/tag6.xml><?xml version="1.0" encoding="utf-8"?>
<p:tagLst xmlns:a="http://schemas.openxmlformats.org/drawingml/2006/main" xmlns:r="http://schemas.openxmlformats.org/officeDocument/2006/relationships" xmlns:p="http://schemas.openxmlformats.org/presentationml/2006/main">
  <p:tag name="KSO_WM_UNIT_TYPE" val="i"/>
  <p:tag name="KSO_WM_UNIT_INDEX" val="5"/>
  <p:tag name="KSO_WM_BEAUTIFY_FLAG" val="#wm#"/>
  <p:tag name="KSO_WM_TAG_VERSION" val="3.0"/>
  <p:tag name="KSO_WM_UNIT_ID" val="_0*i*5"/>
  <p:tag name="KSO_WM_UNIT_LAYERLEVEL" val="1"/>
  <p:tag name="KSO_WM_TEMPLATE_CATEGORY" val="custom"/>
  <p:tag name="KSO_WM_TEMPLATE_USER_THEME" val="1"/>
</p:tagLst>
</file>

<file path=ppt/tags/tag7.xml><?xml version="1.0" encoding="utf-8"?>
<p:tagLst xmlns:a="http://schemas.openxmlformats.org/drawingml/2006/main" xmlns:r="http://schemas.openxmlformats.org/officeDocument/2006/relationships" xmlns:p="http://schemas.openxmlformats.org/presentationml/2006/main">
  <p:tag name="KSO_WM_UNIT_TYPE" val="i"/>
  <p:tag name="KSO_WM_UNIT_INDEX" val="6"/>
  <p:tag name="KSO_WM_BEAUTIFY_FLAG" val="#wm#"/>
  <p:tag name="KSO_WM_TAG_VERSION" val="3.0"/>
  <p:tag name="KSO_WM_UNIT_ID" val="_0*i*6"/>
  <p:tag name="KSO_WM_UNIT_LAYERLEVEL" val="1"/>
  <p:tag name="KSO_WM_TEMPLATE_CATEGORY" val="custom"/>
  <p:tag name="KSO_WM_TEMPLATE_USER_THEME" val="1"/>
</p:tagLst>
</file>

<file path=ppt/tags/tag8.xml><?xml version="1.0" encoding="utf-8"?>
<p:tagLst xmlns:a="http://schemas.openxmlformats.org/drawingml/2006/main" xmlns:r="http://schemas.openxmlformats.org/officeDocument/2006/relationships" xmlns:p="http://schemas.openxmlformats.org/presentationml/2006/main">
  <p:tag name="KSO_WM_UNIT_TYPE" val="i"/>
  <p:tag name="KSO_WM_UNIT_INDEX" val="7"/>
  <p:tag name="KSO_WM_BEAUTIFY_FLAG" val="#wm#"/>
  <p:tag name="KSO_WM_TAG_VERSION" val="3.0"/>
  <p:tag name="KSO_WM_UNIT_ID" val="_0*i*7"/>
  <p:tag name="KSO_WM_UNIT_LAYERLEVEL" val="1"/>
  <p:tag name="KSO_WM_TEMPLATE_CATEGORY" val="custom"/>
  <p:tag name="KSO_WM_TEMPLATE_USER_THEME" val="1"/>
</p:tagLst>
</file>

<file path=ppt/tags/tag9.xml><?xml version="1.0" encoding="utf-8"?>
<p:tagLst xmlns:a="http://schemas.openxmlformats.org/drawingml/2006/main" xmlns:r="http://schemas.openxmlformats.org/officeDocument/2006/relationships" xmlns:p="http://schemas.openxmlformats.org/presentationml/2006/main">
  <p:tag name="KSO_WM_UNIT_TYPE" val="i"/>
  <p:tag name="KSO_WM_UNIT_INDEX" val="8"/>
  <p:tag name="KSO_WM_BEAUTIFY_FLAG" val="#wm#"/>
  <p:tag name="KSO_WM_TAG_VERSION" val="3.0"/>
  <p:tag name="KSO_WM_UNIT_ID" val="_0*i*8"/>
  <p:tag name="KSO_WM_UNIT_LAYERLEVEL" val="1"/>
  <p:tag name="KSO_WM_TEMPLATE_CATEGORY" val="custom"/>
  <p:tag name="KSO_WM_TEMPLATE_USER_THEME" val="1"/>
</p:tagLst>
</file>

<file path=ppt/tags/tag10.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11.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12.xml><?xml version="1.0" encoding="utf-8"?>
<p:tagLst xmlns:a="http://schemas.openxmlformats.org/drawingml/2006/main" xmlns:r="http://schemas.openxmlformats.org/officeDocument/2006/relationships"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13.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Lst>
</file>

<file path=ppt/tags/tag14.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Lst>
</file>

<file path=ppt/tags/tag15.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1**"/>
  <p:tag name="KSO_WM_UNIT_LAYERLEVEL" val="1"/>
  <p:tag name="KSO_WM_TEMPLATE_CATEGORY" val="custom"/>
  <p:tag name="KSO_WM_TEMPLATE_USER_THEME" val="1"/>
</p:tagLst>
</file>

<file path=ppt/tags/tag16.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4"/>
  <p:tag name="KSO_WM_UNIT_ID" val="_1**"/>
  <p:tag name="KSO_WM_UNIT_LAYERLEVEL" val="1"/>
  <p:tag name="KSO_WM_TEMPLATE_CATEGORY" val="custom"/>
  <p:tag name="KSO_WM_TEMPLATE_USER_THEME" val="1"/>
</p:tagLst>
</file>

<file path=ppt/tags/tag17.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LAYOUTZORDER" val="5"/>
  <p:tag name="KSO_WM_UNIT_ID" val="_1**"/>
  <p:tag name="KSO_WM_UNIT_LAYERLEVEL" val="1"/>
  <p:tag name="KSO_WM_TEMPLATE_CATEGORY" val="custom"/>
  <p:tag name="KSO_WM_TEMPLATE_USER_THEME" val="1"/>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 name="KSO_WM_TEMPLATE_CATEGORY" val="custom"/>
  <p:tag name="KSO_WM_TEMPLATE_USER_THEM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21.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2*f*1"/>
  <p:tag name="KSO_WM_BEAUTIFY_FLAG" val="#wm#"/>
  <p:tag name="KSO_WM_TAG_VERSION" val="3.0"/>
  <p:tag name="KSO_WM_UNIT_LAYERLEVEL" val="1"/>
  <p:tag name="KSO_WM_TEMPLATE_CATEGORY" val="custom"/>
  <p:tag name="KSO_WM_TEMPLATE_USER_THEME" val="1"/>
</p:tagLst>
</file>

<file path=ppt/tags/tag22.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23.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24.xml><?xml version="1.0" encoding="utf-8"?>
<p:tagLst xmlns:a="http://schemas.openxmlformats.org/drawingml/2006/main" xmlns:r="http://schemas.openxmlformats.org/officeDocument/2006/relationships"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2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2*a*1"/>
  <p:tag name="KSO_WM_BEAUTIFY_FLAG" val="#wm#"/>
  <p:tag name="KSO_WM_TAG_VERSION" val="3.0"/>
  <p:tag name="KSO_WM_UNIT_LAYERLEVEL" val="1"/>
  <p:tag name="KSO_WM_TEMPLATE_CATEGORY" val="custom"/>
  <p:tag name="KSO_WM_TEMPLATE_USER_THEME" val="1"/>
</p:tagLst>
</file>

<file path=ppt/tags/tag26.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KSO_WM_UNIT_ISCONTENTSTITLE" val="1"/>
  <p:tag name="LAYOUTZORDER" val="2"/>
  <p:tag name="KSO_WM_UNIT_ID" val="_3**"/>
  <p:tag name="KSO_WM_UNIT_LAYERLEVEL" val="1"/>
  <p:tag name="KSO_WM_TEMPLATE_CATEGORY" val="custom"/>
  <p:tag name="KSO_WM_TEMPLATE_USER_THEM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31.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4**"/>
  <p:tag name="KSO_WM_UNIT_LAYERLEVEL" val="1"/>
  <p:tag name="KSO_WM_TEMPLATE_CATEGORY" val="custom"/>
  <p:tag name="KSO_WM_TEMPLATE_USER_THEM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ID" val="_4**"/>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 name="KSO_WM_TEMPLATE_CATEGORY" val="custom"/>
  <p:tag name="KSO_WM_TEMPLATE_USER_THEM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PRESET_TEXT" val="单击此处编辑副标题"/>
  <p:tag name="KSO_WM_UNIT_NOCLEAR" val="0"/>
  <p:tag name="KSO_WM_UNIT_TYPE" val="b"/>
  <p:tag name="KSO_WM_UNIT_INDEX" val="1"/>
  <p:tag name="KSO_WM_UNIT_ISCONTENTSTITLE" val="0"/>
  <p:tag name="KSO_WM_UNIT_ISNUMDGMTITLE" val="0"/>
  <p:tag name="KSO_WM_TEMPLATE_CATEGORY" val="custom"/>
  <p:tag name="KSO_WM_TEMPLATE_USER_THEM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 name="KSO_WM_TEMPLATE_CATEGORY" val="custom"/>
  <p:tag name="KSO_WM_TEMPLATE_USER_THEME" val="1"/>
</p:tagLst>
</file>

<file path=ppt/tags/tag38.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5*f*1"/>
  <p:tag name="KSO_WM_BEAUTIFY_FLAG" val="#wm#"/>
  <p:tag name="KSO_WM_TAG_VERSION" val="3.0"/>
  <p:tag name="KSO_WM_UNIT_LAYERLEVEL" val="1"/>
  <p:tag name="KSO_WM_TEMPLATE_CATEGORY" val="custom"/>
  <p:tag name="KSO_WM_TEMPLATE_USER_THEME" val="1"/>
</p:tagLst>
</file>

<file path=ppt/tags/tag39.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5*f*2"/>
  <p:tag name="KSO_WM_BEAUTIFY_FLAG" val="#wm#"/>
  <p:tag name="KSO_WM_TAG_VERSION" val="3.0"/>
  <p:tag name="KSO_WM_UNIT_LAYERLEVEL" val="1"/>
  <p:tag name="KSO_WM_TEMPLATE_CATEGORY" val="custom"/>
  <p:tag name="KSO_WM_TEMPLATE_USER_THEME" val="1"/>
</p:tagLst>
</file>

<file path=ppt/tags/tag40.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41.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42.xml><?xml version="1.0" encoding="utf-8"?>
<p:tagLst xmlns:a="http://schemas.openxmlformats.org/drawingml/2006/main" xmlns:r="http://schemas.openxmlformats.org/officeDocument/2006/relationships"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43.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Lst>
</file>

<file path=ppt/tags/tag44.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6*f*1"/>
  <p:tag name="KSO_WM_BEAUTIFY_FLAG" val="#wm#"/>
  <p:tag name="KSO_WM_TAG_VERSION" val="3.0"/>
  <p:tag name="KSO_WM_UNIT_LAYERLEVEL" val="1"/>
  <p:tag name="KSO_WM_TEMPLATE_CATEGORY" val="custom"/>
  <p:tag name="KSO_WM_TEMPLATE_USER_THEME" val="1"/>
</p:tagLst>
</file>

<file path=ppt/tags/tag45.xml><?xml version="1.0" encoding="utf-8"?>
<p:tagLst xmlns:a="http://schemas.openxmlformats.org/drawingml/2006/main" xmlns:r="http://schemas.openxmlformats.org/officeDocument/2006/relationships" xmlns:p="http://schemas.openxmlformats.org/presentationml/2006/main">
  <p:tag name="KSO_WM_UNIT_TYPE" val="f"/>
  <p:tag name="KSO_WM_UNIT_INDEX" val="2"/>
  <p:tag name="KSO_WM_UNIT_ID" val="_6*f*2"/>
  <p:tag name="KSO_WM_BEAUTIFY_FLAG" val="#wm#"/>
  <p:tag name="KSO_WM_TAG_VERSION" val="3.0"/>
  <p:tag name="KSO_WM_UNIT_LAYERLEVEL" val="1"/>
  <p:tag name="KSO_WM_TEMPLATE_CATEGORY" val="custom"/>
  <p:tag name="KSO_WM_TEMPLATE_USER_THEME" val="1"/>
</p:tagLst>
</file>

<file path=ppt/tags/tag46.xml><?xml version="1.0" encoding="utf-8"?>
<p:tagLst xmlns:a="http://schemas.openxmlformats.org/drawingml/2006/main" xmlns:r="http://schemas.openxmlformats.org/officeDocument/2006/relationships" xmlns:p="http://schemas.openxmlformats.org/presentationml/2006/main">
  <p:tag name="KSO_WM_UNIT_TYPE" val="f"/>
  <p:tag name="KSO_WM_UNIT_INDEX" val="3"/>
  <p:tag name="KSO_WM_UNIT_ID" val="_6*f*3"/>
  <p:tag name="KSO_WM_BEAUTIFY_FLAG" val="#wm#"/>
  <p:tag name="KSO_WM_TAG_VERSION" val="3.0"/>
  <p:tag name="KSO_WM_UNIT_LAYERLEVEL" val="1"/>
  <p:tag name="KSO_WM_TEMPLATE_CATEGORY" val="custom"/>
  <p:tag name="KSO_WM_TEMPLATE_USER_THEME" val="1"/>
</p:tagLst>
</file>

<file path=ppt/tags/tag47.xml><?xml version="1.0" encoding="utf-8"?>
<p:tagLst xmlns:a="http://schemas.openxmlformats.org/drawingml/2006/main" xmlns:r="http://schemas.openxmlformats.org/officeDocument/2006/relationships" xmlns:p="http://schemas.openxmlformats.org/presentationml/2006/main">
  <p:tag name="KSO_WM_UNIT_TYPE" val="f"/>
  <p:tag name="KSO_WM_UNIT_INDEX" val="4"/>
  <p:tag name="KSO_WM_UNIT_ID" val="_6*f*4"/>
  <p:tag name="KSO_WM_BEAUTIFY_FLAG" val="#wm#"/>
  <p:tag name="KSO_WM_TAG_VERSION" val="3.0"/>
  <p:tag name="KSO_WM_UNIT_LAYERLEVEL" val="1"/>
  <p:tag name="KSO_WM_TEMPLATE_CATEGORY" val="custom"/>
  <p:tag name="KSO_WM_TEMPLATE_USER_THEME" val="1"/>
</p:tagLst>
</file>

<file path=ppt/tags/tag48.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49.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50.xml><?xml version="1.0" encoding="utf-8"?>
<p:tagLst xmlns:a="http://schemas.openxmlformats.org/drawingml/2006/main" xmlns:r="http://schemas.openxmlformats.org/officeDocument/2006/relationships"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5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6*a*1"/>
  <p:tag name="KSO_WM_BEAUTIFY_FLAG" val="#wm#"/>
  <p:tag name="KSO_WM_TAG_VERSION" val="3.0"/>
  <p:tag name="KSO_WM_UNIT_LAYERLEVEL" val="1"/>
  <p:tag name="KSO_WM_TEMPLATE_CATEGORY" val="custom"/>
  <p:tag name="KSO_WM_TEMPLATE_USER_THEME" val="1"/>
</p:tagLst>
</file>

<file path=ppt/tags/tag52.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53.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54.xml><?xml version="1.0" encoding="utf-8"?>
<p:tagLst xmlns:a="http://schemas.openxmlformats.org/drawingml/2006/main" xmlns:r="http://schemas.openxmlformats.org/officeDocument/2006/relationships"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5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7*a*1"/>
  <p:tag name="KSO_WM_BEAUTIFY_FLAG" val="#wm#"/>
  <p:tag name="KSO_WM_TAG_VERSION" val="3.0"/>
  <p:tag name="KSO_WM_UNIT_LAYERLEVEL" val="1"/>
  <p:tag name="KSO_WM_TEMPLATE_CATEGORY" val="custom"/>
  <p:tag name="KSO_WM_TEMPLATE_USER_THEME" val="1"/>
</p:tagLst>
</file>

<file path=ppt/tags/tag56.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57.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58.xml><?xml version="1.0" encoding="utf-8"?>
<p:tagLst xmlns:a="http://schemas.openxmlformats.org/drawingml/2006/main" xmlns:r="http://schemas.openxmlformats.org/officeDocument/2006/relationships"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59.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9*f*1"/>
  <p:tag name="KSO_WM_BEAUTIFY_FLAG" val="#wm#"/>
  <p:tag name="KSO_WM_TAG_VERSION" val="3.0"/>
  <p:tag name="KSO_WM_UNIT_LAYERLEVEL" val="1"/>
  <p:tag name="KSO_WM_TEMPLATE_CATEGORY" val="custom"/>
  <p:tag name="KSO_WM_TEMPLATE_USER_THEME" val="1"/>
</p:tagLst>
</file>

<file path=ppt/tags/tag60.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61.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62.xml><?xml version="1.0" encoding="utf-8"?>
<p:tagLst xmlns:a="http://schemas.openxmlformats.org/drawingml/2006/main" xmlns:r="http://schemas.openxmlformats.org/officeDocument/2006/relationships"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63.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64.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65.xml><?xml version="1.0" encoding="utf-8"?>
<p:tagLst xmlns:a="http://schemas.openxmlformats.org/drawingml/2006/main" xmlns:r="http://schemas.openxmlformats.org/officeDocument/2006/relationships"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66.xml><?xml version="1.0" encoding="utf-8"?>
<p:tagLst xmlns:a="http://schemas.openxmlformats.org/drawingml/2006/main" xmlns:r="http://schemas.openxmlformats.org/officeDocument/2006/relationships" xmlns:p="http://schemas.openxmlformats.org/presentationml/2006/main">
  <p:tag name="KSO_WM_UNIT_TYPE" val="f"/>
  <p:tag name="KSO_WM_UNIT_INDEX" val="1"/>
  <p:tag name="KSO_WM_UNIT_ID" val="_10*f*1"/>
  <p:tag name="KSO_WM_BEAUTIFY_FLAG" val="#wm#"/>
  <p:tag name="KSO_WM_TAG_VERSION" val="3.0"/>
  <p:tag name="KSO_WM_UNIT_LAYERLEVEL" val="1"/>
  <p:tag name="KSO_WM_TEMPLATE_CATEGORY" val="custom"/>
  <p:tag name="KSO_WM_TEMPLATE_USER_THEME" val="1"/>
</p:tagLst>
</file>

<file path=ppt/tags/tag6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ID" val="_10*a*1"/>
  <p:tag name="KSO_WM_BEAUTIFY_FLAG" val="#wm#"/>
  <p:tag name="KSO_WM_TAG_VERSION" val="3.0"/>
  <p:tag name="KSO_WM_UNIT_LAYERLEVEL" val="1"/>
  <p:tag name="KSO_WM_TEMPLATE_CATEGORY" val="custom"/>
  <p:tag name="KSO_WM_TEMPLATE_USER_THEME" val="1"/>
</p:tagLst>
</file>

<file path=ppt/tags/tag68.xml><?xml version="1.0" encoding="utf-8"?>
<p:tagLst xmlns:a="http://schemas.openxmlformats.org/drawingml/2006/main" xmlns:r="http://schemas.openxmlformats.org/officeDocument/2006/relationships" xmlns:p="http://schemas.openxmlformats.org/presentationml/2006/main">
  <p:tag name="KSO_WM_UNIT_TYPE" val="i"/>
  <p:tag name="KSO_WM_UNIT_INDEX" val="1"/>
  <p:tag name="KSO_WM_BEAUTIFY_FLAG" val="#wm#"/>
  <p:tag name="KSO_WM_TAG_VERSION" val="3.0"/>
  <p:tag name="LAYOUTZORDER" val="2"/>
  <p:tag name="KSO_WM_UNIT_ID" val="_11**"/>
  <p:tag name="KSO_WM_UNIT_LAYERLEVEL" val="1"/>
  <p:tag name="KSO_WM_TEMPLATE_CATEGORY" val="custom"/>
  <p:tag name="KSO_WM_TEMPLATE_USER_THEME" val="1"/>
</p:tagLst>
</file>

<file path=ppt/tags/tag69.xml><?xml version="1.0" encoding="utf-8"?>
<p:tagLst xmlns:a="http://schemas.openxmlformats.org/drawingml/2006/main" xmlns:r="http://schemas.openxmlformats.org/officeDocument/2006/relationships" xmlns:p="http://schemas.openxmlformats.org/presentationml/2006/main">
  <p:tag name="KSO_WM_UNIT_TYPE" val="i"/>
  <p:tag name="KSO_WM_UNIT_INDEX" val="2"/>
  <p:tag name="KSO_WM_BEAUTIFY_FLAG" val="#wm#"/>
  <p:tag name="KSO_WM_TAG_VERSION" val="3.0"/>
  <p:tag name="LAYOUTZORDER" val="4"/>
  <p:tag name="KSO_WM_UNIT_ID" val="_11**"/>
  <p:tag name="KSO_WM_UNIT_LAYERLEVEL" val="1"/>
  <p:tag name="KSO_WM_TEMPLATE_CATEGORY" val="custom"/>
  <p:tag name="KSO_WM_TEMPLATE_USER_THEME" val="1"/>
</p:tagLst>
</file>

<file path=ppt/tags/tag70.xml><?xml version="1.0" encoding="utf-8"?>
<p:tagLst xmlns:a="http://schemas.openxmlformats.org/drawingml/2006/main" xmlns:r="http://schemas.openxmlformats.org/officeDocument/2006/relationships" xmlns:p="http://schemas.openxmlformats.org/presentationml/2006/main">
  <p:tag name="KSO_WM_UNIT_TYPE" val="i"/>
  <p:tag name="KSO_WM_UNIT_INDEX" val="3"/>
  <p:tag name="KSO_WM_BEAUTIFY_FLAG" val="#wm#"/>
  <p:tag name="KSO_WM_TAG_VERSION" val="3.0"/>
  <p:tag name="LAYOUTZORDER" val="5"/>
  <p:tag name="KSO_WM_UNIT_ID" val="_11**"/>
  <p:tag name="KSO_WM_UNIT_LAYERLEVEL" val="1"/>
  <p:tag name="KSO_WM_TEMPLATE_CATEGORY" val="custom"/>
  <p:tag name="KSO_WM_TEMPLATE_USER_THEME" val="1"/>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73.xml><?xml version="1.0" encoding="utf-8"?>
<p:tagLst xmlns:a="http://schemas.openxmlformats.org/drawingml/2006/main" xmlns:r="http://schemas.openxmlformats.org/officeDocument/2006/relationships" xmlns:p="http://schemas.openxmlformats.org/presentationml/2006/main">
  <p:tag name="KSO_WM_SLIDE_TYPE" val="title"/>
  <p:tag name="KSO_WM_TEMPLATE_THUMBS_INDEX" val="1、9"/>
  <p:tag name="KSO_WM_BEAUTIFY_FLAG" val="#wm#"/>
  <p:tag name="KSO_WM_TEMPLATE_CATEGORY" val="custom"/>
  <p:tag name="KSO_WM_TEMPLATE_USER_THEME" val="1"/>
  <p:tag name="KSO_WM_SLIDE_INDEX" val="1"/>
  <p:tag name="KSO_WM_SLIDE_ID" val="custom_1"/>
  <p:tag name="KSO_WM_TEMPLATE_SUBCATEGORY" val="29"/>
  <p:tag name="KSO_WM_SLIDE_LAYOUT" val="a_b_f"/>
  <p:tag name="KSO_WM_SLIDE_LAYOUT_CNT" val="1_1_1"/>
</p:tagLst>
</file>

<file path=ppt/tags/tag74.xml><?xml version="1.0" encoding="utf-8"?>
<p:tagLst xmlns:a="http://schemas.openxmlformats.org/drawingml/2006/main" xmlns:r="http://schemas.openxmlformats.org/officeDocument/2006/relationships" xmlns:p="http://schemas.openxmlformats.org/presentationml/2006/main">
  <p:tag name="KSO_WM_UNIT_TYPE" val="b"/>
  <p:tag name="KSO_WM_UNIT_INDEX" val="1"/>
  <p:tag name="KSO_WM_UNIT_SUBTYPE" val=""/>
  <p:tag name="KSO_WM_UNIT_PRESET_TEXT" val="单击此处编辑母版副标题样式"/>
  <p:tag name="KSO_WM_UNIT_ID" val="_1**"/>
  <p:tag name="KSO_WM_BEAUTIFY_FLAG" val="#wm#"/>
  <p:tag name="KSO_WM_TAG_VERSION" val="3.0"/>
  <p:tag name="KSO_WM_UNIT_LAYERLEVEL" val="1"/>
  <p:tag name="KSO_WM_TEMPLATE_CATEGORY" val="custom"/>
  <p:tag name="KSO_WM_TEMPLATE_USER_THEME" val="1"/>
  <p:tag name="KSO_WM_UNIT_HIGHLIGHT" val="0"/>
  <p:tag name="KSO_WM_UNIT_COMPATIBLE" val="0"/>
  <p:tag name="KSO_WM_UNIT_DIAGRAM_ISNUMVISUAL" val="0"/>
  <p:tag name="KSO_WM_UNIT_DIAGRAM_ISREFERUNIT" val="0"/>
  <p:tag name="KSO_WM_UNIT_ISCONTENTSTITLE" val="0"/>
  <p:tag name="KSO_WM_UNIT_ISNUMDGMTITLE" val="0"/>
  <p:tag name="KSO_WM_UNIT_NOCLEAR" val="0"/>
  <p:tag name="KSO_WM_UNIT_VALUE" val="80"/>
</p:tagLst>
</file>

<file path=ppt/tags/tag75.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SUBTYPE" val=""/>
  <p:tag name="KSO_WM_UNIT_PRESET_TEXT" val="单击此处编辑母版标题样式"/>
  <p:tag name="KSO_WM_UNIT_ID" val="_1**"/>
  <p:tag name="KSO_WM_BEAUTIFY_FLAG" val="#wm#"/>
  <p:tag name="KSO_WM_TAG_VERSION" val="3.0"/>
  <p:tag name="KSO_WM_UNIT_LAYERLEVEL" val="1"/>
  <p:tag name="KSO_WM_TEMPLATE_CATEGORY" val="custom"/>
  <p:tag name="KSO_WM_TEMPLATE_USER_THEME" val="1"/>
  <p:tag name="KSO_WM_UNIT_HIGHLIGHT" val="0"/>
  <p:tag name="KSO_WM_UNIT_COMPATIBLE" val="0"/>
  <p:tag name="KSO_WM_UNIT_DIAGRAM_ISNUMVISUAL" val="0"/>
  <p:tag name="KSO_WM_UNIT_DIAGRAM_ISREFERUNIT" val="0"/>
  <p:tag name="KSO_WM_UNIT_ISCONTENTSTITLE" val="0"/>
  <p:tag name="KSO_WM_UNIT_ISNUMDGMTITLE" val="0"/>
  <p:tag name="KSO_WM_UNIT_NOCLEAR" val="0"/>
  <p:tag name="KSO_WM_UNIT_VALUE" val="30"/>
</p:tagLst>
</file>

<file path=ppt/tags/tag76.xml><?xml version="1.0" encoding="utf-8"?>
<p:tagLst xmlns:a="http://schemas.openxmlformats.org/drawingml/2006/main" xmlns:r="http://schemas.openxmlformats.org/officeDocument/2006/relationships" xmlns:p="http://schemas.openxmlformats.org/presentationml/2006/main">
  <p:tag name="KSO_WM_SLIDE_TYPE" val="title"/>
  <p:tag name="KSO_WM_TEMPLATE_THUMBS_INDEX" val="1、9"/>
  <p:tag name="KSO_WM_BEAUTIFY_FLAG" val="#wm#"/>
  <p:tag name="KSO_WM_TEMPLATE_CATEGORY" val="custom"/>
  <p:tag name="KSO_WM_TEMPLATE_USER_THEME" val="1"/>
  <p:tag name="KSO_WM_SLIDE_INDEX" val="1"/>
  <p:tag name="KSO_WM_SLIDE_ID" val="custom_1"/>
  <p:tag name="KSO_WM_TEMPLATE_SUBCATEGORY" val="29"/>
  <p:tag name="KSO_WM_SLIDE_LAYOUT" val="a_b_f"/>
  <p:tag name="KSO_WM_SLIDE_LAYOUT_CNT" val="1_1_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1524_6*l_h_i*1_1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custom20231524_6*l_h_f*1_1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项标题"/>
  <p:tag name="KSO_WM_UNIT_TEXT_TYPE" val="1"/>
  <p:tag name="KSO_WM_DIAGRAM_USE_COLOR_VALUE" val="{&quot;color_scheme&quot;:1,&quot;color_type&quot;:1,&quot;theme_color_indexes&quot;:[5,6,5,6,5,6]}"/>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1524_6*l_h_i*1_2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custom20231524_6*l_h_f*1_2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项标题"/>
  <p:tag name="KSO_WM_UNIT_TEXT_TYPE" val="1"/>
  <p:tag name="KSO_WM_DIAGRAM_USE_COLOR_VALUE" val="{&quot;color_scheme&quot;:1,&quot;color_type&quot;:1,&quot;theme_color_indexes&quot;:[5,6,5,6,5,6]}"/>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1524_6*l_h_i*1_3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custom20231524_6*l_h_f*1_3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项标题"/>
  <p:tag name="KSO_WM_UNIT_TEXT_TYPE" val="1"/>
  <p:tag name="KSO_WM_DIAGRAM_USE_COLOR_VALUE" val="{&quot;color_scheme&quot;:1,&quot;color_type&quot;:1,&quot;theme_color_indexes&quot;:[5,6,5,6,5,6]}"/>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1524_6*l_h_i*1_4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4_1"/>
  <p:tag name="KSO_WM_UNIT_ID" val="custom20231524_6*l_h_f*1_4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项标题"/>
  <p:tag name="KSO_WM_UNIT_TEXT_TYPE" val="1"/>
  <p:tag name="KSO_WM_DIAGRAM_USE_COLOR_VALUE" val="{&quot;color_scheme&quot;:1,&quot;color_type&quot;:1,&quot;theme_color_indexes&quot;:[5,6,5,6,5,6]}"/>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1"/>
  <p:tag name="KSO_WM_UNIT_ID" val="custom20231524_6*l_h_i*1_5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5_1"/>
  <p:tag name="KSO_WM_UNIT_ID" val="custom20231524_6*l_h_f*1_5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项标题"/>
  <p:tag name="KSO_WM_UNIT_TEXT_TYPE" val="1"/>
  <p:tag name="KSO_WM_DIAGRAM_USE_COLOR_VALUE" val="{&quot;color_scheme&quot;:1,&quot;color_type&quot;:1,&quot;theme_color_indexes&quot;:[5,6,5,6,5,6]}"/>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6_1"/>
  <p:tag name="KSO_WM_UNIT_ID" val="custom20231524_6*l_h_i*1_6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6_1"/>
  <p:tag name="KSO_WM_UNIT_ID" val="custom20231524_6*l_h_f*1_6_1"/>
  <p:tag name="KSO_WM_TEMPLATE_CATEGORY" val="custom"/>
  <p:tag name="KSO_WM_TEMPLATE_INDEX" val="20231524"/>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8.8168503937008,&quot;left&quot;:110.62976377952755,&quot;top&quot;:94.25330708661417,&quot;width&quot;:784.550236220472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项标题"/>
  <p:tag name="KSO_WM_UNIT_TEXT_TYPE" val="1"/>
  <p:tag name="KSO_WM_DIAGRAM_USE_COLOR_VALUE" val="{&quot;color_scheme&quot;:1,&quot;color_type&quot;:1,&quot;theme_color_indexes&quot;:[5,6,5,6,5,6]}"/>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6_1"/>
  <p:tag name="KSO_WM_UNIT_ID" val="custom20231524_6*l_h_i*1_6_1"/>
  <p:tag name="KSO_WM_TEMPLATE_CATEGORY" val="custom"/>
  <p:tag name="KSO_WM_TEMPLATE_INDEX" val="20231524"/>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19.9168503937007,&quot;left&quot;:110.62976377952755,&quot;top&quot;:143.15330708661418,&quot;width&quot;:620.0403937007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9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f"/>
  <p:tag name="KSO_WM_UNIT_INDEX" val="1_6_1"/>
  <p:tag name="KSO_WM_UNIT_ID" val="custom20231524_6*l_h_f*1_6_1"/>
  <p:tag name="KSO_WM_TEMPLATE_CATEGORY" val="custom"/>
  <p:tag name="KSO_WM_TEMPLATE_INDEX" val="20231524"/>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19.9168503937007,&quot;left&quot;:110.62976377952755,&quot;top&quot;:143.15330708661418,&quot;width&quot;:620.0403937007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项标题"/>
  <p:tag name="KSO_WM_UNIT_TEXT_TYPE" val="1"/>
  <p:tag name="KSO_WM_DIAGRAM_USE_COLOR_VALUE" val="{&quot;color_scheme&quot;:1,&quot;color_type&quot;:1,&quot;theme_color_indexes&quot;:[5,6,5,6,5,6]}"/>
</p:tagLst>
</file>

<file path=ppt/tags/tag91.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SUBTYPE" val=""/>
  <p:tag name="KSO_WM_UNIT_PRESET_TEXT" val="单击此处编辑母版标题样式"/>
  <p:tag name="KSO_WM_UNIT_ID" val="_1**"/>
  <p:tag name="KSO_WM_BEAUTIFY_FLAG" val="#wm#"/>
  <p:tag name="KSO_WM_TAG_VERSION" val="3.0"/>
  <p:tag name="KSO_WM_UNIT_LAYERLEVEL" val="1"/>
  <p:tag name="KSO_WM_TEMPLATE_CATEGORY" val="custom"/>
  <p:tag name="KSO_WM_TEMPLATE_USER_THEME" val="1"/>
  <p:tag name="KSO_WM_UNIT_HIGHLIGHT" val="0"/>
  <p:tag name="KSO_WM_UNIT_COMPATIBLE" val="0"/>
  <p:tag name="KSO_WM_UNIT_DIAGRAM_ISNUMVISUAL" val="0"/>
  <p:tag name="KSO_WM_UNIT_DIAGRAM_ISREFERUNIT" val="0"/>
  <p:tag name="KSO_WM_UNIT_ISCONTENTSTITLE" val="0"/>
  <p:tag name="KSO_WM_UNIT_ISNUMDGMTITLE" val="0"/>
  <p:tag name="KSO_WM_UNIT_NOCLEAR" val="0"/>
  <p:tag name="KSO_WM_UNIT_VALUE" val="30"/>
</p:tagLst>
</file>

<file path=ppt/tags/tag92.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93.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9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95.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9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97.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98.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99.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00.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01.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02.xml><?xml version="1.0" encoding="utf-8"?>
<p:tagLst xmlns:a="http://schemas.openxmlformats.org/drawingml/2006/main" xmlns:r="http://schemas.openxmlformats.org/officeDocument/2006/relationships" xmlns:p="http://schemas.openxmlformats.org/presentationml/2006/main">
  <p:tag name="TABLE_ENDDRAG_ORIGIN_RECT" val="915*434"/>
  <p:tag name="TABLE_ENDDRAG_RECT" val="22*88*915*434"/>
</p:tagLst>
</file>

<file path=ppt/tags/tag103.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04.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05.xml><?xml version="1.0" encoding="utf-8"?>
<p:tagLst xmlns:a="http://schemas.openxmlformats.org/drawingml/2006/main" xmlns:r="http://schemas.openxmlformats.org/officeDocument/2006/relationships" xmlns:p="http://schemas.openxmlformats.org/presentationml/2006/main">
  <p:tag name="TABLE_ENDDRAG_ORIGIN_RECT" val="915*432"/>
  <p:tag name="TABLE_ENDDRAG_RECT" val="22*88*915*432"/>
</p:tagLst>
</file>

<file path=ppt/tags/tag10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07.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08.xml><?xml version="1.0" encoding="utf-8"?>
<p:tagLst xmlns:a="http://schemas.openxmlformats.org/drawingml/2006/main" xmlns:r="http://schemas.openxmlformats.org/officeDocument/2006/relationships" xmlns:p="http://schemas.openxmlformats.org/presentationml/2006/main">
  <p:tag name="TABLE_ENDDRAG_ORIGIN_RECT" val="915*362"/>
  <p:tag name="TABLE_ENDDRAG_RECT" val="20*94*915*362"/>
</p:tagLst>
</file>

<file path=ppt/tags/tag109.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10.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11.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12.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13.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70&quot;:[3321502]}"/>
</p:tagLst>
</file>

<file path=ppt/tags/tag114.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15.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16.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117.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13&quot;:[4364907,4364924,19951220]}"/>
</p:tagLst>
</file>

<file path=ppt/tags/tag118.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议题"/>
  <p:tag name="KSO_WM_UNIT_ID" val="_2*a*1"/>
  <p:tag name="KSO_WM_TAG_VERSION" val="3.0"/>
  <p:tag name="KSO_WM_UNIT_LAYERLEVEL" val="1"/>
  <p:tag name="KSO_WM_TEMPLATE_CATEGORY" val="custom"/>
  <p:tag name="KSO_WM_TEMPLATE_USER_THEME" val="1"/>
</p:tagLst>
</file>

<file path=ppt/tags/tag119.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20.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大数据：在众说纷纭中，不断变换着概念内涵"/>
  <p:tag name="KSO_WM_UNIT_ID" val="_2*a*1"/>
  <p:tag name="KSO_WM_TAG_VERSION" val="3.0"/>
  <p:tag name="KSO_WM_UNIT_LAYERLEVEL" val="1"/>
  <p:tag name="KSO_WM_TEMPLATE_CATEGORY" val="custom"/>
  <p:tag name="KSO_WM_TEMPLATE_USER_THEME" val="1"/>
</p:tagLst>
</file>

<file path=ppt/tags/tag121.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29&quot;:[50000076,50000086]}"/>
</p:tagLst>
</file>

<file path=ppt/tags/tag122.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讨论热点2：大数据应用"/>
  <p:tag name="KSO_WM_UNIT_ID" val="_2*a*1"/>
  <p:tag name="KSO_WM_TAG_VERSION" val="3.0"/>
  <p:tag name="KSO_WM_UNIT_LAYERLEVEL" val="1"/>
  <p:tag name="KSO_WM_TEMPLATE_CATEGORY" val="custom"/>
  <p:tag name="KSO_WM_TEMPLATE_USER_THEME" val="1"/>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66.35,&quot;left&quot;:73.1,&quot;top&quot;:115.35,&quot;width&quot;:784.15}"/>
</p:tagLst>
</file>

<file path=ppt/tags/tag131.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32.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数据治理的组织架构：&#10;中国式数据治理典型组织架构"/>
  <p:tag name="KSO_WM_UNIT_ID" val="_2*a*1"/>
  <p:tag name="KSO_WM_TAG_VERSION" val="3.0"/>
  <p:tag name="KSO_WM_UNIT_LAYERLEVEL" val="1"/>
  <p:tag name="KSO_WM_TEMPLATE_CATEGORY" val="custom"/>
  <p:tag name="KSO_WM_TEMPLATE_USER_THEME" val="1"/>
</p:tagLst>
</file>

<file path=ppt/tags/tag133.xml><?xml version="1.0" encoding="utf-8"?>
<p:tagLst xmlns:a="http://schemas.openxmlformats.org/drawingml/2006/main" xmlns:r="http://schemas.openxmlformats.org/officeDocument/2006/relationships" xmlns:p="http://schemas.openxmlformats.org/presentationml/2006/main">
  <p:tag name="TABLE_ENDDRAG_ORIGIN_RECT" val="493*224"/>
  <p:tag name="TABLE_ENDDRAG_RECT" val="270*146*493*224"/>
</p:tagLst>
</file>

<file path=ppt/tags/tag13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35.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数据治理的组织架构：&#10;中国式数据治理典型组织架构"/>
  <p:tag name="KSO_WM_UNIT_ID" val="_2*a*1"/>
  <p:tag name="KSO_WM_TAG_VERSION" val="3.0"/>
  <p:tag name="KSO_WM_UNIT_LAYERLEVEL" val="1"/>
  <p:tag name="KSO_WM_TEMPLATE_CATEGORY" val="custom"/>
  <p:tag name="KSO_WM_TEMPLATE_USER_THEME" val="1"/>
</p:tagLst>
</file>

<file path=ppt/tags/tag136.xml><?xml version="1.0" encoding="utf-8"?>
<p:tagLst xmlns:a="http://schemas.openxmlformats.org/drawingml/2006/main" xmlns:r="http://schemas.openxmlformats.org/officeDocument/2006/relationships" xmlns:p="http://schemas.openxmlformats.org/presentationml/2006/main">
  <p:tag name="TABLE_ENDDRAG_ORIGIN_RECT" val="420*368"/>
  <p:tag name="TABLE_ENDDRAG_RECT" val="109*122*420*368"/>
</p:tagLst>
</file>

<file path=ppt/tags/tag137.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38.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数据治理的组织架构：&#10;中国式数据治理典型组织架构"/>
  <p:tag name="KSO_WM_UNIT_ID" val="_2*a*1"/>
  <p:tag name="KSO_WM_TAG_VERSION" val="3.0"/>
  <p:tag name="KSO_WM_UNIT_LAYERLEVEL" val="1"/>
  <p:tag name="KSO_WM_TEMPLATE_CATEGORY" val="custom"/>
  <p:tag name="KSO_WM_TEMPLATE_USER_THEME" val="1"/>
</p:tagLst>
</file>

<file path=ppt/tags/tag139.xml><?xml version="1.0" encoding="utf-8"?>
<p:tagLst xmlns:a="http://schemas.openxmlformats.org/drawingml/2006/main" xmlns:r="http://schemas.openxmlformats.org/officeDocument/2006/relationships" xmlns:p="http://schemas.openxmlformats.org/presentationml/2006/main">
  <p:tag name="TABLE_ENDDRAG_ORIGIN_RECT" val="410*257"/>
  <p:tag name="TABLE_ENDDRAG_RECT" val="49*192*410*257"/>
</p:tagLst>
</file>

<file path=ppt/tags/tag140.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41.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数据治理的组织架构：&#10;中国式数据治理典型组织架构"/>
  <p:tag name="KSO_WM_UNIT_ID" val="_2*a*1"/>
  <p:tag name="KSO_WM_TAG_VERSION" val="3.0"/>
  <p:tag name="KSO_WM_UNIT_LAYERLEVEL" val="1"/>
  <p:tag name="KSO_WM_TEMPLATE_CATEGORY" val="custom"/>
  <p:tag name="KSO_WM_TEMPLATE_USER_THEME" val="1"/>
</p:tagLst>
</file>

<file path=ppt/tags/tag142.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43.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数据治理的组织架构：&#10;中国式数据治理典型组织架构"/>
  <p:tag name="KSO_WM_UNIT_ID" val="_2*a*1"/>
  <p:tag name="KSO_WM_TAG_VERSION" val="3.0"/>
  <p:tag name="KSO_WM_UNIT_LAYERLEVEL" val="1"/>
  <p:tag name="KSO_WM_TEMPLATE_CATEGORY" val="custom"/>
  <p:tag name="KSO_WM_TEMPLATE_USER_THEME" val="1"/>
</p:tagLst>
</file>

<file path=ppt/tags/tag14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45.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 name="KSO_WM_UNIT_TEXT" val="数据治理的组织架构：&#10;中国式数据治理典型组织架构"/>
  <p:tag name="KSO_WM_UNIT_ID" val="_2*a*1"/>
  <p:tag name="KSO_WM_TAG_VERSION" val="3.0"/>
  <p:tag name="KSO_WM_UNIT_LAYERLEVEL" val="1"/>
  <p:tag name="KSO_WM_TEMPLATE_CATEGORY" val="custom"/>
  <p:tag name="KSO_WM_TEMPLATE_USER_THEME" val="1"/>
</p:tagLst>
</file>

<file path=ppt/tags/tag146.xml><?xml version="1.0" encoding="utf-8"?>
<p:tagLst xmlns:a="http://schemas.openxmlformats.org/drawingml/2006/main" xmlns:r="http://schemas.openxmlformats.org/officeDocument/2006/relationships" xmlns:p="http://schemas.openxmlformats.org/presentationml/2006/main">
  <p:tag name="KSO_WM_SLIDE_TYPE" val="endPage"/>
  <p:tag name="KSO_WM_BEAUTIFY_FLAG" val="#wm#"/>
  <p:tag name="KSO_WM_TEMPLATE_CATEGORY" val="custom"/>
  <p:tag name="KSO_WM_TEMPLATE_USER_THEME" val="1"/>
  <p:tag name="KSO_WM_SLIDE_INDEX" val="9"/>
  <p:tag name="KSO_WM_SLIDE_ID" val="custom_9"/>
  <p:tag name="KSO_WM_TEMPLATE_SUBCATEGORY" val="29"/>
  <p:tag name="KSO_WM_SLIDE_LAYOUT" val="a_f"/>
  <p:tag name="KSO_WM_SLIDE_LAYOUT_CNT" val="1_1"/>
</p:tagLst>
</file>

<file path=ppt/tags/tag147.xml><?xml version="1.0" encoding="utf-8"?>
<p:tagLst xmlns:a="http://schemas.openxmlformats.org/drawingml/2006/main" xmlns:r="http://schemas.openxmlformats.org/officeDocument/2006/relationships" xmlns:p="http://schemas.openxmlformats.org/presentationml/2006/main">
  <p:tag name="KSO_WM_UNIT_TYPE" val="a"/>
  <p:tag name="KSO_WM_UNIT_INDEX" val="1"/>
  <p:tag name="KSO_WM_UNIT_SUBTYPE" val=""/>
  <p:tag name="KSO_WM_UNIT_PRESET_TEXT" val="感谢观看"/>
  <p:tag name="KSO_WM_UNIT_ID" val="custom_9*a*1"/>
  <p:tag name="KSO_WM_BEAUTIFY_FLAG" val="#wm#"/>
  <p:tag name="KSO_WM_TAG_VERSION" val="3.0"/>
  <p:tag name="KSO_WM_UNIT_LAYERLEVEL" val="1"/>
  <p:tag name="KSO_WM_TEMPLATE_CATEGORY" val="custom"/>
  <p:tag name="KSO_WM_TEMPLATE_USER_THEME" val="1"/>
</p:tagLst>
</file>

<file path=ppt/theme/theme1.xml><?xml version="1.0" encoding="utf-8"?>
<a:theme xmlns:a="http://schemas.openxmlformats.org/drawingml/2006/main" name="御数坊PPT模板_v_2016">
  <a:themeElements>
    <a:clrScheme name="300TGp_natural_light 1">
      <a:dk1>
        <a:srgbClr val="000000"/>
      </a:dk1>
      <a:lt1>
        <a:srgbClr val="FFFFFF"/>
      </a:lt1>
      <a:dk2>
        <a:srgbClr val="51944E"/>
      </a:dk2>
      <a:lt2>
        <a:srgbClr val="DDDDDD"/>
      </a:lt2>
      <a:accent1>
        <a:srgbClr val="646ADE"/>
      </a:accent1>
      <a:accent2>
        <a:srgbClr val="1BAFC3"/>
      </a:accent2>
      <a:accent3>
        <a:srgbClr val="FFFFFF"/>
      </a:accent3>
      <a:accent4>
        <a:srgbClr val="000000"/>
      </a:accent4>
      <a:accent5>
        <a:srgbClr val="B8B9EC"/>
      </a:accent5>
      <a:accent6>
        <a:srgbClr val="179EB0"/>
      </a:accent6>
      <a:hlink>
        <a:srgbClr val="98BF1D"/>
      </a:hlink>
      <a:folHlink>
        <a:srgbClr val="90A8B0"/>
      </a:folHlink>
    </a:clrScheme>
    <a:fontScheme name="300TGp_natural_ligh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00TGp_natural_light 1">
        <a:dk1>
          <a:srgbClr val="000000"/>
        </a:dk1>
        <a:lt1>
          <a:srgbClr val="FFFFFF"/>
        </a:lt1>
        <a:dk2>
          <a:srgbClr val="51944E"/>
        </a:dk2>
        <a:lt2>
          <a:srgbClr val="DDDDDD"/>
        </a:lt2>
        <a:accent1>
          <a:srgbClr val="646ADE"/>
        </a:accent1>
        <a:accent2>
          <a:srgbClr val="1BAFC3"/>
        </a:accent2>
        <a:accent3>
          <a:srgbClr val="FFFFFF"/>
        </a:accent3>
        <a:accent4>
          <a:srgbClr val="000000"/>
        </a:accent4>
        <a:accent5>
          <a:srgbClr val="B8B9EC"/>
        </a:accent5>
        <a:accent6>
          <a:srgbClr val="179EB0"/>
        </a:accent6>
        <a:hlink>
          <a:srgbClr val="98BF1D"/>
        </a:hlink>
        <a:folHlink>
          <a:srgbClr val="90A8B0"/>
        </a:folHlink>
      </a:clrScheme>
      <a:clrMap bg1="lt1" tx1="dk1" bg2="lt2" tx2="dk2" accent1="accent1" accent2="accent2" accent3="accent3" accent4="accent4" accent5="accent5" accent6="accent6" hlink="hlink" folHlink="folHlink"/>
    </a:extraClrScheme>
    <a:extraClrScheme>
      <a:clrScheme name="300TGp_natural_light 2">
        <a:dk1>
          <a:srgbClr val="4D4D4D"/>
        </a:dk1>
        <a:lt1>
          <a:srgbClr val="FFFFFF"/>
        </a:lt1>
        <a:dk2>
          <a:srgbClr val="347436"/>
        </a:dk2>
        <a:lt2>
          <a:srgbClr val="DDDDDD"/>
        </a:lt2>
        <a:accent1>
          <a:srgbClr val="F28C1C"/>
        </a:accent1>
        <a:accent2>
          <a:srgbClr val="77AE26"/>
        </a:accent2>
        <a:accent3>
          <a:srgbClr val="FFFFFF"/>
        </a:accent3>
        <a:accent4>
          <a:srgbClr val="404040"/>
        </a:accent4>
        <a:accent5>
          <a:srgbClr val="F7C5AB"/>
        </a:accent5>
        <a:accent6>
          <a:srgbClr val="6B9D21"/>
        </a:accent6>
        <a:hlink>
          <a:srgbClr val="449878"/>
        </a:hlink>
        <a:folHlink>
          <a:srgbClr val="90A8B0"/>
        </a:folHlink>
      </a:clrScheme>
      <a:clrMap bg1="lt1" tx1="dk1" bg2="lt2" tx2="dk2" accent1="accent1" accent2="accent2" accent3="accent3" accent4="accent4" accent5="accent5" accent6="accent6" hlink="hlink" folHlink="folHlink"/>
    </a:extraClrScheme>
    <a:extraClrScheme>
      <a:clrScheme name="300TGp_natural_light 3">
        <a:dk1>
          <a:srgbClr val="000000"/>
        </a:dk1>
        <a:lt1>
          <a:srgbClr val="FFFFFF"/>
        </a:lt1>
        <a:dk2>
          <a:srgbClr val="1A578E"/>
        </a:dk2>
        <a:lt2>
          <a:srgbClr val="C0C0C0"/>
        </a:lt2>
        <a:accent1>
          <a:srgbClr val="5EB52D"/>
        </a:accent1>
        <a:accent2>
          <a:srgbClr val="F26D00"/>
        </a:accent2>
        <a:accent3>
          <a:srgbClr val="FFFFFF"/>
        </a:accent3>
        <a:accent4>
          <a:srgbClr val="000000"/>
        </a:accent4>
        <a:accent5>
          <a:srgbClr val="B6D7AD"/>
        </a:accent5>
        <a:accent6>
          <a:srgbClr val="DB6200"/>
        </a:accent6>
        <a:hlink>
          <a:srgbClr val="5983D7"/>
        </a:hlink>
        <a:folHlink>
          <a:srgbClr val="AAAD2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02246"/>
      </a:dk2>
      <a:lt2>
        <a:srgbClr val="F2F8FF"/>
      </a:lt2>
      <a:accent1>
        <a:srgbClr val="E6F2FF"/>
      </a:accent1>
      <a:accent2>
        <a:srgbClr val="BDD9EC"/>
      </a:accent2>
      <a:accent3>
        <a:srgbClr val="325FA2"/>
      </a:accent3>
      <a:accent4>
        <a:srgbClr val="224476"/>
      </a:accent4>
      <a:accent5>
        <a:srgbClr val="4B83BB"/>
      </a:accent5>
      <a:accent6>
        <a:srgbClr val="69A7D5"/>
      </a:accent6>
      <a:hlink>
        <a:srgbClr val="0026E5"/>
      </a:hlink>
      <a:folHlink>
        <a:srgbClr val="7E1FAD"/>
      </a:folHlink>
    </a:clrScheme>
    <a:fontScheme name="字体">
      <a:majorFont>
        <a:latin typeface="Arial"/>
        <a:ea typeface="微软雅黑"/>
        <a:cs typeface=""/>
      </a:majorFont>
      <a:minorFont>
        <a:latin typeface="Arial"/>
        <a:ea typeface="MiSans Heavy"/>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000120150508A09PWBG">
    <a:majorFont>
      <a:latin typeface="微软雅黑"/>
      <a:ea typeface="微软雅黑"/>
      <a:cs typeface=""/>
    </a:majorFont>
    <a:minorFont>
      <a:latin typeface="幼圆"/>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御数坊PPT模板_v_201505</Template>
  <TotalTime>3</TotalTime>
  <Words>4407</Words>
  <Application>Microsoft Office PowerPoint</Application>
  <PresentationFormat>宽屏</PresentationFormat>
  <Paragraphs>757</Paragraphs>
  <Slides>23</Slides>
  <Notes>22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23</vt:i4>
      </vt:variant>
    </vt:vector>
  </HeadingPairs>
  <TitlesOfParts>
    <vt:vector size="38" baseType="lpstr">
      <vt:lpstr>EYInterstate Light</vt:lpstr>
      <vt:lpstr>Arial</vt:lpstr>
      <vt:lpstr>Tahoma</vt:lpstr>
      <vt:lpstr>Times New Roman</vt:lpstr>
      <vt:lpstr>Microsoft JhengHei</vt:lpstr>
      <vt:lpstr>Verdana</vt:lpstr>
      <vt:lpstr>Wingdings</vt:lpstr>
      <vt:lpstr>微软雅黑</vt:lpstr>
      <vt:lpstr>幼圆</vt:lpstr>
      <vt:lpstr>华文中宋</vt:lpstr>
      <vt:lpstr>Calibri</vt:lpstr>
      <vt:lpstr>宋体</vt:lpstr>
      <vt:lpstr>Impact</vt:lpstr>
      <vt:lpstr>御数坊PPT模板_v_2016</vt:lpstr>
      <vt:lpstr>1_Office 主题</vt:lpstr>
      <vt:lpstr>企业数据管理理论与实践培训</vt:lpstr>
      <vt:lpstr>目录</vt:lpstr>
      <vt:lpstr>为什么要做数据标准</vt:lpstr>
      <vt:lpstr>为什么要做数据标准——数据标准化的目标</vt:lpstr>
      <vt:lpstr>什么是数据标准——数据标准分类的思路</vt:lpstr>
      <vt:lpstr>怎么构建数据标准——数据标准模型</vt:lpstr>
      <vt:lpstr>什么是数据标准——重要数据标准要素定义</vt:lpstr>
      <vt:lpstr>什么是数据标准——重要数据标准要素定义</vt:lpstr>
      <vt:lpstr>什么是数据标准——数据标准要素定义</vt:lpstr>
      <vt:lpstr>怎么构建数据标准——示例</vt:lpstr>
      <vt:lpstr>哪些可作为数据标准</vt:lpstr>
      <vt:lpstr>怎么做数据标准——数据标准化工作原则</vt:lpstr>
      <vt:lpstr>怎么做数据标准——精细化设计基础数据标准管理流程，明确步骤、工作方法以及依据，明确流程中各部门职责</vt:lpstr>
      <vt:lpstr>怎么做数据标准——数据标准执行落地方法</vt:lpstr>
      <vt:lpstr>怎么做数据标准——数据标准落地执行的关键因素与总体策略</vt:lpstr>
      <vt:lpstr>数据标准对民机有什么用</vt:lpstr>
      <vt:lpstr>数据标准对民机有什么用</vt:lpstr>
      <vt:lpstr>数据标准对民机有什么用——示例</vt:lpstr>
      <vt:lpstr>数据标注对民机有什么用</vt:lpstr>
      <vt:lpstr>数据标注对民机有什么用——对于在建系统的落地执行要求</vt:lpstr>
      <vt:lpstr>数据标注对民机有什么用——对于周边系统项目组的配合要求</vt:lpstr>
      <vt:lpstr>数据标准后续如何改进</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Charles Archer</cp:lastModifiedBy>
  <cp:revision>383</cp:revision>
  <dcterms:created xsi:type="dcterms:W3CDTF">2015-08-15T06:34:00Z</dcterms:created>
  <dcterms:modified xsi:type="dcterms:W3CDTF">2026-06-03T06:01:45Z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DBEFE619D9E449CFAC113EB1C1994CB5_13</vt:lpwstr>
  </property>
  <property fmtid="{D5CDD505-2E9C-101B-9397-08002B2CF9AE}" pid="3" name="KSOProductBuildVer">
    <vt:lpwstr>2052-12.1.0.22529</vt:lpwstr>
  </property>
</Properties>
</file>